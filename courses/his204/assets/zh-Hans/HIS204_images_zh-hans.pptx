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19 世纪农村生活场景，由 </a:t>
            </a:r>
            <a:r>
              <a:rPr sz="1200" i="1">
                <a:latin typeface="IBM Plex Sans"/>
              </a:rPr>
              <a:t>Louis-Léopold Boilly </a:t>
            </a:r>
            <a:r>
              <a:rPr sz="1200" i="1">
                <a:latin typeface="IBM Plex Sans"/>
              </a:rPr>
              <a:t>创作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苏利公爵肖像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亨利四世大臣苏利公爵回忆录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让-巴蒂斯特-科尔贝尔，路易十四时期的财政总管 </a:t>
            </a:r>
            <a:r>
              <a:rPr sz="1200" i="1" lang="en-US">
                <a:latin typeface="IBM Plex Sans"/>
              </a:rPr>
              <a:t/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18 世纪羽毛制作工坊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Vernet 创作的 18 世纪波尔多港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国家的罗宾汉--税收或死亡 </a:t>
            </a:r>
            <a:r>
              <a:rPr sz="1400" i="1" lang="fr-FR">
                <a:latin typeface="IBM Plex Sans"/>
              </a:rPr>
              <a:t/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史古治叔叔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沃班肖像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沃邦的里尔城堡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沃邦，"皇家什一税项目"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人口普查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托克维尔，"旧制度与大革命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三项命令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博伊斯吉贝尔，"路易十四统治下的毁灭法国"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皇家香榭港地图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古斯塔夫-凯勒博特 - "向上的道路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默里-罗斯巴德，"奥地利经济思想史视角"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理查德-康泰隆，"论商业的本质"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约翰-罗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罗的银行账单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圣皮埃尔修道院院长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古斯塔夫-德-莫利纳里肖像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莫利纳利的《圣皮埃尔修道院院长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圣皮埃尔修道院院长，"恢复欧洲和平项目"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路易十四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凡尔赛宫，镜廊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法国学院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18 世纪法国的小册子，建议对商业和金融进行改革，反映了早期关于贸易和经济政策的辩论。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阿根森侯爵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自由放任，自由通过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针脚制造，狄德罗和达朗贝尔的《百科全书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亚当-斯密肖像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阿根森侯爵，"日记和回忆录"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</a:t>
            </a:r>
            <a:r>
              <a:rPr sz="1200" i="1">
                <a:latin typeface="IBM Plex Sans"/>
              </a:rPr>
              <a:t>Malbranque，"文森特-德-古尔奈"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贸易论文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1715 年 </a:t>
            </a:r>
            <a:r>
              <a:rPr sz="1200" i="1">
                <a:latin typeface="IBM Plex Sans"/>
              </a:rPr>
              <a:t>6 月 </a:t>
            </a:r>
            <a:r>
              <a:rPr sz="1200" i="1">
                <a:latin typeface="IBM Plex Sans"/>
              </a:rPr>
              <a:t>26 日的文本，由商人 </a:t>
            </a:r>
            <a:r>
              <a:rPr sz="1200" i="1">
                <a:latin typeface="IBM Plex Sans"/>
              </a:rPr>
              <a:t>M. de </a:t>
            </a:r>
            <a:r>
              <a:rPr sz="1200" i="1">
                <a:latin typeface="IBM Plex Sans"/>
              </a:rPr>
              <a:t>Gourgan </a:t>
            </a:r>
            <a:r>
              <a:rPr sz="1200" i="1">
                <a:latin typeface="IBM Plex Sans"/>
              </a:rPr>
              <a:t>撰写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关于印度公司的官方报告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杜尔哥肖像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文森特-德-古尔奈的圈子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大卫-休谟肖像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"商业贵族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关于粮食总政策的论文（1755 年）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理查德-康泰隆，"论商业的本质"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1566-1789 年法国经济出版研究。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阿贝-加布里埃尔-弗朗索瓦-科耶，"钦奇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众议院辩论，法国，1789 年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米拉波肖像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米拉波，"人类之友"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理查德-康泰隆，"论商业的本质"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米拉波侯爵的经济和社会理论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米拉波侯爵的经济和社会理论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弗朗索瓦-魁奈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皮埃尔-塞缪尔-杜邦-德-内穆尔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米拉波，"税收理论"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弗朗索瓦-魁奈的经济图表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弗朗索瓦-魁奈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弗朗索瓦-魁奈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百科全书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杜邦-德-内穆尔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"税收理论"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"生理学"，魁奈文章集，1768 年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Citoyen"，理智派官方期刊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布瓦吉贝尔，"法国细节"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"论商业的本质" (Essay on </a:t>
            </a:r>
            <a:r>
              <a:rPr sz="1200" i="1">
                <a:latin typeface="IBM Plex Sans"/>
              </a:rPr>
              <a:t>the nature of commerce)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魁奈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魁奈的经济图表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米拉波，"税收理论"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蓬巴杜侯爵夫人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Citoyen》，物理学家的官方期刊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启蒙经济学家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生理学》，魁奈文章集，1768 </a:t>
            </a:r>
            <a:r>
              <a:rPr sz="1200" i="1">
                <a:latin typeface="IBM Plex Sans"/>
              </a:rPr>
              <a:t>年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让-弗朗索瓦-米莱，"农民"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托克维尔，"旧制度与大革命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路易十六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米莱，"天使"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18 世纪的波尔多港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查尔斯-腓特烈，"巴登大公"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凯瑟琳二世 </a:t>
            </a:r>
            <a:r>
              <a:rPr sz="1200" i="1"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</a:t>
            </a:r>
            <a:r>
              <a:rPr sz="1200" i="1">
                <a:latin typeface="IBM Plex Sans"/>
              </a:rPr>
              <a:t>la </a:t>
            </a:r>
            <a:r>
              <a:rPr sz="1200" i="1">
                <a:latin typeface="IBM Plex Sans"/>
              </a:rPr>
              <a:t>Rivière，"政治社会的自然和基本秩序"。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杜尔哥肖像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敕令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1789 年在凡尔赛召开的议会大会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亚当-斯密，"国富论"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约瑟夫-兰博，"经济学说史"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杜邦企业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杜邦公司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米拉波侯爵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农业、贸易和金融期刊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魁奈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物理学家杂志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图尔戈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生理学》，魁奈文集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约瑟夫-熊彼特，"经济分析史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1792 </a:t>
            </a:r>
            <a:r>
              <a:rPr sz="1200" i="1">
                <a:latin typeface="IBM Plex Sans"/>
              </a:rPr>
              <a:t>年攻占杜伊勒利宫 </a:t>
            </a:r>
            <a:r>
              <a:rPr sz="1200" i="1">
                <a:latin typeface="IBM Plex Sans"/>
              </a:rPr>
              <a:t/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亚当-斯密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百科全书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丹尼斯-狄德罗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关于小麦贸易的对话，作者：加利亚尼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公民星历表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伏尔泰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伏尔泰，"L'homme aux quarante </a:t>
            </a:r>
            <a:r>
              <a:rPr sz="1200" i="1">
                <a:latin typeface="IBM Plex Sans"/>
              </a:rPr>
              <a:t>écus" (《夸父追日》)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图尔戈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孟德斯鸠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"法律的精神"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百科全书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杜尔哥，"赞美古尔奈"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涂尔干，"关于财富的形成与分配的思考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杜尔哥，"关于谷物贸易自由的信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涂尔干和史密斯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"一种奇特的亲近感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杜尔哥："关于阿根廷金币的备忘录"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弗里德里希-哈耶克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图尔戈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Millet，《拾穗者》，1857 </a:t>
            </a:r>
            <a:r>
              <a:rPr sz="1200" i="1">
                <a:latin typeface="IBM Plex Sans"/>
              </a:rPr>
              <a:t>年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民兵抽签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内穆尔之家的申诉书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Edit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伏尔泰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路易十六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米歇尔-蒙田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埃蒂安-博诺-德孔迪拉克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孔迪拉克、贸易和政府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让-巴蒂斯特-萨伊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尼古拉-孔多塞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安妮-罗贝尔-雅克-杜尔哥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加利亚尼，"关于谷物贸易的信件"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1789年5月5日在凡尔赛宫召开的议会大会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"申诉清单"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杜邦-德-内穆尔，"在国民议会的演讲"，1789 </a:t>
            </a:r>
            <a:r>
              <a:rPr sz="1200" i="1">
                <a:latin typeface="IBM Plex Sans"/>
              </a:rPr>
              <a:t>年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杜邦-德-内穆尔，"阿西尼亚特对面包价格的影响"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100 分配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"论一般商业的性质" (Essay on the nature of commerce in general)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约西亚-柴尔德，"贸易论"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魁奈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康迪亚克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