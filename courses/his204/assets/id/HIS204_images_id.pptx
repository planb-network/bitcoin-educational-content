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9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  <p:sldId id="344" r:id="rId92"/>
    <p:sldId id="345" r:id="rId93"/>
    <p:sldId id="346" r:id="rId94"/>
    <p:sldId id="347" r:id="rId95"/>
    <p:sldId id="348" r:id="rId96"/>
    <p:sldId id="349" r:id="rId97"/>
    <p:sldId id="350" r:id="rId98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slide" Target="slides/slide76.xml"/><Relationship Id="rId80" Type="http://schemas.openxmlformats.org/officeDocument/2006/relationships/slide" Target="slides/slide77.xml"/><Relationship Id="rId81" Type="http://schemas.openxmlformats.org/officeDocument/2006/relationships/slide" Target="slides/slide78.xml"/><Relationship Id="rId82" Type="http://schemas.openxmlformats.org/officeDocument/2006/relationships/slide" Target="slides/slide79.xml"/><Relationship Id="rId83" Type="http://schemas.openxmlformats.org/officeDocument/2006/relationships/slide" Target="slides/slide80.xml"/><Relationship Id="rId84" Type="http://schemas.openxmlformats.org/officeDocument/2006/relationships/slide" Target="slides/slide81.xml"/><Relationship Id="rId85" Type="http://schemas.openxmlformats.org/officeDocument/2006/relationships/slide" Target="slides/slide82.xml"/><Relationship Id="rId86" Type="http://schemas.openxmlformats.org/officeDocument/2006/relationships/slide" Target="slides/slide83.xml"/><Relationship Id="rId87" Type="http://schemas.openxmlformats.org/officeDocument/2006/relationships/slide" Target="slides/slide84.xml"/><Relationship Id="rId88" Type="http://schemas.openxmlformats.org/officeDocument/2006/relationships/slide" Target="slides/slide85.xml"/><Relationship Id="rId89" Type="http://schemas.openxmlformats.org/officeDocument/2006/relationships/slide" Target="slides/slide86.xml"/><Relationship Id="rId90" Type="http://schemas.openxmlformats.org/officeDocument/2006/relationships/slide" Target="slides/slide87.xml"/><Relationship Id="rId91" Type="http://schemas.openxmlformats.org/officeDocument/2006/relationships/slide" Target="slides/slide88.xml"/><Relationship Id="rId92" Type="http://schemas.openxmlformats.org/officeDocument/2006/relationships/slide" Target="slides/slide89.xml"/><Relationship Id="rId93" Type="http://schemas.openxmlformats.org/officeDocument/2006/relationships/slide" Target="slides/slide90.xml"/><Relationship Id="rId94" Type="http://schemas.openxmlformats.org/officeDocument/2006/relationships/slide" Target="slides/slide91.xml"/><Relationship Id="rId95" Type="http://schemas.openxmlformats.org/officeDocument/2006/relationships/slide" Target="slides/slide92.xml"/><Relationship Id="rId96" Type="http://schemas.openxmlformats.org/officeDocument/2006/relationships/slide" Target="slides/slide93.xml"/><Relationship Id="rId97" Type="http://schemas.openxmlformats.org/officeDocument/2006/relationships/slide" Target="slides/slide94.xml"/><Relationship Id="rId98" Type="http://schemas.openxmlformats.org/officeDocument/2006/relationships/slide" Target="slides/slide95.xml"/><Relationship Id="rId99" Type="http://schemas.openxmlformats.org/officeDocument/2006/relationships/notesMaster" Target="notesMasters/notesMaster1.xml"/><Relationship Id="rId100" Type="http://schemas.openxmlformats.org/officeDocument/2006/relationships/presProps" Target="presProps.xml"/><Relationship Id="rId101" Type="http://schemas.openxmlformats.org/officeDocument/2006/relationships/tableStyles" Target="tableStyles.xml"/><Relationship Id="rId102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811038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72223759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292378870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644706934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4432814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4769751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24066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546346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462702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18801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64989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4706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77554D-54F7-FF06-986A-5AE9FB7140A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7025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73753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8737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EAE9AF9-3039-CDED-E4DB-99C8C3AF953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59687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92754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65319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E08992D-A1E7-DE6B-90C1-66B372F51E6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19808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258795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27560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0D6D09-4274-5697-C528-D056E2A5614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02616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01581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32342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54B608-D557-01F0-A8B0-B9E7B6A3CC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44439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67133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77382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470F31-004D-53D4-8382-4C5AF86EC87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84785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76217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58277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9FE4A7-DEC4-10C2-7F4A-65C3B59076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21820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60748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47869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9556ECE-0035-E808-A449-ECE9D7E1ABD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94856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08178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99995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5039CD-39CB-DB67-1D5A-E2B051B4282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3155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1248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79268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952DCA-933D-8F77-2936-A66C3A844A5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99823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71884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98909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21594D-C84A-C547-1605-85B23191322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57079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5444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68226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803B21-71E7-C522-8A94-F3CA6305552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28590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650885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40741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CE4DAFF-04F7-4230-4BEA-EF427F07C0D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61133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53312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90009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F782E25-7CDB-5CD6-E19F-435B3470BBE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67890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74549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03512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8047713-D329-CC9F-620C-6911A03712C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18466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70964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71154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B5D5CA-DCF7-3D49-2421-D4E18933B93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94711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18179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00341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B24F63-817F-0D30-E142-FE7737E22E2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6458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86746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82543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AAC652D-E91A-58D6-5923-F0C1FC01907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86598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94712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34777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3CC6B97-41EC-395A-1064-9FCBE703F50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32680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277066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02635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8DB6E2E-CF63-5FED-2AC7-A0CE5050A74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99831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67717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7827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D381DD-2281-8E8E-EFB4-16B032A0F4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01016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14355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54814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76D87FA-7213-3341-A261-31A97A2C72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03432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486868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53928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A8E771-4C19-3D20-69C1-9338EA8C25D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12925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10998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78260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6BA9C1-D5A8-8E5C-2084-79D5D66CFAA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06263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54586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30387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E4E1C1-80F4-D8D0-CF76-BCC0A4739A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09115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09681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00013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6B0075F-8DB6-CC5F-165D-ED13D1EEE04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69782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90937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99924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B06FCC-EE63-40E5-8EE7-25EFAD702D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94579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99076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16739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5648720-9216-0680-5CDC-93A9F681025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83488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61042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70198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25490E-1363-1FBC-42E0-702393BA63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93206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582499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06982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EC5E37-1B7B-FD8A-D19E-89E3560CFA6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34663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15012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41846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884CDD8-4F78-D0C1-F445-8CDC555517E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93099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168881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76740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5A5D82-54A1-E010-1DCB-58053402D95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07178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11448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74101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7FA534-F7CE-9754-80BF-A583283D455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7360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881142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47396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6C83C34-1783-C514-F7C9-033780CB21C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35890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12550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94401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19AFB8D-6200-D523-407A-2237E034D79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84311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853718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01529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3E1B43-876E-8501-05A3-BBD8233AB59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11573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912170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61098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C332D0A-9FBE-A5D0-204A-96C778835C9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6234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463784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50064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EBE33C-D227-C9CC-DEF9-6D9A8826BE7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57505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088361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69363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721C186-B21E-B518-F05E-E6FA785701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34668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51176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3730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93D077-7A35-A1BD-0D22-3EDB2DF29BC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31743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350049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11357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52EF15-93B0-5A99-10E5-8AD2DADDD07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78999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05827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00034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9D548A-7E2E-02BB-948C-A747D913DBD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31708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710099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86186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E2716DB-A4AB-A4DD-82DD-077D939B25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820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85535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9116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C0A1D0-7C9F-717E-AD41-DDC4D2FF562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21892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269141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52330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59A78C-8CAB-66D7-5361-5F4AA65D480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326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565079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8276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241777-0EAB-FF74-79A3-7B365D8F52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71182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64097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99564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94EC14F-C21C-4660-D0FC-8BE5F1E9DA8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4020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870222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40916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2188EEA-5E50-9E80-0608-E9477587048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10004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63851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29165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2CCD28-7C20-E9DD-0AE9-AEAF4144B1E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99673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53620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2800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5B8E9B-596E-B710-3451-51C1B8FCEEC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81364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60612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33356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1D3192-4248-9D56-1F06-9EF700C8448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10979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19104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66765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B3ADEC-ABD1-56E3-0BD7-ACBBD5AF67E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50377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54973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56110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3139C2-200E-271C-177A-A102371E8C9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30328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83346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12298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8BDFC8D-0946-817C-9911-10B70A71E28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06111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239863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19396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E61E51-3776-1744-CFC0-F35C780D227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38368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58363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89554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526887-417A-FC5D-3DB7-604680289C2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48938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569721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16620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289C3ED-A1E5-F975-B4E3-B4BFE3D51D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33496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31686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50508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4A9015-A362-0E32-627C-3EBC75E7292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78680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25161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74386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E2BB51-EADA-3BDC-DDA8-ED9A388EB4C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68066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472339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18152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96B659-0D0D-137C-92EF-822A16A390A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995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273794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81904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2890FE3-36F2-61FE-3FAF-1E75E93C0E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44576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74896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96330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8ECA71-7D42-9DCC-DA2D-3827FCE410F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28410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43742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21185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E9C9EA-D0C5-8A16-AC99-D1073920CAE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594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0968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86360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A324B50-0E93-7B2A-65EE-990BB005D20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37875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66501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55729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46789BF-8A8A-C141-2107-79764C50647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63590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93874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17295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763A53-653B-8F0A-FDDD-40D3067DCFB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2328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37107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1147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2856DD-B1FD-3949-450A-748E65E111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01222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88239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03542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283160-E820-CB5F-8686-C280DB1BBC8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30891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96193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48281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672F173-1261-400B-DD91-164242E331E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57340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25362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05566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EAD88F-53EB-99E7-4867-1369A2FB56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16352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002873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2856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3E1A94-3978-23BE-18F0-1FF6ABD1CBD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11294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70701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48074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26E6BB-64EC-813F-23A3-78DBA3CAF34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40524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92480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94897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B6C2F3-DE2C-DF24-3C4C-DB1166DFEF2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32231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912474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05403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46B5351-9DAF-0272-55C9-595D51A67E1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78230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77817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60322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5B17EEF-8D2B-0DB9-78D7-ECE1F209AAC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74810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42190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41689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377636-A712-215A-99B4-39353C233AE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72329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32443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95807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E000D36-A770-D10F-B094-21B84D82D29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55275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75376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66206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C2FADE5-E39F-5DF0-6580-A4AE781C62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6219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20625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00321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F84FDF-04F1-C98D-038A-F75045A1357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08906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12054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85867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A8AD87-C3CB-800B-A770-F73DBFE8F0C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13904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2113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75498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F5F1EC-E097-505F-140F-0FA67296C32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83393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92756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41564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5BCBF3-6ECB-4DFA-2795-FC53646534B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56648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65672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41547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DEE583-A167-B651-BDE0-01D45DD9C96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67091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47320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69352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C769EF6-F864-7F32-61DE-87CC5FAC2F0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4808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05184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56461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C62D53-2FB8-A716-B057-747DEB60993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61160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92813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13157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B8D1BB-8670-CC74-FE76-8836849437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11721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9158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16278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E7A4C0-D52A-AA81-6013-10C20CB26A0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20971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429689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88843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C11D47-4C3A-DD78-8CFA-CE968BD46ED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38340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63071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33532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9364BE-049E-EEFC-8EA9-DC15E5B9798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92198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93901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71495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5C1E6BE-6F33-1A8D-97D6-12AC929ABAA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79909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98563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77497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AE6731-C6E3-7F23-EE71-783DD17F6B6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88747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974282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01609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B66A66-75A6-A719-8BE4-B2BBAF584D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44251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00912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55060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DD47A6-21B0-FDB8-4CFE-EC02F58A3A8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8559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67991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86694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4E62DA9-53AC-C070-34D7-6FD2234E09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1655467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17861792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62219794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7372819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5722998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80460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215857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701063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3659349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1539813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5585870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8988388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6933646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0139732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3413485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573259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47018318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0292946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6029544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6754618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0930301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0485152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3658758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9337353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20744034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47809862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5657764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69848892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3052413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603098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65516482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664001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8515680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419434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67726324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64428038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6015079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10621417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1868878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353196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3476893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1602522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697919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88799025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205662929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6199023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12325105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4836461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990909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85796279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6189693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079493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305915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573231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50043384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9133394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3717259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2381116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2968964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837101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41658078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0636156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2066897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Relationship Id="rId4" Type="http://schemas.openxmlformats.org/officeDocument/2006/relationships/image" Target="../media/image10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jpg"/><Relationship Id="rId4" Type="http://schemas.openxmlformats.org/officeDocument/2006/relationships/image" Target="../media/image14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jpg"/><Relationship Id="rId4" Type="http://schemas.openxmlformats.org/officeDocument/2006/relationships/image" Target="../media/image17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jpg"/><Relationship Id="rId4" Type="http://schemas.openxmlformats.org/officeDocument/2006/relationships/image" Target="../media/image2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2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3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4.jpg"/><Relationship Id="rId4" Type="http://schemas.openxmlformats.org/officeDocument/2006/relationships/image" Target="../media/image25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6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7.jpg"/><Relationship Id="rId4" Type="http://schemas.openxmlformats.org/officeDocument/2006/relationships/image" Target="../media/image28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9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0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1.jpg"/><Relationship Id="rId4" Type="http://schemas.openxmlformats.org/officeDocument/2006/relationships/image" Target="../media/image32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3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5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6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7.jpg"/><Relationship Id="rId4" Type="http://schemas.openxmlformats.org/officeDocument/2006/relationships/image" Target="../media/image38.jpg"/><Relationship Id="rId5" Type="http://schemas.openxmlformats.org/officeDocument/2006/relationships/image" Target="../media/image3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3.jpg"/><Relationship Id="rId4" Type="http://schemas.openxmlformats.org/officeDocument/2006/relationships/image" Target="../media/image44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5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6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7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8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9.jpg"/><Relationship Id="rId4" Type="http://schemas.openxmlformats.org/officeDocument/2006/relationships/image" Target="../media/image50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1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2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3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4.jpg"/><Relationship Id="rId4" Type="http://schemas.openxmlformats.org/officeDocument/2006/relationships/image" Target="../media/image55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6.jpg"/><Relationship Id="rId4" Type="http://schemas.openxmlformats.org/officeDocument/2006/relationships/image" Target="../media/image57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8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59.jpg"/><Relationship Id="rId4" Type="http://schemas.openxmlformats.org/officeDocument/2006/relationships/image" Target="../media/image60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61.jpg"/><Relationship Id="rId4" Type="http://schemas.openxmlformats.org/officeDocument/2006/relationships/image" Target="../media/image62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63.jpg"/><Relationship Id="rId4" Type="http://schemas.openxmlformats.org/officeDocument/2006/relationships/image" Target="../media/image64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65.jpg"/><Relationship Id="rId4" Type="http://schemas.openxmlformats.org/officeDocument/2006/relationships/image" Target="../media/image66.jpg"/><Relationship Id="rId5" Type="http://schemas.openxmlformats.org/officeDocument/2006/relationships/image" Target="../media/image67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68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69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70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71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72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73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74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75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76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77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78.jpg"/><Relationship Id="rId4" Type="http://schemas.openxmlformats.org/officeDocument/2006/relationships/image" Target="../media/image79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40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80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81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82.jpg"/><Relationship Id="rId4" Type="http://schemas.openxmlformats.org/officeDocument/2006/relationships/image" Target="../media/image83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84.png"/><Relationship Id="rId4" Type="http://schemas.openxmlformats.org/officeDocument/2006/relationships/image" Target="../media/image85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86.jpg"/><Relationship Id="rId4" Type="http://schemas.openxmlformats.org/officeDocument/2006/relationships/image" Target="../media/image87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88.jpg"/><Relationship Id="rId4" Type="http://schemas.openxmlformats.org/officeDocument/2006/relationships/image" Target="../media/image89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90.jpg"/><Relationship Id="rId4" Type="http://schemas.openxmlformats.org/officeDocument/2006/relationships/image" Target="../media/image91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92.jpg"/><Relationship Id="rId4" Type="http://schemas.openxmlformats.org/officeDocument/2006/relationships/image" Target="../media/image93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94.jpg"/><Relationship Id="rId4" Type="http://schemas.openxmlformats.org/officeDocument/2006/relationships/image" Target="../media/image95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96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97.jpg"/><Relationship Id="rId4" Type="http://schemas.openxmlformats.org/officeDocument/2006/relationships/image" Target="../media/image98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99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100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101.jpg"/><Relationship Id="rId4" Type="http://schemas.openxmlformats.org/officeDocument/2006/relationships/image" Target="../media/image102.jpg"/><Relationship Id="rId5" Type="http://schemas.openxmlformats.org/officeDocument/2006/relationships/image" Target="../media/image103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104.jpg"/><Relationship Id="rId4" Type="http://schemas.openxmlformats.org/officeDocument/2006/relationships/image" Target="../media/image105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106.jpg"/><Relationship Id="rId4" Type="http://schemas.openxmlformats.org/officeDocument/2006/relationships/image" Target="../media/image107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108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109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40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110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111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112.jpg"/><Relationship Id="rId4" Type="http://schemas.openxmlformats.org/officeDocument/2006/relationships/image" Target="../media/image113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114.jpg"/><Relationship Id="rId4" Type="http://schemas.openxmlformats.org/officeDocument/2006/relationships/image" Target="../media/image115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116.jpg"/><Relationship Id="rId4" Type="http://schemas.openxmlformats.org/officeDocument/2006/relationships/image" Target="../media/image117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118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119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120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121.jp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122.jp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123.jpg"/><Relationship Id="rId4" Type="http://schemas.openxmlformats.org/officeDocument/2006/relationships/image" Target="../media/image124.jp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125.jp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126.jp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127.jp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128.jpg"/><Relationship Id="rId4" Type="http://schemas.openxmlformats.org/officeDocument/2006/relationships/image" Target="../media/image129.jpg"/><Relationship Id="rId5" Type="http://schemas.openxmlformats.org/officeDocument/2006/relationships/image" Target="../media/image130.jp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131.jpg"/><Relationship Id="rId4" Type="http://schemas.openxmlformats.org/officeDocument/2006/relationships/image" Target="../media/image132.jpg"/><Relationship Id="rId5" Type="http://schemas.openxmlformats.org/officeDocument/2006/relationships/image" Target="../media/image1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256933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75148" y="736453"/>
            <a:ext cx="6041702" cy="490018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95539773" name=""/>
          <p:cNvSpPr txBox="1"/>
          <p:nvPr/>
        </p:nvSpPr>
        <p:spPr bwMode="auto">
          <a:xfrm rot="0" flipH="0" flipV="0">
            <a:off x="1637698" y="5749358"/>
            <a:ext cx="891660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Pemandangan kehidupan pedesaan pada </a:t>
            </a:r>
            <a:r>
              <a:rPr sz="1200" i="1">
                <a:latin typeface="IBM Plex Sans"/>
              </a:rPr>
              <a:t>abad ke-19, yang dikaitkan </a:t>
            </a:r>
            <a:r>
              <a:rPr sz="1200" i="1">
                <a:latin typeface="IBM Plex Sans"/>
              </a:rPr>
              <a:t>dengan Louis-Léopold Boilly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9813981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23213" y="963415"/>
            <a:ext cx="4705157" cy="493116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56923613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226982" y="956998"/>
            <a:ext cx="6597515" cy="494400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437346195" name=""/>
          <p:cNvSpPr txBox="1"/>
          <p:nvPr/>
        </p:nvSpPr>
        <p:spPr bwMode="auto">
          <a:xfrm rot="0" flipH="0" flipV="0">
            <a:off x="457447" y="6012918"/>
            <a:ext cx="467200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>
                <a:latin typeface="IBM Plex Sans"/>
              </a:rPr>
              <a:t>Potret Duc de Sully</a:t>
            </a:r>
            <a:endParaRPr sz="1200" b="0" i="1">
              <a:latin typeface="IBM Plex Sans"/>
              <a:cs typeface="IBM Plex Sans"/>
            </a:endParaRPr>
          </a:p>
        </p:txBody>
      </p:sp>
      <p:sp>
        <p:nvSpPr>
          <p:cNvPr id="1695758245" name=""/>
          <p:cNvSpPr txBox="1"/>
          <p:nvPr/>
        </p:nvSpPr>
        <p:spPr bwMode="auto">
          <a:xfrm rot="0" flipH="0" flipV="0">
            <a:off x="5226981" y="6012918"/>
            <a:ext cx="665452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>
                <a:latin typeface="IBM Plex Sans"/>
              </a:rPr>
              <a:t>Memoar Duc de Sully, Menteri Henri IV</a:t>
            </a:r>
            <a:endParaRPr sz="1200" b="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9273297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02940" y="748832"/>
            <a:ext cx="3956026" cy="536033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360958819" name=""/>
          <p:cNvSpPr txBox="1"/>
          <p:nvPr/>
        </p:nvSpPr>
        <p:spPr bwMode="auto">
          <a:xfrm rot="0" flipH="0" flipV="0">
            <a:off x="2114879" y="6178730"/>
            <a:ext cx="753466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Jean-Baptiste Colbert, Pengawas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Umum Keuangan di </a:t>
            </a:r>
            <a:r>
              <a:rPr sz="1200" i="1" lang="en-US">
                <a:latin typeface="IBM Plex Sans"/>
              </a:rPr>
              <a:t>bawah Louis XIV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3072477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23236" y="848034"/>
            <a:ext cx="6945526" cy="516193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199628209" name=""/>
          <p:cNvSpPr txBox="1"/>
          <p:nvPr/>
        </p:nvSpPr>
        <p:spPr bwMode="auto">
          <a:xfrm rot="0" flipH="0" flipV="0">
            <a:off x="2623235" y="6113748"/>
            <a:ext cx="694660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bengkel pembuat bulu dari abad ke-18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4414699" name=""/>
          <p:cNvSpPr txBox="1"/>
          <p:nvPr/>
        </p:nvSpPr>
        <p:spPr bwMode="auto">
          <a:xfrm rot="0" flipH="0" flipV="0">
            <a:off x="2201303" y="5160814"/>
            <a:ext cx="806828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Pelabuhan Bordeaux pada abad ke-18 oleh Vernet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77354616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239398" y="1437409"/>
            <a:ext cx="5715000" cy="36004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538243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053340" y="1118120"/>
            <a:ext cx="4865927" cy="462175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37625077" name=""/>
          <p:cNvSpPr txBox="1"/>
          <p:nvPr/>
        </p:nvSpPr>
        <p:spPr bwMode="auto">
          <a:xfrm rot="0" flipH="0" flipV="0">
            <a:off x="3401293" y="5825197"/>
            <a:ext cx="6045537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i="1">
                <a:latin typeface="IBM Plex Sans"/>
              </a:rPr>
              <a:t>Robin Hood Negara - </a:t>
            </a:r>
            <a:r>
              <a:rPr sz="1400" i="1" lang="fr-FR">
                <a:latin typeface="IBM Plex Sans"/>
              </a:rPr>
              <a:t>pajak atau kematian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3074642" name=""/>
          <p:cNvSpPr txBox="1"/>
          <p:nvPr/>
        </p:nvSpPr>
        <p:spPr bwMode="auto">
          <a:xfrm rot="0" flipH="0" flipV="0">
            <a:off x="363957" y="5617380"/>
            <a:ext cx="11464083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chemeClr val="tx1"/>
                </a:solidFill>
                <a:latin typeface="IBM Plex Sans"/>
              </a:rPr>
              <a:t>Paman Gober</a:t>
            </a:r>
            <a:endParaRPr sz="1400" i="1">
              <a:latin typeface="IBM Plex Sans"/>
              <a:cs typeface="IBM Plex Sans"/>
            </a:endParaRPr>
          </a:p>
        </p:txBody>
      </p:sp>
      <p:pic>
        <p:nvPicPr>
          <p:cNvPr id="3944198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10468" y="610092"/>
            <a:ext cx="6371062" cy="48929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463742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32616" y="1058120"/>
            <a:ext cx="3559365" cy="474175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52445511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642109" y="1031974"/>
            <a:ext cx="6152365" cy="479405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466661607" name=""/>
          <p:cNvSpPr txBox="1"/>
          <p:nvPr/>
        </p:nvSpPr>
        <p:spPr bwMode="auto">
          <a:xfrm rot="0" flipH="0" flipV="0">
            <a:off x="1132615" y="5880385"/>
            <a:ext cx="356296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Potret Vauban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149802602" name=""/>
          <p:cNvSpPr txBox="1"/>
          <p:nvPr/>
        </p:nvSpPr>
        <p:spPr bwMode="auto">
          <a:xfrm rot="0" flipH="0" flipV="0">
            <a:off x="5642108" y="5880385"/>
            <a:ext cx="615596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Benteng Lille oleh Vauban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251021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74095" y="581589"/>
            <a:ext cx="7243809" cy="569481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610464338" name=""/>
          <p:cNvSpPr txBox="1"/>
          <p:nvPr/>
        </p:nvSpPr>
        <p:spPr bwMode="auto">
          <a:xfrm rot="0" flipH="0" flipV="0">
            <a:off x="2501832" y="6320589"/>
            <a:ext cx="719091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Vauban, "Proyek persepuluhan kerajaan"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6578148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84888" y="483661"/>
            <a:ext cx="3735550" cy="589067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5486339" name=""/>
          <p:cNvSpPr txBox="1"/>
          <p:nvPr/>
        </p:nvSpPr>
        <p:spPr bwMode="auto">
          <a:xfrm rot="0" flipH="0" flipV="0">
            <a:off x="3781755" y="6436677"/>
            <a:ext cx="494217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Sensus penduduk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302018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074351" y="745722"/>
            <a:ext cx="4372052" cy="536655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37975544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963000" y="771307"/>
            <a:ext cx="3217740" cy="531538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14527803" name=""/>
          <p:cNvSpPr txBox="1"/>
          <p:nvPr/>
        </p:nvSpPr>
        <p:spPr bwMode="auto">
          <a:xfrm rot="0" flipH="0" flipV="0">
            <a:off x="816016" y="6186376"/>
            <a:ext cx="553731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Tocqueville, "Rezim Lama dan Revolusi"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49933571" name=""/>
          <p:cNvSpPr txBox="1"/>
          <p:nvPr/>
        </p:nvSpPr>
        <p:spPr bwMode="auto">
          <a:xfrm rot="0" flipH="0" flipV="0">
            <a:off x="7074350" y="6186376"/>
            <a:ext cx="437277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Tiga pesanan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863672" name=""/>
          <p:cNvSpPr txBox="1"/>
          <p:nvPr/>
        </p:nvSpPr>
        <p:spPr bwMode="auto">
          <a:xfrm rot="0" flipH="0" flipV="0">
            <a:off x="2800572" y="5439041"/>
            <a:ext cx="678836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Pierre Lepesant de Boisguilbert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87141020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537413" y="650462"/>
            <a:ext cx="3507767" cy="46709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3046295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23400" y="898921"/>
            <a:ext cx="2811197" cy="5060154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16401079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085742" y="847825"/>
            <a:ext cx="3379667" cy="5162348"/>
          </a:xfrm>
          <a:prstGeom prst="rect">
            <a:avLst/>
          </a:prstGeom>
        </p:spPr>
      </p:pic>
      <p:sp>
        <p:nvSpPr>
          <p:cNvPr id="1674216470" name=""/>
          <p:cNvSpPr txBox="1"/>
          <p:nvPr/>
        </p:nvSpPr>
        <p:spPr bwMode="auto">
          <a:xfrm rot="0" flipH="0" flipV="0">
            <a:off x="1143439" y="6132796"/>
            <a:ext cx="525150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Boisguilbert, "Prancis yang Hancur di bawah Louis XIV"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816580096" name=""/>
          <p:cNvSpPr txBox="1"/>
          <p:nvPr/>
        </p:nvSpPr>
        <p:spPr bwMode="auto">
          <a:xfrm rot="0" flipH="0" flipV="0">
            <a:off x="6438195" y="6132799"/>
            <a:ext cx="479795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Peta Port Royal des Champs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936555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17706" y="1124827"/>
            <a:ext cx="6558025" cy="460834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468921104" name=""/>
          <p:cNvSpPr txBox="1"/>
          <p:nvPr/>
        </p:nvSpPr>
        <p:spPr bwMode="auto">
          <a:xfrm rot="0" flipH="0" flipV="0">
            <a:off x="2816264" y="5850185"/>
            <a:ext cx="656090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Gustave Caillebotte - "Upward Path"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1203520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088961" y="930765"/>
            <a:ext cx="3330976" cy="4996465"/>
          </a:xfrm>
          <a:prstGeom prst="rect">
            <a:avLst/>
          </a:prstGeom>
        </p:spPr>
      </p:pic>
      <p:sp>
        <p:nvSpPr>
          <p:cNvPr id="1984690885" name=""/>
          <p:cNvSpPr txBox="1"/>
          <p:nvPr/>
        </p:nvSpPr>
        <p:spPr bwMode="auto">
          <a:xfrm rot="0" flipH="0" flipV="0">
            <a:off x="254529" y="6010596"/>
            <a:ext cx="1100307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Murray Rothbard, "Perspektif Austria tentang Sejarah Pemikiran Ekonomi"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76311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713692" y="987031"/>
            <a:ext cx="3795930" cy="488393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33102392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600834" y="1003282"/>
            <a:ext cx="2847853" cy="485143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099946519" name=""/>
          <p:cNvSpPr txBox="1"/>
          <p:nvPr/>
        </p:nvSpPr>
        <p:spPr bwMode="auto">
          <a:xfrm rot="0" flipH="0" flipV="0">
            <a:off x="297825" y="5994360"/>
            <a:ext cx="558107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Richard Cantillon, "Esai tentang Sifat Perdagangan"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876655800" name=""/>
          <p:cNvSpPr txBox="1"/>
          <p:nvPr/>
        </p:nvSpPr>
        <p:spPr bwMode="auto">
          <a:xfrm rot="0" flipH="0" flipV="0">
            <a:off x="6385124" y="5994362"/>
            <a:ext cx="460035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John Law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3561738" name=""/>
          <p:cNvSpPr txBox="1"/>
          <p:nvPr/>
        </p:nvSpPr>
        <p:spPr bwMode="auto">
          <a:xfrm rot="0" flipH="0" flipV="0">
            <a:off x="2234355" y="5644315"/>
            <a:ext cx="800803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Tagihan bank menurut undang-undang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5889751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76550" y="440530"/>
            <a:ext cx="7723283" cy="50891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8401464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76295" y="1632539"/>
            <a:ext cx="2754570" cy="359291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600251642" name=""/>
          <p:cNvSpPr txBox="1"/>
          <p:nvPr/>
        </p:nvSpPr>
        <p:spPr bwMode="auto">
          <a:xfrm rot="0" flipH="0" flipV="0">
            <a:off x="4034763" y="5393329"/>
            <a:ext cx="484123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Kepala Biara Saint-Pierre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06298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430437" y="1557211"/>
            <a:ext cx="2152359" cy="370054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47713382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018111" y="1600240"/>
            <a:ext cx="3106773" cy="365751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60411752" name=""/>
          <p:cNvSpPr txBox="1"/>
          <p:nvPr/>
        </p:nvSpPr>
        <p:spPr bwMode="auto">
          <a:xfrm rot="0" flipH="0" flipV="0">
            <a:off x="1371373" y="5368448"/>
            <a:ext cx="440711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Potret Gustave de Molinari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17743035" name=""/>
          <p:cNvSpPr txBox="1"/>
          <p:nvPr/>
        </p:nvSpPr>
        <p:spPr bwMode="auto">
          <a:xfrm rot="0" flipH="0" flipV="0">
            <a:off x="5778126" y="5368447"/>
            <a:ext cx="545646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Kepala Biara Saint-Pierre oleh Molinari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1072379" name=""/>
          <p:cNvSpPr txBox="1"/>
          <p:nvPr/>
        </p:nvSpPr>
        <p:spPr bwMode="auto">
          <a:xfrm rot="0" flipH="0" flipV="0">
            <a:off x="2700898" y="6008069"/>
            <a:ext cx="680532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Kepala Biara Saint-Pierre, "Proyek untuk </a:t>
            </a:r>
            <a:r>
              <a:rPr sz="1200" i="1">
                <a:latin typeface="IBM Plex Sans"/>
              </a:rPr>
              <a:t>Mengembalikan Perdamaian di Eropa"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8159102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40758" y="528813"/>
            <a:ext cx="3510482" cy="53885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7318787" name=""/>
          <p:cNvSpPr txBox="1"/>
          <p:nvPr/>
        </p:nvSpPr>
        <p:spPr bwMode="auto">
          <a:xfrm rot="0" flipH="0" flipV="0">
            <a:off x="95249" y="5634534"/>
            <a:ext cx="554693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Louis XIV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925831263" name=""/>
          <p:cNvSpPr txBox="1"/>
          <p:nvPr/>
        </p:nvSpPr>
        <p:spPr bwMode="auto">
          <a:xfrm rot="0" flipH="0" flipV="0">
            <a:off x="5784994" y="5634534"/>
            <a:ext cx="638867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Versailles, Aula Cermin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48783282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5249" y="1294972"/>
            <a:ext cx="5545499" cy="4268054"/>
          </a:xfrm>
          <a:prstGeom prst="rect">
            <a:avLst/>
          </a:prstGeom>
        </p:spPr>
      </p:pic>
      <p:pic>
        <p:nvPicPr>
          <p:cNvPr id="180353877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784994" y="1298032"/>
            <a:ext cx="6387955" cy="42619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9723332" name=""/>
          <p:cNvSpPr txBox="1"/>
          <p:nvPr/>
        </p:nvSpPr>
        <p:spPr bwMode="auto">
          <a:xfrm rot="0" flipH="0" flipV="0">
            <a:off x="1942124" y="6325407"/>
            <a:ext cx="830846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Akademi Prancis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70161879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42124" y="661480"/>
            <a:ext cx="8307749" cy="55350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85880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91206" y="1409708"/>
            <a:ext cx="2453546" cy="403858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85129154" name=""/>
          <p:cNvSpPr txBox="1"/>
          <p:nvPr/>
        </p:nvSpPr>
        <p:spPr bwMode="auto">
          <a:xfrm rot="0" flipH="0" flipV="0">
            <a:off x="3067380" y="5615308"/>
            <a:ext cx="570155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pamflet Prancis abad ke-18 yang mengusulkan reformasi perdagangan dan keuangan, yang mencerminkan perdebatan awal tentang perdagangan dan kebijakan ekonomi.</a:t>
            </a:r>
            <a:endParaRPr sz="1200" i="1">
              <a:latin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7717143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57693" y="991939"/>
            <a:ext cx="3292167" cy="487412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9650254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242413" y="991940"/>
            <a:ext cx="3745186" cy="487411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626952596" name=""/>
          <p:cNvSpPr txBox="1"/>
          <p:nvPr/>
        </p:nvSpPr>
        <p:spPr bwMode="auto">
          <a:xfrm rot="0" flipH="0" flipV="0">
            <a:off x="1799496" y="5964752"/>
            <a:ext cx="322301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Marquis d'Argenson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46427471" name=""/>
          <p:cNvSpPr txBox="1"/>
          <p:nvPr/>
        </p:nvSpPr>
        <p:spPr bwMode="auto">
          <a:xfrm rot="0" flipH="0" flipV="0">
            <a:off x="6080658" y="5964752"/>
            <a:ext cx="404225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Laissez-faire, laissez-pelintas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081111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86194" y="1603482"/>
            <a:ext cx="4753949" cy="365103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53760976" name=""/>
          <p:cNvSpPr txBox="1"/>
          <p:nvPr/>
        </p:nvSpPr>
        <p:spPr bwMode="auto">
          <a:xfrm rot="0" flipH="0" flipV="0">
            <a:off x="1995817" y="5404298"/>
            <a:ext cx="793613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Pembuatan Pin, "Encyclopédie" oleh </a:t>
            </a:r>
            <a:r>
              <a:rPr sz="1200" i="1">
                <a:latin typeface="IBM Plex Sans"/>
              </a:rPr>
              <a:t>Diderot dan d'Alambert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3384138" name=""/>
          <p:cNvSpPr txBox="1"/>
          <p:nvPr/>
        </p:nvSpPr>
        <p:spPr bwMode="auto">
          <a:xfrm rot="0" flipH="0" flipV="0">
            <a:off x="3603161" y="5856661"/>
            <a:ext cx="500206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Potret Adam Smith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80860019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538707" y="1087128"/>
            <a:ext cx="3130615" cy="468374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958872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05457" y="694032"/>
            <a:ext cx="2996114" cy="497767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07906865" name=""/>
          <p:cNvSpPr txBox="1"/>
          <p:nvPr/>
        </p:nvSpPr>
        <p:spPr bwMode="auto">
          <a:xfrm rot="0" flipH="0" flipV="0">
            <a:off x="2581928" y="5780153"/>
            <a:ext cx="715274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Marquis d'Argenson, "Buku </a:t>
            </a:r>
            <a:r>
              <a:rPr sz="1200" i="1">
                <a:latin typeface="IBM Plex Sans"/>
              </a:rPr>
              <a:t>Harian dan Memoar"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115157" name=""/>
          <p:cNvSpPr txBox="1"/>
          <p:nvPr/>
        </p:nvSpPr>
        <p:spPr bwMode="auto">
          <a:xfrm rot="0" flipH="0" flipV="0">
            <a:off x="2665543" y="5405847"/>
            <a:ext cx="639012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Benoît Malbranque, "Vincent </a:t>
            </a:r>
            <a:r>
              <a:rPr sz="1200" i="1">
                <a:latin typeface="IBM Plex Sans"/>
              </a:rPr>
              <a:t>de Gournay"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211446298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92248" y="652462"/>
            <a:ext cx="3134857" cy="46696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51834184" name=""/>
          <p:cNvPicPr>
            <a:picLocks noChangeAspect="1"/>
          </p:cNvPicPr>
          <p:nvPr/>
        </p:nvPicPr>
        <p:blipFill>
          <a:blip r:embed="rId3"/>
          <a:srcRect l="8172" t="6465" r="7019" b="5123"/>
          <a:stretch/>
        </p:blipFill>
        <p:spPr bwMode="auto">
          <a:xfrm flipH="0" flipV="0">
            <a:off x="8114488" y="1272334"/>
            <a:ext cx="3028949" cy="4313331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146678754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630165" y="1268260"/>
            <a:ext cx="2593733" cy="4321478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69312451" name=""/>
          <p:cNvSpPr txBox="1"/>
          <p:nvPr/>
        </p:nvSpPr>
        <p:spPr bwMode="auto">
          <a:xfrm rot="0" flipH="0" flipV="0">
            <a:off x="943947" y="5700709"/>
            <a:ext cx="2830725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Sebuah risalah tentang perdagangan Josiah Child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143681071" name=""/>
          <p:cNvSpPr txBox="1"/>
          <p:nvPr/>
        </p:nvSpPr>
        <p:spPr bwMode="auto">
          <a:xfrm rot="0" flipH="0" flipV="0">
            <a:off x="4406834" y="5700709"/>
            <a:ext cx="3068379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Teks tertanggal </a:t>
            </a:r>
            <a:r>
              <a:rPr sz="1200" i="1">
                <a:latin typeface="IBM Plex Sans"/>
              </a:rPr>
              <a:t>26 Juni </a:t>
            </a:r>
            <a:r>
              <a:rPr sz="1200" i="1">
                <a:latin typeface="IBM Plex Sans"/>
              </a:rPr>
              <a:t>1715, ditulis </a:t>
            </a:r>
            <a:r>
              <a:rPr sz="1200" i="1">
                <a:latin typeface="IBM Plex Sans"/>
              </a:rPr>
              <a:t>oleh M. </a:t>
            </a:r>
            <a:r>
              <a:rPr sz="1200" i="1">
                <a:latin typeface="IBM Plex Sans"/>
              </a:rPr>
              <a:t>de Gourgan, </a:t>
            </a:r>
            <a:r>
              <a:rPr sz="1200" i="1">
                <a:latin typeface="IBM Plex Sans"/>
              </a:rPr>
              <a:t>seorang pedagang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1314446454" name=""/>
          <p:cNvSpPr txBox="1"/>
          <p:nvPr/>
        </p:nvSpPr>
        <p:spPr bwMode="auto">
          <a:xfrm rot="0" flipH="0" flipV="0">
            <a:off x="8114486" y="5700709"/>
            <a:ext cx="3033627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Laporan resmi </a:t>
            </a:r>
            <a:r>
              <a:rPr sz="1200" i="1">
                <a:latin typeface="IBM Plex Sans"/>
              </a:rPr>
              <a:t>tentang Compagnie </a:t>
            </a:r>
            <a:r>
              <a:rPr sz="1200" i="1">
                <a:latin typeface="IBM Plex Sans"/>
              </a:rPr>
              <a:t>des Indes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pic>
        <p:nvPicPr>
          <p:cNvPr id="1899674346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943946" y="1272333"/>
            <a:ext cx="2836271" cy="4380064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684048" name=""/>
          <p:cNvSpPr txBox="1"/>
          <p:nvPr/>
        </p:nvSpPr>
        <p:spPr bwMode="auto">
          <a:xfrm rot="0" flipH="0" flipV="0">
            <a:off x="3835793" y="6264950"/>
            <a:ext cx="452185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Potret </a:t>
            </a:r>
            <a:r>
              <a:rPr sz="1200" i="1">
                <a:latin typeface="IBM Plex Sans"/>
              </a:rPr>
              <a:t>Turgot </a:t>
            </a:r>
            <a:r>
              <a:rPr sz="1200" i="1">
                <a:latin typeface="IBM Plex Sans"/>
              </a:rPr>
              <a:t/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37016141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35793" y="593049"/>
            <a:ext cx="4520412" cy="56719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9372775" name=""/>
          <p:cNvSpPr txBox="1"/>
          <p:nvPr/>
        </p:nvSpPr>
        <p:spPr bwMode="auto">
          <a:xfrm rot="0" flipH="0" flipV="0">
            <a:off x="4377884" y="4975233"/>
            <a:ext cx="3140535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Lingkaran Vincent de Gournay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pic>
        <p:nvPicPr>
          <p:cNvPr id="204131629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328722" y="1583530"/>
            <a:ext cx="3238499" cy="32384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6931849" name=""/>
          <p:cNvSpPr txBox="1"/>
          <p:nvPr/>
        </p:nvSpPr>
        <p:spPr bwMode="auto">
          <a:xfrm rot="0" flipH="0" flipV="0">
            <a:off x="3858603" y="5796081"/>
            <a:ext cx="436246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Potret David Hume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01732058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974522" y="450272"/>
            <a:ext cx="3933824" cy="52387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456153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536404" y="1624490"/>
            <a:ext cx="4096724" cy="360901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92855443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628898" y="1585474"/>
            <a:ext cx="2266949" cy="3687050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605059592" name=""/>
          <p:cNvSpPr txBox="1"/>
          <p:nvPr/>
        </p:nvSpPr>
        <p:spPr bwMode="auto">
          <a:xfrm rot="0" flipH="0" flipV="0">
            <a:off x="5553459" y="5339678"/>
            <a:ext cx="4085786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Abbé Gabriel-François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Coyer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"La Noblesse commerçante"</a:t>
            </a:r>
          </a:p>
          <a:p>
            <a:pPr algn="ctr"/>
          </a:p>
        </p:txBody>
      </p:sp>
      <p:sp>
        <p:nvSpPr>
          <p:cNvPr id="370785627" name=""/>
          <p:cNvSpPr txBox="1"/>
          <p:nvPr/>
        </p:nvSpPr>
        <p:spPr bwMode="auto">
          <a:xfrm rot="0" flipH="0" flipV="0">
            <a:off x="2563537" y="5339679"/>
            <a:ext cx="235825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Esai tentang kebijakan biji-bijian umum (1755)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1787261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83634" y="1270081"/>
            <a:ext cx="2534625" cy="431783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39872120" name=""/>
          <p:cNvSpPr txBox="1"/>
          <p:nvPr/>
        </p:nvSpPr>
        <p:spPr bwMode="auto">
          <a:xfrm rot="0" flipH="0" flipV="0">
            <a:off x="4168710" y="5648629"/>
            <a:ext cx="3565552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Richard Cantillon, "Esai tentang sifat perdagangan"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59492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62000" y="1075212"/>
            <a:ext cx="2867999" cy="470757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020654627" name=""/>
          <p:cNvSpPr/>
          <p:nvPr/>
        </p:nvSpPr>
        <p:spPr bwMode="auto">
          <a:xfrm flipH="0" flipV="0">
            <a:off x="3348292" y="5831958"/>
            <a:ext cx="5495414" cy="5185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Studi tentang penerbitan ekonomi di Prancis, 1566-1789.</a:t>
            </a:r>
            <a:endParaRPr sz="1200" b="0" i="1" u="none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7410853" name=""/>
          <p:cNvSpPr txBox="1"/>
          <p:nvPr/>
        </p:nvSpPr>
        <p:spPr bwMode="auto">
          <a:xfrm rot="0" flipH="0" flipV="0">
            <a:off x="4195163" y="5594311"/>
            <a:ext cx="3818349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Abbé Gabriel-François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Coyer, </a:t>
            </a:r>
            <a:r>
              <a:rPr sz="1200" i="1">
                <a:latin typeface="IBM Plex Sans"/>
              </a:rPr>
              <a:t>"Chinki"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pic>
        <p:nvPicPr>
          <p:cNvPr id="12098197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560093" y="1364871"/>
            <a:ext cx="2692031" cy="40330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0305097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253430" y="1731168"/>
            <a:ext cx="5389710" cy="33956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70748387" name=""/>
          <p:cNvSpPr/>
          <p:nvPr/>
        </p:nvSpPr>
        <p:spPr bwMode="auto">
          <a:xfrm flipH="0" flipV="0">
            <a:off x="3201327" y="5198765"/>
            <a:ext cx="5494276" cy="274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b="0" i="0" u="none">
                <a:solidFill>
                  <a:srgbClr val="000000"/>
                </a:solidFill>
                <a:latin typeface="IBM Plex Sans"/>
              </a:rPr>
              <a:t>Perdebatan di Estates-General, Prancis, 1789</a:t>
            </a: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3625421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34294" y="1181099"/>
            <a:ext cx="3283887" cy="449579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85771579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534744" y="1174446"/>
            <a:ext cx="2525099" cy="450910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845753349" name=""/>
          <p:cNvSpPr txBox="1"/>
          <p:nvPr/>
        </p:nvSpPr>
        <p:spPr bwMode="auto">
          <a:xfrm rot="0" flipH="0" flipV="0">
            <a:off x="2934291" y="5764453"/>
            <a:ext cx="328532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Potret Mirabeau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015953704" name=""/>
          <p:cNvSpPr txBox="1"/>
          <p:nvPr/>
        </p:nvSpPr>
        <p:spPr bwMode="auto">
          <a:xfrm rot="0" flipH="0" flipV="0">
            <a:off x="6621444" y="5779872"/>
            <a:ext cx="242854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Mirabeau, "L'ami </a:t>
            </a:r>
            <a:r>
              <a:rPr sz="1200" i="1">
                <a:latin typeface="IBM Plex Sans"/>
              </a:rPr>
              <a:t>des hommes"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3540289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14045" y="945558"/>
            <a:ext cx="2915624" cy="496688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502008907" name=""/>
          <p:cNvSpPr txBox="1"/>
          <p:nvPr/>
        </p:nvSpPr>
        <p:spPr bwMode="auto">
          <a:xfrm rot="0" flipH="0" flipV="0">
            <a:off x="4198474" y="6103737"/>
            <a:ext cx="3747483" cy="7928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i="1">
                <a:latin typeface="IBM Plex Sans"/>
              </a:rPr>
              <a:t>Richard Cantillon, "Esai tentang sifat perdagangan"</a:t>
            </a:r>
            <a:endParaRPr sz="14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284563" name=""/>
          <p:cNvSpPr txBox="1"/>
          <p:nvPr/>
        </p:nvSpPr>
        <p:spPr bwMode="auto">
          <a:xfrm rot="0" flipH="0" flipV="0">
            <a:off x="4271145" y="5490666"/>
            <a:ext cx="3262515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Doktrin ekonomi dan sosial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dari Marquis de Mirabeau</a:t>
            </a:r>
          </a:p>
          <a:p>
            <a:pPr algn="ctr"/>
          </a:p>
        </p:txBody>
      </p:sp>
      <p:pic>
        <p:nvPicPr>
          <p:cNvPr id="140561318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271146" y="503216"/>
            <a:ext cx="3323358" cy="49022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7544032" name=""/>
          <p:cNvSpPr txBox="1"/>
          <p:nvPr/>
        </p:nvSpPr>
        <p:spPr bwMode="auto">
          <a:xfrm rot="0" flipH="0" flipV="0">
            <a:off x="4700094" y="5539107"/>
            <a:ext cx="283120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François Quesnay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80525270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00455" y="1390186"/>
            <a:ext cx="2830129" cy="40776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2600895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43648" y="1368701"/>
            <a:ext cx="2658449" cy="412059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7309764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167061" y="1370527"/>
            <a:ext cx="2739412" cy="411694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47843350" name=""/>
          <p:cNvSpPr txBox="1"/>
          <p:nvPr/>
        </p:nvSpPr>
        <p:spPr bwMode="auto">
          <a:xfrm rot="0" flipH="0" flipV="0">
            <a:off x="6335100" y="5620965"/>
            <a:ext cx="278977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Pierre Samuel Dupont de Nemours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880957488" name=""/>
          <p:cNvSpPr txBox="1"/>
          <p:nvPr/>
        </p:nvSpPr>
        <p:spPr bwMode="auto">
          <a:xfrm rot="0" flipH="0" flipV="0">
            <a:off x="3172797" y="5620964"/>
            <a:ext cx="273979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Mirabeau, "Teori </a:t>
            </a:r>
            <a:r>
              <a:rPr sz="1200" i="1">
                <a:latin typeface="IBM Plex Sans"/>
              </a:rPr>
              <a:t>perpajakan"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2023463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398181" y="1566404"/>
            <a:ext cx="2264278" cy="342316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423672778" name=""/>
          <p:cNvSpPr txBox="1"/>
          <p:nvPr/>
        </p:nvSpPr>
        <p:spPr bwMode="auto">
          <a:xfrm rot="0" flipH="0" flipV="0">
            <a:off x="7351488" y="5146176"/>
            <a:ext cx="2143511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Grafik ekonomi oleh François Quesnay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1909772607" name=""/>
          <p:cNvSpPr txBox="1"/>
          <p:nvPr/>
        </p:nvSpPr>
        <p:spPr bwMode="auto">
          <a:xfrm rot="0" flipH="0" flipV="0">
            <a:off x="3370627" y="5084856"/>
            <a:ext cx="235268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François Quesnay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866037319" name=""/>
          <p:cNvPicPr>
            <a:picLocks noChangeAspect="1"/>
          </p:cNvPicPr>
          <p:nvPr/>
        </p:nvPicPr>
        <p:blipFill>
          <a:blip r:embed="rId4"/>
          <a:srcRect l="16910" t="0" r="23944" b="0"/>
          <a:stretch/>
        </p:blipFill>
        <p:spPr bwMode="auto">
          <a:xfrm flipH="0" flipV="0">
            <a:off x="2510051" y="1579616"/>
            <a:ext cx="4455175" cy="34099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9766573" name=""/>
          <p:cNvSpPr txBox="1"/>
          <p:nvPr/>
        </p:nvSpPr>
        <p:spPr bwMode="auto">
          <a:xfrm rot="0" flipH="0" flipV="0">
            <a:off x="4680035" y="5021432"/>
            <a:ext cx="283192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François Quesnay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1499893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286000" y="1047749"/>
            <a:ext cx="7619999" cy="3886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980736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86072" y="2114549"/>
            <a:ext cx="3505199" cy="262890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93151826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135941" y="2114892"/>
            <a:ext cx="1748812" cy="262821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170515060" name=""/>
          <p:cNvSpPr txBox="1"/>
          <p:nvPr/>
        </p:nvSpPr>
        <p:spPr bwMode="auto">
          <a:xfrm rot="0" flipH="0" flipV="0">
            <a:off x="2886071" y="4867597"/>
            <a:ext cx="35062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Ensiklopedia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686248363" name=""/>
          <p:cNvSpPr txBox="1"/>
          <p:nvPr/>
        </p:nvSpPr>
        <p:spPr bwMode="auto">
          <a:xfrm rot="0" flipH="0" flipV="0">
            <a:off x="6910167" y="4867596"/>
            <a:ext cx="2205032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Dupont de </a:t>
            </a:r>
            <a:r>
              <a:rPr sz="1200" i="1">
                <a:latin typeface="IBM Plex Sans"/>
              </a:rPr>
              <a:t>Nemours,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"Teori perpajakan"</a:t>
            </a: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280787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11500" y="2009775"/>
            <a:ext cx="1759837" cy="2838449"/>
          </a:xfrm>
          <a:prstGeom prst="rect">
            <a:avLst/>
          </a:prstGeom>
          <a:ln w="6349">
            <a:solidFill>
              <a:schemeClr val="tx1"/>
            </a:solidFill>
          </a:ln>
        </p:spPr>
      </p:pic>
      <p:pic>
        <p:nvPicPr>
          <p:cNvPr id="152948803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793925" y="2009775"/>
            <a:ext cx="1633080" cy="283844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44813895" name=""/>
          <p:cNvSpPr txBox="1"/>
          <p:nvPr/>
        </p:nvSpPr>
        <p:spPr bwMode="auto">
          <a:xfrm rot="0" flipH="0" flipV="0">
            <a:off x="3528747" y="5037696"/>
            <a:ext cx="2146002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"Fisiokrasi", kumpulan artikel oleh Quesnay, 1768</a:t>
            </a:r>
            <a:endParaRPr sz="1200" i="1">
              <a:latin typeface="IBM Plex Sans"/>
              <a:cs typeface="IBM Plex Sans"/>
            </a:endParaRPr>
          </a:p>
          <a:p>
            <a:pPr algn="ctr"/>
          </a:p>
        </p:txBody>
      </p:sp>
      <p:sp>
        <p:nvSpPr>
          <p:cNvPr id="745085485" name=""/>
          <p:cNvSpPr txBox="1"/>
          <p:nvPr/>
        </p:nvSpPr>
        <p:spPr bwMode="auto">
          <a:xfrm rot="0" flipH="0" flipV="0">
            <a:off x="5924880" y="5037696"/>
            <a:ext cx="2606652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"Ephémérides du Citoyen", jurnal resmi Fisiokrat</a:t>
            </a:r>
            <a:endParaRPr sz="1200" i="1">
              <a:latin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1273226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403861" y="1793817"/>
            <a:ext cx="1915499" cy="327036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48354613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733797" y="1793111"/>
            <a:ext cx="2239349" cy="327177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612686710" name=""/>
          <p:cNvSpPr txBox="1"/>
          <p:nvPr/>
        </p:nvSpPr>
        <p:spPr bwMode="auto">
          <a:xfrm rot="0" flipH="0" flipV="0">
            <a:off x="3733795" y="5208854"/>
            <a:ext cx="227938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Boisguilbert, "Detail </a:t>
            </a:r>
            <a:r>
              <a:rPr sz="1200" i="1">
                <a:latin typeface="IBM Plex Sans"/>
              </a:rPr>
              <a:t>Prancis"</a:t>
            </a:r>
            <a:endParaRPr sz="1200" i="1">
              <a:latin typeface="IBM Plex Sans"/>
            </a:endParaRPr>
          </a:p>
          <a:p>
            <a:pPr algn="ctr"/>
          </a:p>
        </p:txBody>
      </p:sp>
      <p:sp>
        <p:nvSpPr>
          <p:cNvPr id="1700346691" name=""/>
          <p:cNvSpPr txBox="1"/>
          <p:nvPr/>
        </p:nvSpPr>
        <p:spPr bwMode="auto">
          <a:xfrm rot="0" flipH="0" flipV="0">
            <a:off x="6341599" y="5208854"/>
            <a:ext cx="2103515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Cantillon, "Esai tentang </a:t>
            </a:r>
            <a:r>
              <a:rPr sz="1200" i="1">
                <a:latin typeface="IBM Plex Sans"/>
              </a:rPr>
              <a:t>sifat perdagangan"</a:t>
            </a:r>
            <a:endParaRPr sz="1200" i="1">
              <a:latin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1036167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860655" y="1660733"/>
            <a:ext cx="1864370" cy="281857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68290357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933807" y="1679835"/>
            <a:ext cx="1875477" cy="281857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19236334" name=""/>
          <p:cNvSpPr txBox="1"/>
          <p:nvPr/>
        </p:nvSpPr>
        <p:spPr bwMode="auto">
          <a:xfrm rot="0" flipH="0" flipV="0">
            <a:off x="2919485" y="4592245"/>
            <a:ext cx="143486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Quesnay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722751012" name=""/>
          <p:cNvSpPr txBox="1"/>
          <p:nvPr/>
        </p:nvSpPr>
        <p:spPr bwMode="auto">
          <a:xfrm rot="0" flipH="0" flipV="0">
            <a:off x="4965435" y="4592245"/>
            <a:ext cx="151934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Grafik ekonomi Quesnay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724211289" name=""/>
          <p:cNvSpPr txBox="1"/>
          <p:nvPr/>
        </p:nvSpPr>
        <p:spPr bwMode="auto">
          <a:xfrm rot="0" flipH="0" flipV="0">
            <a:off x="7107106" y="4592243"/>
            <a:ext cx="1534989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Mirabeau, </a:t>
            </a:r>
            <a:r>
              <a:rPr sz="1200" i="1">
                <a:latin typeface="IBM Plex Sans"/>
              </a:rPr>
              <a:t>"Teori </a:t>
            </a:r>
            <a:r>
              <a:rPr sz="1200" i="1">
                <a:latin typeface="IBM Plex Sans"/>
              </a:rPr>
              <a:t>Perpajakan"</a:t>
            </a:r>
            <a:endParaRPr sz="1200" i="1">
              <a:latin typeface="IBM Plex Sans"/>
              <a:cs typeface="IBM Plex Sans"/>
            </a:endParaRPr>
          </a:p>
          <a:p>
            <a:pPr algn="ctr"/>
          </a:p>
        </p:txBody>
      </p:sp>
      <p:pic>
        <p:nvPicPr>
          <p:cNvPr id="252181333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2763468" y="1679835"/>
            <a:ext cx="1929755" cy="27803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0632886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84152" y="1486932"/>
            <a:ext cx="2806086" cy="3884132"/>
          </a:xfrm>
          <a:prstGeom prst="rect">
            <a:avLst/>
          </a:prstGeom>
        </p:spPr>
      </p:pic>
      <p:sp>
        <p:nvSpPr>
          <p:cNvPr id="613925283" name=""/>
          <p:cNvSpPr txBox="1"/>
          <p:nvPr/>
        </p:nvSpPr>
        <p:spPr bwMode="auto">
          <a:xfrm rot="0" flipH="0" flipV="0">
            <a:off x="4744422" y="5481361"/>
            <a:ext cx="288986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IBM Plex Sans"/>
              </a:rPr>
              <a:t>Marquess de Pompadour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518455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109231" y="1707567"/>
            <a:ext cx="2134574" cy="34428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113662740" name=""/>
          <p:cNvSpPr/>
          <p:nvPr/>
        </p:nvSpPr>
        <p:spPr bwMode="auto">
          <a:xfrm>
            <a:off x="3455440" y="5345761"/>
            <a:ext cx="5442512" cy="274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Ephémérides du Citoyen, jurnal resmi kaum Fisiokrat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4791806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14097" y="2700453"/>
            <a:ext cx="7363800" cy="145709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67580663" name=""/>
          <p:cNvSpPr txBox="1"/>
          <p:nvPr/>
        </p:nvSpPr>
        <p:spPr bwMode="auto">
          <a:xfrm rot="0" flipH="0" flipV="0">
            <a:off x="2414097" y="4321262"/>
            <a:ext cx="736559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Ekonom pencerahan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5037205" name=""/>
          <p:cNvSpPr txBox="1"/>
          <p:nvPr/>
        </p:nvSpPr>
        <p:spPr bwMode="auto">
          <a:xfrm rot="0" flipH="0" flipV="0">
            <a:off x="4885688" y="5464638"/>
            <a:ext cx="2421338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Fisiokrasi, kumpulan artikel </a:t>
            </a:r>
            <a:r>
              <a:rPr sz="1200" i="1">
                <a:latin typeface="IBM Plex Sans"/>
              </a:rPr>
              <a:t>oleh Quesnay, 1768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  <p:pic>
        <p:nvPicPr>
          <p:cNvPr id="14095272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28568" y="238124"/>
            <a:ext cx="2934862" cy="51188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9456713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00013" y="1452562"/>
            <a:ext cx="5391973" cy="310038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29465082" name=""/>
          <p:cNvSpPr txBox="1"/>
          <p:nvPr/>
        </p:nvSpPr>
        <p:spPr bwMode="auto">
          <a:xfrm rot="0" flipH="0" flipV="0">
            <a:off x="4175568" y="4661019"/>
            <a:ext cx="361989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Jean-François Millet, </a:t>
            </a:r>
            <a:r>
              <a:rPr sz="1200" i="1">
                <a:latin typeface="IBM Plex Sans"/>
              </a:rPr>
              <a:t>"Petani"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313172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982302" y="1485003"/>
            <a:ext cx="2353649" cy="388799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649110283" name=""/>
          <p:cNvSpPr txBox="1"/>
          <p:nvPr/>
        </p:nvSpPr>
        <p:spPr bwMode="auto">
          <a:xfrm rot="0" flipH="0" flipV="0">
            <a:off x="4897965" y="5483745"/>
            <a:ext cx="252339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Tocqueville, "Rezim Lama dan Revolusi"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8191295" name=""/>
          <p:cNvSpPr txBox="1"/>
          <p:nvPr/>
        </p:nvSpPr>
        <p:spPr bwMode="auto">
          <a:xfrm rot="0" flipH="0" flipV="0">
            <a:off x="3767247" y="6455965"/>
            <a:ext cx="465894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Louis XVI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67565640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767247" y="155951"/>
            <a:ext cx="4657503" cy="62341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4824030" name=""/>
          <p:cNvSpPr txBox="1"/>
          <p:nvPr/>
        </p:nvSpPr>
        <p:spPr bwMode="auto">
          <a:xfrm rot="0" flipH="0" flipV="0">
            <a:off x="4375075" y="6245419"/>
            <a:ext cx="344544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Millet, </a:t>
            </a:r>
            <a:r>
              <a:rPr sz="1200" i="1">
                <a:latin typeface="IBM Plex Sans"/>
              </a:rPr>
              <a:t>"Angelus"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38545372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08933" y="74217"/>
            <a:ext cx="7374133" cy="59741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0634293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67725" y="2207417"/>
            <a:ext cx="3857625" cy="24431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135728965" name=""/>
          <p:cNvSpPr txBox="1"/>
          <p:nvPr/>
        </p:nvSpPr>
        <p:spPr bwMode="auto">
          <a:xfrm rot="0" flipH="0" flipV="0">
            <a:off x="4167183" y="4754975"/>
            <a:ext cx="385906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Pelabuhan Bordeaux pada abad ke-18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2005189" name=""/>
          <p:cNvSpPr/>
          <p:nvPr/>
        </p:nvSpPr>
        <p:spPr bwMode="auto">
          <a:xfrm rot="0" flipH="0" flipV="0">
            <a:off x="4500680" y="1709736"/>
            <a:ext cx="2819399" cy="343852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pic>
        <p:nvPicPr>
          <p:cNvPr id="110335912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69274" y="1935605"/>
            <a:ext cx="2282212" cy="2986787"/>
          </a:xfrm>
          <a:prstGeom prst="ellipse">
            <a:avLst/>
          </a:prstGeom>
        </p:spPr>
      </p:pic>
      <p:sp>
        <p:nvSpPr>
          <p:cNvPr id="1975454646" name=""/>
          <p:cNvSpPr txBox="1"/>
          <p:nvPr/>
        </p:nvSpPr>
        <p:spPr bwMode="auto">
          <a:xfrm rot="0" flipH="0" flipV="0">
            <a:off x="3046587" y="5250471"/>
            <a:ext cx="589534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Charles Frederick, "Adipati Agung Baden"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1513222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98550" y="1695598"/>
            <a:ext cx="2782274" cy="3466802"/>
          </a:xfrm>
          <a:prstGeom prst="rect">
            <a:avLst/>
          </a:prstGeom>
        </p:spPr>
      </p:pic>
      <p:pic>
        <p:nvPicPr>
          <p:cNvPr id="49036908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237087" y="1707856"/>
            <a:ext cx="2429848" cy="3442287"/>
          </a:xfrm>
          <a:prstGeom prst="rect">
            <a:avLst/>
          </a:prstGeom>
        </p:spPr>
      </p:pic>
      <p:sp>
        <p:nvSpPr>
          <p:cNvPr id="1569786394" name=""/>
          <p:cNvSpPr txBox="1"/>
          <p:nvPr/>
        </p:nvSpPr>
        <p:spPr bwMode="auto">
          <a:xfrm rot="0" flipH="0" flipV="0">
            <a:off x="2709049" y="5318191"/>
            <a:ext cx="271625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Ekaterina II </a:t>
            </a:r>
            <a:r>
              <a:rPr sz="1200" i="1">
                <a:latin typeface="IBM Plex Sans"/>
              </a:rPr>
              <a:t>dari Rusia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701207350" name=""/>
          <p:cNvSpPr txBox="1"/>
          <p:nvPr/>
        </p:nvSpPr>
        <p:spPr bwMode="auto">
          <a:xfrm rot="0" flipH="0" flipV="0">
            <a:off x="6003187" y="5318190"/>
            <a:ext cx="2874970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Mercier de la Rivière, </a:t>
            </a:r>
            <a:r>
              <a:rPr sz="1200" i="1">
                <a:latin typeface="IBM Plex Sans"/>
              </a:rPr>
              <a:t>"Tatanan alami dan esensial </a:t>
            </a:r>
            <a:r>
              <a:rPr sz="1200" i="1">
                <a:latin typeface="IBM Plex Sans"/>
              </a:rPr>
              <a:t>dari masyarakat politik"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0039365" name=""/>
          <p:cNvSpPr txBox="1"/>
          <p:nvPr/>
        </p:nvSpPr>
        <p:spPr bwMode="auto">
          <a:xfrm rot="0" flipH="0" flipV="0">
            <a:off x="4992105" y="6377725"/>
            <a:ext cx="220778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Potret Turgot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7323016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35793" y="593049"/>
            <a:ext cx="4520412" cy="56718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00320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99997" y="1810262"/>
            <a:ext cx="4030049" cy="3237473"/>
          </a:xfrm>
          <a:prstGeom prst="rect">
            <a:avLst/>
          </a:prstGeom>
        </p:spPr>
      </p:pic>
      <p:sp>
        <p:nvSpPr>
          <p:cNvPr id="1676668344" name=""/>
          <p:cNvSpPr txBox="1"/>
          <p:nvPr/>
        </p:nvSpPr>
        <p:spPr bwMode="auto">
          <a:xfrm rot="0" flipH="0" flipV="0">
            <a:off x="3983837" y="5047732"/>
            <a:ext cx="394728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Royal Edict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2630913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20787" y="1912142"/>
            <a:ext cx="4823791" cy="303371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39665588" name=""/>
          <p:cNvSpPr txBox="1"/>
          <p:nvPr/>
        </p:nvSpPr>
        <p:spPr bwMode="auto">
          <a:xfrm rot="0" flipH="0" flipV="0">
            <a:off x="1951167" y="5079618"/>
            <a:ext cx="796698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Pemanggilan Jenderal Perkebunan di Versailles pada tahun 1789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362090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18803" y="1963800"/>
            <a:ext cx="1953599" cy="293039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98891590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812035" y="1963544"/>
            <a:ext cx="3539512" cy="293090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08882711" name=""/>
          <p:cNvSpPr txBox="1"/>
          <p:nvPr/>
        </p:nvSpPr>
        <p:spPr bwMode="auto">
          <a:xfrm rot="0" flipH="0" flipV="0">
            <a:off x="5812032" y="4954842"/>
            <a:ext cx="359722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Adam Smith, "Kekayaan Bangsa-Bangsa"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951186138" name=""/>
          <p:cNvSpPr txBox="1"/>
          <p:nvPr/>
        </p:nvSpPr>
        <p:spPr bwMode="auto">
          <a:xfrm rot="0" flipH="0" flipV="0">
            <a:off x="2522120" y="4954842"/>
            <a:ext cx="2496705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Joseph Rambaud, "Sejarah doktrin ekonomi"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4424658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239348" y="2713018"/>
            <a:ext cx="4675799" cy="1431963"/>
          </a:xfrm>
          <a:prstGeom prst="rect">
            <a:avLst/>
          </a:prstGeom>
        </p:spPr>
      </p:pic>
      <p:pic>
        <p:nvPicPr>
          <p:cNvPr id="1977577997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582873" y="2106888"/>
            <a:ext cx="1705950" cy="264422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232325847" name=""/>
          <p:cNvSpPr txBox="1"/>
          <p:nvPr/>
        </p:nvSpPr>
        <p:spPr bwMode="auto">
          <a:xfrm rot="0" flipH="0" flipV="0">
            <a:off x="2239346" y="4940495"/>
            <a:ext cx="441695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Entreprise Dupont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360237828" name=""/>
          <p:cNvSpPr txBox="1"/>
          <p:nvPr/>
        </p:nvSpPr>
        <p:spPr bwMode="auto">
          <a:xfrm rot="0" flipH="0" flipV="0">
            <a:off x="7434045" y="4940495"/>
            <a:ext cx="200425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Dupont de Nemours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449743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111319" y="1589667"/>
            <a:ext cx="2687024" cy="367866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66891255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695638" y="1589667"/>
            <a:ext cx="2493776" cy="3678665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34201921" name=""/>
          <p:cNvSpPr txBox="1"/>
          <p:nvPr/>
        </p:nvSpPr>
        <p:spPr bwMode="auto">
          <a:xfrm rot="0" flipH="0" flipV="0">
            <a:off x="3111318" y="5377396"/>
            <a:ext cx="268882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Marquis de Mirabeau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573617164" name=""/>
          <p:cNvSpPr txBox="1"/>
          <p:nvPr/>
        </p:nvSpPr>
        <p:spPr bwMode="auto">
          <a:xfrm rot="0" flipH="0" flipV="0">
            <a:off x="6288937" y="5377395"/>
            <a:ext cx="3334469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Jurnal pertanian, perdagangan </a:t>
            </a:r>
            <a:r>
              <a:rPr sz="1200" i="1">
                <a:latin typeface="IBM Plex Sans"/>
              </a:rPr>
              <a:t>dan keuangan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0366703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852349" y="1976419"/>
            <a:ext cx="1801199" cy="290516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84698254" name=""/>
          <p:cNvSpPr txBox="1"/>
          <p:nvPr/>
        </p:nvSpPr>
        <p:spPr bwMode="auto">
          <a:xfrm rot="0" flipH="0" flipV="0">
            <a:off x="3410044" y="5021555"/>
            <a:ext cx="234736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Quesnay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303337923" name=""/>
          <p:cNvSpPr txBox="1"/>
          <p:nvPr/>
        </p:nvSpPr>
        <p:spPr bwMode="auto">
          <a:xfrm rot="0" flipH="0" flipV="0">
            <a:off x="6279189" y="5021555"/>
            <a:ext cx="294787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Journal des Physiocrates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29973898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539899" y="1956995"/>
            <a:ext cx="2029848" cy="29245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6886797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260304" y="1961006"/>
            <a:ext cx="2382224" cy="2935987"/>
          </a:xfrm>
          <a:prstGeom prst="rect">
            <a:avLst/>
          </a:prstGeom>
        </p:spPr>
      </p:pic>
      <p:pic>
        <p:nvPicPr>
          <p:cNvPr id="107584083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720107" y="1871949"/>
            <a:ext cx="1791674" cy="311410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33655940" name=""/>
          <p:cNvSpPr txBox="1"/>
          <p:nvPr/>
        </p:nvSpPr>
        <p:spPr bwMode="auto">
          <a:xfrm rot="0" flipH="0" flipV="0">
            <a:off x="6260302" y="5139094"/>
            <a:ext cx="261245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167983262" name=""/>
          <p:cNvSpPr txBox="1"/>
          <p:nvPr/>
        </p:nvSpPr>
        <p:spPr bwMode="auto">
          <a:xfrm rot="0" flipH="0" flipV="0">
            <a:off x="3529984" y="5139094"/>
            <a:ext cx="221738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Fisiokrasi, kumpulan teks oleh Quesnay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9765840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224116" y="2185987"/>
            <a:ext cx="1457325" cy="248602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1418206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608658" y="2171700"/>
            <a:ext cx="3826564" cy="251459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85118426" name=""/>
          <p:cNvSpPr txBox="1"/>
          <p:nvPr/>
        </p:nvSpPr>
        <p:spPr bwMode="auto">
          <a:xfrm rot="0" flipH="0" flipV="0">
            <a:off x="6807290" y="4826385"/>
            <a:ext cx="236492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Joseph Schumpeter, "Sejarah analisis ekonomi"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096497960" name=""/>
          <p:cNvSpPr txBox="1"/>
          <p:nvPr/>
        </p:nvSpPr>
        <p:spPr bwMode="auto">
          <a:xfrm rot="0" flipH="0" flipV="0">
            <a:off x="2608656" y="4797810"/>
            <a:ext cx="377903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Pengambilan gambar Istana </a:t>
            </a:r>
            <a:r>
              <a:rPr sz="1200" i="1">
                <a:latin typeface="IBM Plex Sans"/>
              </a:rPr>
              <a:t>Tuileries pada </a:t>
            </a:r>
            <a:r>
              <a:rPr sz="1200" i="1">
                <a:latin typeface="IBM Plex Sans"/>
              </a:rPr>
              <a:t>tahun 1792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669499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637449" y="2278856"/>
            <a:ext cx="3067049" cy="230028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73402254" name=""/>
          <p:cNvSpPr txBox="1"/>
          <p:nvPr/>
        </p:nvSpPr>
        <p:spPr bwMode="auto">
          <a:xfrm rot="0" flipH="0" flipV="0">
            <a:off x="2792912" y="4705618"/>
            <a:ext cx="221049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Adam Smith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570094749" name=""/>
          <p:cNvSpPr txBox="1"/>
          <p:nvPr/>
        </p:nvSpPr>
        <p:spPr bwMode="auto">
          <a:xfrm rot="0" flipH="0" flipV="0">
            <a:off x="5637448" y="4705618"/>
            <a:ext cx="306848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Ensiklopedia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644057857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925968" y="1471611"/>
            <a:ext cx="2077074" cy="310753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6755822" name=""/>
          <p:cNvSpPr txBox="1"/>
          <p:nvPr/>
        </p:nvSpPr>
        <p:spPr bwMode="auto">
          <a:xfrm rot="0" flipH="0" flipV="0">
            <a:off x="4418876" y="5714403"/>
            <a:ext cx="315907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Denis Diderot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71324972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420318" y="1335739"/>
            <a:ext cx="3157274" cy="41865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454051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705473" y="1759888"/>
            <a:ext cx="3885163" cy="333822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30985377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899130" y="1776701"/>
            <a:ext cx="2048849" cy="330459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61521615" name=""/>
          <p:cNvSpPr txBox="1"/>
          <p:nvPr/>
        </p:nvSpPr>
        <p:spPr bwMode="auto">
          <a:xfrm rot="0" flipH="0" flipV="0">
            <a:off x="5705471" y="5156323"/>
            <a:ext cx="3886601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Dialog tentang perdagangan gandum, oleh Galiani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2022602657" name=""/>
          <p:cNvSpPr txBox="1"/>
          <p:nvPr/>
        </p:nvSpPr>
        <p:spPr bwMode="auto">
          <a:xfrm rot="0" flipH="0" flipV="0">
            <a:off x="2899128" y="5156323"/>
            <a:ext cx="205100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Ephemerides warga negara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1951579" name=""/>
          <p:cNvSpPr txBox="1"/>
          <p:nvPr/>
        </p:nvSpPr>
        <p:spPr bwMode="auto">
          <a:xfrm rot="0" flipH="0" flipV="0">
            <a:off x="4900562" y="6188518"/>
            <a:ext cx="239087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Voltaire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7274060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93366" y="333374"/>
            <a:ext cx="4805267" cy="58257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52909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938712" y="1943100"/>
            <a:ext cx="2314575" cy="297180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20905046" name=""/>
          <p:cNvSpPr txBox="1"/>
          <p:nvPr/>
        </p:nvSpPr>
        <p:spPr bwMode="auto">
          <a:xfrm rot="0" flipH="0" flipV="0">
            <a:off x="3023827" y="4971506"/>
            <a:ext cx="614434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Voltaire, "L'homme aux </a:t>
            </a:r>
            <a:r>
              <a:rPr sz="1200" i="1">
                <a:latin typeface="IBM Plex Sans"/>
              </a:rPr>
              <a:t>quarante écus"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962218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934922" y="2090736"/>
            <a:ext cx="2171700" cy="2676524"/>
          </a:xfrm>
          <a:prstGeom prst="rect">
            <a:avLst/>
          </a:prstGeom>
        </p:spPr>
      </p:pic>
      <p:pic>
        <p:nvPicPr>
          <p:cNvPr id="88478205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033326" y="2121937"/>
            <a:ext cx="1739921" cy="261412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2089519475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7784901" y="2481262"/>
            <a:ext cx="2527299" cy="189547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28385075" name=""/>
          <p:cNvSpPr txBox="1"/>
          <p:nvPr/>
        </p:nvSpPr>
        <p:spPr bwMode="auto">
          <a:xfrm rot="0" flipH="0" flipV="0">
            <a:off x="1934921" y="4951861"/>
            <a:ext cx="217350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037056160" name=""/>
          <p:cNvSpPr txBox="1"/>
          <p:nvPr/>
        </p:nvSpPr>
        <p:spPr bwMode="auto">
          <a:xfrm rot="0" flipH="0" flipV="0">
            <a:off x="4792734" y="4875661"/>
            <a:ext cx="2253782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Montesquieu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"Semangat Hukum"</a:t>
            </a:r>
          </a:p>
          <a:p>
            <a:pPr algn="ctr"/>
          </a:p>
        </p:txBody>
      </p:sp>
      <p:sp>
        <p:nvSpPr>
          <p:cNvPr id="1043615154" name=""/>
          <p:cNvSpPr txBox="1"/>
          <p:nvPr/>
        </p:nvSpPr>
        <p:spPr bwMode="auto">
          <a:xfrm rot="0" flipH="0" flipV="0">
            <a:off x="7784901" y="4951861"/>
            <a:ext cx="25283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Ensiklopedia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434752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25194" y="1780441"/>
            <a:ext cx="2296499" cy="329711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33088604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576636" y="1774353"/>
            <a:ext cx="2072662" cy="330929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828704723" name=""/>
          <p:cNvSpPr txBox="1"/>
          <p:nvPr/>
        </p:nvSpPr>
        <p:spPr bwMode="auto">
          <a:xfrm rot="0" flipH="0" flipV="0">
            <a:off x="3695000" y="5191308"/>
            <a:ext cx="180365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Turgot, "Pujian </a:t>
            </a:r>
            <a:r>
              <a:rPr sz="1200" i="1">
                <a:latin typeface="IBM Plex Sans"/>
              </a:rPr>
              <a:t>untuk Gournay"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909182822" name=""/>
          <p:cNvSpPr txBox="1"/>
          <p:nvPr/>
        </p:nvSpPr>
        <p:spPr bwMode="auto">
          <a:xfrm rot="0" flipH="0" flipV="0">
            <a:off x="5952426" y="5191308"/>
            <a:ext cx="2967050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Turgot, "Refleksi tentang pembentukan dan distribusi kekayaan"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727999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06389" y="2025873"/>
            <a:ext cx="1848824" cy="280625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6825477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300785" y="2009234"/>
            <a:ext cx="1796437" cy="2839530"/>
          </a:xfrm>
          <a:prstGeom prst="rect">
            <a:avLst/>
          </a:prstGeom>
          <a:ln w="6349">
            <a:solidFill>
              <a:schemeClr val="tx1"/>
            </a:solidFill>
          </a:ln>
        </p:spPr>
      </p:pic>
      <p:sp>
        <p:nvSpPr>
          <p:cNvPr id="1438129544" name=""/>
          <p:cNvSpPr txBox="1"/>
          <p:nvPr/>
        </p:nvSpPr>
        <p:spPr bwMode="auto">
          <a:xfrm rot="0" flipH="0" flipV="0">
            <a:off x="6014176" y="5052902"/>
            <a:ext cx="2517354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Turgot, "Surat-surat tentang kebebasan perdagangan biji-bijian"</a:t>
            </a:r>
            <a:endParaRPr sz="1200" i="1">
              <a:latin typeface="IBM Plex Sans"/>
            </a:endParaRPr>
          </a:p>
          <a:p>
            <a:pPr algn="ctr"/>
          </a:p>
        </p:txBody>
      </p:sp>
      <p:sp>
        <p:nvSpPr>
          <p:cNvPr id="977429514" name=""/>
          <p:cNvSpPr txBox="1"/>
          <p:nvPr/>
        </p:nvSpPr>
        <p:spPr bwMode="auto">
          <a:xfrm rot="0" flipH="0" flipV="0">
            <a:off x="3231091" y="5052902"/>
            <a:ext cx="2439800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 dan Smith,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"Sebuah kedekatan yang aneh"</a:t>
            </a: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628088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35856" y="1786815"/>
            <a:ext cx="2120287" cy="328436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719682168" name=""/>
          <p:cNvSpPr txBox="1"/>
          <p:nvPr/>
        </p:nvSpPr>
        <p:spPr bwMode="auto">
          <a:xfrm rot="0" flipH="0" flipV="0">
            <a:off x="3297670" y="5234148"/>
            <a:ext cx="559701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Turgot, "Mémoire sur </a:t>
            </a:r>
            <a:r>
              <a:rPr sz="1200" i="1">
                <a:latin typeface="IBM Plex Sans"/>
              </a:rPr>
              <a:t>les prêts d'argent"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3754858" name=""/>
          <p:cNvSpPr txBox="1"/>
          <p:nvPr/>
        </p:nvSpPr>
        <p:spPr bwMode="auto">
          <a:xfrm rot="0" flipH="0" flipV="0">
            <a:off x="4359042" y="6217345"/>
            <a:ext cx="347391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Friedrich A. Hayek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2983511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724639" y="190499"/>
            <a:ext cx="4742720" cy="59769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0966654" name=""/>
          <p:cNvSpPr txBox="1"/>
          <p:nvPr/>
        </p:nvSpPr>
        <p:spPr bwMode="auto">
          <a:xfrm rot="0" flipH="0" flipV="0">
            <a:off x="4813861" y="5844501"/>
            <a:ext cx="25642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9847680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35793" y="116798"/>
            <a:ext cx="4520412" cy="56718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579410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66762" y="1817717"/>
            <a:ext cx="4296749" cy="32225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890887843" name=""/>
          <p:cNvSpPr txBox="1"/>
          <p:nvPr/>
        </p:nvSpPr>
        <p:spPr bwMode="auto">
          <a:xfrm rot="0" flipH="0" flipV="0">
            <a:off x="3666402" y="5150531"/>
            <a:ext cx="430250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J.F. Millet,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"The </a:t>
            </a:r>
            <a:r>
              <a:rPr sz="1200" i="1">
                <a:latin typeface="IBM Plex Sans"/>
              </a:rPr>
              <a:t>Gleaners", </a:t>
            </a:r>
            <a:r>
              <a:rPr sz="1200" i="1">
                <a:latin typeface="IBM Plex Sans"/>
              </a:rPr>
              <a:t>1857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6682258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21966" y="2214322"/>
            <a:ext cx="3191850" cy="242935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849697761" name=""/>
          <p:cNvSpPr txBox="1"/>
          <p:nvPr/>
        </p:nvSpPr>
        <p:spPr bwMode="auto">
          <a:xfrm rot="0" flipH="0" flipV="0">
            <a:off x="4323031" y="4745557"/>
            <a:ext cx="31900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Hasil undian milisi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284422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6319240" y="2281237"/>
            <a:ext cx="2857500" cy="2295524"/>
          </a:xfrm>
          <a:prstGeom prst="rect">
            <a:avLst/>
          </a:prstGeom>
        </p:spPr>
      </p:pic>
      <p:pic>
        <p:nvPicPr>
          <p:cNvPr id="147133875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681881" y="2336902"/>
            <a:ext cx="2848949" cy="2184194"/>
          </a:xfrm>
          <a:prstGeom prst="rect">
            <a:avLst/>
          </a:prstGeom>
        </p:spPr>
      </p:pic>
      <p:sp>
        <p:nvSpPr>
          <p:cNvPr id="200566995" name=""/>
          <p:cNvSpPr txBox="1"/>
          <p:nvPr/>
        </p:nvSpPr>
        <p:spPr bwMode="auto">
          <a:xfrm rot="0" flipH="0" flipV="0">
            <a:off x="2365182" y="4711950"/>
            <a:ext cx="351378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Buku pengaduan dari baillage of Nemours</a:t>
            </a:r>
            <a:endParaRPr sz="1200" i="1">
              <a:latin typeface="IBM Plex Sans"/>
              <a:cs typeface="IBM Plex Sans"/>
            </a:endParaRPr>
          </a:p>
          <a:p>
            <a:pPr algn="ctr"/>
          </a:p>
        </p:txBody>
      </p:sp>
      <p:sp>
        <p:nvSpPr>
          <p:cNvPr id="1476494168" name=""/>
          <p:cNvSpPr txBox="1"/>
          <p:nvPr/>
        </p:nvSpPr>
        <p:spPr bwMode="auto">
          <a:xfrm rot="0" flipH="0" flipV="0">
            <a:off x="6591901" y="4711950"/>
            <a:ext cx="2471985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Edit du Roy</a:t>
            </a:r>
            <a:endParaRPr sz="1200" i="1">
              <a:latin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751524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24598" y="1967913"/>
            <a:ext cx="2070830" cy="292217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890767741" name=""/>
          <p:cNvSpPr txBox="1"/>
          <p:nvPr/>
        </p:nvSpPr>
        <p:spPr bwMode="auto">
          <a:xfrm rot="0" flipH="0" flipV="0">
            <a:off x="3441528" y="5045687"/>
            <a:ext cx="228370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Voltaire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2164138" name=""/>
          <p:cNvSpPr txBox="1"/>
          <p:nvPr/>
        </p:nvSpPr>
        <p:spPr bwMode="auto">
          <a:xfrm rot="0" flipH="0" flipV="0">
            <a:off x="6324596" y="5045687"/>
            <a:ext cx="207442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Louis XVI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96363613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441529" y="1942157"/>
            <a:ext cx="2217996" cy="29736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4082993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94625" y="1367286"/>
            <a:ext cx="3383324" cy="4123427"/>
          </a:xfrm>
          <a:prstGeom prst="rect">
            <a:avLst/>
          </a:prstGeom>
        </p:spPr>
      </p:pic>
      <p:pic>
        <p:nvPicPr>
          <p:cNvPr id="135285266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472000" y="1358237"/>
            <a:ext cx="2668446" cy="414152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723260587" name=""/>
          <p:cNvSpPr txBox="1"/>
          <p:nvPr/>
        </p:nvSpPr>
        <p:spPr bwMode="auto">
          <a:xfrm rot="0" flipH="0" flipV="0">
            <a:off x="2894625" y="5604018"/>
            <a:ext cx="338692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Michel de Montaigne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043448998" name=""/>
          <p:cNvSpPr txBox="1"/>
          <p:nvPr/>
        </p:nvSpPr>
        <p:spPr bwMode="auto">
          <a:xfrm rot="0" flipH="0" flipV="0">
            <a:off x="6471999" y="5604018"/>
            <a:ext cx="274034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Étienne Bonnot de Condillac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03201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37553" y="2210625"/>
            <a:ext cx="3249000" cy="243675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75427645" name=""/>
          <p:cNvSpPr txBox="1"/>
          <p:nvPr/>
        </p:nvSpPr>
        <p:spPr bwMode="auto">
          <a:xfrm rot="0" flipH="0" flipV="0">
            <a:off x="2732121" y="4769027"/>
            <a:ext cx="646093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Condillac, Perdagangan dan Pemerintahan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85279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15775" y="1763784"/>
            <a:ext cx="2591775" cy="3330430"/>
          </a:xfrm>
          <a:prstGeom prst="rect">
            <a:avLst/>
          </a:prstGeom>
        </p:spPr>
      </p:pic>
      <p:sp>
        <p:nvSpPr>
          <p:cNvPr id="1341681092" name=""/>
          <p:cNvSpPr txBox="1"/>
          <p:nvPr/>
        </p:nvSpPr>
        <p:spPr bwMode="auto">
          <a:xfrm rot="0" flipH="0" flipV="0">
            <a:off x="4714875" y="5196666"/>
            <a:ext cx="259393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Jean-Baptiste Say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9206855" name=""/>
          <p:cNvSpPr txBox="1"/>
          <p:nvPr/>
        </p:nvSpPr>
        <p:spPr bwMode="auto">
          <a:xfrm rot="0" flipH="0" flipV="0">
            <a:off x="3930583" y="5602247"/>
            <a:ext cx="382596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Nicolas de Condorcet</a:t>
            </a:r>
            <a:endParaRPr sz="1600">
              <a:latin typeface="IBM Plex Sans"/>
              <a:cs typeface="IBM Plex Sans"/>
            </a:endParaRPr>
          </a:p>
        </p:txBody>
      </p:sp>
      <p:pic>
        <p:nvPicPr>
          <p:cNvPr id="14845897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367011" y="802480"/>
            <a:ext cx="2952749" cy="46577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8339100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44636" y="1898436"/>
            <a:ext cx="2448899" cy="3061124"/>
          </a:xfrm>
          <a:prstGeom prst="rect">
            <a:avLst/>
          </a:prstGeom>
        </p:spPr>
      </p:pic>
      <p:sp>
        <p:nvSpPr>
          <p:cNvPr id="1203121228" name=""/>
          <p:cNvSpPr txBox="1"/>
          <p:nvPr/>
        </p:nvSpPr>
        <p:spPr bwMode="auto">
          <a:xfrm rot="0" flipH="0" flipV="0">
            <a:off x="4183592" y="5047664"/>
            <a:ext cx="331994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Anne Robert Jacques Turgot</a:t>
            </a:r>
            <a:endParaRPr sz="18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475666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73569" y="1494393"/>
            <a:ext cx="2548912" cy="386921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42991926" name=""/>
          <p:cNvSpPr txBox="1"/>
          <p:nvPr/>
        </p:nvSpPr>
        <p:spPr bwMode="auto">
          <a:xfrm rot="0" flipH="0" flipV="0">
            <a:off x="4302652" y="5555937"/>
            <a:ext cx="329398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Galiani, "Surat-surat tentang </a:t>
            </a:r>
            <a:r>
              <a:rPr sz="1200" i="1">
                <a:latin typeface="IBM Plex Sans"/>
              </a:rPr>
              <a:t>perdagangan biji-bijian"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352310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52923" y="2074068"/>
            <a:ext cx="4117194" cy="27098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9477636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334123" y="2074068"/>
            <a:ext cx="4308849" cy="27098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25920567" name=""/>
          <p:cNvSpPr txBox="1"/>
          <p:nvPr/>
        </p:nvSpPr>
        <p:spPr bwMode="auto">
          <a:xfrm rot="0" flipH="0" flipV="0">
            <a:off x="5924881" y="5148306"/>
            <a:ext cx="5287717" cy="548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/>
              <a:t>Pemanggilan Jenderal Perkebunan di Versailles, 5 Mei 1789</a:t>
            </a:r>
            <a:endParaRPr/>
          </a:p>
          <a:p>
            <a:pPr algn="ctr"/>
          </a:p>
        </p:txBody>
      </p:sp>
      <p:sp>
        <p:nvSpPr>
          <p:cNvPr id="2130158033" name=""/>
          <p:cNvSpPr txBox="1"/>
          <p:nvPr/>
        </p:nvSpPr>
        <p:spPr bwMode="auto">
          <a:xfrm rot="0" flipH="0" flipV="0">
            <a:off x="1350762" y="5148306"/>
            <a:ext cx="4123314" cy="548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/>
              <a:t>Champagney, "Daftar Keluhan"</a:t>
            </a:r>
            <a:endParaRPr lang="en-US" sz="1200" i="1"/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240920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83324" y="1600809"/>
            <a:ext cx="2091712" cy="365637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94869393" name=""/>
          <p:cNvSpPr txBox="1"/>
          <p:nvPr/>
        </p:nvSpPr>
        <p:spPr bwMode="auto">
          <a:xfrm rot="0" flipH="0" flipV="0">
            <a:off x="3930582" y="5468130"/>
            <a:ext cx="4401870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Dupont de Nemours, </a:t>
            </a:r>
            <a:r>
              <a:rPr sz="1200" i="1">
                <a:latin typeface="IBM Plex Sans"/>
              </a:rPr>
              <a:t>"Pidato di hadapan </a:t>
            </a:r>
            <a:r>
              <a:rPr sz="1200" i="1">
                <a:latin typeface="IBM Plex Sans"/>
              </a:rPr>
              <a:t>Majelis Nasional", 1789</a:t>
            </a:r>
            <a:endParaRPr sz="1200" i="1">
              <a:latin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368445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46312" y="1170099"/>
            <a:ext cx="2721567" cy="4517801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513147937" name=""/>
          <p:cNvSpPr txBox="1"/>
          <p:nvPr/>
        </p:nvSpPr>
        <p:spPr bwMode="auto">
          <a:xfrm rot="0" flipH="0" flipV="0">
            <a:off x="1474920" y="5802311"/>
            <a:ext cx="907083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Dupont de Nemours, </a:t>
            </a:r>
            <a:r>
              <a:rPr sz="1200" i="1">
                <a:latin typeface="IBM Plex Sans"/>
              </a:rPr>
              <a:t>"Pengaruh Assignats pada </a:t>
            </a:r>
            <a:r>
              <a:rPr sz="1200" i="1">
                <a:latin typeface="IBM Plex Sans"/>
              </a:rPr>
              <a:t>Harga Roti"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8512402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55974" y="2245518"/>
            <a:ext cx="4107950" cy="2366961"/>
          </a:xfrm>
          <a:prstGeom prst="rect">
            <a:avLst/>
          </a:prstGeom>
        </p:spPr>
      </p:pic>
      <p:sp>
        <p:nvSpPr>
          <p:cNvPr id="312220677" name=""/>
          <p:cNvSpPr txBox="1"/>
          <p:nvPr/>
        </p:nvSpPr>
        <p:spPr bwMode="auto">
          <a:xfrm rot="0" flipH="0" flipV="0">
            <a:off x="3955252" y="4674591"/>
            <a:ext cx="411190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IBM Plex Sans"/>
              </a:rPr>
              <a:t>Penetapan 100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758574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37774" y="2338733"/>
            <a:ext cx="3329962" cy="2180533"/>
          </a:xfrm>
          <a:prstGeom prst="rect">
            <a:avLst/>
          </a:prstGeom>
        </p:spPr>
      </p:pic>
      <p:pic>
        <p:nvPicPr>
          <p:cNvPr id="81191873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429250" y="1835771"/>
            <a:ext cx="1870491" cy="318645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790032078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8295786" y="1851835"/>
            <a:ext cx="2035049" cy="315432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246411566" name=""/>
          <p:cNvSpPr txBox="1"/>
          <p:nvPr/>
        </p:nvSpPr>
        <p:spPr bwMode="auto">
          <a:xfrm rot="0" flipH="0" flipV="0">
            <a:off x="1337772" y="5264746"/>
            <a:ext cx="333104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Pierre Le Pesant de Boisguilbert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644181952" name=""/>
          <p:cNvSpPr txBox="1"/>
          <p:nvPr/>
        </p:nvSpPr>
        <p:spPr bwMode="auto">
          <a:xfrm rot="0" flipH="0" flipV="0">
            <a:off x="5145937" y="5264745"/>
            <a:ext cx="2549377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Cantillon, "Esai tentang sifat perdagangan secara umum"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1595953150" name=""/>
          <p:cNvSpPr txBox="1"/>
          <p:nvPr/>
        </p:nvSpPr>
        <p:spPr bwMode="auto">
          <a:xfrm rot="0" flipH="0" flipV="0">
            <a:off x="7993593" y="5264745"/>
            <a:ext cx="275907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1" u="none" lang="en-US">
                <a:solidFill>
                  <a:srgbClr val="000000"/>
                </a:solidFill>
                <a:latin typeface="IBM Plex Sans"/>
              </a:rPr>
              <a:t>Josiah Child, "Sebuah </a:t>
            </a:r>
            <a:r>
              <a:rPr sz="1200" i="1">
                <a:latin typeface="IBM Plex Sans"/>
              </a:rPr>
              <a:t>risalah tentang perdagangan"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028574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42243" y="1771036"/>
            <a:ext cx="2239705" cy="331592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9613018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492816" y="1701171"/>
            <a:ext cx="2244111" cy="345565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310785906" name=""/>
          <p:cNvSpPr txBox="1"/>
          <p:nvPr/>
        </p:nvSpPr>
        <p:spPr bwMode="auto">
          <a:xfrm rot="0" flipH="0" flipV="0">
            <a:off x="4594602" y="5305748"/>
            <a:ext cx="249485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Quesnay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693050672" name=""/>
          <p:cNvSpPr txBox="1"/>
          <p:nvPr/>
        </p:nvSpPr>
        <p:spPr bwMode="auto">
          <a:xfrm rot="0" flipH="0" flipV="0">
            <a:off x="7492095" y="5305748"/>
            <a:ext cx="224518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Condillac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371161700" name=""/>
          <p:cNvSpPr txBox="1"/>
          <p:nvPr/>
        </p:nvSpPr>
        <p:spPr bwMode="auto">
          <a:xfrm rot="0" flipH="0" flipV="0">
            <a:off x="1986120" y="5305748"/>
            <a:ext cx="197887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D'Argenson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473320744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4595323" y="1688523"/>
            <a:ext cx="2416003" cy="34809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ONLYOFFICE/9.0.4.50</Application>
  <PresentationFormat>On-screen Show (4:3)</PresentationFormat>
  <Paragraphs>0</Paragraphs>
  <Slides>95</Slides>
  <Notes>95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95</vt:i4>
      </vt:variant>
    </vt:vector>
  </HeadingPairs>
  <TitlesOfParts>
    <vt:vector size="9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MariJ</cp:lastModifiedBy>
  <cp:revision>19</cp:revision>
  <dcterms:modified xsi:type="dcterms:W3CDTF">2025-10-15T20:45:10Z</dcterms:modified>
</cp:coreProperties>
</file>