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Louis-Léopold Boilly'ye atfedilen </a:t>
            </a:r>
            <a:r>
              <a:rPr sz="1200" i="1">
                <a:latin typeface="IBM Plex Sans"/>
              </a:rPr>
              <a:t>19. yüzyılda kırsal </a:t>
            </a:r>
            <a:r>
              <a:rPr sz="1200" i="1">
                <a:latin typeface="IBM Plex Sans"/>
              </a:rPr>
              <a:t>yaşam sahnesi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Sully Dükü'nün Portresi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Henri IV'ün Bakanı Duc de Sully'nin Anıları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Colbert, 14.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Louis döneminde Maliye </a:t>
            </a:r>
            <a:r>
              <a:rPr sz="1200" i="1" lang="en-US">
                <a:latin typeface="IBM Plex Sans"/>
              </a:rPr>
              <a:t>Genel Kontrolörü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18. yüzyıldan kalma kuş tüyü yapım atölyesi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Vernet tarafından 18. yüzyılda Bordeaux Limanı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Devletin Robin Hood'u - </a:t>
            </a:r>
            <a:r>
              <a:rPr sz="1400" i="1" lang="fr-FR">
                <a:latin typeface="IBM Plex Sans"/>
              </a:rPr>
              <a:t>vergiler ya da ölüm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Scrooge Amca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Vauban'ın Portresi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 tarafından Lille Kalesi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Vauban, "Kraliyet ondalık projesi"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Nüfus sayımı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"Eski Rejim ve Devrim"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Üç emir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"14. Louis Döneminde Yıkılmış Fransa"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 Royal des Champs Haritası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"Yukarı Doğru Yol"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Rothbard, "İktisadi Düşünce Tarihine Avusturyacı Bir Bakış"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"Ticaretin Doğası Üzerine Deneme"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John Law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Law'ın banka faturası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Saint-Pierre Başrahibi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de Molinari'nin Portresi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Molinari'den Saint-Pierre Başrahibi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Saint-Pierre Başrahibi, "Avrupa'da Barışı </a:t>
            </a:r>
            <a:r>
              <a:rPr sz="1200" i="1">
                <a:latin typeface="IBM Plex Sans"/>
              </a:rPr>
              <a:t>Yeniden Tesis Etme Projesi"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Versailles, Aynalar Salonu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Fransız Akademisi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ticaret ve ekonomi politikası üzerine erken dönem tartışmaları yansıtan, ticaret ve finans alanında reformlar öneren 18. yüzyıl Fransız broşürü.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Marquis d'Argenson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laissez-passer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İğne İmalatı, Diderot ve </a:t>
            </a:r>
            <a:r>
              <a:rPr sz="1200" i="1">
                <a:latin typeface="IBM Plex Sans"/>
              </a:rPr>
              <a:t>d'Alambert tarafından yazılan "Encyclopédie"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Smith'in Portresi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Marquis d'Argenson, "Günlük </a:t>
            </a:r>
            <a:r>
              <a:rPr sz="1200" i="1">
                <a:latin typeface="IBM Plex Sans"/>
              </a:rPr>
              <a:t>ve Anılar"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Malbranque, "Vincent </a:t>
            </a:r>
            <a:r>
              <a:rPr sz="1200" i="1">
                <a:latin typeface="IBM Plex Sans"/>
              </a:rPr>
              <a:t>de Gournay"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Ticaret üzerine bir inceleme Josiah Child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26 Haziran </a:t>
            </a:r>
            <a:r>
              <a:rPr sz="1200" i="1">
                <a:latin typeface="IBM Plex Sans"/>
              </a:rPr>
              <a:t>1715 tarihli, </a:t>
            </a:r>
            <a:r>
              <a:rPr sz="1200" i="1">
                <a:latin typeface="IBM Plex Sans"/>
              </a:rPr>
              <a:t>tüccar M. </a:t>
            </a:r>
            <a:r>
              <a:rPr sz="1200" i="1">
                <a:latin typeface="IBM Plex Sans"/>
              </a:rPr>
              <a:t>de Gourgan </a:t>
            </a:r>
            <a:r>
              <a:rPr sz="1200" i="1">
                <a:latin typeface="IBM Plex Sans"/>
              </a:rPr>
              <a:t>tarafından yazılmış </a:t>
            </a:r>
            <a:r>
              <a:rPr sz="1200" i="1">
                <a:latin typeface="IBM Plex Sans"/>
              </a:rPr>
              <a:t>metin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Compagnie des </a:t>
            </a:r>
            <a:r>
              <a:rPr sz="1200" i="1">
                <a:latin typeface="IBM Plex Sans"/>
              </a:rPr>
              <a:t>Indes hakkında </a:t>
            </a:r>
            <a:r>
              <a:rPr sz="1200" i="1">
                <a:latin typeface="IBM Plex Sans"/>
              </a:rPr>
              <a:t>resmi rapor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Turgot'un </a:t>
            </a:r>
            <a:r>
              <a:rPr sz="1200" i="1">
                <a:latin typeface="IBM Plex Sans"/>
              </a:rPr>
              <a:t>Portresi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Vincent de Gournay'ın çevresi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David Hume'un Portresi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"La Noblesse commerçante"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Genel tahıl politikası üzerine deneme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"Ticaretin Doğası Üzerine Deneme"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Fransa'da ekonomi yayıncılığı üzerine bir çalışma,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"Chinki"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Estates-Genel Kurul'da Tartışma, Fransa,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Mirabeau'nun Portresi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"L'ami </a:t>
            </a:r>
            <a:r>
              <a:rPr sz="1200" i="1">
                <a:latin typeface="IBM Plex Sans"/>
              </a:rPr>
              <a:t>des hommes"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Cantillon, "Ticaretin Doğası Üzerine Deneme"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Ekonomik ve sosyal doktrinler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marquis de Mirabeau'nun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Samuel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"Vergilendirme </a:t>
            </a:r>
            <a:r>
              <a:rPr sz="1200" i="1">
                <a:latin typeface="IBM Plex Sans"/>
              </a:rPr>
              <a:t>Teorisi"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 tarafından hazırlanan ekonomik tablo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Ansiklopedi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"Vergilendirme Teorisi"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"Fizyokrasi", Quesnay'in makalelerinin derlemesi, 1768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Citoyen", Fizyokratların resmi dergisi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"Fransa'dan </a:t>
            </a:r>
            <a:r>
              <a:rPr sz="1200" i="1">
                <a:latin typeface="IBM Plex Sans"/>
              </a:rPr>
              <a:t>Detay"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"Ticaretin Doğası </a:t>
            </a:r>
            <a:r>
              <a:rPr sz="1200" i="1">
                <a:latin typeface="IBM Plex Sans"/>
              </a:rPr>
              <a:t>Üzerine Deneme"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Quesnay'in ekonomik tablosu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</a:t>
            </a:r>
            <a:r>
              <a:rPr sz="1200" i="1">
                <a:latin typeface="IBM Plex Sans"/>
              </a:rPr>
              <a:t>"Vergilendirme </a:t>
            </a:r>
            <a:r>
              <a:rPr sz="1200" i="1">
                <a:latin typeface="IBM Plex Sans"/>
              </a:rPr>
              <a:t>Teorisi"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Markiz de Pompadour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Fizyokratların resmi dergisi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Aydınlanma ekonomistleri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Fizyokrasi, Quesnay'in makalelerinin </a:t>
            </a:r>
            <a:r>
              <a:rPr sz="1200" i="1">
                <a:latin typeface="IBM Plex Sans"/>
              </a:rPr>
              <a:t>derlemesi,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Millet, </a:t>
            </a:r>
            <a:r>
              <a:rPr sz="1200" i="1">
                <a:latin typeface="IBM Plex Sans"/>
              </a:rPr>
              <a:t>"Köylüler"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"Eski Rejim ve Devrim"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"Angelus"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18'inci yüzyılda Bordeaux limanı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Charles Frederick, "Baden Büyük Dükü"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Rusya Kralı </a:t>
            </a:r>
            <a:r>
              <a:rPr sz="1200" i="1">
                <a:latin typeface="IBM Plex Sans"/>
              </a:rPr>
              <a:t>Catherine II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</a:t>
            </a:r>
            <a:r>
              <a:rPr sz="1200" i="1">
                <a:latin typeface="IBM Plex Sans"/>
              </a:rPr>
              <a:t>"Siyasi toplumların doğal </a:t>
            </a:r>
            <a:r>
              <a:rPr sz="1200" i="1">
                <a:latin typeface="IBM Plex Sans"/>
              </a:rPr>
              <a:t>ve temel düzeni"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Turgot'un Portresi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Kraliyet Fermanı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1789'da Versailles'da Genel Meclisin Toplanması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Smith, "Ulusların Zenginliği"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Rambaud, "Ekonomik Doktrinler Tarihi"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Girişimci Dupont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de Nemours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Marquis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Tarım, Ticaret ve </a:t>
            </a:r>
            <a:r>
              <a:rPr sz="1200" i="1">
                <a:latin typeface="IBM Plex Sans"/>
              </a:rPr>
              <a:t>Finans Dergisi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Journal des Physiocrates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Fizyokrasi, Quesnay'in metinlerinin derlemesi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Schumpeter, "Ekonomik Analizin Tarihi"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Tuileries Sarayı'nın </a:t>
            </a:r>
            <a:r>
              <a:rPr sz="1200" i="1">
                <a:latin typeface="IBM Plex Sans"/>
              </a:rPr>
              <a:t>1792'de ele </a:t>
            </a:r>
            <a:r>
              <a:rPr sz="1200" i="1">
                <a:latin typeface="IBM Plex Sans"/>
              </a:rPr>
              <a:t>geçirilmesi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Ansiklopedi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Denis Diderot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Galiani tarafından buğday ticareti üzerine diyalog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Vatandaş efemeridleri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"L'homme aux </a:t>
            </a:r>
            <a:r>
              <a:rPr sz="1200" i="1">
                <a:latin typeface="IBM Plex Sans"/>
              </a:rPr>
              <a:t>quarante écus"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Montesquieu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"Kanunların Ruhu"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Ansiklopedi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"Gournay'e </a:t>
            </a:r>
            <a:r>
              <a:rPr sz="1200" i="1">
                <a:latin typeface="IBM Plex Sans"/>
              </a:rPr>
              <a:t>Övgü"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"Zenginliğin Oluşumu ve Dağılımı Üzerine Düşünceler"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"Tahıl Ticaretinin Serbestliği Üzerine Mektuplar"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ve Smith,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"Garip bir yakınlık"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"Mémoire sur </a:t>
            </a:r>
            <a:r>
              <a:rPr sz="1200" i="1">
                <a:latin typeface="IBM Plex Sans"/>
              </a:rPr>
              <a:t>les prêts d'argent"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A. Hayek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Millet,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"The </a:t>
            </a:r>
            <a:r>
              <a:rPr sz="1200" i="1">
                <a:latin typeface="IBM Plex Sans"/>
              </a:rPr>
              <a:t>Gleaners",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Milisler çekiliyor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Nemours Baillage'ın şikayet defteri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Edit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Michel de Montaigne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Condillac, Ticaret ve Hükümet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Jean-Baptiste Say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Nicolas de Condorcet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Jacques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"Tahıl Ticareti </a:t>
            </a:r>
            <a:r>
              <a:rPr sz="1200" i="1">
                <a:latin typeface="IBM Plex Sans"/>
              </a:rPr>
              <a:t>Üzerine Mektuplar"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Versailles'da Genel Meclislerin Toplanması, 5 Mayıs 1789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"Şikayetlerin Listesi"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"Ulusal Meclis </a:t>
            </a:r>
            <a:r>
              <a:rPr sz="1200" i="1">
                <a:latin typeface="IBM Plex Sans"/>
              </a:rPr>
              <a:t>Konuşması", 1789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"Assignats'ın Ekmek </a:t>
            </a:r>
            <a:r>
              <a:rPr sz="1200" i="1">
                <a:latin typeface="IBM Plex Sans"/>
              </a:rPr>
              <a:t>Fiyatına Etkisi"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100'lük atama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"Genel olarak ticaretin doğası üzerine deneme"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Josiah Child, "Ticaret </a:t>
            </a:r>
            <a:r>
              <a:rPr sz="1200" i="1">
                <a:latin typeface="IBM Plex Sans"/>
              </a:rPr>
              <a:t>Üzerine Bir İnceleme"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