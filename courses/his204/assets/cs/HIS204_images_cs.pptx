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Scéna z venkovského života </a:t>
            </a:r>
            <a:r>
              <a:rPr sz="1200" i="1">
                <a:latin typeface="IBM Plex Sans"/>
              </a:rPr>
              <a:t>v 19. století, </a:t>
            </a:r>
            <a:r>
              <a:rPr sz="1200" i="1">
                <a:latin typeface="IBM Plex Sans"/>
              </a:rPr>
              <a:t>autor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Portrét vévody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Paměti vévody de Sully, ministra Henriho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generální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finanční kontrolor za </a:t>
            </a:r>
            <a:r>
              <a:rPr sz="1200" i="1" lang="en-US">
                <a:latin typeface="IBM Plex Sans"/>
              </a:rPr>
              <a:t>Ludvíka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dílna peříčkáře z 18. století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Přístav Bordeaux v 18. století,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státu - </a:t>
            </a:r>
            <a:r>
              <a:rPr sz="1400" i="1" lang="fr-FR">
                <a:latin typeface="IBM Plex Sans"/>
              </a:rPr>
              <a:t>daně nebo smrt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Strýček Skrblík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Vaubanův portrét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Citadela v Lille od Vaubana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"Projekt královského desátku"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Sčítání lidu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"Starý režim a revoluce"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Tři příkazy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"Zničená Francie za Ludvíka XIV."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"Cesta vzhůru"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"Rakouský pohled na dějiny ekonomického myšlení"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"Esej o povaze obchodu"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Bankovní účet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Opat ze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Portrét Gustava de Molinariho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Molinariho opat ze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Opat ze Saint-Pierre, "Projekt </a:t>
            </a:r>
            <a:r>
              <a:rPr sz="1200" i="1">
                <a:latin typeface="IBM Plex Sans"/>
              </a:rPr>
              <a:t>obnovení míru v Evropě"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Ludvík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Zrcadlový sál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Francouzská akademie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francouzský pamflet z 18. století, který navrhuje reformy obchodu a financí a odráží rané debaty o obchodu a hospodářské politice.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Markýz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Výroba špendlíků, "Encyklopedie", </a:t>
            </a:r>
            <a:r>
              <a:rPr sz="1200" i="1">
                <a:latin typeface="IBM Plex Sans"/>
              </a:rPr>
              <a:t>Diderot a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Portrét Adama Smithe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Markýz d'Argenson, "Deník </a:t>
            </a:r>
            <a:r>
              <a:rPr sz="1200" i="1">
                <a:latin typeface="IBM Plex Sans"/>
              </a:rPr>
              <a:t>a paměti"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Pojednání o obchodu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 datovaný </a:t>
            </a:r>
            <a:r>
              <a:rPr sz="1200" i="1">
                <a:latin typeface="IBM Plex Sans"/>
              </a:rPr>
              <a:t>26. června </a:t>
            </a:r>
            <a:r>
              <a:rPr sz="1200" i="1">
                <a:latin typeface="IBM Plex Sans"/>
              </a:rPr>
              <a:t>1715, napsaný </a:t>
            </a:r>
            <a:r>
              <a:rPr sz="1200" i="1">
                <a:latin typeface="IBM Plex Sans"/>
              </a:rPr>
              <a:t>obchodníkem M. </a:t>
            </a:r>
            <a:r>
              <a:rPr sz="1200" i="1">
                <a:latin typeface="IBM Plex Sans"/>
              </a:rPr>
              <a:t>de </a:t>
            </a:r>
            <a:r>
              <a:rPr sz="1200" i="1">
                <a:latin typeface="IBM Plex Sans"/>
              </a:rPr>
              <a:t>Gourganem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Oficiální zpráva </a:t>
            </a:r>
            <a:r>
              <a:rPr sz="1200" i="1">
                <a:latin typeface="IBM Plex Sans"/>
              </a:rPr>
              <a:t>o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Turgotův </a:t>
            </a:r>
            <a:r>
              <a:rPr sz="1200" i="1">
                <a:latin typeface="IBM Plex Sans"/>
              </a:rPr>
              <a:t>portrét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Okruh Vincenta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Portrét Davida Huma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Esej o obecné obilní politice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"Esej o povaze obchodu"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o ekonomickém publikování ve Francii v letech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Debata na generálním stavovském sněmu, Francie,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Portrét Mirabeaua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"Esej o povaze obchodu"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Hospodářské a sociální doktríny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markýze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"Teorie </a:t>
            </a:r>
            <a:r>
              <a:rPr sz="1200" i="1">
                <a:latin typeface="IBM Plex Sans"/>
              </a:rPr>
              <a:t>zdanění"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Ekonomický graf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"Teorie zdanění"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"Fyziokracie", soubor Quesnayových článků,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oficiální časopis fyziokratů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</a:t>
            </a:r>
            <a:r>
              <a:rPr sz="1200" i="1">
                <a:latin typeface="IBM Plex Sans"/>
              </a:rPr>
              <a:t>Francie"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"Esej o </a:t>
            </a:r>
            <a:r>
              <a:rPr sz="1200" i="1">
                <a:latin typeface="IBM Plex Sans"/>
              </a:rPr>
              <a:t>povaze obchodu"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Quesnayův ekonomický diagram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"Teorie </a:t>
            </a:r>
            <a:r>
              <a:rPr sz="1200" i="1">
                <a:latin typeface="IBM Plex Sans"/>
              </a:rPr>
              <a:t>zdanění"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Markýz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oficiální časopis fyziokratů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Osvícenští ekonomové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Fyziokracie, soubor Quesnayových </a:t>
            </a:r>
            <a:r>
              <a:rPr sz="1200" i="1">
                <a:latin typeface="IBM Plex Sans"/>
              </a:rPr>
              <a:t>článků,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"Rolníci"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"Starý režim a revoluce"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Ludvík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Proso,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Přístav Bordeaux v 18. století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Karel Fridrich, "bádenský velkovévoda"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Kateřina </a:t>
            </a:r>
            <a:r>
              <a:rPr sz="1200" i="1">
                <a:latin typeface="IBM Plex Sans"/>
              </a:rPr>
              <a:t>II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"Přirozený a základní </a:t>
            </a:r>
            <a:r>
              <a:rPr sz="1200" i="1">
                <a:latin typeface="IBM Plex Sans"/>
              </a:rPr>
              <a:t>řád politických společností"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Turgotův portrét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Královský edikt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Svolání generálních stavů ve Versailles v roce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"Bohatství národů"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"Dějiny ekonomických doktrín"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Markýz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Časopis pro zemědělství, </a:t>
            </a:r>
            <a:r>
              <a:rPr sz="1200" i="1">
                <a:latin typeface="IBM Plex Sans"/>
              </a:rPr>
              <a:t>obchod a finance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Fyziokracie, sbírka Quesnayových textů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"Dějiny ekonomické analýzy"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Dobytí Tuilerijského </a:t>
            </a:r>
            <a:r>
              <a:rPr sz="1200" i="1">
                <a:latin typeface="IBM Plex Sans"/>
              </a:rPr>
              <a:t>paláce v </a:t>
            </a:r>
            <a:r>
              <a:rPr sz="1200" i="1">
                <a:latin typeface="IBM Plex Sans"/>
              </a:rPr>
              <a:t>roce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o obchodu s pšenicí, autor: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Občanské efemeridy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"Duch zákonů"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Encyklopedie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"Chvála </a:t>
            </a:r>
            <a:r>
              <a:rPr sz="1200" i="1">
                <a:latin typeface="IBM Plex Sans"/>
              </a:rPr>
              <a:t>Gournaye"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"Úvahy o tvorbě a rozdělování bohatství"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"Dopisy o svobodě obchodu s obilím"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a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"Zvláštní blízkost"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Domobrana čerpá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Kniha stížností společnosti Baillage of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Ludvík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obchod a vláda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"Dopisy o </a:t>
            </a:r>
            <a:r>
              <a:rPr sz="1200" i="1">
                <a:latin typeface="IBM Plex Sans"/>
              </a:rPr>
              <a:t>obchodu s obilím"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Svolání generálních stavů ve Versailles, 5. května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"Seznam stížností"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"Projev k Národnímu </a:t>
            </a:r>
            <a:r>
              <a:rPr sz="1200" i="1">
                <a:latin typeface="IBM Plex Sans"/>
              </a:rPr>
              <a:t>shromáždění",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"Vliv asignací na </a:t>
            </a:r>
            <a:r>
              <a:rPr sz="1200" i="1">
                <a:latin typeface="IBM Plex Sans"/>
              </a:rPr>
              <a:t>cenu chleba"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"Esej o povaze obchodu obecně"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"Pojednání </a:t>
            </a:r>
            <a:r>
              <a:rPr sz="1200" i="1">
                <a:latin typeface="IBM Plex Sans"/>
              </a:rPr>
              <a:t>o obchodu"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