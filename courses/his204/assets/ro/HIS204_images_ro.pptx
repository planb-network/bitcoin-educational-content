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5234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229094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608229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5325697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60026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2864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7592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9642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97805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9080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336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692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645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282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713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449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182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75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10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7654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288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904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070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87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853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97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966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0405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42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371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819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853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74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251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58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699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03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5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44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43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2942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044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212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346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936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534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39694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03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06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914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358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808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394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481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624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9451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681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826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1001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286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114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3302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617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830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2950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099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131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43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799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924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823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85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381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547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92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114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969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1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53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6722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931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365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3534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10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232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6606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52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441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5362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0222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84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257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437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787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2092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729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980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066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689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812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5690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378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60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4745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568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182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5403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92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903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4244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983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230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32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711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192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583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703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062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803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642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766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1205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1244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75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1782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07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41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2883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337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839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51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9602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085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79678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617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080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484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01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391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611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5771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814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65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2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937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81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4918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833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17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7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1681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743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352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754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616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72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8433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037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999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306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621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30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8090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1465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41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397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395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41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809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219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28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3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281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7460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2211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318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657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1783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777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009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192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000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666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6219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984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385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2479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777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831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2887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840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714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542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203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59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7813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141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3270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1104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914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172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769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023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131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180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49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872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6342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234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5699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7400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508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308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3509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271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22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946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7239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640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6485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36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643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2720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923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2461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1415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4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816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2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20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001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7529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274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742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794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2155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766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4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60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601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2173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86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754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24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232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260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72522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004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834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0076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3102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753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6729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933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599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2096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94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64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3084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59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846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361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023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333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5322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530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625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038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5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949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172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516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949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574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9828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63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4307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672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984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2055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989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886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3188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0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921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1785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33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100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0127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72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43251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547260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849308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987474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85344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6486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61543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50706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21461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58624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57450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92626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62856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97722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72972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9851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772864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168920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58095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64731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47773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1647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38553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87231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413124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9755169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672519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2888511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484332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0253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23431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989154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997067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37985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9425828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6862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42569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12250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88658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72029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089355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54358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2573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181495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659502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613126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053549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10651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431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0990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41644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699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1146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3691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79807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14332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01364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09511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66811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31830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164268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854804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98667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89430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67559939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Scenă de viață rurală </a:t>
            </a:r>
            <a:r>
              <a:rPr sz="1200" i="1">
                <a:latin typeface="IBM Plex Sans"/>
              </a:rPr>
              <a:t>în secolul al XIX-lea, </a:t>
            </a:r>
            <a:r>
              <a:rPr sz="1200" i="1">
                <a:latin typeface="IBM Plex Sans"/>
              </a:rPr>
              <a:t>atribuită lui 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4122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193477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18312627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Portret al Ducelui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759157652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Memoriile Ducelui de Sully, ministru al lui Henri al IV-lea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72362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29497611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controlor general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al finanțelor sub </a:t>
            </a:r>
            <a:r>
              <a:rPr sz="1200" i="1" lang="en-US">
                <a:latin typeface="IBM Plex Sans"/>
              </a:rPr>
              <a:t>Ludovic al XIV-lea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54028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5238208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atelier de confecționare a penelor din secolul al XVIII-lea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88636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Portul din Bordeaux în secolul al XVIII-lea de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6360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60920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51667523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al statului </a:t>
            </a:r>
            <a:r>
              <a:rPr sz="1400" i="1" lang="fr-FR">
                <a:latin typeface="IBM Plex Sans"/>
              </a:rPr>
              <a:t>- impozite sau moarte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799548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Unchiul Scrooge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18507136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8996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438338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4932519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al lui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55020445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Cetatea Lille de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41237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551214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"Proiectul privind zeciuiala regală"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62309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41041767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Recensământul populației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6090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6678136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60029779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"Vechiul regim și revoluția"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14780287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Cele trei ordine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446886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325226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20855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0591937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22433296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"Franța ruinată sub Ludovic al XIV-lea"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3478050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Harta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1515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39890027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"Calea ascendentă"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5171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64131584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"O perspectivă austriacă asupra istoriei gândirii economice"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67529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1724714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40509894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"Eseu despre natura comerțului"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12836614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518117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Factura bancară a lui Law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479540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0700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781071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Starețul din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21711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70202250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336513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al lui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01526881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Starețul din Saint-Pierre de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997047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Starețul de la Saint-Pierre, "Proiectul </a:t>
            </a:r>
            <a:r>
              <a:rPr sz="1200" i="1">
                <a:latin typeface="IBM Plex Sans"/>
              </a:rPr>
              <a:t>pentru restabilirea păcii în Europa"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075994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056691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Ludovic al XIV-lea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462239606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Sala Oglinzilor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9010200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07701282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76086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Academia Franceză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900725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8730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3358426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pamflet francez din secolul al XVIII-lea care propune reforme în comerț și finanțe, reflectând primele dezbateri privind comerțul și politica economică.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4629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407839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17172584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Marchizul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9753692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26017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6156374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Fabricarea acelor, "Encyclopédie" de </a:t>
            </a:r>
            <a:r>
              <a:rPr sz="1200" i="1">
                <a:latin typeface="IBM Plex Sans"/>
              </a:rPr>
              <a:t>Diderot și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29094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al lui 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116245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03026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50047784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Marchizul d'Argenson, "Jurnal </a:t>
            </a:r>
            <a:r>
              <a:rPr sz="1200" i="1">
                <a:latin typeface="IBM Plex Sans"/>
              </a:rPr>
              <a:t>și memorii"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9500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6890950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1776875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9268288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644700837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Un tratat despre comerț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593669055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Text datat </a:t>
            </a:r>
            <a:r>
              <a:rPr sz="1200" i="1">
                <a:latin typeface="IBM Plex Sans"/>
              </a:rPr>
              <a:t>26 iunie </a:t>
            </a:r>
            <a:r>
              <a:rPr sz="1200" i="1">
                <a:latin typeface="IBM Plex Sans"/>
              </a:rPr>
              <a:t>1715, scris </a:t>
            </a:r>
            <a:r>
              <a:rPr sz="1200" i="1">
                <a:latin typeface="IBM Plex Sans"/>
              </a:rPr>
              <a:t>de M. </a:t>
            </a:r>
            <a:r>
              <a:rPr sz="1200" i="1">
                <a:latin typeface="IBM Plex Sans"/>
              </a:rPr>
              <a:t>de Gourgan, </a:t>
            </a:r>
            <a:r>
              <a:rPr sz="1200" i="1">
                <a:latin typeface="IBM Plex Sans"/>
              </a:rPr>
              <a:t>comerciant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111428630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Raport oficial </a:t>
            </a:r>
            <a:r>
              <a:rPr sz="1200" i="1">
                <a:latin typeface="IBM Plex Sans"/>
              </a:rPr>
              <a:t>privind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6209852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246451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al </a:t>
            </a:r>
            <a:r>
              <a:rPr sz="1200" i="1">
                <a:latin typeface="IBM Plex Sans"/>
              </a:rPr>
              <a:t>lui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92207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940236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Cercul lui Vincent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8220138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288534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al lui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308886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7584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46031483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07763325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Abatele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commerçante"</a:t>
            </a:r>
          </a:p>
          <a:p>
            <a:pPr algn="ctr"/>
          </a:p>
        </p:txBody>
      </p:sp>
      <p:sp>
        <p:nvSpPr>
          <p:cNvPr id="1651366112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Eseu privind politica generală a cerealelor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998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688406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"Eseu despre natura comerțului"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2964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84127054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Studiu privind editarea economică în Franța,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167668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Abatele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067514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18575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93025282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Dezbatere la Adunarea generală, Franța,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73838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50803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74210677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al lui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35755337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121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08973633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"Eseu despre natura comerțului"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83907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Doctrine economice și sociale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ale marchizului de Mirabeau</a:t>
            </a:r>
          </a:p>
          <a:p>
            <a:pPr algn="ctr"/>
          </a:p>
        </p:txBody>
      </p:sp>
      <p:pic>
        <p:nvPicPr>
          <p:cNvPr id="20066926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499465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572227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327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16380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81985201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28074119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"Teoria </a:t>
            </a:r>
            <a:r>
              <a:rPr sz="1200" i="1">
                <a:latin typeface="IBM Plex Sans"/>
              </a:rPr>
              <a:t>impozitării"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06904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04978735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Grafic economic realizat de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385685421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17099228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886027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968295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2279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9492738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61796033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Enciclopedie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21472137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"Teoria impozitării"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277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4424365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54431026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"Fiziocrația", colecție de articole de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667230376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revista oficială a fiziocraților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62764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89590961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39645341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"Detaliu </a:t>
            </a:r>
            <a:r>
              <a:rPr sz="1200" i="1">
                <a:latin typeface="IBM Plex Sans"/>
              </a:rPr>
              <a:t>al Franței"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526006454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"Eseu despre </a:t>
            </a:r>
            <a:r>
              <a:rPr sz="1200" i="1">
                <a:latin typeface="IBM Plex Sans"/>
              </a:rPr>
              <a:t>natura comerțului"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6313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170744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27780541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94086113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Tabloul economic al lui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574867260" name=""/>
          <p:cNvSpPr txBox="1"/>
          <p:nvPr/>
        </p:nvSpPr>
        <p:spPr bwMode="auto">
          <a:xfrm rot="0" flipH="0" flipV="0">
            <a:off x="7107107" y="4592244"/>
            <a:ext cx="1533910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"Teoria </a:t>
            </a:r>
            <a:r>
              <a:rPr/>
              <a:t>impozitării"</a:t>
            </a:r>
            <a:endParaRPr sz="1200" i="1">
              <a:latin typeface="IBM Plex Sans"/>
            </a:endParaRPr>
          </a:p>
          <a:p>
            <a:pPr algn="ctr"/>
          </a:p>
        </p:txBody>
      </p:sp>
      <p:pic>
        <p:nvPicPr>
          <p:cNvPr id="148968175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8992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1289355899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Marchizul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21380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4023269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revista oficială a fiziocraților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702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13396456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Economiștii Iluminismului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698962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Fiziocrația, colecție de articole </a:t>
            </a:r>
            <a:r>
              <a:rPr sz="1200" i="1">
                <a:latin typeface="IBM Plex Sans"/>
              </a:rPr>
              <a:t>de 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626208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53864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53655859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"Țăranii"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76718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0509929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"Vechiul regim și revoluția"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411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Ludovic al XVI-lea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972134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565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58981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0059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6560294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Portul Bordeaux în secolul al XVIII-lea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496902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0781332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678453741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Charles Frederick, "Mare Duce de Baden"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45776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25693452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388572132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Ecaterina a II-a </a:t>
            </a:r>
            <a:r>
              <a:rPr sz="1200" i="1">
                <a:latin typeface="IBM Plex Sans"/>
              </a:rPr>
              <a:t>a Rusiei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81934321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"Ordinea naturală și esențială </a:t>
            </a:r>
            <a:r>
              <a:rPr sz="1200" i="1">
                <a:latin typeface="IBM Plex Sans"/>
              </a:rPr>
              <a:t>a societăților politice"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35968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al lui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490827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476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91314350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Edict regal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8343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97756024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Convocarea statelor generale la Versailles în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2180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0619810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84848684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"Bogăția națiunilor"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0916390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"Istoria doctrinelor economice"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1583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05120863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2194189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Întreprinderea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591531111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36791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5959789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35658637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Marchizul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1617971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Revista de agricultură, </a:t>
            </a:r>
            <a:r>
              <a:rPr sz="1200" i="1">
                <a:latin typeface="IBM Plex Sans"/>
              </a:rPr>
              <a:t>comerț și finanțe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17082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37025368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74291817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50843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3580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5220414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48694855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95814171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Fiziocrația, colecție de texte de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4633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278801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2981754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"Istoria analizei economice"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214025384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Cucerirea Palatului </a:t>
            </a:r>
            <a:r>
              <a:rPr sz="1200" i="1">
                <a:latin typeface="IBM Plex Sans"/>
              </a:rPr>
              <a:t>Tuileries în </a:t>
            </a:r>
            <a:r>
              <a:rPr sz="1200" i="1">
                <a:latin typeface="IBM Plex Sans"/>
              </a:rPr>
              <a:t>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3822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4816556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2147601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Enciclopedie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4182170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743663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89995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993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00484023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97173176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Dialog privind comerțul cu grâu, de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1909298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Efemeridele cetățenilor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380343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707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898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85401077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83903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13573412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40867510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5321550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36169939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"Spiritul legilor"</a:t>
            </a:r>
          </a:p>
          <a:p>
            <a:pPr algn="ctr"/>
          </a:p>
        </p:txBody>
      </p:sp>
      <p:sp>
        <p:nvSpPr>
          <p:cNvPr id="400218946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Enciclopedie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82514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8031570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6931027" name=""/>
          <p:cNvSpPr txBox="1"/>
          <p:nvPr/>
        </p:nvSpPr>
        <p:spPr bwMode="auto">
          <a:xfrm rot="0" flipH="0" flipV="0">
            <a:off x="3695001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"Elogiu </a:t>
            </a:r>
            <a:r>
              <a:rPr sz="1200" i="1">
                <a:latin typeface="IBM Plex Sans"/>
              </a:rPr>
              <a:t>pentru Gournay"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35973705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"Reflecții asupra formării și distribuției bogăției"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17291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00448306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628339586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"Scrisori privind libertatea comerțului cu cereale"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5429536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și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"O stranie apropiere"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3139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4820592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</a:t>
            </a:r>
            <a:r>
              <a:rPr sz="1200" i="1">
                <a:latin typeface="IBM Plex Sans"/>
              </a:rPr>
              <a:t>les prêts d'argent"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6454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475395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174156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4484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7907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45282527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"Gleanerii",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27522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62582775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Miliția trage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8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3736677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471703727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Caietul de reclamații al baillage of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526181860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46086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76299586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37635653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Ludovic al XVI-lea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38537996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0962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3410397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46603945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61667380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8702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5493373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Comerț și guvern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6238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29783528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391910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1777178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89306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606778847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030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9199583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"Scrisori privind </a:t>
            </a:r>
            <a:r>
              <a:rPr sz="1200" i="1">
                <a:latin typeface="IBM Plex Sans"/>
              </a:rPr>
              <a:t>comerțul cu cereale"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0231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77193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38467719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Convocarea statelor generale la Versailles, 5 mai 1789</a:t>
            </a:r>
            <a:endParaRPr/>
          </a:p>
          <a:p>
            <a:pPr algn="ctr"/>
          </a:p>
        </p:txBody>
      </p:sp>
      <p:sp>
        <p:nvSpPr>
          <p:cNvPr id="283610384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"Lista plângerilor"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06811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07963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"Discurs către Adunarea </a:t>
            </a:r>
            <a:r>
              <a:rPr sz="1200" i="1">
                <a:latin typeface="IBM Plex Sans"/>
              </a:rPr>
              <a:t>Națională",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80912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90176552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"Efectul Assignats asupra </a:t>
            </a:r>
            <a:r>
              <a:rPr sz="1200" i="1">
                <a:latin typeface="IBM Plex Sans"/>
              </a:rPr>
              <a:t>prețului pâinii"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70470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09457605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Assignat de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8836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3864443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146981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26646021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38529836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"Eseu privind natura comerțului în general"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62955908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"Tratat de comerț" </a:t>
            </a:r>
            <a:r>
              <a:rPr sz="1200" i="1">
                <a:latin typeface="IBM Plex Sans"/>
              </a:rPr>
              <a:t>(A treatise on trade)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5908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03683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7998432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70734826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3021323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9353260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18</cp:revision>
  <dcterms:modified xsi:type="dcterms:W3CDTF">2025-10-15T19:12:03Z</dcterms:modified>
</cp:coreProperties>
</file>