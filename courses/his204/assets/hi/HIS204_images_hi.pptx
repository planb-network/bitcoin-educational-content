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19वीं सदी के ग्रामीण जीवन </a:t>
            </a:r>
            <a:r>
              <a:rPr sz="1200" i="1">
                <a:latin typeface="IBM Plex Sans"/>
              </a:rPr>
              <a:t>का दृश्य, जिसका श्रेय लुई-लियोपोल्ड </a:t>
            </a:r>
            <a:r>
              <a:rPr sz="1200" i="1">
                <a:latin typeface="IBM Plex Sans"/>
              </a:rPr>
              <a:t>बोइली को दिया जाता है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ड्यूक डी सुली का चित्र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हेनरी चतुर्थ के मंत्री ड्यूक डी सुली के संस्मरण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जीन-बैप्टिस्ट कोलबर्ट, लुई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XIV के अधीन </a:t>
            </a:r>
            <a:r>
              <a:rPr sz="1200" i="1" lang="en-US">
                <a:latin typeface="IBM Plex Sans"/>
              </a:rPr>
              <a:t>वित्त के महानियंत्रक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18वीं सदी की पंख बनाने वाली कार्यशाला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18वीं शताब्दी में बोर्डो बंदरगाह, वर्नेट द्वारा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राज्य का रॉबिन हुड </a:t>
            </a:r>
            <a:r>
              <a:rPr sz="1400" i="1" lang="fr-FR">
                <a:latin typeface="IBM Plex Sans"/>
              </a:rPr>
              <a:t>- कर या मौत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अंकल स्क्रूज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वाउबन का चित्र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वाउबन द्वारा लिले गढ़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वौबन, "रॉयल दशमांश परियोजना"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जनगणना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टोकेविले, “पुरानी व्यवस्था और क्रांति”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तीन आदेश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पियरे लेपेसेंट डी बोइसगुइल्बर्ट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बोइसगिल्बर्ट, “लुई XIV के अधीन बर्बाद फ्रांस”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पोर्ट रॉयल डेस चैंप्स का मानचित्र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गुस्ताव कैलेबोटे - "अपवर्ड पाथ"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मरे रोथबर्ड, “आर्थिक विचार के इतिहास पर एक ऑस्ट्रियाई परिप्रेक्ष्य”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रिचर्ड कैंटिलोन, “वाणिज्य की प्रकृति पर निबंध”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जॉन लॉ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लॉ का बैंक बिल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सेंट-पियरे के मठाधीश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गुस्ताव डी मोलिनारी का पोर्ट्रेट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मोलिनारी द्वारा सेंट-पियरे के मठाधीश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सेंट-पियरे के मठाधीश, "यूरोप में </a:t>
            </a:r>
            <a:r>
              <a:rPr sz="1200" i="1">
                <a:latin typeface="IBM Plex Sans"/>
              </a:rPr>
              <a:t>शांति बहाल करने की परियोजना"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लुई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वर्साय, दर्पणों का हॉल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फ्रेंच अकादमी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18वीं सदी का फ्रांसीसी पैम्फलेट जिसमें वाणिज्य और वित्त में सुधारों का प्रस्ताव है, जो व्यापार और आर्थिक नीति पर प्रारंभिक बहसों को दर्शाता है।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मार्क्विस डी'आर्गेंसन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अहस्तक्षेप, अहस्तक्षेप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पिन निर्माण, डाइडरॉट और </a:t>
            </a:r>
            <a:r>
              <a:rPr sz="1200" i="1">
                <a:latin typeface="IBM Plex Sans"/>
              </a:rPr>
              <a:t>डी'अलाम्बर्ट द्वारा "एनसाइक्लोपेडी"।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एडम स्मिथ का चित्र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मार्क्विस डी'आर्गेंसन, "डायरी </a:t>
            </a:r>
            <a:r>
              <a:rPr sz="1200" i="1">
                <a:latin typeface="IBM Plex Sans"/>
              </a:rPr>
              <a:t>और संस्मरण"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बेनोइट मालब्रैंक, "विंसेंट </a:t>
            </a:r>
            <a:r>
              <a:rPr sz="1200" i="1">
                <a:latin typeface="IBM Plex Sans"/>
              </a:rPr>
              <a:t>डी गौर्ने"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व्यापार पर एक ग्रंथ, जोशिया चाइल्ड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26 जून, </a:t>
            </a:r>
            <a:r>
              <a:rPr sz="1200" i="1">
                <a:latin typeface="IBM Plex Sans"/>
              </a:rPr>
              <a:t>1715 को </a:t>
            </a:r>
            <a:r>
              <a:rPr sz="1200" i="1">
                <a:latin typeface="IBM Plex Sans"/>
              </a:rPr>
              <a:t>व्यापारी एम. </a:t>
            </a:r>
            <a:r>
              <a:rPr sz="1200" i="1">
                <a:latin typeface="IBM Plex Sans"/>
              </a:rPr>
              <a:t>डी. गौरगन </a:t>
            </a:r>
            <a:r>
              <a:rPr sz="1200" i="1">
                <a:latin typeface="IBM Plex Sans"/>
              </a:rPr>
              <a:t>द्वारा लिखित </a:t>
            </a:r>
            <a:r>
              <a:rPr sz="1200" i="1">
                <a:latin typeface="IBM Plex Sans"/>
              </a:rPr>
              <a:t>पाठ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कॉम्पैनी डेस </a:t>
            </a:r>
            <a:r>
              <a:rPr sz="1200" i="1">
                <a:latin typeface="IBM Plex Sans"/>
              </a:rPr>
              <a:t>इंडेस पर </a:t>
            </a:r>
            <a:r>
              <a:rPr sz="1200" i="1">
                <a:latin typeface="IBM Plex Sans"/>
              </a:rPr>
              <a:t>आधिकारिक रिपोर्ट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टर्गोट </a:t>
            </a:r>
            <a:r>
              <a:rPr sz="1200" i="1">
                <a:latin typeface="IBM Plex Sans"/>
              </a:rPr>
              <a:t>का </a:t>
            </a:r>
            <a:r>
              <a:rPr sz="1200" i="1">
                <a:latin typeface="IBM Plex Sans"/>
              </a:rPr>
              <a:t>चित्र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विंसेंट डी गौर्ने का समूह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डेविड ह्यूम का चित्र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अब्बे गेब्रियल-फ्रांकोइस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कॉयर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"ला नोबलेस कॉमर्सेंट"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सामान्य अनाज नीति पर निबंध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रिचर्ड कैंटिलन, “वाणिज्य की प्रकृति पर निबंध”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फ्रांस में आर्थिक प्रकाशन पर अध्ययन, 1566-1789।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एबे गेब्रियल-फ़्रांस्वा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कॉयर, </a:t>
            </a:r>
            <a:r>
              <a:rPr sz="1200" i="1">
                <a:latin typeface="IBM Plex Sans"/>
              </a:rPr>
              <a:t>"चिंकी"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एस्टेट्स-जनरल, फ्रांस में बहस,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मिराब्यू का चित्र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मिराब्यू, "लामी </a:t>
            </a:r>
            <a:r>
              <a:rPr sz="1200" i="1">
                <a:latin typeface="IBM Plex Sans"/>
              </a:rPr>
              <a:t>डेस होम्स"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रिचर्ड कैंटिलन, “वाणिज्य की प्रकृति पर निबंध”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आर्थिक और सामाजिक सिद्धांत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मार्क्विस डी मिराब्यू के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फ़्राँस्वा क्वेस्ने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पियरे सैमुअल डुपोंट डी नेमोर्स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मिराब्यू, “कराधान </a:t>
            </a:r>
            <a:r>
              <a:rPr sz="1200" i="1">
                <a:latin typeface="IBM Plex Sans"/>
              </a:rPr>
              <a:t>का सिद्धांत”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फ़्राँस्वा क्वेस्ने द्वारा आर्थिक चार्ट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फ़्राँस्वा क्वेस्ने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फ़्राँस्वा क्वेस्ने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विश्वकोश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ड्यूपॉन्ट डी </a:t>
            </a:r>
            <a:r>
              <a:rPr sz="1200" i="1">
                <a:latin typeface="IBM Plex Sans"/>
              </a:rPr>
              <a:t>नेमोर्स,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“कराधान का सिद्धांत”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"फ़िज़ियोक्रेसी", क्वेस्ने द्वारा लेखों का संग्रह,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फिजियोक्रेट्स की आधिकारिक पत्रिका "एफ़ेमेराइड्स डू सिटोयेन"।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बोइसगिल्बर्ट, "फ्रांस </a:t>
            </a:r>
            <a:r>
              <a:rPr sz="1200" i="1">
                <a:latin typeface="IBM Plex Sans"/>
              </a:rPr>
              <a:t>का विवरण"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कैंटिलोन, “वाणिज्य की </a:t>
            </a:r>
            <a:r>
              <a:rPr sz="1200" i="1">
                <a:latin typeface="IBM Plex Sans"/>
              </a:rPr>
              <a:t>प्रकृति पर निबंध”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क्वेस्ने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क्वेस्ने का आर्थिक चार्ट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मिराब्यू, “कराधान </a:t>
            </a:r>
            <a:r>
              <a:rPr sz="1200" i="1">
                <a:latin typeface="IBM Plex Sans"/>
              </a:rPr>
              <a:t>का </a:t>
            </a:r>
            <a:r>
              <a:rPr sz="1200" i="1">
                <a:latin typeface="IBM Plex Sans"/>
              </a:rPr>
              <a:t>सिद्धांत”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मार्क्वेस डी पोम्पाडोर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एफेमेराइड्स डू सिटोयेन, फिजियोक्रेट्स की आधिकारिक पत्रिका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ज्ञानोदय अर्थशास्त्री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फिजियोक्रेसी, क्वेस्ने द्वारा लेखों </a:t>
            </a:r>
            <a:r>
              <a:rPr sz="1200" i="1">
                <a:latin typeface="IBM Plex Sans"/>
              </a:rPr>
              <a:t>का संग्रह,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जीन-फ्रांकोइस मिलेट, </a:t>
            </a:r>
            <a:r>
              <a:rPr sz="1200" i="1">
                <a:latin typeface="IBM Plex Sans"/>
              </a:rPr>
              <a:t>"किसान"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टोकेविल, “पुरानी व्यवस्था और क्रांति”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लुई सोलहवें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मिलेट, </a:t>
            </a:r>
            <a:r>
              <a:rPr sz="1200" i="1">
                <a:latin typeface="IBM Plex Sans"/>
              </a:rPr>
              <a:t>“एंजेलस”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18वीं शताब्दी में बोर्डो का बंदरगाह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चार्ल्स फ्रेडरिक, "बैडेन के ग्रैंड ड्यूक"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रूस की </a:t>
            </a:r>
            <a:r>
              <a:rPr sz="1200" i="1">
                <a:latin typeface="IBM Plex Sans"/>
              </a:rPr>
              <a:t>कैथरीन द्वितीय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मर्सिएर डे ला रिवियेर, </a:t>
            </a:r>
            <a:r>
              <a:rPr sz="1200" i="1">
                <a:latin typeface="IBM Plex Sans"/>
              </a:rPr>
              <a:t>"राजनीतिक समाजों का प्राकृतिक </a:t>
            </a:r>
            <a:r>
              <a:rPr sz="1200" i="1">
                <a:latin typeface="IBM Plex Sans"/>
              </a:rPr>
              <a:t>और आवश्यक क्रम"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टर्गोट का चित्र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शाही फरमान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1789 में वर्साय में एस्टेट्स जनरल का आह्वान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एडम स्मिथ, राष्ट्र का धन"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जोसेफ रामबॉड, “आर्थिक सिद्धांतों का इतिहास”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एंटरप्राइज ड्यूपॉंट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ड्यूपॉन्ट डी नेमॉर्स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मार्क्विस डी मिराब्यू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कृषि, व्यापार और </a:t>
            </a:r>
            <a:r>
              <a:rPr sz="1200" i="1">
                <a:latin typeface="IBM Plex Sans"/>
              </a:rPr>
              <a:t>वित्त जर्नल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क्वेस्ने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जर्नल डेस फिजियोक्रेट्स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टरगोट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फिजियोक्रेसी, क्वेस्ने द्वारा ग्रंथों का संग्रह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जोसेफ शुम्पीटर, "आर्थिक विश्लेषण का इतिहास"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1792 में </a:t>
            </a:r>
            <a:r>
              <a:rPr sz="1200" i="1">
                <a:latin typeface="IBM Plex Sans"/>
              </a:rPr>
              <a:t>टुइलरीज़ पैलेस </a:t>
            </a:r>
            <a:r>
              <a:rPr sz="1200" i="1">
                <a:latin typeface="IBM Plex Sans"/>
              </a:rPr>
              <a:t>पर कब्जा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एडम स्मिथ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विश्वकोश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डेनिस डिडेरो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गेहूँ व्यापार पर संवाद, गैलियानी द्वारा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नागरिकों के पंचांग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वॉल्टेयर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वोल्टेयर, "ल'होमे ऑक्स </a:t>
            </a:r>
            <a:r>
              <a:rPr sz="1200" i="1">
                <a:latin typeface="IBM Plex Sans"/>
              </a:rPr>
              <a:t>क्वारेंटे एकस"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टरगोट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मोंटेस्क्यू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“कानून की आत्मा”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विश्वकोश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तुर्गोट, "गौरने </a:t>
            </a:r>
            <a:r>
              <a:rPr sz="1200" i="1">
                <a:latin typeface="IBM Plex Sans"/>
              </a:rPr>
              <a:t>की स्तुति"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टर्गोट, “धन के निर्माण और वितरण पर विचार”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टर्गोट, “अनाज व्यापार की स्वतंत्रता पर पत्र”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टर्गोट और स्मिथ,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"एक अजीब सी नज़दीकी"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तुर्गोट, "मेमोइरे सुर </a:t>
            </a:r>
            <a:r>
              <a:rPr sz="1200" i="1">
                <a:latin typeface="IBM Plex Sans"/>
              </a:rPr>
              <a:t>लेस प्रेट्स डी'अर्जेंट"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फ्रेडरिक ए. हायेक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टरगोट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जे.एफ. मिलेट,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“द </a:t>
            </a:r>
            <a:r>
              <a:rPr sz="1200" i="1">
                <a:latin typeface="IBM Plex Sans"/>
              </a:rPr>
              <a:t>ग्लीनर्स”,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मिलिशिया ड्रा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नेमॉर्स के जमानत की शिकायत पुस्तिका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एडिट डू रॉय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वॉल्टेयर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लुई सोलहवें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मिशेल डी मोंटेन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एटियेन बोनोट डी कोंडिलैक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कोंडिलैक, व्यापार और सरकार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जीन-बैप्टिस्ट से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निकोलस डी कोंडोरसेट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ऐनी रॉबर्ट जैक्स टर्गोट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गैलियानी, “अनाज व्यापार </a:t>
            </a:r>
            <a:r>
              <a:rPr sz="1200" i="1">
                <a:latin typeface="IBM Plex Sans"/>
              </a:rPr>
              <a:t>पर पत्र”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वर्साय में एस्टेट्स जनरल का सम्मन, 5 मई,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शैम्पेन, "शिकायतों की सूची"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ड्यूपॉन्ट डी नेमोर्स, </a:t>
            </a:r>
            <a:r>
              <a:rPr sz="1200" i="1">
                <a:latin typeface="IBM Plex Sans"/>
              </a:rPr>
              <a:t>"राष्ट्रीय सभा को </a:t>
            </a:r>
            <a:r>
              <a:rPr sz="1200" i="1">
                <a:latin typeface="IBM Plex Sans"/>
              </a:rPr>
              <a:t>भाषण",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ड्यूपॉन्ट डी नेमॉर्स, "रोटी </a:t>
            </a:r>
            <a:r>
              <a:rPr sz="1200" i="1">
                <a:latin typeface="IBM Plex Sans"/>
              </a:rPr>
              <a:t>की कीमत पर </a:t>
            </a:r>
            <a:r>
              <a:rPr sz="1200" i="1">
                <a:latin typeface="IBM Plex Sans"/>
              </a:rPr>
              <a:t>असाइनेट्स का प्रभाव"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100 का असाइनमेंट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पियरे ले पेसेंट डी बोइसगुइल्बर्ट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कैंटिलोन, “सामान्यतः वाणिज्य की प्रकृति पर निबंध”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जोशिया चाइल्ड, “व्यापार </a:t>
            </a:r>
            <a:r>
              <a:rPr sz="1200" i="1">
                <a:latin typeface="IBM Plex Sans"/>
              </a:rPr>
              <a:t>पर एक ग्रंथ”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क्वेस्ने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कोंडिलैक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डी'आर्गेंसन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