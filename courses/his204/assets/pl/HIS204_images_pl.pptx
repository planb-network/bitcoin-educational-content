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Scena z życia wiejskiego </a:t>
            </a:r>
            <a:r>
              <a:rPr sz="1200" i="1">
                <a:latin typeface="IBM Plex Sans"/>
              </a:rPr>
              <a:t>w XIX wieku, </a:t>
            </a:r>
            <a:r>
              <a:rPr sz="1200" i="1">
                <a:latin typeface="IBM Plex Sans"/>
              </a:rPr>
              <a:t>przypisywana Louis-Léopoldowi Boilly'emu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Portret księcia de Sully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Pamiętniki księcia de Sully, ministra Henryka IV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generalny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kontroler finansów za </a:t>
            </a:r>
            <a:r>
              <a:rPr sz="1200" i="1" lang="en-US">
                <a:latin typeface="IBM Plex Sans"/>
              </a:rPr>
              <a:t>panowania Ludwika XIV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xVIII-wieczny warsztat pierzarski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Port w Bordeaux w XVIII wieku autorstwa Verneta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Robin hood państwa - </a:t>
            </a:r>
            <a:r>
              <a:rPr sz="1400" i="1" lang="fr-FR">
                <a:latin typeface="IBM Plex Sans"/>
              </a:rPr>
              <a:t>podatki lub śmierć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Wujek Scrooge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Vaubana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Cytadela Lille autorstwa Vaubana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"Projekt dziesięciny królewskiej"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Spis ludności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"Stary reżim i rewolucja"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Trzy rozkazy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"Zrujnowana Francja pod rządami Ludwika XIV"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Mapa Port Royal des Champs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"Ścieżka w górę"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"Austriackie spojrzenie na historię myśli ekonomicznej"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"Esej o naturze handlu"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John Law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Rachunek bankowy Law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Opat Saint-Pierre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Gustave'a de Molinari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Opat z Saint-Pierre autorstwa Molinariego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Opat Saint-Pierre, "Projekt przywrócenia </a:t>
            </a:r>
            <a:r>
              <a:rPr sz="1200" i="1">
                <a:latin typeface="IBM Plex Sans"/>
              </a:rPr>
              <a:t>pokoju w Europie"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Ludwik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Wersal, Sala Lustrzana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Akademia Francuska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xVIII-wieczny francuski pamflet proponujący reformy handlu i finansów, odzwierciedlający wczesne debaty na temat handlu i polityki gospodarczej.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Markiz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Produkcja szpilek, "Encyclopédie" </a:t>
            </a:r>
            <a:r>
              <a:rPr sz="1200" i="1">
                <a:latin typeface="IBM Plex Sans"/>
              </a:rPr>
              <a:t>Diderota i d'Alamberta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Adama Smitha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Markiz d'Argenson, "Dziennik </a:t>
            </a:r>
            <a:r>
              <a:rPr sz="1200" i="1">
                <a:latin typeface="IBM Plex Sans"/>
              </a:rPr>
              <a:t>i wspomnienia"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"Vincent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Traktat o handlu Josiaha Childa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Tekst datowany na </a:t>
            </a:r>
            <a:r>
              <a:rPr sz="1200" i="1">
                <a:latin typeface="IBM Plex Sans"/>
              </a:rPr>
              <a:t>26 czerwca </a:t>
            </a:r>
            <a:r>
              <a:rPr sz="1200" i="1">
                <a:latin typeface="IBM Plex Sans"/>
              </a:rPr>
              <a:t>1715 r., </a:t>
            </a:r>
            <a:r>
              <a:rPr sz="1200" i="1">
                <a:latin typeface="IBM Plex Sans"/>
              </a:rPr>
              <a:t>napisany przez </a:t>
            </a:r>
            <a:r>
              <a:rPr sz="1200" i="1">
                <a:latin typeface="IBM Plex Sans"/>
              </a:rPr>
              <a:t>M. de </a:t>
            </a:r>
            <a:r>
              <a:rPr sz="1200" i="1">
                <a:latin typeface="IBM Plex Sans"/>
              </a:rPr>
              <a:t>Gourgan, kupca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Oficjalny raport </a:t>
            </a:r>
            <a:r>
              <a:rPr sz="1200" i="1">
                <a:latin typeface="IBM Plex Sans"/>
              </a:rPr>
              <a:t>dotyczący Compagnie </a:t>
            </a:r>
            <a:r>
              <a:rPr sz="1200" i="1">
                <a:latin typeface="IBM Plex Sans"/>
              </a:rPr>
              <a:t>des Indes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</a:t>
            </a:r>
            <a:r>
              <a:rPr sz="1200" i="1">
                <a:latin typeface="IBM Plex Sans"/>
              </a:rPr>
              <a:t>Turgota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Krąg Vincenta de Gournay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Davida Hume'a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"La Noblesse commerçante" (Szlachta handlowa)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Esej o ogólnej polityce zbożowej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"Esej o naturze handlu"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Studium na temat publikacji ekonomicznych we Francji,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Debata w Zgromadzeniu Narodowym, Francja, 1789 r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des </a:t>
            </a:r>
            <a:r>
              <a:rPr sz="1200" i="1">
                <a:latin typeface="IBM Plex Sans"/>
              </a:rPr>
              <a:t>hommes" ("Przyjaciel ludzi")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"Esej o naturze handlu"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Doktryny ekonomiczne i społeczne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markiza de Mirabeau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"Teoria </a:t>
            </a:r>
            <a:r>
              <a:rPr sz="1200" i="1">
                <a:latin typeface="IBM Plex Sans"/>
              </a:rPr>
              <a:t>opodatkowania"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Wykres ekonomiczny autorstwa François Quesnaya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Encyklopedia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"Teoria opodatkowania"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"Fizjokracja", zbiór artykułów Quesnaya, 1768 r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oficjalne czasopismo fizjokratów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"Szczegół </a:t>
            </a:r>
            <a:r>
              <a:rPr sz="1200" i="1">
                <a:latin typeface="IBM Plex Sans"/>
              </a:rPr>
              <a:t>Francji"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"Esej o </a:t>
            </a:r>
            <a:r>
              <a:rPr sz="1200" i="1">
                <a:latin typeface="IBM Plex Sans"/>
              </a:rPr>
              <a:t>naturze handlu"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Wykres ekonomiczny Quesnaya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</a:t>
            </a:r>
            <a:r>
              <a:rPr sz="1200" i="1">
                <a:latin typeface="IBM Plex Sans"/>
              </a:rPr>
              <a:t>"Teoria </a:t>
            </a:r>
            <a:r>
              <a:rPr sz="1200" i="1">
                <a:latin typeface="IBM Plex Sans"/>
              </a:rPr>
              <a:t>opodatkowania"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Markiza de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oficjalne czasopismo fizjokratów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Ekonomiści oświecenia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Fizjokracja, zbiór artykułów </a:t>
            </a:r>
            <a:r>
              <a:rPr sz="1200" i="1">
                <a:latin typeface="IBM Plex Sans"/>
              </a:rPr>
              <a:t>Quesnaya, 1768 r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</a:t>
            </a:r>
            <a:r>
              <a:rPr sz="1200" i="1">
                <a:latin typeface="IBM Plex Sans"/>
              </a:rPr>
              <a:t>"Chłopi"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"Stary reżim i rewolucja"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Ludwik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"Angelus"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 w Bordeaux w XVIII wieku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Karol Fryderyk, "wielki książę Badenii"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Katarzyna II </a:t>
            </a:r>
            <a:r>
              <a:rPr sz="1200" i="1">
                <a:latin typeface="IBM Plex Sans"/>
              </a:rPr>
              <a:t>z Rosji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"Naturalny i zasadniczy </a:t>
            </a:r>
            <a:r>
              <a:rPr sz="1200" i="1">
                <a:latin typeface="IBM Plex Sans"/>
              </a:rPr>
              <a:t>porządek społeczeństw politycznych"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Turgota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Edykt królewski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Zwołanie Stanów Generalnych w Wersalu w 1789 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"Bogactwo narodów"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"Historia doktryn ekonomicznych"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Entreprise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Markiz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Dziennik rolnictwa, handlu </a:t>
            </a:r>
            <a:r>
              <a:rPr sz="1200" i="1">
                <a:latin typeface="IBM Plex Sans"/>
              </a:rPr>
              <a:t>i finansów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Journal des Physiocrates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Fizjokracja, zbiór tekstów autorstwa Quesnaya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 "Historia analizy ekonomicznej"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Zdobycie pałacu </a:t>
            </a:r>
            <a:r>
              <a:rPr sz="1200" i="1">
                <a:latin typeface="IBM Plex Sans"/>
              </a:rPr>
              <a:t>Tuileries w </a:t>
            </a:r>
            <a:r>
              <a:rPr sz="1200" i="1">
                <a:latin typeface="IBM Plex Sans"/>
              </a:rPr>
              <a:t>1792 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Encyklopedia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Dialog na temat handlu pszenicą prowadzony przez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Efemerydy obywatelskie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Wolter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"L'homme aux quarante </a:t>
            </a:r>
            <a:r>
              <a:rPr sz="1200" i="1">
                <a:latin typeface="IBM Plex Sans"/>
              </a:rPr>
              <a:t>écus" ("Człowiek na kwarantannie")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"Duch praw"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Encyklopedia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"Pochwała </a:t>
            </a:r>
            <a:r>
              <a:rPr sz="1200" i="1">
                <a:latin typeface="IBM Plex Sans"/>
              </a:rPr>
              <a:t>Gournaya"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"Refleksje na temat powstawania i podziału bogactwa"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"Listy o wolności handlu zbożem"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i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"Dziwna bliskość"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"Mémoire sur les prêts </a:t>
            </a:r>
            <a:r>
              <a:rPr sz="1200" i="1">
                <a:latin typeface="IBM Plex Sans"/>
              </a:rPr>
              <a:t>d'argent" ("Memorandum o pieniądzach")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Millet,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"The Gleaners", </a:t>
            </a:r>
            <a:r>
              <a:rPr sz="1200" i="1">
                <a:latin typeface="IBM Plex Sans"/>
              </a:rPr>
              <a:t>1857 </a:t>
            </a:r>
            <a:r>
              <a:rPr sz="1200" i="1">
                <a:latin typeface="IBM Plex Sans"/>
              </a:rPr>
              <a:t>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Milicja losuje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Księga skarg i zażaleń baillage of Nemours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Wolter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Ludwik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handel i rząd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"Listy o </a:t>
            </a:r>
            <a:r>
              <a:rPr sz="1200" i="1">
                <a:latin typeface="IBM Plex Sans"/>
              </a:rPr>
              <a:t>handlu zbożem"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Zwołanie Stanów Generalnych w Wersalu, 5 maja 1789 r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"Lista skarg"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"Przemówienie do Zgromadzenia </a:t>
            </a:r>
            <a:r>
              <a:rPr sz="1200" i="1">
                <a:latin typeface="IBM Plex Sans"/>
              </a:rPr>
              <a:t>Narodowego", 1789 r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"Wpływ asygnat na </a:t>
            </a:r>
            <a:r>
              <a:rPr sz="1200" i="1">
                <a:latin typeface="IBM Plex Sans"/>
              </a:rPr>
              <a:t>cenę chleba"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Przydział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"Esej o naturze handlu w ogólności"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"Traktat </a:t>
            </a:r>
            <a:r>
              <a:rPr sz="1200" i="1">
                <a:latin typeface="IBM Plex Sans"/>
              </a:rPr>
              <a:t>o handlu"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