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19වන සියවසේ ගම්මානික </a:t>
            </a:r>
            <a:r>
              <a:rPr sz="1200" i="1">
                <a:latin typeface="IBM Plex Sans"/>
              </a:rPr>
              <a:t>ජීවිතයේ දර්ශනය, ලුයිස්-ලියොපෝල්ඩ් </a:t>
            </a:r>
            <a:r>
              <a:rPr sz="1200" i="1">
                <a:latin typeface="IBM Plex Sans"/>
              </a:rPr>
              <a:t>බොයිලිට අයත්.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ඩුක් දු සුල්ලීගේ පෝරtrait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ඩුක් ද සිල්ලිගේ සම්මත කතා, හෙන්රි IVගේ අමාත්‍යයා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ජීන්-බැප්ටිස්ට් කොල්බර්, ලුයිස්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XIV යටතේ මූල්‍ය </a:t>
            </a:r>
            <a:r>
              <a:rPr sz="1200" i="1" lang="en-US">
                <a:latin typeface="IBM Plex Sans"/>
              </a:rPr>
              <a:t>සාමාන්‍ය පාලකයෙකි.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18වන සියවසේ පියාසැලැස්මක කාර්යාලය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18වන සියවසේ බෝර්ඩෝ වරාම - වර්නෙට් විසින්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රාජ්‍යයේ රොබින් හුඩ් - </a:t>
            </a:r>
            <a:r>
              <a:rPr sz="1400" i="1" lang="fr-FR">
                <a:latin typeface="IBM Plex Sans"/>
              </a:rPr>
              <a:t>බදු හෝ මරණය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ආච්චි ස්ක්‍රූජ්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වාබාන්ගේ පින්තූරය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ලීල් සිටඩෙල් වොබාන් විසින්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වෝබන්, “රජයේ දායකත්ව ව්‍යාපෘතිය”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ජනගහණ ගණනාවන්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ටොක්විල්, “පැරණි රාජ්‍යය සහ විප්ලවය”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තුන් වර්ග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පියර් ලෙපෙසන්ට් ද බොයිස්ගිල්බර්ට්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බොයිස්ගිල්බර්ට්, “ලූයිස් XIV යටතේ විනාශිත ප්‍රංශය”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පෝර්ට් රොයල් දේ චාම්පස් සිතියම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ගුස්ටාව් කයිල්බොට් - "ඉහළ මාර්ගය"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මුරේ රොත්බාර්ඩ්, “ආසියානු ආර්ථික සිතීමේ ඉතිහාසය පිළිබඳ දෘෂ්ටිකෝණයක්”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රිචඩ් කාන්ටිලොන්, “වාණිජයේ ස්වභාවය පිළිබඳ ලිපිය”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ජොන් ලෝ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නීතියේ බැංකු බිල්පත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සෙන්ට්-පියර් හි අබ්බා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ගුස්ටාව් ඩි මොලිනාරිගේ පින්තූරය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සෙන්ට්-පියර් හි අබ්බා මොලිනාරි විසින්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සෙන්ට්-පියර් හි අභාසකයා, “යුරෝපයේ </a:t>
            </a:r>
            <a:r>
              <a:rPr sz="1200" i="1">
                <a:latin typeface="IBM Plex Sans"/>
              </a:rPr>
              <a:t>සාමය නැවත පිහිටුවන ව්‍යාපෘතිය”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ලූයිස් XIV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වර්සයි, ආරෝපණ කාමරය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ප්‍රංශ අධ්‍යයන ආයතනය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18වන සියවසේ ප්‍රංශ පත්‍රිකාවක් වාණිජ්‍යය සහ මූල්‍යය සඳහා යෝජිත සංශෝධන, වෙළෙඳ සහ ආර්ථික ප්‍රතිපත්ති පිළිබඳ ආරම්භක සාකච්ඡා ප්‍රතිබිම්බනය කරයි.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මාර්කිස් ඩි'ආර්ජන්සන්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ලෙසෙෆෙර්, ලෙසේපැසේර්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පින්නු නිෂ්පාදනය, “එන්සයික්ලෝපීඩියා” ඩිඩෙරොට් </a:t>
            </a:r>
            <a:r>
              <a:rPr sz="1200" i="1">
                <a:latin typeface="IBM Plex Sans"/>
              </a:rPr>
              <a:t>සහ ඩාලාම්බර්ට් විසින්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ඇඩම් ස්මිත්ගේ පින්තූරය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මාර්කිස් ඩි'ආර්ජන්සන්, “දිනපොත </a:t>
            </a:r>
            <a:r>
              <a:rPr sz="1200" i="1">
                <a:latin typeface="IBM Plex Sans"/>
              </a:rPr>
              <a:t>සහ සම්මත”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බෙනොයිට් මල්බ්‍රැන්ක්, “වින්සෙන්ට් </a:t>
            </a:r>
            <a:r>
              <a:rPr sz="1200" i="1">
                <a:latin typeface="IBM Plex Sans"/>
              </a:rPr>
              <a:t>දේ ගෝර්නේ”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වෙළඳය පිළිබඳ ලේඛනය - ජොසියා චයිල්ඩ්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1715 ජූනි </a:t>
            </a:r>
            <a:r>
              <a:rPr sz="1200" i="1">
                <a:latin typeface="IBM Plex Sans"/>
              </a:rPr>
              <a:t>26 වන </a:t>
            </a:r>
            <a:r>
              <a:rPr sz="1200" i="1">
                <a:latin typeface="IBM Plex Sans"/>
              </a:rPr>
              <a:t>දිනයේ ලියැවුණු </a:t>
            </a:r>
            <a:r>
              <a:rPr sz="1200" i="1">
                <a:latin typeface="IBM Plex Sans"/>
              </a:rPr>
              <a:t>M. de </a:t>
            </a:r>
            <a:r>
              <a:rPr sz="1200" i="1">
                <a:latin typeface="IBM Plex Sans"/>
              </a:rPr>
              <a:t>Gourgan, වෙළඳයාගේ </a:t>
            </a:r>
            <a:r>
              <a:rPr sz="1200" i="1">
                <a:latin typeface="IBM Plex Sans"/>
              </a:rPr>
              <a:t>ලිපිය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ඉන්දියානු සමාගම </a:t>
            </a:r>
            <a:r>
              <a:rPr sz="1200" i="1">
                <a:latin typeface="IBM Plex Sans"/>
              </a:rPr>
              <a:t>පිළිබඳ නිල </a:t>
            </a:r>
            <a:r>
              <a:rPr sz="1200" i="1">
                <a:latin typeface="IBM Plex Sans"/>
              </a:rPr>
              <a:t>වාර්තාව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ටර්ගෝට්ගේ </a:t>
            </a:r>
            <a:r>
              <a:rPr sz="1200" i="1">
                <a:latin typeface="IBM Plex Sans"/>
              </a:rPr>
              <a:t>ඡායාරූපය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වින්සෙන්ට් ඩි ගූර්නේගේ වටය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ඩේවිඩ් හියුම්ගේ පින්තූරය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අබේ ගැබ්රිල්-ෆ්‍රෑන්සොයිස්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කොයෙර්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“නොබල්ස් කොමර්සන්ට්”</a:t>
            </a:r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සාමාන්‍ය අහාර ප්‍රතිපත්තිය පිළිබඳ ලිපිය (1755)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රිචර්ඩ් කෑන්ටිලන්, “වාණිජයේ ස්වභාවය පිළිබඳ ලිපිය”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ප්‍රංශයේ ආර්ථික ප්‍රකාශන පිළිබඳ අධ්‍යයනය,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අබ්බේ ගැබ්රිඑල්-ෆ්‍රාන්සොයිස්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කොයර්, </a:t>
            </a:r>
            <a:r>
              <a:rPr sz="1200" i="1">
                <a:latin typeface="IBM Plex Sans"/>
              </a:rPr>
              <a:t>“චින්කි”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එස්ටේට්ස්-ජෙනරල් හි විවාදය, ප්‍රංශය, 1789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මිරාබෝගේ චිත්‍රය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මිරාබෝ, “මිනිසුන්ගේ </a:t>
            </a:r>
            <a:r>
              <a:rPr sz="1200" i="1">
                <a:latin typeface="IBM Plex Sans"/>
              </a:rPr>
              <a:t>මිතුරා”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රිචර්ඩ් කෑන්ටිලන්, “වෙළඳාමට අදාළ ස්වභාවය පිළිබඳ ලිපිය”</a:t>
            </a:r>
            <a:endParaRPr sz="14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මාර්කිස් දේ මිරබෝගේ ආර්ථික සහ සමාජ සංකල්ප</a:t>
            </a:r>
            <a:endParaRPr sz="1200" i="1">
              <a:latin typeface="IBM Plex Sans"/>
            </a:endParaRPr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ෆ්‍රාන්සවා කෙස්නේ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පියර් සමාල් ඩුපොන්ට් දේ නෙමූර්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මිරාබෝ, “බදු </a:t>
            </a:r>
            <a:r>
              <a:rPr sz="1200" i="1">
                <a:latin typeface="IBM Plex Sans"/>
              </a:rPr>
              <a:t>සංකල්පය”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ආර්ථික සටහන - ෆ්‍රාන්සවා කුස්නේ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ෆ්‍රාන්සවා කෙස්නේ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ෆ්‍රාන්සවා කෙස්නේ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ආශ්‍රිත විශේෂාංග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ඩුපොන්ට් දේ </a:t>
            </a:r>
            <a:r>
              <a:rPr sz="1200" i="1">
                <a:latin typeface="IBM Plex Sans"/>
              </a:rPr>
              <a:t>නෙමූර්ස්,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“බදු සංකල්පය”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“ෆිසියෝක්‍රසි”, කුස්නේ විසින් රචිත ලිපි සංග්‍රහය, 1768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“එෆෙමරිඩ්ස් දු සිටොයින්”, ෆිසියෝක්‍රාට්ස්ගේ නිල සඟරාව</a:t>
            </a:r>
            <a:endParaRPr sz="1200" i="1">
              <a:latin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බොයිස්ගිල්බර්ට්, “ප්‍රංශයේ </a:t>
            </a:r>
            <a:r>
              <a:rPr sz="1200" i="1">
                <a:latin typeface="IBM Plex Sans"/>
              </a:rPr>
              <a:t>විශේෂාංග”</a:t>
            </a:r>
            <a:endParaRPr sz="1200" i="1">
              <a:latin typeface="IBM Plex Sans"/>
            </a:endParaRPr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කැන්ටිලෝන්, “වාණිජයේ ස්වභාවය </a:t>
            </a:r>
            <a:r>
              <a:rPr sz="1200" i="1">
                <a:latin typeface="IBM Plex Sans"/>
              </a:rPr>
              <a:t>පිළිබඳ ලිපිය”</a:t>
            </a:r>
            <a:endParaRPr sz="1200" i="1">
              <a:latin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කෙස්නෙයි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කුවෙස්නේගේ ආර්ථික සිතියම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මිරාබෝ, </a:t>
            </a:r>
            <a:r>
              <a:rPr sz="1200" i="1">
                <a:latin typeface="IBM Plex Sans"/>
              </a:rPr>
              <a:t>“බදු </a:t>
            </a:r>
            <a:r>
              <a:rPr sz="1200" i="1">
                <a:latin typeface="IBM Plex Sans"/>
              </a:rPr>
              <a:t>නීතිය”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මාර්කුවෙස් දේ පොම්පඩූර්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එෆෙමරිඩ්ස් දු සිටොයින්, ෆිසියොක්‍රට්ස්ගේ නිල සඟරාව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ආලෝකය ලබා දෙන ආර්ථික විද්‍යාඥයන්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ෆිසියෝක්‍රසි, කුස්නායිගේ ලිපි </a:t>
            </a:r>
            <a:r>
              <a:rPr sz="1200" i="1">
                <a:latin typeface="IBM Plex Sans"/>
              </a:rPr>
              <a:t>සංග්‍රහය, 1768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ජීන්-ෆ්‍රෑන්සොයිස් මිලේ, </a:t>
            </a:r>
            <a:r>
              <a:rPr sz="1200" i="1">
                <a:latin typeface="IBM Plex Sans"/>
              </a:rPr>
              <a:t>“ගෙදර කම්කරුවන්”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ටොක්විල්, “පැරණි පාලනය සහ විප්ලවය”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ලූයිස්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මිලෙට්, </a:t>
            </a:r>
            <a:r>
              <a:rPr sz="1200" i="1">
                <a:latin typeface="IBM Plex Sans"/>
              </a:rPr>
              <a:t>“ආන්ජෙලස්”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18වන සියවසේ බෝර්ඩෝ වරාය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චාල්ස් ෆ්‍රෙඩරික්, “බාඩෙන් හි මහ duke”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රුසියාවේ කාත්‍රින් </a:t>
            </a:r>
            <a:r>
              <a:rPr sz="1200" i="1">
                <a:latin typeface="IBM Plex Sans"/>
              </a:rPr>
              <a:t>II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මර්සියෙර් ද ලා රිවියෙර්, </a:t>
            </a:r>
            <a:r>
              <a:rPr sz="1200" i="1">
                <a:latin typeface="IBM Plex Sans"/>
              </a:rPr>
              <a:t>"රාජ්‍ය සමාජයන්ගේ ස්වාභාවික </a:t>
            </a:r>
            <a:r>
              <a:rPr sz="1200" i="1">
                <a:latin typeface="IBM Plex Sans"/>
              </a:rPr>
              <a:t>සහ අත්‍යවශ්‍ය ක්‍රමය"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ටර්ගෝට්ගේ පින්තූරය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රජයේ නිවේදනය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1789 දී වර්සයිල් හි එස්ටේට්ස් ජෙනරල් කැඳවීම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ආඩම් ස්මිත්, “ජාතික ධනය”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ජෝසෙප් රම්බෝ, “ආර්ථික සංකල්ප වල ඉතිහාසය”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එන්ටර්ප්‍රයිස් ඩුපොන්ට්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ඩුපොන්ට් දේ නෙමූර්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මාර්කීස් දේ මිරබෝ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කෘෂිකර්ම, වෙළඳ හා </a:t>
            </a:r>
            <a:r>
              <a:rPr sz="1200" i="1">
                <a:latin typeface="IBM Plex Sans"/>
              </a:rPr>
              <a:t>මූල්‍ය ජර්නල්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කුවෙස්නේ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ෆිසියෝක්‍රට් සඟරාව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ටර්ගොට්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ෆිසියෝක්‍රසි, කුවෙස්නේගේ ලිපි සංග්‍රහය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ජෝසප් ෂම්පීටර්, "ආර්ථික විශ්ලේෂණයේ ඉතිහාසය"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1792 දී </a:t>
            </a:r>
            <a:r>
              <a:rPr sz="1200" i="1">
                <a:latin typeface="IBM Plex Sans"/>
              </a:rPr>
              <a:t>ටුයිලරි මාලිගාව </a:t>
            </a:r>
            <a:r>
              <a:rPr sz="1200" i="1">
                <a:latin typeface="IBM Plex Sans"/>
              </a:rPr>
              <a:t>අල්ලා ගැනීම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ආඩම් ස්මිත්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ආශ්‍රිත විශේෂාංග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ඩෙනිස් ඩිඩෙරොට්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ගාලියනිගේ ගොන් ගනුදෙනුව පිළිබඳ සංවාදය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නගරිකයාගේ කාලසටහන්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වොල්ටෙයර්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වොල්ටෙයර්, “හතළිස් රුපියල් </a:t>
            </a:r>
            <a:r>
              <a:rPr sz="1200" i="1">
                <a:latin typeface="IBM Plex Sans"/>
              </a:rPr>
              <a:t>හි මිනිසා”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ටර්ගොට්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මොන්ටෙස්කියු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“නීතිවල ආත්මය”</a:t>
            </a:r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සංක්ෂිප්තකාරකය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ටර්ගොට්, “ගෝර්නේට </a:t>
            </a:r>
            <a:r>
              <a:rPr sz="1200" i="1">
                <a:latin typeface="IBM Plex Sans"/>
              </a:rPr>
              <a:t>ප්‍රශංසා”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ටර්ගොට්, "සම්පත් නිර්මාණය සහ බෙදාහැරීම පිළිබඳ සිතුවිලි"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ටර්ගොට්, "අලෙවි බීජ වෙළඳාම පිළිබඳ ලිපි"</a:t>
            </a:r>
            <a:endParaRPr sz="1200" i="1">
              <a:latin typeface="IBM Plex Sans"/>
            </a:endParaRPr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ටර්ගොට් සහ ස්මිත්,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"අමුතු ආසන්නතාවයක්"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ටර්ගෝට්, “මුදල් ණය </a:t>
            </a:r>
            <a:r>
              <a:rPr sz="1200" i="1">
                <a:latin typeface="IBM Plex Sans"/>
              </a:rPr>
              <a:t>ගැන මතකය”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ෆ්‍රිඩ්රික් A. හේයෙක්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ටර්ගොට්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“ග්ලීනර්ස්”, </a:t>
            </a:r>
            <a:r>
              <a:rPr sz="1200" i="1">
                <a:latin typeface="IBM Plex Sans"/>
              </a:rPr>
              <a:t>1857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මැලිෂියාව ඇදේ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නෙමූර්ස් බයිලේජ්ගේ අපහසුතා පොත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ඩු රොයි සංස්කරණය</a:t>
            </a:r>
            <a:endParaRPr sz="1200" i="1">
              <a:latin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වොල්ටෙයර්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ලූයිස්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මිෂෙල් දේ මොන්ටේන්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ඒටියන් බොනොට් දේ කොන්ඩිලක්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කොන්ඩිලැක්, වෙළඳ හා රජය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ජීන්-බැප්ටිස් සෙයි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නික්ලෝස් දේ කොන්ඩෝර්සේ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ආන් රොබර් ජැක්ස් ටර්ගොට්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ගාලියනි, "අලෙවි වාණිජය </a:t>
            </a:r>
            <a:r>
              <a:rPr sz="1200" i="1">
                <a:latin typeface="IBM Plex Sans"/>
              </a:rPr>
              <a:t>පිළිබඳ ලිපි"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වර්සයිලයේ අයිතිකාරක මණ්ඩලය කැඳවීම, මැයි 5, 1789</a:t>
            </a:r>
            <a:endParaRPr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“අභියාචනා ලැයිස්තුව”</a:t>
            </a:r>
            <a:endParaRPr lang="en-US" sz="1200"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ඩුපොන්ට් දේ නෙමූර්ස්, </a:t>
            </a:r>
            <a:r>
              <a:rPr sz="1200" i="1">
                <a:latin typeface="IBM Plex Sans"/>
              </a:rPr>
              <a:t>“ජාතික සභාවට කතා </a:t>
            </a:r>
            <a:r>
              <a:rPr sz="1200" i="1">
                <a:latin typeface="IBM Plex Sans"/>
              </a:rPr>
              <a:t>කිරීම”, 1789</a:t>
            </a:r>
            <a:endParaRPr sz="1200" i="1">
              <a:latin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ඩුපොන්ට් දේ නෙමූර්ස්, </a:t>
            </a:r>
            <a:r>
              <a:rPr sz="1200" i="1">
                <a:latin typeface="IBM Plex Sans"/>
              </a:rPr>
              <a:t>“අසයිනට් වල බලපෑම </a:t>
            </a:r>
            <a:r>
              <a:rPr sz="1200" i="1">
                <a:latin typeface="IBM Plex Sans"/>
              </a:rPr>
              <a:t>රොටියට මිලක් මත”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100 ක අසයින්ට්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පියර් ලෙ පෙසන්ට් ද බොයිස්ගිල්බර්ට්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කැන්ටිලොන්, "සාමාන්‍ය වාණිජ්‍යයේ ස්වභාවය පිළිබඳ ලිපිය"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ජෝසියා චයිල්ඩ්, “වාණිජය </a:t>
            </a:r>
            <a:r>
              <a:rPr sz="1200" i="1">
                <a:latin typeface="IBM Plex Sans"/>
              </a:rPr>
              <a:t>පිළිබඳ විශේෂණය”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කෙස්නේ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කොන්ඩිලක්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ඩාර්ජන්සන්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