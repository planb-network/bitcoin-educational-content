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99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  <p:sldId id="326" r:id="rId74"/>
    <p:sldId id="327" r:id="rId75"/>
    <p:sldId id="328" r:id="rId76"/>
    <p:sldId id="329" r:id="rId77"/>
    <p:sldId id="330" r:id="rId78"/>
    <p:sldId id="331" r:id="rId79"/>
    <p:sldId id="332" r:id="rId80"/>
    <p:sldId id="333" r:id="rId81"/>
    <p:sldId id="334" r:id="rId82"/>
    <p:sldId id="335" r:id="rId83"/>
    <p:sldId id="336" r:id="rId84"/>
    <p:sldId id="337" r:id="rId85"/>
    <p:sldId id="338" r:id="rId86"/>
    <p:sldId id="339" r:id="rId87"/>
    <p:sldId id="340" r:id="rId88"/>
    <p:sldId id="341" r:id="rId89"/>
    <p:sldId id="342" r:id="rId90"/>
    <p:sldId id="343" r:id="rId91"/>
    <p:sldId id="344" r:id="rId92"/>
    <p:sldId id="345" r:id="rId93"/>
    <p:sldId id="346" r:id="rId94"/>
    <p:sldId id="347" r:id="rId95"/>
    <p:sldId id="348" r:id="rId96"/>
    <p:sldId id="349" r:id="rId97"/>
    <p:sldId id="350" r:id="rId98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slide" Target="slides/slide61.xml"/><Relationship Id="rId65" Type="http://schemas.openxmlformats.org/officeDocument/2006/relationships/slide" Target="slides/slide62.xml"/><Relationship Id="rId66" Type="http://schemas.openxmlformats.org/officeDocument/2006/relationships/slide" Target="slides/slide63.xml"/><Relationship Id="rId67" Type="http://schemas.openxmlformats.org/officeDocument/2006/relationships/slide" Target="slides/slide64.xml"/><Relationship Id="rId68" Type="http://schemas.openxmlformats.org/officeDocument/2006/relationships/slide" Target="slides/slide65.xml"/><Relationship Id="rId69" Type="http://schemas.openxmlformats.org/officeDocument/2006/relationships/slide" Target="slides/slide66.xml"/><Relationship Id="rId70" Type="http://schemas.openxmlformats.org/officeDocument/2006/relationships/slide" Target="slides/slide67.xml"/><Relationship Id="rId71" Type="http://schemas.openxmlformats.org/officeDocument/2006/relationships/slide" Target="slides/slide68.xml"/><Relationship Id="rId72" Type="http://schemas.openxmlformats.org/officeDocument/2006/relationships/slide" Target="slides/slide69.xml"/><Relationship Id="rId73" Type="http://schemas.openxmlformats.org/officeDocument/2006/relationships/slide" Target="slides/slide70.xml"/><Relationship Id="rId74" Type="http://schemas.openxmlformats.org/officeDocument/2006/relationships/slide" Target="slides/slide71.xml"/><Relationship Id="rId75" Type="http://schemas.openxmlformats.org/officeDocument/2006/relationships/slide" Target="slides/slide72.xml"/><Relationship Id="rId76" Type="http://schemas.openxmlformats.org/officeDocument/2006/relationships/slide" Target="slides/slide73.xml"/><Relationship Id="rId77" Type="http://schemas.openxmlformats.org/officeDocument/2006/relationships/slide" Target="slides/slide74.xml"/><Relationship Id="rId78" Type="http://schemas.openxmlformats.org/officeDocument/2006/relationships/slide" Target="slides/slide75.xml"/><Relationship Id="rId79" Type="http://schemas.openxmlformats.org/officeDocument/2006/relationships/slide" Target="slides/slide76.xml"/><Relationship Id="rId80" Type="http://schemas.openxmlformats.org/officeDocument/2006/relationships/slide" Target="slides/slide77.xml"/><Relationship Id="rId81" Type="http://schemas.openxmlformats.org/officeDocument/2006/relationships/slide" Target="slides/slide78.xml"/><Relationship Id="rId82" Type="http://schemas.openxmlformats.org/officeDocument/2006/relationships/slide" Target="slides/slide79.xml"/><Relationship Id="rId83" Type="http://schemas.openxmlformats.org/officeDocument/2006/relationships/slide" Target="slides/slide80.xml"/><Relationship Id="rId84" Type="http://schemas.openxmlformats.org/officeDocument/2006/relationships/slide" Target="slides/slide81.xml"/><Relationship Id="rId85" Type="http://schemas.openxmlformats.org/officeDocument/2006/relationships/slide" Target="slides/slide82.xml"/><Relationship Id="rId86" Type="http://schemas.openxmlformats.org/officeDocument/2006/relationships/slide" Target="slides/slide83.xml"/><Relationship Id="rId87" Type="http://schemas.openxmlformats.org/officeDocument/2006/relationships/slide" Target="slides/slide84.xml"/><Relationship Id="rId88" Type="http://schemas.openxmlformats.org/officeDocument/2006/relationships/slide" Target="slides/slide85.xml"/><Relationship Id="rId89" Type="http://schemas.openxmlformats.org/officeDocument/2006/relationships/slide" Target="slides/slide86.xml"/><Relationship Id="rId90" Type="http://schemas.openxmlformats.org/officeDocument/2006/relationships/slide" Target="slides/slide87.xml"/><Relationship Id="rId91" Type="http://schemas.openxmlformats.org/officeDocument/2006/relationships/slide" Target="slides/slide88.xml"/><Relationship Id="rId92" Type="http://schemas.openxmlformats.org/officeDocument/2006/relationships/slide" Target="slides/slide89.xml"/><Relationship Id="rId93" Type="http://schemas.openxmlformats.org/officeDocument/2006/relationships/slide" Target="slides/slide90.xml"/><Relationship Id="rId94" Type="http://schemas.openxmlformats.org/officeDocument/2006/relationships/slide" Target="slides/slide91.xml"/><Relationship Id="rId95" Type="http://schemas.openxmlformats.org/officeDocument/2006/relationships/slide" Target="slides/slide92.xml"/><Relationship Id="rId96" Type="http://schemas.openxmlformats.org/officeDocument/2006/relationships/slide" Target="slides/slide93.xml"/><Relationship Id="rId97" Type="http://schemas.openxmlformats.org/officeDocument/2006/relationships/slide" Target="slides/slide94.xml"/><Relationship Id="rId98" Type="http://schemas.openxmlformats.org/officeDocument/2006/relationships/slide" Target="slides/slide95.xml"/><Relationship Id="rId99" Type="http://schemas.openxmlformats.org/officeDocument/2006/relationships/notesMaster" Target="notesMasters/notesMaster1.xml"/><Relationship Id="rId100" Type="http://schemas.openxmlformats.org/officeDocument/2006/relationships/presProps" Target="presProps.xml"/><Relationship Id="rId101" Type="http://schemas.openxmlformats.org/officeDocument/2006/relationships/tableStyles" Target="tableStyles.xml"/><Relationship Id="rId102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8110385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72223759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1292378870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644706934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44328147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47697515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240668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546346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462702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18801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64989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47060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77554D-54F7-FF06-986A-5AE9FB7140A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7025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573753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18737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EAE9AF9-3039-CDED-E4DB-99C8C3AF953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59687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392754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65319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E08992D-A1E7-DE6B-90C1-66B372F51E6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19808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258795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27560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D0D6D09-4274-5697-C528-D056E2A5614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02616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701581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32342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54B608-D557-01F0-A8B0-B9E7B6A3CC0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44439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067133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77382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470F31-004D-53D4-8382-4C5AF86EC87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84785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376217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58277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09FE4A7-DEC4-10C2-7F4A-65C3B59076D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21820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560748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47869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9556ECE-0035-E808-A449-ECE9D7E1ABD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94856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708178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99995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35039CD-39CB-DB67-1D5A-E2B051B4282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3155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81248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79268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0952DCA-933D-8F77-2936-A66C3A844A5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99823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71884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98909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21594D-C84A-C547-1605-85B23191322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570791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35444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68226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803B21-71E7-C522-8A94-F3CA6305552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28590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650885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40741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CE4DAFF-04F7-4230-4BEA-EF427F07C0D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61133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953312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90009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F782E25-7CDB-5CD6-E19F-435B3470BBE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67890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874549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03512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8047713-D329-CC9F-620C-6911A03712C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18466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370964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71154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B5D5CA-DCF7-3D49-2421-D4E18933B93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94711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318179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00341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B24F63-817F-0D30-E142-FE7737E22E2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76458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786746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82543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AAC652D-E91A-58D6-5923-F0C1FC01907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86598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994712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34777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3CC6B97-41EC-395A-1064-9FCBE703F50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32680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277066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02635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8DB6E2E-CF63-5FED-2AC7-A0CE5050A74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99831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167717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7827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AD381DD-2281-8E8E-EFB4-16B032A0F40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010168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714355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54814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76D87FA-7213-3341-A261-31A97A2C72D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03432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486868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53928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A8E771-4C19-3D20-69C1-9338EA8C25D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129255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510998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78260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B6BA9C1-D5A8-8E5C-2084-79D5D66CFAA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06263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554586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30387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0E4E1C1-80F4-D8D0-CF76-BCC0A4739AD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09115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909681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00013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6B0075F-8DB6-CC5F-165D-ED13D1EEE04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69782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490937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99924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1B06FCC-EE63-40E5-8EE7-25EFAD702D9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94579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399076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16739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5648720-9216-0680-5CDC-93A9F681025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83488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261042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70198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D25490E-1363-1FBC-42E0-702393BA63E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93206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582499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06982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7EC5E37-1B7B-FD8A-D19E-89E3560CFA6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346634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215012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41846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884CDD8-4F78-D0C1-F445-8CDC555517E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93099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168881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76740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5A5D82-54A1-E010-1DCB-58053402D95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07178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911448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74101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97FA534-F7CE-9754-80BF-A583283D455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73605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881142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47396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6C83C34-1783-C514-F7C9-033780CB21C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35890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212550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94401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19AFB8D-6200-D523-407A-2237E034D79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84311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853718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01529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63E1B43-876E-8501-05A3-BBD8233AB59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11573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912170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61098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C332D0A-9FBE-A5D0-204A-96C778835C9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86234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463784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50064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4EBE33C-D227-C9CC-DEF9-6D9A8826BE7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57505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088361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69363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721C186-B21E-B518-F05E-E6FA7857016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34668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451176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3730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93D077-7A35-A1BD-0D22-3EDB2DF29BC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317434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350049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11357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D52EF15-93B0-5A99-10E5-8AD2DADDD07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78999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905827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000346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C9D548A-7E2E-02BB-948C-A747D913DBD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31708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710099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86186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E2716DB-A4AB-A4DD-82DD-077D939B25A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4820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885535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9116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5C0A1D0-7C9F-717E-AD41-DDC4D2FF562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21892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269141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52330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159A78C-8CAB-66D7-5361-5F4AA65D480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326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565079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8276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241777-0EAB-FF74-79A3-7B365D8F52E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71182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64097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99564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94EC14F-C21C-4660-D0FC-8BE5F1E9DA8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4020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870222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40916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2188EEA-5E50-9E80-0608-E9477587048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10004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663851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29165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2CCD28-7C20-E9DD-0AE9-AEAF4144B1E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99673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253620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28000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05B8E9B-596E-B710-3451-51C1B8FCEEC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81364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960612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33356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1D3192-4248-9D56-1F06-9EF700C8448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10979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19104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66765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0B3ADEC-ABD1-56E3-0BD7-ACBBD5AF67E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50377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254973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56110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A3139C2-200E-271C-177A-A102371E8C9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30328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683346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12298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8BDFC8D-0946-817C-9911-10B70A71E28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06111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239863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19396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E61E51-3776-1744-CFC0-F35C780D227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38368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558363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89554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2526887-417A-FC5D-3DB7-604680289C2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48938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569721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16620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289C3ED-A1E5-F975-B4E3-B4BFE3D51DA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33496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631686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50508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34A9015-A362-0E32-627C-3EBC75E7292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78680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925161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74386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BE2BB51-EADA-3BDC-DDA8-ED9A388EB4C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68066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472339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18152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896B659-0D0D-137C-92EF-822A16A390A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1995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273794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81904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2890FE3-36F2-61FE-3FAF-1E75E93C0E3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44576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174896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96330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28ECA71-7D42-9DCC-DA2D-3827FCE410F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28410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943742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21185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4E9C9EA-D0C5-8A16-AC99-D1073920CAE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2594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60968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86360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A324B50-0E93-7B2A-65EE-990BB005D20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37875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066501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55729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46789BF-8A8A-C141-2107-79764C50647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63590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793874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17295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3763A53-653B-8F0A-FDDD-40D3067DCFB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23283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837107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1147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2856DD-B1FD-3949-450A-748E65E111A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01222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688239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03542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6283160-E820-CB5F-8686-C280DB1BBC8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30891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496193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48281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672F173-1261-400B-DD91-164242E331E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57340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025362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05566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8EAD88F-53EB-99E7-4867-1369A2FB563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163521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002873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2856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13E1A94-3978-23BE-18F0-1FF6ABD1CBD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112945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170701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48074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626E6BB-64EC-813F-23A3-78DBA3CAF34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405248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492480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94897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EB6C2F3-DE2C-DF24-3C4C-DB1166DFEF2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322317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912474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05403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46B5351-9DAF-0272-55C9-595D51A67E1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78230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777817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60322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5B17EEF-8D2B-0DB9-78D7-ECE1F209AAC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74810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742190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41689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9377636-A712-215A-99B4-39353C233AE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723299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432443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95807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E000D36-A770-D10F-B094-21B84D82D29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55275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75376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66206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C2FADE5-E39F-5DF0-6580-A4AE781C623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762198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120625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00321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3F84FDF-04F1-C98D-038A-F75045A1357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089064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512054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85867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CA8AD87-C3CB-800B-A770-F73DBFE8F0C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13904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32113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75498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AF5F1EC-E097-505F-140F-0FA67296C32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83393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392756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41564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25BCBF3-6ECB-4DFA-2795-FC53646534B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56648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665672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41547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0DEE583-A167-B651-BDE0-01D45DD9C96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670913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47320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69352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C769EF6-F864-7F32-61DE-87CC5FAC2F0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4808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405184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56461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DC62D53-2FB8-A716-B057-747DEB60993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61160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292813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13157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6B8D1BB-8670-CC74-FE76-8836849437B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11721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09158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16278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3E7A4C0-D52A-AA81-6013-10C20CB26A0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20971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429689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88843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8C11D47-4C3A-DD78-8CFA-CE968BD46ED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38340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963071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33532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9364BE-049E-EEFC-8EA9-DC15E5B9798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92198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293901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71495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5C1E6BE-6F33-1A8D-97D6-12AC929ABAA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799094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398563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774974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3AE6731-C6E3-7F23-EE71-783DD17F6B6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88747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974282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01609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7B66A66-75A6-A719-8BE4-B2BBAF584D4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44251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00912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55060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FDD47A6-21B0-FDB8-4CFE-EC02F58A3A8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8559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67991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86694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4E62DA9-53AC-C070-34D7-6FD2234E097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1655467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17861792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62219794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7372819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5722998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80460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2158578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701063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3659349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1539813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5585870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8988388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96933646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60139732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3413485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573259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47018318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0292946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6029544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6754618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09303010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0485152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3658758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09337353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20744034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47809862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5657764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369848892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30524134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603098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65516482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6640012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85156807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4194342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767726324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64428038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6015079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10621417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1868878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0353196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3476893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1602522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6979197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88799025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205662929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86199023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12325105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4836461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990909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85796279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6189693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079493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305915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5732319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50043384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9133394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03717259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2381116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2968964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837101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41658078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0636156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20668970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jpg"/><Relationship Id="rId4" Type="http://schemas.openxmlformats.org/officeDocument/2006/relationships/image" Target="../media/image10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jpg"/><Relationship Id="rId4" Type="http://schemas.openxmlformats.org/officeDocument/2006/relationships/image" Target="../media/image14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jpg"/><Relationship Id="rId4" Type="http://schemas.openxmlformats.org/officeDocument/2006/relationships/image" Target="../media/image17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8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9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0.jpg"/><Relationship Id="rId4" Type="http://schemas.openxmlformats.org/officeDocument/2006/relationships/image" Target="../media/image2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2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3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4.jpg"/><Relationship Id="rId4" Type="http://schemas.openxmlformats.org/officeDocument/2006/relationships/image" Target="../media/image25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6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7.jpg"/><Relationship Id="rId4" Type="http://schemas.openxmlformats.org/officeDocument/2006/relationships/image" Target="../media/image28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9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0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1.jpg"/><Relationship Id="rId4" Type="http://schemas.openxmlformats.org/officeDocument/2006/relationships/image" Target="../media/image32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3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5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6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7.jpg"/><Relationship Id="rId4" Type="http://schemas.openxmlformats.org/officeDocument/2006/relationships/image" Target="../media/image38.jpg"/><Relationship Id="rId5" Type="http://schemas.openxmlformats.org/officeDocument/2006/relationships/image" Target="../media/image3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0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2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3.jpg"/><Relationship Id="rId4" Type="http://schemas.openxmlformats.org/officeDocument/2006/relationships/image" Target="../media/image44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5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6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7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8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49.jpg"/><Relationship Id="rId4" Type="http://schemas.openxmlformats.org/officeDocument/2006/relationships/image" Target="../media/image50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51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52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53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54.jpg"/><Relationship Id="rId4" Type="http://schemas.openxmlformats.org/officeDocument/2006/relationships/image" Target="../media/image55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56.jpg"/><Relationship Id="rId4" Type="http://schemas.openxmlformats.org/officeDocument/2006/relationships/image" Target="../media/image57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58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59.jpg"/><Relationship Id="rId4" Type="http://schemas.openxmlformats.org/officeDocument/2006/relationships/image" Target="../media/image60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61.jpg"/><Relationship Id="rId4" Type="http://schemas.openxmlformats.org/officeDocument/2006/relationships/image" Target="../media/image62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63.jpg"/><Relationship Id="rId4" Type="http://schemas.openxmlformats.org/officeDocument/2006/relationships/image" Target="../media/image64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65.jpg"/><Relationship Id="rId4" Type="http://schemas.openxmlformats.org/officeDocument/2006/relationships/image" Target="../media/image66.jpg"/><Relationship Id="rId5" Type="http://schemas.openxmlformats.org/officeDocument/2006/relationships/image" Target="../media/image67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68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69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70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71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72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73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74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75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76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77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78.jpg"/><Relationship Id="rId4" Type="http://schemas.openxmlformats.org/officeDocument/2006/relationships/image" Target="../media/image79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40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80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81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82.jpg"/><Relationship Id="rId4" Type="http://schemas.openxmlformats.org/officeDocument/2006/relationships/image" Target="../media/image83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84.png"/><Relationship Id="rId4" Type="http://schemas.openxmlformats.org/officeDocument/2006/relationships/image" Target="../media/image85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86.jpg"/><Relationship Id="rId4" Type="http://schemas.openxmlformats.org/officeDocument/2006/relationships/image" Target="../media/image87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88.jpg"/><Relationship Id="rId4" Type="http://schemas.openxmlformats.org/officeDocument/2006/relationships/image" Target="../media/image89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90.jpg"/><Relationship Id="rId4" Type="http://schemas.openxmlformats.org/officeDocument/2006/relationships/image" Target="../media/image91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92.jpg"/><Relationship Id="rId4" Type="http://schemas.openxmlformats.org/officeDocument/2006/relationships/image" Target="../media/image93.jp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94.jpg"/><Relationship Id="rId4" Type="http://schemas.openxmlformats.org/officeDocument/2006/relationships/image" Target="../media/image95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96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97.jpg"/><Relationship Id="rId4" Type="http://schemas.openxmlformats.org/officeDocument/2006/relationships/image" Target="../media/image98.jp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99.jp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100.jp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101.jpg"/><Relationship Id="rId4" Type="http://schemas.openxmlformats.org/officeDocument/2006/relationships/image" Target="../media/image102.jpg"/><Relationship Id="rId5" Type="http://schemas.openxmlformats.org/officeDocument/2006/relationships/image" Target="../media/image103.jp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104.jpg"/><Relationship Id="rId4" Type="http://schemas.openxmlformats.org/officeDocument/2006/relationships/image" Target="../media/image105.jp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106.jpg"/><Relationship Id="rId4" Type="http://schemas.openxmlformats.org/officeDocument/2006/relationships/image" Target="../media/image107.jp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108.jp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109.jp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40.jp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110.jp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111.jp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112.jpg"/><Relationship Id="rId4" Type="http://schemas.openxmlformats.org/officeDocument/2006/relationships/image" Target="../media/image113.jp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114.jpg"/><Relationship Id="rId4" Type="http://schemas.openxmlformats.org/officeDocument/2006/relationships/image" Target="../media/image115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116.jpg"/><Relationship Id="rId4" Type="http://schemas.openxmlformats.org/officeDocument/2006/relationships/image" Target="../media/image117.jp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118.jp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119.jp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120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121.jp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122.jp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0.xml"/><Relationship Id="rId3" Type="http://schemas.openxmlformats.org/officeDocument/2006/relationships/image" Target="../media/image123.jpg"/><Relationship Id="rId4" Type="http://schemas.openxmlformats.org/officeDocument/2006/relationships/image" Target="../media/image124.jp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1.xml"/><Relationship Id="rId3" Type="http://schemas.openxmlformats.org/officeDocument/2006/relationships/image" Target="../media/image125.jp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2.xml"/><Relationship Id="rId3" Type="http://schemas.openxmlformats.org/officeDocument/2006/relationships/image" Target="../media/image126.jp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3.xml"/><Relationship Id="rId3" Type="http://schemas.openxmlformats.org/officeDocument/2006/relationships/image" Target="../media/image127.jp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4.xml"/><Relationship Id="rId3" Type="http://schemas.openxmlformats.org/officeDocument/2006/relationships/image" Target="../media/image128.jpg"/><Relationship Id="rId4" Type="http://schemas.openxmlformats.org/officeDocument/2006/relationships/image" Target="../media/image129.jpg"/><Relationship Id="rId5" Type="http://schemas.openxmlformats.org/officeDocument/2006/relationships/image" Target="../media/image130.jp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5.xml"/><Relationship Id="rId3" Type="http://schemas.openxmlformats.org/officeDocument/2006/relationships/image" Target="../media/image131.jpg"/><Relationship Id="rId4" Type="http://schemas.openxmlformats.org/officeDocument/2006/relationships/image" Target="../media/image132.jpg"/><Relationship Id="rId5" Type="http://schemas.openxmlformats.org/officeDocument/2006/relationships/image" Target="../media/image1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2569337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075148" y="736453"/>
            <a:ext cx="6041702" cy="490018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995539773" name=""/>
          <p:cNvSpPr txBox="1"/>
          <p:nvPr/>
        </p:nvSpPr>
        <p:spPr bwMode="auto">
          <a:xfrm rot="0" flipH="0" flipV="0">
            <a:off x="1637698" y="5749358"/>
            <a:ext cx="891660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Сцена сельской жизни в </a:t>
            </a:r>
            <a:r>
              <a:rPr sz="1200" i="1">
                <a:latin typeface="IBM Plex Sans"/>
              </a:rPr>
              <a:t>XIX веке, авторство </a:t>
            </a:r>
            <a:r>
              <a:rPr sz="1200" i="1">
                <a:latin typeface="IBM Plex Sans"/>
              </a:rPr>
              <a:t>приписывается Луи-Леопольду Буайи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9813981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23213" y="963415"/>
            <a:ext cx="4705157" cy="4931168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569236133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226982" y="956998"/>
            <a:ext cx="6597515" cy="494400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437346195" name=""/>
          <p:cNvSpPr txBox="1"/>
          <p:nvPr/>
        </p:nvSpPr>
        <p:spPr bwMode="auto">
          <a:xfrm rot="0" flipH="0" flipV="0">
            <a:off x="457447" y="6012918"/>
            <a:ext cx="467200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>
                <a:latin typeface="IBM Plex Sans"/>
              </a:rPr>
              <a:t>Портрет герцога де Сюлли</a:t>
            </a:r>
            <a:endParaRPr sz="1200" b="0" i="1">
              <a:latin typeface="IBM Plex Sans"/>
              <a:cs typeface="IBM Plex Sans"/>
            </a:endParaRPr>
          </a:p>
        </p:txBody>
      </p:sp>
      <p:sp>
        <p:nvSpPr>
          <p:cNvPr id="1695758245" name=""/>
          <p:cNvSpPr txBox="1"/>
          <p:nvPr/>
        </p:nvSpPr>
        <p:spPr bwMode="auto">
          <a:xfrm rot="0" flipH="0" flipV="0">
            <a:off x="5226981" y="6012918"/>
            <a:ext cx="665452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>
                <a:latin typeface="IBM Plex Sans"/>
              </a:rPr>
              <a:t>Мемуары герцога де Сюлли, министра Анри IV</a:t>
            </a:r>
            <a:endParaRPr sz="1200" b="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9273297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902940" y="748832"/>
            <a:ext cx="3956026" cy="536033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360958819" name=""/>
          <p:cNvSpPr txBox="1"/>
          <p:nvPr/>
        </p:nvSpPr>
        <p:spPr bwMode="auto">
          <a:xfrm rot="0" flipH="0" flipV="0">
            <a:off x="2114879" y="6178730"/>
            <a:ext cx="753466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 lang="en-US">
                <a:latin typeface="IBM Plex Sans"/>
              </a:rPr>
              <a:t>Жан-Батист Кольбер, главный </a:t>
            </a: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контролер финансов при </a:t>
            </a:r>
            <a:r>
              <a:rPr sz="1200" i="1" lang="en-US">
                <a:latin typeface="IBM Plex Sans"/>
              </a:rPr>
              <a:t>Людовике XIV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3072477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623236" y="848034"/>
            <a:ext cx="6945526" cy="516193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199628209" name=""/>
          <p:cNvSpPr txBox="1"/>
          <p:nvPr/>
        </p:nvSpPr>
        <p:spPr bwMode="auto">
          <a:xfrm rot="0" flipH="0" flipV="0">
            <a:off x="2623235" y="6113748"/>
            <a:ext cx="694660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 lang="en-US">
                <a:latin typeface="IBM Plex Sans"/>
              </a:rPr>
              <a:t>мастерская перочинного дела XVIII века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4414699" name=""/>
          <p:cNvSpPr txBox="1"/>
          <p:nvPr/>
        </p:nvSpPr>
        <p:spPr bwMode="auto">
          <a:xfrm rot="0" flipH="0" flipV="0">
            <a:off x="2201303" y="5160814"/>
            <a:ext cx="806828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Порт Бордо в XVIII веке, автор Верне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77354616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239398" y="1437409"/>
            <a:ext cx="5715000" cy="36004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538243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053340" y="1118120"/>
            <a:ext cx="4865927" cy="462175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437625077" name=""/>
          <p:cNvSpPr txBox="1"/>
          <p:nvPr/>
        </p:nvSpPr>
        <p:spPr bwMode="auto">
          <a:xfrm rot="0" flipH="0" flipV="0">
            <a:off x="3401293" y="5825197"/>
            <a:ext cx="6045537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i="1">
                <a:latin typeface="IBM Plex Sans"/>
              </a:rPr>
              <a:t>Робин Гуд государства - </a:t>
            </a:r>
            <a:r>
              <a:rPr sz="1400" i="1" lang="fr-FR">
                <a:latin typeface="IBM Plex Sans"/>
              </a:rPr>
              <a:t>налоги или смерть</a:t>
            </a:r>
            <a:endParaRPr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3074642" name=""/>
          <p:cNvSpPr txBox="1"/>
          <p:nvPr/>
        </p:nvSpPr>
        <p:spPr bwMode="auto">
          <a:xfrm rot="0" flipH="0" flipV="0">
            <a:off x="363957" y="5617380"/>
            <a:ext cx="11464083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 i="1" u="none" lang="fr-FR">
                <a:solidFill>
                  <a:schemeClr val="tx1"/>
                </a:solidFill>
                <a:latin typeface="IBM Plex Sans"/>
              </a:rPr>
              <a:t>Дядя Скрудж</a:t>
            </a:r>
            <a:endParaRPr sz="1400" i="1">
              <a:latin typeface="IBM Plex Sans"/>
              <a:cs typeface="IBM Plex Sans"/>
            </a:endParaRPr>
          </a:p>
        </p:txBody>
      </p:sp>
      <p:pic>
        <p:nvPicPr>
          <p:cNvPr id="39441981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910468" y="610092"/>
            <a:ext cx="6371062" cy="48929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4637429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32616" y="1058120"/>
            <a:ext cx="3559365" cy="4741758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524455116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642109" y="1031974"/>
            <a:ext cx="6152365" cy="479405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466661607" name=""/>
          <p:cNvSpPr txBox="1"/>
          <p:nvPr/>
        </p:nvSpPr>
        <p:spPr bwMode="auto">
          <a:xfrm rot="0" flipH="0" flipV="0">
            <a:off x="1132615" y="5880385"/>
            <a:ext cx="356296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Портрет Вобана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149802602" name=""/>
          <p:cNvSpPr txBox="1"/>
          <p:nvPr/>
        </p:nvSpPr>
        <p:spPr bwMode="auto">
          <a:xfrm rot="0" flipH="0" flipV="0">
            <a:off x="5642108" y="5880385"/>
            <a:ext cx="615596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Цитадель Лилля работы Вобана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2510211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74095" y="581589"/>
            <a:ext cx="7243809" cy="569481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610464338" name=""/>
          <p:cNvSpPr txBox="1"/>
          <p:nvPr/>
        </p:nvSpPr>
        <p:spPr bwMode="auto">
          <a:xfrm rot="0" flipH="0" flipV="0">
            <a:off x="2501832" y="6320589"/>
            <a:ext cx="719091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Вобан, "Проект королевской десятины"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6578148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384888" y="483661"/>
            <a:ext cx="3735550" cy="5890674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45486339" name=""/>
          <p:cNvSpPr txBox="1"/>
          <p:nvPr/>
        </p:nvSpPr>
        <p:spPr bwMode="auto">
          <a:xfrm rot="0" flipH="0" flipV="0">
            <a:off x="3781755" y="6436677"/>
            <a:ext cx="494217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Перепись населения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302018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074351" y="745722"/>
            <a:ext cx="4372052" cy="5366556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379755449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1963000" y="771307"/>
            <a:ext cx="3217740" cy="5315383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914527803" name=""/>
          <p:cNvSpPr txBox="1"/>
          <p:nvPr/>
        </p:nvSpPr>
        <p:spPr bwMode="auto">
          <a:xfrm rot="0" flipH="0" flipV="0">
            <a:off x="816016" y="6186376"/>
            <a:ext cx="553731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Токвиль, "Старый режим и революция"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49933571" name=""/>
          <p:cNvSpPr txBox="1"/>
          <p:nvPr/>
        </p:nvSpPr>
        <p:spPr bwMode="auto">
          <a:xfrm rot="0" flipH="0" flipV="0">
            <a:off x="7074350" y="6186376"/>
            <a:ext cx="437277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Три приказа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7863672" name=""/>
          <p:cNvSpPr txBox="1"/>
          <p:nvPr/>
        </p:nvSpPr>
        <p:spPr bwMode="auto">
          <a:xfrm rot="0" flipH="0" flipV="0">
            <a:off x="2800572" y="5439041"/>
            <a:ext cx="678836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Пьер Лепезан де Буагильбер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87141020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537413" y="650462"/>
            <a:ext cx="3507767" cy="467094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3046295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23400" y="898921"/>
            <a:ext cx="2811197" cy="5060154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pic>
        <p:nvPicPr>
          <p:cNvPr id="164010796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7085742" y="847825"/>
            <a:ext cx="3379667" cy="5162348"/>
          </a:xfrm>
          <a:prstGeom prst="rect">
            <a:avLst/>
          </a:prstGeom>
        </p:spPr>
      </p:pic>
      <p:sp>
        <p:nvSpPr>
          <p:cNvPr id="1674216470" name=""/>
          <p:cNvSpPr txBox="1"/>
          <p:nvPr/>
        </p:nvSpPr>
        <p:spPr bwMode="auto">
          <a:xfrm rot="0" flipH="0" flipV="0">
            <a:off x="1143439" y="6132796"/>
            <a:ext cx="525150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Буагильбер, "Разоренная Франция при Людовике XIV"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816580096" name=""/>
          <p:cNvSpPr txBox="1"/>
          <p:nvPr/>
        </p:nvSpPr>
        <p:spPr bwMode="auto">
          <a:xfrm rot="0" flipH="0" flipV="0">
            <a:off x="6438195" y="6132799"/>
            <a:ext cx="479795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Карта Порт-Рояль-де-Шампс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9365554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17706" y="1124827"/>
            <a:ext cx="6558025" cy="460834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468921104" name=""/>
          <p:cNvSpPr txBox="1"/>
          <p:nvPr/>
        </p:nvSpPr>
        <p:spPr bwMode="auto">
          <a:xfrm rot="0" flipH="0" flipV="0">
            <a:off x="2816264" y="5850185"/>
            <a:ext cx="656090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Гюстав Кайлеботт - "Путь наверх"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1203520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088961" y="930765"/>
            <a:ext cx="3330976" cy="4996465"/>
          </a:xfrm>
          <a:prstGeom prst="rect">
            <a:avLst/>
          </a:prstGeom>
        </p:spPr>
      </p:pic>
      <p:sp>
        <p:nvSpPr>
          <p:cNvPr id="1984690885" name=""/>
          <p:cNvSpPr txBox="1"/>
          <p:nvPr/>
        </p:nvSpPr>
        <p:spPr bwMode="auto">
          <a:xfrm rot="0" flipH="0" flipV="0">
            <a:off x="254529" y="6010596"/>
            <a:ext cx="11003076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Мюррей Ротбард, "Австрийский взгляд на историю экономической мысли"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276311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713692" y="987031"/>
            <a:ext cx="3795930" cy="4883936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33102392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1600834" y="1003282"/>
            <a:ext cx="2847853" cy="4851434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099946519" name=""/>
          <p:cNvSpPr txBox="1"/>
          <p:nvPr/>
        </p:nvSpPr>
        <p:spPr bwMode="auto">
          <a:xfrm rot="0" flipH="0" flipV="0">
            <a:off x="297825" y="5994360"/>
            <a:ext cx="558107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Ричард Кантильон, "Эссе о природе торговли"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876655800" name=""/>
          <p:cNvSpPr txBox="1"/>
          <p:nvPr/>
        </p:nvSpPr>
        <p:spPr bwMode="auto">
          <a:xfrm rot="0" flipH="0" flipV="0">
            <a:off x="6385124" y="5994362"/>
            <a:ext cx="460035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Джон Лоу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3561738" name=""/>
          <p:cNvSpPr txBox="1"/>
          <p:nvPr/>
        </p:nvSpPr>
        <p:spPr bwMode="auto">
          <a:xfrm rot="0" flipH="0" flipV="0">
            <a:off x="2234355" y="5644315"/>
            <a:ext cx="800803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Банковский счет закона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58897511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76550" y="440530"/>
            <a:ext cx="7723283" cy="508916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8401464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076295" y="1632539"/>
            <a:ext cx="2754570" cy="3592918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600251642" name=""/>
          <p:cNvSpPr txBox="1"/>
          <p:nvPr/>
        </p:nvSpPr>
        <p:spPr bwMode="auto">
          <a:xfrm rot="0" flipH="0" flipV="0">
            <a:off x="4034763" y="5393329"/>
            <a:ext cx="484123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Аббат Сен-Пьер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6062988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430437" y="1557211"/>
            <a:ext cx="2152359" cy="3700547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pic>
        <p:nvPicPr>
          <p:cNvPr id="47713382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018111" y="1600240"/>
            <a:ext cx="3106773" cy="365751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60411752" name=""/>
          <p:cNvSpPr txBox="1"/>
          <p:nvPr/>
        </p:nvSpPr>
        <p:spPr bwMode="auto">
          <a:xfrm rot="0" flipH="0" flipV="0">
            <a:off x="1371373" y="5368448"/>
            <a:ext cx="440711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Портрет Гюстава де Молинари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217743035" name=""/>
          <p:cNvSpPr txBox="1"/>
          <p:nvPr/>
        </p:nvSpPr>
        <p:spPr bwMode="auto">
          <a:xfrm rot="0" flipH="0" flipV="0">
            <a:off x="5778126" y="5368447"/>
            <a:ext cx="545646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Аббат Сен-Пьер работы Молинари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1072379" name=""/>
          <p:cNvSpPr txBox="1"/>
          <p:nvPr/>
        </p:nvSpPr>
        <p:spPr bwMode="auto">
          <a:xfrm rot="0" flipH="0" flipV="0">
            <a:off x="2700898" y="6008069"/>
            <a:ext cx="680532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Аббат Сен-Пьер, "Проект по </a:t>
            </a:r>
            <a:r>
              <a:rPr sz="1200" i="1">
                <a:latin typeface="IBM Plex Sans"/>
              </a:rPr>
              <a:t>восстановлению мира в Европе"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81591022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340758" y="528813"/>
            <a:ext cx="3510482" cy="538859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7318787" name=""/>
          <p:cNvSpPr txBox="1"/>
          <p:nvPr/>
        </p:nvSpPr>
        <p:spPr bwMode="auto">
          <a:xfrm rot="0" flipH="0" flipV="0">
            <a:off x="95249" y="5634534"/>
            <a:ext cx="554693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Людовик XIV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925831263" name=""/>
          <p:cNvSpPr txBox="1"/>
          <p:nvPr/>
        </p:nvSpPr>
        <p:spPr bwMode="auto">
          <a:xfrm rot="0" flipH="0" flipV="0">
            <a:off x="5784994" y="5634534"/>
            <a:ext cx="638867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Версаль, Зал зеркал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48783282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5249" y="1294972"/>
            <a:ext cx="5545499" cy="4268054"/>
          </a:xfrm>
          <a:prstGeom prst="rect">
            <a:avLst/>
          </a:prstGeom>
        </p:spPr>
      </p:pic>
      <p:pic>
        <p:nvPicPr>
          <p:cNvPr id="180353877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784994" y="1298032"/>
            <a:ext cx="6387955" cy="426193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9723332" name=""/>
          <p:cNvSpPr txBox="1"/>
          <p:nvPr/>
        </p:nvSpPr>
        <p:spPr bwMode="auto">
          <a:xfrm rot="0" flipH="0" flipV="0">
            <a:off x="1942124" y="6325407"/>
            <a:ext cx="830846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Французская академия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70161879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942124" y="661480"/>
            <a:ext cx="8307749" cy="553503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5858809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91206" y="1409708"/>
            <a:ext cx="2453546" cy="403858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985129154" name=""/>
          <p:cNvSpPr txBox="1"/>
          <p:nvPr/>
        </p:nvSpPr>
        <p:spPr bwMode="auto">
          <a:xfrm rot="0" flipH="0" flipV="0">
            <a:off x="3067380" y="5615308"/>
            <a:ext cx="5701556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французский памфлет XVIII века, предлагающий реформы в области торговли и финансов и отражающий ранние дебаты по вопросам торговли и экономической политики.</a:t>
            </a:r>
            <a:endParaRPr sz="1200" i="1">
              <a:latin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7717143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57693" y="991939"/>
            <a:ext cx="3292167" cy="487412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96502548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242413" y="991940"/>
            <a:ext cx="3745186" cy="487411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626952596" name=""/>
          <p:cNvSpPr txBox="1"/>
          <p:nvPr/>
        </p:nvSpPr>
        <p:spPr bwMode="auto">
          <a:xfrm rot="0" flipH="0" flipV="0">
            <a:off x="1799496" y="5964752"/>
            <a:ext cx="322301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Маркиз д'Аржансон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246427471" name=""/>
          <p:cNvSpPr txBox="1"/>
          <p:nvPr/>
        </p:nvSpPr>
        <p:spPr bwMode="auto">
          <a:xfrm rot="0" flipH="0" flipV="0">
            <a:off x="6080658" y="5964752"/>
            <a:ext cx="404225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Laissez-faire, laissez-passer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0081111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586194" y="1603482"/>
            <a:ext cx="4753949" cy="3651033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53760976" name=""/>
          <p:cNvSpPr txBox="1"/>
          <p:nvPr/>
        </p:nvSpPr>
        <p:spPr bwMode="auto">
          <a:xfrm rot="0" flipH="0" flipV="0">
            <a:off x="1995817" y="5404298"/>
            <a:ext cx="7936136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Производство булавок, "Энциклопедия" </a:t>
            </a:r>
            <a:r>
              <a:rPr sz="1200" i="1">
                <a:latin typeface="IBM Plex Sans"/>
              </a:rPr>
              <a:t>Дидро и д'Аламбера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3384138" name=""/>
          <p:cNvSpPr txBox="1"/>
          <p:nvPr/>
        </p:nvSpPr>
        <p:spPr bwMode="auto">
          <a:xfrm rot="0" flipH="0" flipV="0">
            <a:off x="3603161" y="5856661"/>
            <a:ext cx="500206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Портрет Адама Смита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80860019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538707" y="1087128"/>
            <a:ext cx="3130615" cy="468374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9588729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05457" y="694032"/>
            <a:ext cx="2996114" cy="497767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007906865" name=""/>
          <p:cNvSpPr txBox="1"/>
          <p:nvPr/>
        </p:nvSpPr>
        <p:spPr bwMode="auto">
          <a:xfrm rot="0" flipH="0" flipV="0">
            <a:off x="2581928" y="5780153"/>
            <a:ext cx="715274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Маркиз д'Аржансон, "Дневник </a:t>
            </a:r>
            <a:r>
              <a:rPr sz="1200" i="1">
                <a:latin typeface="IBM Plex Sans"/>
              </a:rPr>
              <a:t>и мемуары"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115157" name=""/>
          <p:cNvSpPr txBox="1"/>
          <p:nvPr/>
        </p:nvSpPr>
        <p:spPr bwMode="auto">
          <a:xfrm rot="0" flipH="0" flipV="0">
            <a:off x="2665543" y="5405847"/>
            <a:ext cx="639012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Бенуа Мальбранк, "Винсент </a:t>
            </a:r>
            <a:r>
              <a:rPr sz="1200" i="1">
                <a:latin typeface="IBM Plex Sans"/>
              </a:rPr>
              <a:t>де Гурне"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211446298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192248" y="652462"/>
            <a:ext cx="3134857" cy="46696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51834184" name=""/>
          <p:cNvPicPr>
            <a:picLocks noChangeAspect="1"/>
          </p:cNvPicPr>
          <p:nvPr/>
        </p:nvPicPr>
        <p:blipFill>
          <a:blip r:embed="rId3"/>
          <a:srcRect l="8172" t="6465" r="7019" b="5123"/>
          <a:stretch/>
        </p:blipFill>
        <p:spPr bwMode="auto">
          <a:xfrm flipH="0" flipV="0">
            <a:off x="8114488" y="1272334"/>
            <a:ext cx="3028949" cy="4313331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pic>
        <p:nvPicPr>
          <p:cNvPr id="1466787542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4630165" y="1268260"/>
            <a:ext cx="2593733" cy="4321478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69312451" name=""/>
          <p:cNvSpPr txBox="1"/>
          <p:nvPr/>
        </p:nvSpPr>
        <p:spPr bwMode="auto">
          <a:xfrm rot="0" flipH="0" flipV="0">
            <a:off x="943947" y="5700709"/>
            <a:ext cx="2830725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Трактат о торговле Джосайя Чайлд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sp>
        <p:nvSpPr>
          <p:cNvPr id="143681071" name=""/>
          <p:cNvSpPr txBox="1"/>
          <p:nvPr/>
        </p:nvSpPr>
        <p:spPr bwMode="auto">
          <a:xfrm rot="0" flipH="0" flipV="0">
            <a:off x="4406834" y="5700709"/>
            <a:ext cx="3068379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Текст от </a:t>
            </a:r>
            <a:r>
              <a:rPr sz="1200" i="1">
                <a:latin typeface="IBM Plex Sans"/>
              </a:rPr>
              <a:t>26 июня </a:t>
            </a:r>
            <a:r>
              <a:rPr sz="1200" i="1">
                <a:latin typeface="IBM Plex Sans"/>
              </a:rPr>
              <a:t>1715 года, </a:t>
            </a:r>
            <a:r>
              <a:rPr sz="1200" i="1">
                <a:latin typeface="IBM Plex Sans"/>
              </a:rPr>
              <a:t>написанный М. </a:t>
            </a:r>
            <a:r>
              <a:rPr sz="1200" i="1">
                <a:latin typeface="IBM Plex Sans"/>
              </a:rPr>
              <a:t>де Гурганом, </a:t>
            </a:r>
            <a:r>
              <a:rPr sz="1200" i="1">
                <a:latin typeface="IBM Plex Sans"/>
              </a:rPr>
              <a:t>купцом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sp>
        <p:nvSpPr>
          <p:cNvPr id="1314446454" name=""/>
          <p:cNvSpPr txBox="1"/>
          <p:nvPr/>
        </p:nvSpPr>
        <p:spPr bwMode="auto">
          <a:xfrm rot="0" flipH="0" flipV="0">
            <a:off x="8114486" y="5700709"/>
            <a:ext cx="3033627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Официальный отчет </a:t>
            </a:r>
            <a:r>
              <a:rPr sz="1200" i="1">
                <a:latin typeface="IBM Plex Sans"/>
              </a:rPr>
              <a:t>об Индской </a:t>
            </a:r>
            <a:r>
              <a:rPr sz="1200" i="1">
                <a:latin typeface="IBM Plex Sans"/>
              </a:rPr>
              <a:t>компании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pic>
        <p:nvPicPr>
          <p:cNvPr id="1899674346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943946" y="1272333"/>
            <a:ext cx="2836271" cy="4380064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7684048" name=""/>
          <p:cNvSpPr txBox="1"/>
          <p:nvPr/>
        </p:nvSpPr>
        <p:spPr bwMode="auto">
          <a:xfrm rot="0" flipH="0" flipV="0">
            <a:off x="3835793" y="6264950"/>
            <a:ext cx="452185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Портрет </a:t>
            </a:r>
            <a:r>
              <a:rPr sz="1200" i="1">
                <a:latin typeface="IBM Plex Sans"/>
              </a:rPr>
              <a:t>Тюрго </a:t>
            </a:r>
            <a:r>
              <a:rPr sz="1200" i="1">
                <a:latin typeface="IBM Plex Sans"/>
              </a:rPr>
              <a:t/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37016141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35793" y="593049"/>
            <a:ext cx="4520412" cy="56719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9372775" name=""/>
          <p:cNvSpPr txBox="1"/>
          <p:nvPr/>
        </p:nvSpPr>
        <p:spPr bwMode="auto">
          <a:xfrm rot="0" flipH="0" flipV="0">
            <a:off x="4377884" y="4975233"/>
            <a:ext cx="3140535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Круг Винсента де Гурне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pic>
        <p:nvPicPr>
          <p:cNvPr id="204131629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328722" y="1583530"/>
            <a:ext cx="3238499" cy="32384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6931849" name=""/>
          <p:cNvSpPr txBox="1"/>
          <p:nvPr/>
        </p:nvSpPr>
        <p:spPr bwMode="auto">
          <a:xfrm rot="0" flipH="0" flipV="0">
            <a:off x="3858603" y="5796081"/>
            <a:ext cx="436246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Портрет Дэвида Хьюма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01732058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974522" y="450272"/>
            <a:ext cx="3933824" cy="52387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4561533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536404" y="1624490"/>
            <a:ext cx="4096724" cy="360901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928554434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628898" y="1585474"/>
            <a:ext cx="2266949" cy="3687050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605059592" name=""/>
          <p:cNvSpPr txBox="1"/>
          <p:nvPr/>
        </p:nvSpPr>
        <p:spPr bwMode="auto">
          <a:xfrm rot="0" flipH="0" flipV="0">
            <a:off x="5553459" y="5339678"/>
            <a:ext cx="4085786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Аббат Габриэль-Франсуа </a:t>
            </a: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Койе</a:t>
            </a:r>
            <a:endParaRPr sz="1200" i="1">
              <a:latin typeface="IBM Plex Sans"/>
            </a:endParaRPr>
          </a:p>
          <a:p>
            <a:pPr algn="ctr"/>
            <a:r>
              <a:rPr sz="1200" i="1">
                <a:latin typeface="IBM Plex Sans"/>
              </a:rPr>
              <a:t>"Коммерческое благородство"</a:t>
            </a:r>
          </a:p>
          <a:p>
            <a:pPr algn="ctr"/>
          </a:p>
        </p:txBody>
      </p:sp>
      <p:sp>
        <p:nvSpPr>
          <p:cNvPr id="370785627" name=""/>
          <p:cNvSpPr txBox="1"/>
          <p:nvPr/>
        </p:nvSpPr>
        <p:spPr bwMode="auto">
          <a:xfrm rot="0" flipH="0" flipV="0">
            <a:off x="2563537" y="5339679"/>
            <a:ext cx="2358256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Эссе о генеральной зерновой политике (1755)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1787261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83634" y="1270081"/>
            <a:ext cx="2534625" cy="4317834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939872120" name=""/>
          <p:cNvSpPr txBox="1"/>
          <p:nvPr/>
        </p:nvSpPr>
        <p:spPr bwMode="auto">
          <a:xfrm rot="0" flipH="0" flipV="0">
            <a:off x="4168710" y="5648629"/>
            <a:ext cx="3565552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Ричард Кантильон, "Эссе о природе коммерции"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259492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62000" y="1075212"/>
            <a:ext cx="2867999" cy="470757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020654627" name=""/>
          <p:cNvSpPr/>
          <p:nvPr/>
        </p:nvSpPr>
        <p:spPr bwMode="auto">
          <a:xfrm flipH="0" flipV="0">
            <a:off x="3348292" y="5831958"/>
            <a:ext cx="5495414" cy="51851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Исследование экономических изданий во Франции, 1566-1789 гг.</a:t>
            </a:r>
            <a:endParaRPr sz="1200" b="0" i="1" u="none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7410853" name=""/>
          <p:cNvSpPr txBox="1"/>
          <p:nvPr/>
        </p:nvSpPr>
        <p:spPr bwMode="auto">
          <a:xfrm rot="0" flipH="0" flipV="0">
            <a:off x="4195163" y="5594311"/>
            <a:ext cx="3818349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Аббат Габриэль-Франсуа </a:t>
            </a: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Койер, </a:t>
            </a:r>
            <a:r>
              <a:rPr sz="1200" i="1">
                <a:latin typeface="IBM Plex Sans"/>
              </a:rPr>
              <a:t>"Чинки"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pic>
        <p:nvPicPr>
          <p:cNvPr id="12098197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560093" y="1364871"/>
            <a:ext cx="2692031" cy="40330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0305097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253430" y="1731168"/>
            <a:ext cx="5389710" cy="339566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70748387" name=""/>
          <p:cNvSpPr/>
          <p:nvPr/>
        </p:nvSpPr>
        <p:spPr bwMode="auto">
          <a:xfrm flipH="0" flipV="0">
            <a:off x="3201327" y="5198765"/>
            <a:ext cx="5494276" cy="27467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200" b="0" i="0" u="none">
                <a:solidFill>
                  <a:srgbClr val="000000"/>
                </a:solidFill>
                <a:latin typeface="IBM Plex Sans"/>
              </a:rPr>
              <a:t>Дебаты в Генеральном собрании, Франция, 1789 год</a:t>
            </a:r>
            <a:endParaRPr sz="20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3625421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934294" y="1181099"/>
            <a:ext cx="3283887" cy="449579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85771579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534744" y="1174446"/>
            <a:ext cx="2525099" cy="4509106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845753349" name=""/>
          <p:cNvSpPr txBox="1"/>
          <p:nvPr/>
        </p:nvSpPr>
        <p:spPr bwMode="auto">
          <a:xfrm rot="0" flipH="0" flipV="0">
            <a:off x="2934291" y="5764453"/>
            <a:ext cx="328532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Портрет Мирабо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015953704" name=""/>
          <p:cNvSpPr txBox="1"/>
          <p:nvPr/>
        </p:nvSpPr>
        <p:spPr bwMode="auto">
          <a:xfrm rot="0" flipH="0" flipV="0">
            <a:off x="6621444" y="5779872"/>
            <a:ext cx="2428542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Мирабо, "Друзья </a:t>
            </a:r>
            <a:r>
              <a:rPr sz="1200" i="1">
                <a:latin typeface="IBM Plex Sans"/>
              </a:rPr>
              <a:t>людей"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3540289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14045" y="945558"/>
            <a:ext cx="2915624" cy="4966883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502008907" name=""/>
          <p:cNvSpPr txBox="1"/>
          <p:nvPr/>
        </p:nvSpPr>
        <p:spPr bwMode="auto">
          <a:xfrm rot="0" flipH="0" flipV="0">
            <a:off x="4198474" y="6103737"/>
            <a:ext cx="3747483" cy="7928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i="1">
                <a:latin typeface="IBM Plex Sans"/>
              </a:rPr>
              <a:t>Ричард Кантильон, "Эссе о природе коммерции"</a:t>
            </a:r>
            <a:endParaRPr sz="14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284563" name=""/>
          <p:cNvSpPr txBox="1"/>
          <p:nvPr/>
        </p:nvSpPr>
        <p:spPr bwMode="auto">
          <a:xfrm rot="0" flipH="0" flipV="0">
            <a:off x="4271145" y="5490666"/>
            <a:ext cx="3262515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Экономические и социальные доктрины</a:t>
            </a:r>
            <a:endParaRPr sz="1200" i="1">
              <a:latin typeface="IBM Plex Sans"/>
            </a:endParaRPr>
          </a:p>
          <a:p>
            <a:pPr algn="ctr"/>
            <a:r>
              <a:rPr sz="1200" i="1">
                <a:latin typeface="IBM Plex Sans"/>
              </a:rPr>
              <a:t>маркиз де Мирабо</a:t>
            </a:r>
          </a:p>
          <a:p>
            <a:pPr algn="ctr"/>
          </a:p>
        </p:txBody>
      </p:sp>
      <p:pic>
        <p:nvPicPr>
          <p:cNvPr id="140561318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271146" y="503216"/>
            <a:ext cx="3323358" cy="49022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7544032" name=""/>
          <p:cNvSpPr txBox="1"/>
          <p:nvPr/>
        </p:nvSpPr>
        <p:spPr bwMode="auto">
          <a:xfrm rot="0" flipH="0" flipV="0">
            <a:off x="4700094" y="5539107"/>
            <a:ext cx="283120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Франсуа Кесне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80525270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700455" y="1390186"/>
            <a:ext cx="2830129" cy="407762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2600895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343648" y="1368701"/>
            <a:ext cx="2658449" cy="412059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27309764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167061" y="1370527"/>
            <a:ext cx="2739412" cy="411694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947843350" name=""/>
          <p:cNvSpPr txBox="1"/>
          <p:nvPr/>
        </p:nvSpPr>
        <p:spPr bwMode="auto">
          <a:xfrm rot="0" flipH="0" flipV="0">
            <a:off x="6335100" y="5620965"/>
            <a:ext cx="278977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Пьер Самюэль Дюпон де Немур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880957488" name=""/>
          <p:cNvSpPr txBox="1"/>
          <p:nvPr/>
        </p:nvSpPr>
        <p:spPr bwMode="auto">
          <a:xfrm rot="0" flipH="0" flipV="0">
            <a:off x="3172797" y="5620964"/>
            <a:ext cx="273979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Мирабо, "Теория </a:t>
            </a:r>
            <a:r>
              <a:rPr sz="1200" i="1">
                <a:latin typeface="IBM Plex Sans"/>
              </a:rPr>
              <a:t>налогообложения"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2023463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398181" y="1566404"/>
            <a:ext cx="2264278" cy="342316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423672778" name=""/>
          <p:cNvSpPr txBox="1"/>
          <p:nvPr/>
        </p:nvSpPr>
        <p:spPr bwMode="auto">
          <a:xfrm rot="0" flipH="0" flipV="0">
            <a:off x="7351488" y="5146176"/>
            <a:ext cx="2143511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Экономическая карта Франсуа Кесне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sp>
        <p:nvSpPr>
          <p:cNvPr id="1909772607" name=""/>
          <p:cNvSpPr txBox="1"/>
          <p:nvPr/>
        </p:nvSpPr>
        <p:spPr bwMode="auto">
          <a:xfrm rot="0" flipH="0" flipV="0">
            <a:off x="3370627" y="5084856"/>
            <a:ext cx="235268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Франсуа Кесне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866037319" name=""/>
          <p:cNvPicPr>
            <a:picLocks noChangeAspect="1"/>
          </p:cNvPicPr>
          <p:nvPr/>
        </p:nvPicPr>
        <p:blipFill>
          <a:blip r:embed="rId4"/>
          <a:srcRect l="16910" t="0" r="23944" b="0"/>
          <a:stretch/>
        </p:blipFill>
        <p:spPr bwMode="auto">
          <a:xfrm flipH="0" flipV="0">
            <a:off x="2510051" y="1579616"/>
            <a:ext cx="4455175" cy="34099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9766573" name=""/>
          <p:cNvSpPr txBox="1"/>
          <p:nvPr/>
        </p:nvSpPr>
        <p:spPr bwMode="auto">
          <a:xfrm rot="0" flipH="0" flipV="0">
            <a:off x="4680035" y="5021432"/>
            <a:ext cx="283192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Франсуа Кесне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14998932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286000" y="1047749"/>
            <a:ext cx="7619999" cy="3886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980736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86072" y="2114549"/>
            <a:ext cx="3505199" cy="262890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93151826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7135941" y="2114892"/>
            <a:ext cx="1748812" cy="262821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170515060" name=""/>
          <p:cNvSpPr txBox="1"/>
          <p:nvPr/>
        </p:nvSpPr>
        <p:spPr bwMode="auto">
          <a:xfrm rot="0" flipH="0" flipV="0">
            <a:off x="2886071" y="4867597"/>
            <a:ext cx="350627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Энциклопедия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686248363" name=""/>
          <p:cNvSpPr txBox="1"/>
          <p:nvPr/>
        </p:nvSpPr>
        <p:spPr bwMode="auto">
          <a:xfrm rot="0" flipH="0" flipV="0">
            <a:off x="6910167" y="4867596"/>
            <a:ext cx="2205032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Дюпон де </a:t>
            </a:r>
            <a:r>
              <a:rPr sz="1200" i="1">
                <a:latin typeface="IBM Plex Sans"/>
              </a:rPr>
              <a:t>Немур,</a:t>
            </a:r>
            <a:endParaRPr sz="1200" i="1">
              <a:latin typeface="IBM Plex Sans"/>
            </a:endParaRPr>
          </a:p>
          <a:p>
            <a:pPr algn="ctr"/>
            <a:r>
              <a:rPr sz="1200" i="1">
                <a:latin typeface="IBM Plex Sans"/>
              </a:rPr>
              <a:t>"Теория налогообложения"</a:t>
            </a: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2807875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311500" y="2009775"/>
            <a:ext cx="1759837" cy="2838449"/>
          </a:xfrm>
          <a:prstGeom prst="rect">
            <a:avLst/>
          </a:prstGeom>
          <a:ln w="6349">
            <a:solidFill>
              <a:schemeClr val="tx1"/>
            </a:solidFill>
          </a:ln>
        </p:spPr>
      </p:pic>
      <p:pic>
        <p:nvPicPr>
          <p:cNvPr id="1529488039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793925" y="2009775"/>
            <a:ext cx="1633080" cy="283844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944813895" name=""/>
          <p:cNvSpPr txBox="1"/>
          <p:nvPr/>
        </p:nvSpPr>
        <p:spPr bwMode="auto">
          <a:xfrm rot="0" flipH="0" flipV="0">
            <a:off x="3528747" y="5037696"/>
            <a:ext cx="2146002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"Физиократия", сборник статей Кеснея, 1768 г</a:t>
            </a:r>
            <a:endParaRPr sz="1200" i="1">
              <a:latin typeface="IBM Plex Sans"/>
              <a:cs typeface="IBM Plex Sans"/>
            </a:endParaRPr>
          </a:p>
          <a:p>
            <a:pPr algn="ctr"/>
          </a:p>
        </p:txBody>
      </p:sp>
      <p:sp>
        <p:nvSpPr>
          <p:cNvPr id="745085485" name=""/>
          <p:cNvSpPr txBox="1"/>
          <p:nvPr/>
        </p:nvSpPr>
        <p:spPr bwMode="auto">
          <a:xfrm rot="0" flipH="0" flipV="0">
            <a:off x="5924880" y="5037696"/>
            <a:ext cx="2606652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"Ephémérides du Citoyen", официальный журнал физиократов</a:t>
            </a:r>
            <a:endParaRPr sz="1200" i="1">
              <a:latin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1273226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403861" y="1793817"/>
            <a:ext cx="1915499" cy="327036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48354613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733797" y="1793111"/>
            <a:ext cx="2239349" cy="327177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612686710" name=""/>
          <p:cNvSpPr txBox="1"/>
          <p:nvPr/>
        </p:nvSpPr>
        <p:spPr bwMode="auto">
          <a:xfrm rot="0" flipH="0" flipV="0">
            <a:off x="3733795" y="5208854"/>
            <a:ext cx="2279381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Буагильбер, "Деталь </a:t>
            </a:r>
            <a:r>
              <a:rPr sz="1200" i="1">
                <a:latin typeface="IBM Plex Sans"/>
              </a:rPr>
              <a:t>Франции"</a:t>
            </a:r>
            <a:endParaRPr sz="1200" i="1">
              <a:latin typeface="IBM Plex Sans"/>
            </a:endParaRPr>
          </a:p>
          <a:p>
            <a:pPr algn="ctr"/>
          </a:p>
        </p:txBody>
      </p:sp>
      <p:sp>
        <p:nvSpPr>
          <p:cNvPr id="1700346691" name=""/>
          <p:cNvSpPr txBox="1"/>
          <p:nvPr/>
        </p:nvSpPr>
        <p:spPr bwMode="auto">
          <a:xfrm rot="0" flipH="0" flipV="0">
            <a:off x="6341599" y="5208854"/>
            <a:ext cx="2103515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Кантильон, "Эссе о </a:t>
            </a:r>
            <a:r>
              <a:rPr sz="1200" i="1">
                <a:latin typeface="IBM Plex Sans"/>
              </a:rPr>
              <a:t>природе коммерции"</a:t>
            </a:r>
            <a:endParaRPr sz="1200" i="1">
              <a:latin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1036167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860655" y="1660733"/>
            <a:ext cx="1864370" cy="281857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682903578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933807" y="1679835"/>
            <a:ext cx="1875477" cy="281857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919236334" name=""/>
          <p:cNvSpPr txBox="1"/>
          <p:nvPr/>
        </p:nvSpPr>
        <p:spPr bwMode="auto">
          <a:xfrm rot="0" flipH="0" flipV="0">
            <a:off x="2919485" y="4592245"/>
            <a:ext cx="143486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Quesnay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722751012" name=""/>
          <p:cNvSpPr txBox="1"/>
          <p:nvPr/>
        </p:nvSpPr>
        <p:spPr bwMode="auto">
          <a:xfrm rot="0" flipH="0" flipV="0">
            <a:off x="4965435" y="4592245"/>
            <a:ext cx="1519346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Экономическая карта Кеснея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sp>
        <p:nvSpPr>
          <p:cNvPr id="724211289" name=""/>
          <p:cNvSpPr txBox="1"/>
          <p:nvPr/>
        </p:nvSpPr>
        <p:spPr bwMode="auto">
          <a:xfrm rot="0" flipH="0" flipV="0">
            <a:off x="7107106" y="4592243"/>
            <a:ext cx="1534989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Мирабо, </a:t>
            </a:r>
            <a:r>
              <a:rPr sz="1200" i="1">
                <a:latin typeface="IBM Plex Sans"/>
              </a:rPr>
              <a:t>"Теория </a:t>
            </a:r>
            <a:r>
              <a:rPr sz="1200" i="1">
                <a:latin typeface="IBM Plex Sans"/>
              </a:rPr>
              <a:t>налогообложения"</a:t>
            </a:r>
            <a:endParaRPr sz="1200" i="1">
              <a:latin typeface="IBM Plex Sans"/>
              <a:cs typeface="IBM Plex Sans"/>
            </a:endParaRPr>
          </a:p>
          <a:p>
            <a:pPr algn="ctr"/>
          </a:p>
        </p:txBody>
      </p:sp>
      <p:pic>
        <p:nvPicPr>
          <p:cNvPr id="252181333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2763468" y="1679835"/>
            <a:ext cx="1929755" cy="27803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0632886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784152" y="1486932"/>
            <a:ext cx="2806086" cy="3884132"/>
          </a:xfrm>
          <a:prstGeom prst="rect">
            <a:avLst/>
          </a:prstGeom>
        </p:spPr>
      </p:pic>
      <p:sp>
        <p:nvSpPr>
          <p:cNvPr id="613925283" name=""/>
          <p:cNvSpPr txBox="1"/>
          <p:nvPr/>
        </p:nvSpPr>
        <p:spPr bwMode="auto">
          <a:xfrm rot="0" flipH="0" flipV="0">
            <a:off x="4744422" y="5481361"/>
            <a:ext cx="288986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latin typeface="IBM Plex Sans"/>
              </a:rPr>
              <a:t>Маркиз де Помпадур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5184551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109231" y="1707567"/>
            <a:ext cx="2134574" cy="344286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113662740" name=""/>
          <p:cNvSpPr/>
          <p:nvPr/>
        </p:nvSpPr>
        <p:spPr bwMode="auto">
          <a:xfrm>
            <a:off x="3455440" y="5345761"/>
            <a:ext cx="5442512" cy="27467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Ephémérides du Citoyen, официальный журнал физиократов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4791806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14097" y="2700453"/>
            <a:ext cx="7363800" cy="145709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967580663" name=""/>
          <p:cNvSpPr txBox="1"/>
          <p:nvPr/>
        </p:nvSpPr>
        <p:spPr bwMode="auto">
          <a:xfrm rot="0" flipH="0" flipV="0">
            <a:off x="2414097" y="4321262"/>
            <a:ext cx="736559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Экономисты эпохи Просвещения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5037205" name=""/>
          <p:cNvSpPr txBox="1"/>
          <p:nvPr/>
        </p:nvSpPr>
        <p:spPr bwMode="auto">
          <a:xfrm rot="0" flipH="0" flipV="0">
            <a:off x="4885688" y="5464638"/>
            <a:ext cx="2421338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Физиократия, сборник статей </a:t>
            </a:r>
            <a:r>
              <a:rPr sz="1200" i="1">
                <a:latin typeface="IBM Plex Sans"/>
              </a:rPr>
              <a:t>Кеснея, 1768 год</a:t>
            </a:r>
            <a:endParaRPr sz="1200" i="1">
              <a:latin typeface="IBM Plex Sans"/>
              <a:ea typeface="IBM Plex Sans"/>
              <a:cs typeface="IBM Plex Sans"/>
            </a:endParaRPr>
          </a:p>
        </p:txBody>
      </p:sp>
      <p:pic>
        <p:nvPicPr>
          <p:cNvPr id="140952721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28568" y="238124"/>
            <a:ext cx="2934862" cy="51188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9456713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400013" y="1452562"/>
            <a:ext cx="5391973" cy="3100384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429465082" name=""/>
          <p:cNvSpPr txBox="1"/>
          <p:nvPr/>
        </p:nvSpPr>
        <p:spPr bwMode="auto">
          <a:xfrm rot="0" flipH="0" flipV="0">
            <a:off x="4175568" y="4661019"/>
            <a:ext cx="361989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Жан-Франсуа Милле, </a:t>
            </a:r>
            <a:r>
              <a:rPr sz="1200" i="1">
                <a:latin typeface="IBM Plex Sans"/>
              </a:rPr>
              <a:t>"Крестьяне"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313172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982302" y="1485003"/>
            <a:ext cx="2353649" cy="388799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649110283" name=""/>
          <p:cNvSpPr txBox="1"/>
          <p:nvPr/>
        </p:nvSpPr>
        <p:spPr bwMode="auto">
          <a:xfrm rot="0" flipH="0" flipV="0">
            <a:off x="4897965" y="5483745"/>
            <a:ext cx="2523396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Токвиль, "Старый режим и революция"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8191295" name=""/>
          <p:cNvSpPr txBox="1"/>
          <p:nvPr/>
        </p:nvSpPr>
        <p:spPr bwMode="auto">
          <a:xfrm rot="0" flipH="0" flipV="0">
            <a:off x="3767247" y="6455965"/>
            <a:ext cx="465894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Людовик XVI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67565640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767247" y="155951"/>
            <a:ext cx="4657503" cy="62341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4824030" name=""/>
          <p:cNvSpPr txBox="1"/>
          <p:nvPr/>
        </p:nvSpPr>
        <p:spPr bwMode="auto">
          <a:xfrm rot="0" flipH="0" flipV="0">
            <a:off x="4375075" y="6245419"/>
            <a:ext cx="344544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Милле, </a:t>
            </a:r>
            <a:r>
              <a:rPr sz="1200" i="1">
                <a:latin typeface="IBM Plex Sans"/>
              </a:rPr>
              <a:t>"Ангелус"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38545372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08933" y="74217"/>
            <a:ext cx="7374133" cy="59741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0634293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167725" y="2207417"/>
            <a:ext cx="3857625" cy="244316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135728965" name=""/>
          <p:cNvSpPr txBox="1"/>
          <p:nvPr/>
        </p:nvSpPr>
        <p:spPr bwMode="auto">
          <a:xfrm rot="0" flipH="0" flipV="0">
            <a:off x="4167183" y="4754975"/>
            <a:ext cx="385906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Порт Бордо в XVIII веке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2005189" name=""/>
          <p:cNvSpPr/>
          <p:nvPr/>
        </p:nvSpPr>
        <p:spPr bwMode="auto">
          <a:xfrm rot="0" flipH="0" flipV="0">
            <a:off x="4500680" y="1709736"/>
            <a:ext cx="2819399" cy="343852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pic>
        <p:nvPicPr>
          <p:cNvPr id="110335912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769274" y="1935605"/>
            <a:ext cx="2282212" cy="2986787"/>
          </a:xfrm>
          <a:prstGeom prst="ellipse">
            <a:avLst/>
          </a:prstGeom>
        </p:spPr>
      </p:pic>
      <p:sp>
        <p:nvSpPr>
          <p:cNvPr id="1975454646" name=""/>
          <p:cNvSpPr txBox="1"/>
          <p:nvPr/>
        </p:nvSpPr>
        <p:spPr bwMode="auto">
          <a:xfrm rot="0" flipH="0" flipV="0">
            <a:off x="3046587" y="5250471"/>
            <a:ext cx="589534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Карл Фредерик, "Великий герцог Баденский"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1513222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698550" y="1695598"/>
            <a:ext cx="2782274" cy="3466802"/>
          </a:xfrm>
          <a:prstGeom prst="rect">
            <a:avLst/>
          </a:prstGeom>
        </p:spPr>
      </p:pic>
      <p:pic>
        <p:nvPicPr>
          <p:cNvPr id="490369089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237087" y="1707856"/>
            <a:ext cx="2429848" cy="3442287"/>
          </a:xfrm>
          <a:prstGeom prst="rect">
            <a:avLst/>
          </a:prstGeom>
        </p:spPr>
      </p:pic>
      <p:sp>
        <p:nvSpPr>
          <p:cNvPr id="1569786394" name=""/>
          <p:cNvSpPr txBox="1"/>
          <p:nvPr/>
        </p:nvSpPr>
        <p:spPr bwMode="auto">
          <a:xfrm rot="0" flipH="0" flipV="0">
            <a:off x="2709049" y="5318191"/>
            <a:ext cx="271625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Екатерина II </a:t>
            </a:r>
            <a:r>
              <a:rPr sz="1200" i="1">
                <a:latin typeface="IBM Plex Sans"/>
              </a:rPr>
              <a:t>Российская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701207350" name=""/>
          <p:cNvSpPr txBox="1"/>
          <p:nvPr/>
        </p:nvSpPr>
        <p:spPr bwMode="auto">
          <a:xfrm rot="0" flipH="0" flipV="0">
            <a:off x="6003187" y="5318190"/>
            <a:ext cx="2874970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Мерсье де ла Ривьер, </a:t>
            </a:r>
            <a:r>
              <a:rPr sz="1200" i="1">
                <a:latin typeface="IBM Plex Sans"/>
              </a:rPr>
              <a:t>"Естественный и необходимый </a:t>
            </a:r>
            <a:r>
              <a:rPr sz="1200" i="1">
                <a:latin typeface="IBM Plex Sans"/>
              </a:rPr>
              <a:t>порядок политических обществ"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0039365" name=""/>
          <p:cNvSpPr txBox="1"/>
          <p:nvPr/>
        </p:nvSpPr>
        <p:spPr bwMode="auto">
          <a:xfrm rot="0" flipH="0" flipV="0">
            <a:off x="4992105" y="6377725"/>
            <a:ext cx="220778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Портрет Тюрго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7323016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35793" y="593049"/>
            <a:ext cx="4520412" cy="56718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500320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99997" y="1810262"/>
            <a:ext cx="4030049" cy="3237473"/>
          </a:xfrm>
          <a:prstGeom prst="rect">
            <a:avLst/>
          </a:prstGeom>
        </p:spPr>
      </p:pic>
      <p:sp>
        <p:nvSpPr>
          <p:cNvPr id="1676668344" name=""/>
          <p:cNvSpPr txBox="1"/>
          <p:nvPr/>
        </p:nvSpPr>
        <p:spPr bwMode="auto">
          <a:xfrm rot="0" flipH="0" flipV="0">
            <a:off x="3983837" y="5047732"/>
            <a:ext cx="394728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Королевский эдикт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2630913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520787" y="1912142"/>
            <a:ext cx="4823791" cy="303371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539665588" name=""/>
          <p:cNvSpPr txBox="1"/>
          <p:nvPr/>
        </p:nvSpPr>
        <p:spPr bwMode="auto">
          <a:xfrm rot="0" flipH="0" flipV="0">
            <a:off x="1951167" y="5079618"/>
            <a:ext cx="796698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Созыв Генеральных штатов в Версале в 1789 году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362090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18803" y="1963800"/>
            <a:ext cx="1953599" cy="293039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988915901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812035" y="1963544"/>
            <a:ext cx="3539512" cy="2930908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508882711" name=""/>
          <p:cNvSpPr txBox="1"/>
          <p:nvPr/>
        </p:nvSpPr>
        <p:spPr bwMode="auto">
          <a:xfrm rot="0" flipH="0" flipV="0">
            <a:off x="5812032" y="4954842"/>
            <a:ext cx="359722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Адам Смит, "Богатство народов"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951186138" name=""/>
          <p:cNvSpPr txBox="1"/>
          <p:nvPr/>
        </p:nvSpPr>
        <p:spPr bwMode="auto">
          <a:xfrm rot="0" flipH="0" flipV="0">
            <a:off x="2522120" y="4954842"/>
            <a:ext cx="2496705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Жозеф Рэмбо, "История экономических доктрин"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4424658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239348" y="2713018"/>
            <a:ext cx="4675799" cy="1431963"/>
          </a:xfrm>
          <a:prstGeom prst="rect">
            <a:avLst/>
          </a:prstGeom>
        </p:spPr>
      </p:pic>
      <p:pic>
        <p:nvPicPr>
          <p:cNvPr id="1977577997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7582873" y="2106888"/>
            <a:ext cx="1705950" cy="264422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232325847" name=""/>
          <p:cNvSpPr txBox="1"/>
          <p:nvPr/>
        </p:nvSpPr>
        <p:spPr bwMode="auto">
          <a:xfrm rot="0" flipH="0" flipV="0">
            <a:off x="2239346" y="4940495"/>
            <a:ext cx="441695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Предприятие Дюпон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360237828" name=""/>
          <p:cNvSpPr txBox="1"/>
          <p:nvPr/>
        </p:nvSpPr>
        <p:spPr bwMode="auto">
          <a:xfrm rot="0" flipH="0" flipV="0">
            <a:off x="7434045" y="4940495"/>
            <a:ext cx="200425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Дюпон де Немур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4497431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111319" y="1589667"/>
            <a:ext cx="2687024" cy="367866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668912552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695638" y="1589667"/>
            <a:ext cx="2493776" cy="3678665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134201921" name=""/>
          <p:cNvSpPr txBox="1"/>
          <p:nvPr/>
        </p:nvSpPr>
        <p:spPr bwMode="auto">
          <a:xfrm rot="0" flipH="0" flipV="0">
            <a:off x="3111318" y="5377396"/>
            <a:ext cx="268882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Маркиз де Мирабо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573617164" name=""/>
          <p:cNvSpPr txBox="1"/>
          <p:nvPr/>
        </p:nvSpPr>
        <p:spPr bwMode="auto">
          <a:xfrm rot="0" flipH="0" flipV="0">
            <a:off x="6288937" y="5377395"/>
            <a:ext cx="3334469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Журнал о сельском хозяйстве, </a:t>
            </a:r>
            <a:r>
              <a:rPr sz="1200" i="1">
                <a:latin typeface="IBM Plex Sans"/>
              </a:rPr>
              <a:t>торговле и финансах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0366703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852349" y="1976419"/>
            <a:ext cx="1801199" cy="290516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484698254" name=""/>
          <p:cNvSpPr txBox="1"/>
          <p:nvPr/>
        </p:nvSpPr>
        <p:spPr bwMode="auto">
          <a:xfrm rot="0" flipH="0" flipV="0">
            <a:off x="3410044" y="5021555"/>
            <a:ext cx="234736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Quesnay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303337923" name=""/>
          <p:cNvSpPr txBox="1"/>
          <p:nvPr/>
        </p:nvSpPr>
        <p:spPr bwMode="auto">
          <a:xfrm rot="0" flipH="0" flipV="0">
            <a:off x="6279189" y="5021555"/>
            <a:ext cx="294787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Журнал физиократов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29973898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539899" y="1956995"/>
            <a:ext cx="2029848" cy="292458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6886797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260304" y="1961006"/>
            <a:ext cx="2382224" cy="2935987"/>
          </a:xfrm>
          <a:prstGeom prst="rect">
            <a:avLst/>
          </a:prstGeom>
        </p:spPr>
      </p:pic>
      <p:pic>
        <p:nvPicPr>
          <p:cNvPr id="1075840834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720107" y="1871949"/>
            <a:ext cx="1791674" cy="311410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933655940" name=""/>
          <p:cNvSpPr txBox="1"/>
          <p:nvPr/>
        </p:nvSpPr>
        <p:spPr bwMode="auto">
          <a:xfrm rot="0" flipH="0" flipV="0">
            <a:off x="6260302" y="5139094"/>
            <a:ext cx="261245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Турго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167983262" name=""/>
          <p:cNvSpPr txBox="1"/>
          <p:nvPr/>
        </p:nvSpPr>
        <p:spPr bwMode="auto">
          <a:xfrm rot="0" flipH="0" flipV="0">
            <a:off x="3529984" y="5139094"/>
            <a:ext cx="2217381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Физиократия, коллекция текстов Кесне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9765840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7224116" y="2185987"/>
            <a:ext cx="1457325" cy="248602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21418206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608658" y="2171700"/>
            <a:ext cx="3826564" cy="251459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985118426" name=""/>
          <p:cNvSpPr txBox="1"/>
          <p:nvPr/>
        </p:nvSpPr>
        <p:spPr bwMode="auto">
          <a:xfrm rot="0" flipH="0" flipV="0">
            <a:off x="6807290" y="4826385"/>
            <a:ext cx="2364921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Йозеф Шумпетер, "История экономического анализа"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096497960" name=""/>
          <p:cNvSpPr txBox="1"/>
          <p:nvPr/>
        </p:nvSpPr>
        <p:spPr bwMode="auto">
          <a:xfrm rot="0" flipH="0" flipV="0">
            <a:off x="2608656" y="4797810"/>
            <a:ext cx="377903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Взятие дворца </a:t>
            </a:r>
            <a:r>
              <a:rPr sz="1200" i="1">
                <a:latin typeface="IBM Plex Sans"/>
              </a:rPr>
              <a:t>Тюильри в </a:t>
            </a:r>
            <a:r>
              <a:rPr sz="1200" i="1">
                <a:latin typeface="IBM Plex Sans"/>
              </a:rPr>
              <a:t>1792 году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6694992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637449" y="2278856"/>
            <a:ext cx="3067049" cy="230028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973402254" name=""/>
          <p:cNvSpPr txBox="1"/>
          <p:nvPr/>
        </p:nvSpPr>
        <p:spPr bwMode="auto">
          <a:xfrm rot="0" flipH="0" flipV="0">
            <a:off x="2792912" y="4705618"/>
            <a:ext cx="221049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Адам Смит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570094749" name=""/>
          <p:cNvSpPr txBox="1"/>
          <p:nvPr/>
        </p:nvSpPr>
        <p:spPr bwMode="auto">
          <a:xfrm rot="0" flipH="0" flipV="0">
            <a:off x="5637448" y="4705618"/>
            <a:ext cx="306848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Энциклопедия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644057857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925968" y="1471611"/>
            <a:ext cx="2077074" cy="310753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6755822" name=""/>
          <p:cNvSpPr txBox="1"/>
          <p:nvPr/>
        </p:nvSpPr>
        <p:spPr bwMode="auto">
          <a:xfrm rot="0" flipH="0" flipV="0">
            <a:off x="4418876" y="5714403"/>
            <a:ext cx="315907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Дени Дидро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71324972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420318" y="1335739"/>
            <a:ext cx="3157274" cy="41865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454051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705473" y="1759888"/>
            <a:ext cx="3885163" cy="3338223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309853779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899130" y="1776701"/>
            <a:ext cx="2048849" cy="3304596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061521615" name=""/>
          <p:cNvSpPr txBox="1"/>
          <p:nvPr/>
        </p:nvSpPr>
        <p:spPr bwMode="auto">
          <a:xfrm rot="0" flipH="0" flipV="0">
            <a:off x="5705471" y="5156323"/>
            <a:ext cx="3886601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Диалог о торговле пшеницей, автор Галиани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sp>
        <p:nvSpPr>
          <p:cNvPr id="2022602657" name=""/>
          <p:cNvSpPr txBox="1"/>
          <p:nvPr/>
        </p:nvSpPr>
        <p:spPr bwMode="auto">
          <a:xfrm rot="0" flipH="0" flipV="0">
            <a:off x="2899128" y="5156323"/>
            <a:ext cx="205100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Эфемериды гражданина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1951579" name=""/>
          <p:cNvSpPr txBox="1"/>
          <p:nvPr/>
        </p:nvSpPr>
        <p:spPr bwMode="auto">
          <a:xfrm rot="0" flipH="0" flipV="0">
            <a:off x="4900562" y="6188518"/>
            <a:ext cx="239087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Вольтер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72740601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693366" y="333374"/>
            <a:ext cx="4805267" cy="58257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5529091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938712" y="1943100"/>
            <a:ext cx="2314575" cy="297180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020905046" name=""/>
          <p:cNvSpPr txBox="1"/>
          <p:nvPr/>
        </p:nvSpPr>
        <p:spPr bwMode="auto">
          <a:xfrm rot="0" flipH="0" flipV="0">
            <a:off x="3023827" y="4971506"/>
            <a:ext cx="614434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Вольтер, "Человек </a:t>
            </a:r>
            <a:r>
              <a:rPr sz="1200" i="1">
                <a:latin typeface="IBM Plex Sans"/>
              </a:rPr>
              <a:t>в карантине"</a:t>
            </a:r>
            <a:endParaRPr sz="1200" i="1">
              <a:latin typeface="IBM Plex Sans"/>
              <a:ea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962218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934922" y="2090736"/>
            <a:ext cx="2171700" cy="2676524"/>
          </a:xfrm>
          <a:prstGeom prst="rect">
            <a:avLst/>
          </a:prstGeom>
        </p:spPr>
      </p:pic>
      <p:pic>
        <p:nvPicPr>
          <p:cNvPr id="884782058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033326" y="2121937"/>
            <a:ext cx="1739921" cy="261412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2089519475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7784901" y="2481262"/>
            <a:ext cx="2527299" cy="1895474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28385075" name=""/>
          <p:cNvSpPr txBox="1"/>
          <p:nvPr/>
        </p:nvSpPr>
        <p:spPr bwMode="auto">
          <a:xfrm rot="0" flipH="0" flipV="0">
            <a:off x="1934921" y="4951861"/>
            <a:ext cx="217350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Турго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2037056160" name=""/>
          <p:cNvSpPr txBox="1"/>
          <p:nvPr/>
        </p:nvSpPr>
        <p:spPr bwMode="auto">
          <a:xfrm rot="0" flipH="0" flipV="0">
            <a:off x="4792734" y="4875661"/>
            <a:ext cx="2253782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Монтескье</a:t>
            </a:r>
            <a:endParaRPr sz="1200" i="1">
              <a:latin typeface="IBM Plex Sans"/>
            </a:endParaRPr>
          </a:p>
          <a:p>
            <a:pPr algn="ctr"/>
            <a:r>
              <a:rPr sz="1200" i="1">
                <a:latin typeface="IBM Plex Sans"/>
              </a:rPr>
              <a:t>"Дух законов"</a:t>
            </a:r>
          </a:p>
          <a:p>
            <a:pPr algn="ctr"/>
          </a:p>
        </p:txBody>
      </p:sp>
      <p:sp>
        <p:nvSpPr>
          <p:cNvPr id="1043615154" name=""/>
          <p:cNvSpPr txBox="1"/>
          <p:nvPr/>
        </p:nvSpPr>
        <p:spPr bwMode="auto">
          <a:xfrm rot="0" flipH="0" flipV="0">
            <a:off x="7784901" y="4951861"/>
            <a:ext cx="252837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Энциклопедия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4347525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325194" y="1780441"/>
            <a:ext cx="2296499" cy="329711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330886043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576636" y="1774353"/>
            <a:ext cx="2072662" cy="330929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828704723" name=""/>
          <p:cNvSpPr txBox="1"/>
          <p:nvPr/>
        </p:nvSpPr>
        <p:spPr bwMode="auto">
          <a:xfrm rot="0" flipH="0" flipV="0">
            <a:off x="3695000" y="5191308"/>
            <a:ext cx="1803656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Тюрго, "Похвала </a:t>
            </a:r>
            <a:r>
              <a:rPr sz="1200" i="1">
                <a:latin typeface="IBM Plex Sans"/>
              </a:rPr>
              <a:t>Гурнею"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909182822" name=""/>
          <p:cNvSpPr txBox="1"/>
          <p:nvPr/>
        </p:nvSpPr>
        <p:spPr bwMode="auto">
          <a:xfrm rot="0" flipH="0" flipV="0">
            <a:off x="5952426" y="5191308"/>
            <a:ext cx="2967050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Тюрго, "Размышления о формировании и распределении богатства"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7279991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506389" y="2025873"/>
            <a:ext cx="1848824" cy="280625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26825477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300785" y="2009234"/>
            <a:ext cx="1796437" cy="2839530"/>
          </a:xfrm>
          <a:prstGeom prst="rect">
            <a:avLst/>
          </a:prstGeom>
          <a:ln w="6349">
            <a:solidFill>
              <a:schemeClr val="tx1"/>
            </a:solidFill>
          </a:ln>
        </p:spPr>
      </p:pic>
      <p:sp>
        <p:nvSpPr>
          <p:cNvPr id="1438129544" name=""/>
          <p:cNvSpPr txBox="1"/>
          <p:nvPr/>
        </p:nvSpPr>
        <p:spPr bwMode="auto">
          <a:xfrm rot="0" flipH="0" flipV="0">
            <a:off x="6014176" y="5052902"/>
            <a:ext cx="2517354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Тюрго, "Письма о свободе торговли зерном"</a:t>
            </a:r>
            <a:endParaRPr sz="1200" i="1">
              <a:latin typeface="IBM Plex Sans"/>
            </a:endParaRPr>
          </a:p>
          <a:p>
            <a:pPr algn="ctr"/>
          </a:p>
        </p:txBody>
      </p:sp>
      <p:sp>
        <p:nvSpPr>
          <p:cNvPr id="977429514" name=""/>
          <p:cNvSpPr txBox="1"/>
          <p:nvPr/>
        </p:nvSpPr>
        <p:spPr bwMode="auto">
          <a:xfrm rot="0" flipH="0" flipV="0">
            <a:off x="3231091" y="5052902"/>
            <a:ext cx="2439800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Тюрго и Смит,</a:t>
            </a:r>
            <a:endParaRPr sz="1200" i="1">
              <a:latin typeface="IBM Plex Sans"/>
            </a:endParaRPr>
          </a:p>
          <a:p>
            <a:pPr algn="ctr"/>
            <a:r>
              <a:rPr sz="1200" i="1">
                <a:latin typeface="IBM Plex Sans"/>
              </a:rPr>
              <a:t>"Странная близость"</a:t>
            </a: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3628088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035856" y="1786815"/>
            <a:ext cx="2120287" cy="3284366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719682168" name=""/>
          <p:cNvSpPr txBox="1"/>
          <p:nvPr/>
        </p:nvSpPr>
        <p:spPr bwMode="auto">
          <a:xfrm rot="0" flipH="0" flipV="0">
            <a:off x="3297670" y="5234148"/>
            <a:ext cx="559701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Тюрго, "Памятная записка </a:t>
            </a:r>
            <a:r>
              <a:rPr sz="1200" i="1">
                <a:latin typeface="IBM Plex Sans"/>
              </a:rPr>
              <a:t>об аргентинских призах"</a:t>
            </a:r>
            <a:endParaRPr sz="1200" i="1">
              <a:latin typeface="IBM Plex Sans"/>
              <a:ea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3754858" name=""/>
          <p:cNvSpPr txBox="1"/>
          <p:nvPr/>
        </p:nvSpPr>
        <p:spPr bwMode="auto">
          <a:xfrm rot="0" flipH="0" flipV="0">
            <a:off x="4359042" y="6217345"/>
            <a:ext cx="347391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Фридрих А. Хайек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29835119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724639" y="190499"/>
            <a:ext cx="4742720" cy="59769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0966654" name=""/>
          <p:cNvSpPr txBox="1"/>
          <p:nvPr/>
        </p:nvSpPr>
        <p:spPr bwMode="auto">
          <a:xfrm rot="0" flipH="0" flipV="0">
            <a:off x="4813861" y="5844501"/>
            <a:ext cx="256427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Турго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98476807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35793" y="116798"/>
            <a:ext cx="4520412" cy="56718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5579410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666762" y="1817717"/>
            <a:ext cx="4296749" cy="322256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890887843" name=""/>
          <p:cNvSpPr txBox="1"/>
          <p:nvPr/>
        </p:nvSpPr>
        <p:spPr bwMode="auto">
          <a:xfrm rot="0" flipH="0" flipV="0">
            <a:off x="3666402" y="5150531"/>
            <a:ext cx="4302506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Ж.Ф. Милле, </a:t>
            </a: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"Землепашцы", </a:t>
            </a:r>
            <a:r>
              <a:rPr sz="1200" i="1">
                <a:latin typeface="IBM Plex Sans"/>
              </a:rPr>
              <a:t>1857 </a:t>
            </a:r>
            <a:r>
              <a:rPr sz="1200" i="1">
                <a:latin typeface="IBM Plex Sans"/>
              </a:rPr>
              <a:t>г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6682258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321966" y="2214322"/>
            <a:ext cx="3191850" cy="242935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849697761" name=""/>
          <p:cNvSpPr txBox="1"/>
          <p:nvPr/>
        </p:nvSpPr>
        <p:spPr bwMode="auto">
          <a:xfrm rot="0" flipH="0" flipV="0">
            <a:off x="4323031" y="4745557"/>
            <a:ext cx="319007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Ополченцы рисуют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2844225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6319240" y="2281237"/>
            <a:ext cx="2857500" cy="2295524"/>
          </a:xfrm>
          <a:prstGeom prst="rect">
            <a:avLst/>
          </a:prstGeom>
        </p:spPr>
      </p:pic>
      <p:pic>
        <p:nvPicPr>
          <p:cNvPr id="1471338754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681881" y="2336902"/>
            <a:ext cx="2848949" cy="2184194"/>
          </a:xfrm>
          <a:prstGeom prst="rect">
            <a:avLst/>
          </a:prstGeom>
        </p:spPr>
      </p:pic>
      <p:sp>
        <p:nvSpPr>
          <p:cNvPr id="200566995" name=""/>
          <p:cNvSpPr txBox="1"/>
          <p:nvPr/>
        </p:nvSpPr>
        <p:spPr bwMode="auto">
          <a:xfrm rot="0" flipH="0" flipV="0">
            <a:off x="2365182" y="4711950"/>
            <a:ext cx="3513781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Жалобная книга байопика Немура</a:t>
            </a:r>
            <a:endParaRPr sz="1200" i="1">
              <a:latin typeface="IBM Plex Sans"/>
              <a:cs typeface="IBM Plex Sans"/>
            </a:endParaRPr>
          </a:p>
          <a:p>
            <a:pPr algn="ctr"/>
          </a:p>
        </p:txBody>
      </p:sp>
      <p:sp>
        <p:nvSpPr>
          <p:cNvPr id="1476494168" name=""/>
          <p:cNvSpPr txBox="1"/>
          <p:nvPr/>
        </p:nvSpPr>
        <p:spPr bwMode="auto">
          <a:xfrm rot="0" flipH="0" flipV="0">
            <a:off x="6591901" y="4711950"/>
            <a:ext cx="2471985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Эдит дю Руа</a:t>
            </a:r>
            <a:endParaRPr sz="1200" i="1">
              <a:latin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751524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324598" y="1967913"/>
            <a:ext cx="2070830" cy="292217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890767741" name=""/>
          <p:cNvSpPr txBox="1"/>
          <p:nvPr/>
        </p:nvSpPr>
        <p:spPr bwMode="auto">
          <a:xfrm rot="0" flipH="0" flipV="0">
            <a:off x="3441528" y="5045687"/>
            <a:ext cx="228370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Вольтер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22164138" name=""/>
          <p:cNvSpPr txBox="1"/>
          <p:nvPr/>
        </p:nvSpPr>
        <p:spPr bwMode="auto">
          <a:xfrm rot="0" flipH="0" flipV="0">
            <a:off x="6324596" y="5045687"/>
            <a:ext cx="207442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Людовик XVI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96363613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441529" y="1942157"/>
            <a:ext cx="2217996" cy="29736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4082993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94625" y="1367286"/>
            <a:ext cx="3383324" cy="4123427"/>
          </a:xfrm>
          <a:prstGeom prst="rect">
            <a:avLst/>
          </a:prstGeom>
        </p:spPr>
      </p:pic>
      <p:pic>
        <p:nvPicPr>
          <p:cNvPr id="1352852668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472000" y="1358237"/>
            <a:ext cx="2668446" cy="414152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723260587" name=""/>
          <p:cNvSpPr txBox="1"/>
          <p:nvPr/>
        </p:nvSpPr>
        <p:spPr bwMode="auto">
          <a:xfrm rot="0" flipH="0" flipV="0">
            <a:off x="2894625" y="5604018"/>
            <a:ext cx="338692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Мишель де Монтень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2043448998" name=""/>
          <p:cNvSpPr txBox="1"/>
          <p:nvPr/>
        </p:nvSpPr>
        <p:spPr bwMode="auto">
          <a:xfrm rot="0" flipH="0" flipV="0">
            <a:off x="6471999" y="5604018"/>
            <a:ext cx="274034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 lang="en-US">
                <a:latin typeface="IBM Plex Sans"/>
              </a:rPr>
              <a:t>Этьен Бонно де Кондильяк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032017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337553" y="2210625"/>
            <a:ext cx="3249000" cy="243675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575427645" name=""/>
          <p:cNvSpPr txBox="1"/>
          <p:nvPr/>
        </p:nvSpPr>
        <p:spPr bwMode="auto">
          <a:xfrm rot="0" flipH="0" flipV="0">
            <a:off x="2732121" y="4769027"/>
            <a:ext cx="646093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Кондильяк, торговля и правительство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6852795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715775" y="1763784"/>
            <a:ext cx="2591775" cy="3330430"/>
          </a:xfrm>
          <a:prstGeom prst="rect">
            <a:avLst/>
          </a:prstGeom>
        </p:spPr>
      </p:pic>
      <p:sp>
        <p:nvSpPr>
          <p:cNvPr id="1341681092" name=""/>
          <p:cNvSpPr txBox="1"/>
          <p:nvPr/>
        </p:nvSpPr>
        <p:spPr bwMode="auto">
          <a:xfrm rot="0" flipH="0" flipV="0">
            <a:off x="4714875" y="5196666"/>
            <a:ext cx="259393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Жан-Батист Сэй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9206855" name=""/>
          <p:cNvSpPr txBox="1"/>
          <p:nvPr/>
        </p:nvSpPr>
        <p:spPr bwMode="auto">
          <a:xfrm rot="0" flipH="0" flipV="0">
            <a:off x="3930583" y="5602247"/>
            <a:ext cx="382596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Николя де Кондорсе</a:t>
            </a:r>
            <a:endParaRPr sz="1600">
              <a:latin typeface="IBM Plex Sans"/>
              <a:cs typeface="IBM Plex Sans"/>
            </a:endParaRPr>
          </a:p>
        </p:txBody>
      </p:sp>
      <p:pic>
        <p:nvPicPr>
          <p:cNvPr id="148458974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367011" y="802480"/>
            <a:ext cx="2952749" cy="46577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8339100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44636" y="1898436"/>
            <a:ext cx="2448899" cy="3061124"/>
          </a:xfrm>
          <a:prstGeom prst="rect">
            <a:avLst/>
          </a:prstGeom>
        </p:spPr>
      </p:pic>
      <p:sp>
        <p:nvSpPr>
          <p:cNvPr id="1203121228" name=""/>
          <p:cNvSpPr txBox="1"/>
          <p:nvPr/>
        </p:nvSpPr>
        <p:spPr bwMode="auto">
          <a:xfrm rot="0" flipH="0" flipV="0">
            <a:off x="4183592" y="5047664"/>
            <a:ext cx="331994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Анн Робер Жак Тюрго</a:t>
            </a:r>
            <a:endParaRPr sz="18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4756667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73569" y="1494393"/>
            <a:ext cx="2548912" cy="386921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542991926" name=""/>
          <p:cNvSpPr txBox="1"/>
          <p:nvPr/>
        </p:nvSpPr>
        <p:spPr bwMode="auto">
          <a:xfrm rot="0" flipH="0" flipV="0">
            <a:off x="4302652" y="5555937"/>
            <a:ext cx="3293982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Галиани, "Письма о </a:t>
            </a:r>
            <a:r>
              <a:rPr sz="1200" i="1">
                <a:latin typeface="IBM Plex Sans"/>
              </a:rPr>
              <a:t>торговле зерном"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352310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52923" y="2074068"/>
            <a:ext cx="4117194" cy="270986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294776362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334123" y="2074068"/>
            <a:ext cx="4308849" cy="270986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025920567" name=""/>
          <p:cNvSpPr txBox="1"/>
          <p:nvPr/>
        </p:nvSpPr>
        <p:spPr bwMode="auto">
          <a:xfrm rot="0" flipH="0" flipV="0">
            <a:off x="5924881" y="5148306"/>
            <a:ext cx="5287717" cy="5489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 lang="en-US"/>
              <a:t>Созыв Генеральных штатов в Версале, 5 мая 1789 года</a:t>
            </a:r>
            <a:endParaRPr/>
          </a:p>
          <a:p>
            <a:pPr algn="ctr"/>
          </a:p>
        </p:txBody>
      </p:sp>
      <p:sp>
        <p:nvSpPr>
          <p:cNvPr id="2130158033" name=""/>
          <p:cNvSpPr txBox="1"/>
          <p:nvPr/>
        </p:nvSpPr>
        <p:spPr bwMode="auto">
          <a:xfrm rot="0" flipH="0" flipV="0">
            <a:off x="1350762" y="5148306"/>
            <a:ext cx="4123314" cy="5489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 lang="en-US"/>
              <a:t>Шампаньи, "Список жалоб"</a:t>
            </a:r>
            <a:endParaRPr lang="en-US" sz="1200" i="1"/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2409207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083324" y="1600809"/>
            <a:ext cx="2091712" cy="365637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94869393" name=""/>
          <p:cNvSpPr txBox="1"/>
          <p:nvPr/>
        </p:nvSpPr>
        <p:spPr bwMode="auto">
          <a:xfrm rot="0" flipH="0" flipV="0">
            <a:off x="3930582" y="5468130"/>
            <a:ext cx="4401870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Дюпон де Немур, </a:t>
            </a:r>
            <a:r>
              <a:rPr sz="1200" i="1">
                <a:latin typeface="IBM Plex Sans"/>
              </a:rPr>
              <a:t>"Речь в Национальном </a:t>
            </a:r>
            <a:r>
              <a:rPr sz="1200" i="1">
                <a:latin typeface="IBM Plex Sans"/>
              </a:rPr>
              <a:t>собрании", 1789 г</a:t>
            </a:r>
            <a:endParaRPr sz="1200" i="1">
              <a:latin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3684455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46312" y="1170099"/>
            <a:ext cx="2721567" cy="4517801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1513147937" name=""/>
          <p:cNvSpPr txBox="1"/>
          <p:nvPr/>
        </p:nvSpPr>
        <p:spPr bwMode="auto">
          <a:xfrm rot="0" flipH="0" flipV="0">
            <a:off x="1474920" y="5802311"/>
            <a:ext cx="907083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Дюпон де Немур, </a:t>
            </a:r>
            <a:r>
              <a:rPr sz="1200" i="1">
                <a:latin typeface="IBM Plex Sans"/>
              </a:rPr>
              <a:t>"Влияние асигнатов на </a:t>
            </a:r>
            <a:r>
              <a:rPr sz="1200" i="1">
                <a:latin typeface="IBM Plex Sans"/>
              </a:rPr>
              <a:t>цену хлеба"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8512402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955974" y="2245518"/>
            <a:ext cx="4107950" cy="2366961"/>
          </a:xfrm>
          <a:prstGeom prst="rect">
            <a:avLst/>
          </a:prstGeom>
        </p:spPr>
      </p:pic>
      <p:sp>
        <p:nvSpPr>
          <p:cNvPr id="312220677" name=""/>
          <p:cNvSpPr txBox="1"/>
          <p:nvPr/>
        </p:nvSpPr>
        <p:spPr bwMode="auto">
          <a:xfrm rot="0" flipH="0" flipV="0">
            <a:off x="3955252" y="4674591"/>
            <a:ext cx="411190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latin typeface="IBM Plex Sans"/>
              </a:rPr>
              <a:t>Ассигнат 100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7585741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37774" y="2338733"/>
            <a:ext cx="3329962" cy="2180533"/>
          </a:xfrm>
          <a:prstGeom prst="rect">
            <a:avLst/>
          </a:prstGeom>
        </p:spPr>
      </p:pic>
      <p:pic>
        <p:nvPicPr>
          <p:cNvPr id="81191873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429250" y="1835771"/>
            <a:ext cx="1870491" cy="318645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790032078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8295786" y="1851835"/>
            <a:ext cx="2035049" cy="3154328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246411566" name=""/>
          <p:cNvSpPr txBox="1"/>
          <p:nvPr/>
        </p:nvSpPr>
        <p:spPr bwMode="auto">
          <a:xfrm rot="0" flipH="0" flipV="0">
            <a:off x="1337772" y="5264746"/>
            <a:ext cx="333104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 lang="en-US">
                <a:latin typeface="IBM Plex Sans"/>
              </a:rPr>
              <a:t>Пьер Ле Пезан де Буагильбер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644181952" name=""/>
          <p:cNvSpPr txBox="1"/>
          <p:nvPr/>
        </p:nvSpPr>
        <p:spPr bwMode="auto">
          <a:xfrm rot="0" flipH="0" flipV="0">
            <a:off x="5145937" y="5264745"/>
            <a:ext cx="2549377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Кантильон, "Эссе о природе коммерции в целом"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sp>
        <p:nvSpPr>
          <p:cNvPr id="1595953150" name=""/>
          <p:cNvSpPr txBox="1"/>
          <p:nvPr/>
        </p:nvSpPr>
        <p:spPr bwMode="auto">
          <a:xfrm rot="0" flipH="0" flipV="0">
            <a:off x="7993593" y="5264745"/>
            <a:ext cx="2759076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0" marR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 i="1" u="none" lang="en-US">
                <a:solidFill>
                  <a:srgbClr val="000000"/>
                </a:solidFill>
                <a:latin typeface="IBM Plex Sans"/>
              </a:rPr>
              <a:t>Джосайя Чайлд, "Трактат </a:t>
            </a:r>
            <a:r>
              <a:rPr sz="1200" i="1">
                <a:latin typeface="IBM Plex Sans"/>
              </a:rPr>
              <a:t>о торговле"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0285744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842243" y="1771036"/>
            <a:ext cx="2239705" cy="331592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296130189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7492816" y="1701171"/>
            <a:ext cx="2244111" cy="3455656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310785906" name=""/>
          <p:cNvSpPr txBox="1"/>
          <p:nvPr/>
        </p:nvSpPr>
        <p:spPr bwMode="auto">
          <a:xfrm rot="0" flipH="0" flipV="0">
            <a:off x="4594602" y="5305748"/>
            <a:ext cx="249485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Quesnay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693050672" name=""/>
          <p:cNvSpPr txBox="1"/>
          <p:nvPr/>
        </p:nvSpPr>
        <p:spPr bwMode="auto">
          <a:xfrm rot="0" flipH="0" flipV="0">
            <a:off x="7492095" y="5305748"/>
            <a:ext cx="224518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Кондильяк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371161700" name=""/>
          <p:cNvSpPr txBox="1"/>
          <p:nvPr/>
        </p:nvSpPr>
        <p:spPr bwMode="auto">
          <a:xfrm rot="0" flipH="0" flipV="0">
            <a:off x="1986120" y="5305748"/>
            <a:ext cx="197887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Д'Аргенсон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473320744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4595323" y="1688523"/>
            <a:ext cx="2416003" cy="34809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ONLYOFFICE/9.0.4.50</Application>
  <PresentationFormat>On-screen Show (4:3)</PresentationFormat>
  <Paragraphs>0</Paragraphs>
  <Slides>95</Slides>
  <Notes>95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95</vt:i4>
      </vt:variant>
    </vt:vector>
  </HeadingPairs>
  <TitlesOfParts>
    <vt:vector size="96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MariJ</cp:lastModifiedBy>
  <cp:revision>19</cp:revision>
  <dcterms:modified xsi:type="dcterms:W3CDTF">2025-10-15T20:45:10Z</dcterms:modified>
</cp:coreProperties>
</file>