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Scena seoskog života </a:t>
            </a:r>
            <a:r>
              <a:rPr sz="1200" i="1">
                <a:latin typeface="IBM Plex Sans"/>
              </a:rPr>
              <a:t>u 19. veku, </a:t>
            </a:r>
            <a:r>
              <a:rPr sz="1200" i="1">
                <a:latin typeface="IBM Plex Sans"/>
              </a:rPr>
              <a:t>pripisana Louisu-Léopoldu Boillyju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Portret vojvode od Sullyja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Memoari vojvode od Sulija, ministra Henrika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Žan-Baptist Kolber, generalni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kontrolor finansija pod </a:t>
            </a:r>
            <a:r>
              <a:rPr sz="1200" i="1" lang="en-US">
                <a:latin typeface="IBM Plex Sans"/>
              </a:rPr>
              <a:t>Lujem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Radionica za pravljenje perja iz 18. veka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Luka Bordeaux u 18. veku od Verneta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Hud države - </a:t>
            </a:r>
            <a:r>
              <a:rPr sz="1400" i="1" lang="fr-FR">
                <a:latin typeface="IBM Plex Sans"/>
              </a:rPr>
              <a:t>porezi ili smrt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Ujak Skruž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Vobana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Lille tvrđava od Vobana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Vobán, “Kraljevski projekat desetine”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Popis stanovništva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Tokvil, “Stari režim i revolucija”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Tri reda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Пјер Лепесан де Бојгилбер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“Uništena Francuska pod Lujom XIV”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"Uspon"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Мurray Rothbard, “Аустријска перспектива на историју економске мисли”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Rišard Kantilon, “Esej o prirodi trgovine”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Джон Ло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Zakonov bankovni ček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Abat Svetog Petra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Gustava de Molinariја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Abat od Svetog Petra,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Abat Svetog Petra, “Projekat za </a:t>
            </a:r>
            <a:r>
              <a:rPr sz="1200" i="1">
                <a:latin typeface="IBM Plex Sans"/>
              </a:rPr>
              <a:t>obnavljanje mira u Evropi”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Луј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Versaj, Ogledalna sala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Francuska akademija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Pamflet iz 18. veka na francuskom jeziku koji predlaže reforme u trgovini i finansijama, odražavajući rane rasprave o trgovini i ekonomskoj politici.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Markiz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Proizvodnja igala, “Enciklopedija” </a:t>
            </a:r>
            <a:r>
              <a:rPr sz="1200" i="1">
                <a:latin typeface="IBM Plex Sans"/>
              </a:rPr>
              <a:t>Diderota i d'Alemberta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Adama Smitha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Markiz d'Argenson, “Dnevnik </a:t>
            </a:r>
            <a:r>
              <a:rPr sz="1200" i="1">
                <a:latin typeface="IBM Plex Sans"/>
              </a:rPr>
              <a:t>i memoari”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Бенуа Малбранк, “Винсент </a:t>
            </a:r>
            <a:r>
              <a:rPr sz="1200" i="1">
                <a:latin typeface="IBM Plex Sans"/>
              </a:rPr>
              <a:t>де Гурне”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Traktat o trgovini Josiah Child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Tekst datiran </a:t>
            </a:r>
            <a:r>
              <a:rPr sz="1200" i="1">
                <a:latin typeface="IBM Plex Sans"/>
              </a:rPr>
              <a:t>26. jun </a:t>
            </a:r>
            <a:r>
              <a:rPr sz="1200" i="1">
                <a:latin typeface="IBM Plex Sans"/>
              </a:rPr>
              <a:t>1715, napisan </a:t>
            </a:r>
            <a:r>
              <a:rPr sz="1200" i="1">
                <a:latin typeface="IBM Plex Sans"/>
              </a:rPr>
              <a:t>od strane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Gourgana, trgovca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Službeni izveštaj </a:t>
            </a:r>
            <a:r>
              <a:rPr sz="1200" i="1">
                <a:latin typeface="IBM Plex Sans"/>
              </a:rPr>
              <a:t>o Kompaniji </a:t>
            </a:r>
            <a:r>
              <a:rPr sz="1200" i="1">
                <a:latin typeface="IBM Plex Sans"/>
              </a:rPr>
              <a:t>Indija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</a:t>
            </a:r>
            <a:r>
              <a:rPr sz="1200" i="1">
                <a:latin typeface="IBM Plex Sans"/>
              </a:rPr>
              <a:t>Turgota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Krug Vinsenta de Gurnea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Dejvida Hjumа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“Trgovacka plemićka porodica”</a:t>
            </a:r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Esej o opštoj politici žita (1755)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Ричард Кантилон, “Есеј о природи трговине”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Studija o ekonomskoj publikaciji u Francuskoj,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“Činki”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Debata na Generalnim Stanjima, Francuska, 1789.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Mirabeaua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“Prijatelj </a:t>
            </a:r>
            <a:r>
              <a:rPr sz="1200" i="1">
                <a:latin typeface="IBM Plex Sans"/>
              </a:rPr>
              <a:t>ljudi”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Ричард Кантилон, “Есеј о природи трговине”</a:t>
            </a:r>
            <a:endParaRPr sz="14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Ekonomske i socijalne doktrine markiza de Mirabeaua</a:t>
            </a:r>
            <a:endParaRPr sz="1200" i="1">
              <a:latin typeface="IBM Plex Sans"/>
            </a:endParaRPr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Пјер Самуел Дипон де Немур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“Teorija </a:t>
            </a:r>
            <a:r>
              <a:rPr sz="1200" i="1">
                <a:latin typeface="IBM Plex Sans"/>
              </a:rPr>
              <a:t>oporezivanja”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Ekonomska tabela Françoisa Quesnaya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Kene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Enciklopedija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Дюпон де </a:t>
            </a:r>
            <a:r>
              <a:rPr sz="1200" i="1">
                <a:latin typeface="IBM Plex Sans"/>
              </a:rPr>
              <a:t>Немур,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„Теорија опорезивања“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„Fiziokratija“, zbirka članaka Kenea, 1768.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„Ephémérides du Citoyen“, zvanični časopis fiziokrata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“Detalj </a:t>
            </a:r>
            <a:r>
              <a:rPr sz="1200" i="1">
                <a:latin typeface="IBM Plex Sans"/>
              </a:rPr>
              <a:t>Francuske”</a:t>
            </a:r>
            <a:endParaRPr sz="1200" i="1">
              <a:latin typeface="IBM Plex Sans"/>
            </a:endParaRPr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Кантиљон, “Есеј о </a:t>
            </a:r>
            <a:r>
              <a:rPr sz="1200" i="1">
                <a:latin typeface="IBM Plex Sans"/>
              </a:rPr>
              <a:t>природи трговине”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Kveznaj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Kvesneov ekonomski dijagram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“Teorija </a:t>
            </a:r>
            <a:r>
              <a:rPr sz="1200" i="1">
                <a:latin typeface="IBM Plex Sans"/>
              </a:rPr>
              <a:t>oporezivanja”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Markiz de Pompadur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zvanični časopis fiziokrata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Ekonomisti prosvetiteljstva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Fiziokratija, zbirka članaka </a:t>
            </a:r>
            <a:r>
              <a:rPr sz="1200" i="1">
                <a:latin typeface="IBM Plex Sans"/>
              </a:rPr>
              <a:t>Kenea, 1768.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Žan-Fransoa Mile, </a:t>
            </a:r>
            <a:r>
              <a:rPr sz="1200" i="1">
                <a:latin typeface="IBM Plex Sans"/>
              </a:rPr>
              <a:t>“Seljaci”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Tokvil, “Stari režim i revolucija”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Луј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Милле, </a:t>
            </a:r>
            <a:r>
              <a:rPr sz="1200" i="1">
                <a:latin typeface="IBM Plex Sans"/>
              </a:rPr>
              <a:t>“Ангелус”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Luka Bordeaux u 18. veku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Fridrih, “Veliki vojvoda od Badena”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Katarina II </a:t>
            </a:r>
            <a:r>
              <a:rPr sz="1200" i="1">
                <a:latin typeface="IBM Plex Sans"/>
              </a:rPr>
              <a:t>Ruska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“Prirodni i suštinski </a:t>
            </a:r>
            <a:r>
              <a:rPr sz="1200" i="1">
                <a:latin typeface="IBM Plex Sans"/>
              </a:rPr>
              <a:t>poredak političkih društava”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 Turgota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Kraljevski Edikt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Sazivanje Generalnih staleža u Versaju 1789. godine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Smit, “Bogastvo naroda”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Žozef Rambo, “Istorija ekonomskih doktrina”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Preduzeće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Дупон де Немур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Markiz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Časopis za poljoprivredu, </a:t>
            </a:r>
            <a:r>
              <a:rPr sz="1200" i="1">
                <a:latin typeface="IBM Plex Sans"/>
              </a:rPr>
              <a:t>trgovinu i finansije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Kezne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Dnevnik fiziokrata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Fiziokratija, zbirka tekstova od Kvenea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„Joseph Šumpeter, „Istorija ekonomske analize“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Osvojavanje palate </a:t>
            </a:r>
            <a:r>
              <a:rPr sz="1200" i="1">
                <a:latin typeface="IBM Plex Sans"/>
              </a:rPr>
              <a:t>Tuileries 1792. </a:t>
            </a:r>
            <a:r>
              <a:rPr sz="1200" i="1">
                <a:latin typeface="IBM Plex Sans"/>
              </a:rPr>
              <a:t>godine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Адам Смит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Enciklopedija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Дени Дидро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Dijalog o trgovini pšenicom, od Galijanija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Građanske efemeride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Volter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“Čovek sa </a:t>
            </a:r>
            <a:r>
              <a:rPr sz="1200" i="1">
                <a:latin typeface="IBM Plex Sans"/>
              </a:rPr>
              <a:t>četrdeset dukata”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„Duh zakona“</a:t>
            </a:r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Enciklopedija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“Hvala </a:t>
            </a:r>
            <a:r>
              <a:rPr sz="1200" i="1">
                <a:latin typeface="IBM Plex Sans"/>
              </a:rPr>
              <a:t>Gurnayu”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“Refleksije o formiranju i raspodeli bogatstva”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“Pisma o slobodi trgovine žitom”</a:t>
            </a:r>
            <a:endParaRPr sz="1200" i="1">
              <a:latin typeface="IBM Plex Sans"/>
            </a:endParaRPr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i Smit,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”Čudna bliskost”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“Memoar o </a:t>
            </a:r>
            <a:r>
              <a:rPr sz="1200" i="1">
                <a:latin typeface="IBM Plex Sans"/>
              </a:rPr>
              <a:t>pozajmicama novca”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Фридрих А. Хајек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“Žeteoci”,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Milicija povlači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Knjiga žalbi baillage-a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Volter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Луј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Mišel de Montenјa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Kondiljak, Trgovina i Vlada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Жан-Батист Сеј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Nikola de Kondorče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Ан Робер Жак Тургот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“Pisma o </a:t>
            </a:r>
            <a:r>
              <a:rPr sz="1200" i="1">
                <a:latin typeface="IBM Plex Sans"/>
              </a:rPr>
              <a:t>trgovini žitom”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Sazivanje Generalnih staleža u Versaju, 5. maj 1789.</a:t>
            </a:r>
            <a:endParaRPr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“Lista žalbi”</a:t>
            </a:r>
            <a:endParaRPr lang="en-US" sz="12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Дупон де Немур, </a:t>
            </a:r>
            <a:r>
              <a:rPr sz="1200" i="1">
                <a:latin typeface="IBM Plex Sans"/>
              </a:rPr>
              <a:t>“Говор пред Националном </a:t>
            </a:r>
            <a:r>
              <a:rPr sz="1200" i="1">
                <a:latin typeface="IBM Plex Sans"/>
              </a:rPr>
              <a:t>скупштином”, 1789.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“Uticaj asignata na </a:t>
            </a:r>
            <a:r>
              <a:rPr sz="1200" i="1">
                <a:latin typeface="IBM Plex Sans"/>
              </a:rPr>
              <a:t>cenu hleba”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Asinijat od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Пјер Ле Пезан де Бојгилбер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Kantijon, “Esej o prirodi trgovine uopšte”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“Traktat </a:t>
            </a:r>
            <a:r>
              <a:rPr sz="1200" i="1">
                <a:latin typeface="IBM Plex Sans"/>
              </a:rPr>
              <a:t>o trgovini”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Kveznaj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Кондillac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Д'Арженсон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