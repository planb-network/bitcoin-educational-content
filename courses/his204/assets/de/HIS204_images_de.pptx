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Szene aus dem ländlichen </a:t>
            </a:r>
            <a:r>
              <a:rPr sz="1200" i="1">
                <a:latin typeface="IBM Plex Sans"/>
              </a:rPr>
              <a:t>Leben im 19. Jahrhundert, </a:t>
            </a:r>
            <a:r>
              <a:rPr sz="1200" i="1">
                <a:latin typeface="IBM Plex Sans"/>
              </a:rPr>
              <a:t>Louis-Léopold Boilly zugeschrieben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Porträt des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Erinnerungen des Duc de Sully, Minister von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Generalkontrolleur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der Finanzen unter </a:t>
            </a:r>
            <a:r>
              <a:rPr sz="1200" i="1" lang="en-US">
                <a:latin typeface="IBM Plex Sans"/>
              </a:rPr>
              <a:t>Ludwig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werkstatt für Federmacher aus dem 18. Jahrhundert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Der Hafen von Bordeaux im 18. Jahrhundert von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des Staates </a:t>
            </a:r>
            <a:r>
              <a:rPr sz="1400" i="1" lang="fr-FR">
                <a:latin typeface="IBM Plex Sans"/>
              </a:rPr>
              <a:t>- Steuern oder Tod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Onkel Dagobert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 von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Zitadelle von Lille von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"Projekt des königlichen Zehnten"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Volkszählung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"Das alte Regime und die Revolution"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Die drei Aufträge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"Das ruinierte Frankreich unter Ludwig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Karte von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"Der Weg nach oben"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"Eine österreichische Perspektive auf die Geschichte des wirtschaftlichen Denkens"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"Essay über das Wesen des Handels"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Bankwechsel des Gesetzes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Der Abt von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 von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Der Abt von Saint-Pierre von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Der Abt von Saint-Pierre, "Projekt zur </a:t>
            </a:r>
            <a:r>
              <a:rPr sz="1200" i="1">
                <a:latin typeface="IBM Plex Sans"/>
              </a:rPr>
              <a:t>Wiederherstellung des Friedens in Europa"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Ludwig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Spiegelsaal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Französische Akademie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französisches Pamphlet aus dem 18. Jahrhundert mit Vorschlägen für Reformen im Handels- und Finanzwesen, das die frühen Debatten über Handel und Wirtschaftspolitik widerspiegelt.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Pin Manufaktur, "Encyclopédie" von </a:t>
            </a:r>
            <a:r>
              <a:rPr sz="1200" i="1">
                <a:latin typeface="IBM Plex Sans"/>
              </a:rPr>
              <a:t>Diderot und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 von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"Tagebuch </a:t>
            </a:r>
            <a:r>
              <a:rPr sz="1200" i="1">
                <a:latin typeface="IBM Plex Sans"/>
              </a:rPr>
              <a:t>und Memoiren"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Eine Abhandlung über den Handel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Text vom </a:t>
            </a:r>
            <a:r>
              <a:rPr sz="1200" i="1">
                <a:latin typeface="IBM Plex Sans"/>
              </a:rPr>
              <a:t>26. Juni </a:t>
            </a:r>
            <a:r>
              <a:rPr sz="1200" i="1">
                <a:latin typeface="IBM Plex Sans"/>
              </a:rPr>
              <a:t>1715, geschrieben </a:t>
            </a:r>
            <a:r>
              <a:rPr sz="1200" i="1">
                <a:latin typeface="IBM Plex Sans"/>
              </a:rPr>
              <a:t>von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Kaufmann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Offizieller Bericht über </a:t>
            </a:r>
            <a:r>
              <a:rPr sz="1200" i="1">
                <a:latin typeface="IBM Plex Sans"/>
              </a:rPr>
              <a:t>die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 </a:t>
            </a:r>
            <a:r>
              <a:rPr sz="1200" i="1">
                <a:latin typeface="IBM Plex Sans"/>
              </a:rPr>
              <a:t>von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Der Kreis von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 von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"Der kaufmännische Adel"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Abhandlung über die allgemeine Getreidepolitik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"Essay über das Wesen des Handels"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Studie über das wirtschaftliche Verlagswesen in Frankreich,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Debatte in den Generalständen, Frankreich,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 von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"Essay über das Wesen des Handels"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Wirtschaftliche und soziale Doktrinen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des Marquis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"Theorie </a:t>
            </a:r>
            <a:r>
              <a:rPr sz="1200" i="1">
                <a:latin typeface="IBM Plex Sans"/>
              </a:rPr>
              <a:t>der Besteuerung"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Wirtschaftskarte von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Enzyklopädie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"Theorie der Besteuerung"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"Physiokratie", Sammlung von Artikeln von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offizielles Blatt der Physiokraten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"Detail </a:t>
            </a:r>
            <a:r>
              <a:rPr sz="1200" i="1">
                <a:latin typeface="IBM Plex Sans"/>
              </a:rPr>
              <a:t>von Frankreich"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"Essay über die </a:t>
            </a:r>
            <a:r>
              <a:rPr sz="1200" i="1">
                <a:latin typeface="IBM Plex Sans"/>
              </a:rPr>
              <a:t>Natur des Handels"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Quesnay's ökonomisches Diagramm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"Theorie </a:t>
            </a:r>
            <a:r>
              <a:rPr sz="1200" i="1">
                <a:latin typeface="IBM Plex Sans"/>
              </a:rPr>
              <a:t>der </a:t>
            </a:r>
            <a:r>
              <a:rPr sz="1200" i="1">
                <a:latin typeface="IBM Plex Sans"/>
              </a:rPr>
              <a:t>Besteuerung"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Marquis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offizielle Zeitschrift der Physiokraten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Ökonomen der Aufklärung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Physiocracy, Sammlung von Artikeln </a:t>
            </a:r>
            <a:r>
              <a:rPr sz="1200" i="1">
                <a:latin typeface="IBM Plex Sans"/>
              </a:rPr>
              <a:t>von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"Die Bauern"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"Das alte Regime und die Revolution"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Der Hafen von Bordeaux im 18. Jahrhundert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Karl Friedrich, "Großherzog von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Katharina II. </a:t>
            </a:r>
            <a:r>
              <a:rPr sz="1200" i="1">
                <a:latin typeface="IBM Plex Sans"/>
              </a:rPr>
              <a:t>von Russland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"Die natürliche und wesentliche </a:t>
            </a:r>
            <a:r>
              <a:rPr sz="1200" i="1">
                <a:latin typeface="IBM Plex Sans"/>
              </a:rPr>
              <a:t>Ordnung der politischen Gesellschaften"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Porträt von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Königlicher Erlass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Einberufung der Generalstände in Versailles im Jahr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"Reichtum der Nationen"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"Geschichte der Wirtschaftsdoktrinen"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Unternehmen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Zeitschrift für Landwirtschaft, </a:t>
            </a:r>
            <a:r>
              <a:rPr sz="1200" i="1">
                <a:latin typeface="IBM Plex Sans"/>
              </a:rPr>
              <a:t>Handel und Finanzen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Zeitschrift des Physiokrates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Physiokratie, Sammlung von Texten von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"Geschichte der wirtschaftlichen Analyse"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Einnahme des </a:t>
            </a:r>
            <a:r>
              <a:rPr sz="1200" i="1">
                <a:latin typeface="IBM Plex Sans"/>
              </a:rPr>
              <a:t>Tuilerienpalastes im </a:t>
            </a:r>
            <a:r>
              <a:rPr sz="1200" i="1">
                <a:latin typeface="IBM Plex Sans"/>
              </a:rPr>
              <a:t>Jahr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Enzyklopädie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 über den Weizenhandel, von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Ephemeriden der Bürger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"Der Geist der Gesetze"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Enzyklopädie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"Loblied </a:t>
            </a:r>
            <a:r>
              <a:rPr sz="1200" i="1">
                <a:latin typeface="IBM Plex Sans"/>
              </a:rPr>
              <a:t>auf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"Überlegungen zur Entstehung und Verteilung des Reichtums"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"Briefe über die Freiheit des Getreidehandels"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und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"Eine seltsame Nähe"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"Denkschrift über </a:t>
            </a:r>
            <a:r>
              <a:rPr sz="1200" i="1">
                <a:latin typeface="IBM Plex Sans"/>
              </a:rPr>
              <a:t>die Geldscheine"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"Die </a:t>
            </a:r>
            <a:r>
              <a:rPr sz="1200" i="1">
                <a:latin typeface="IBM Plex Sans"/>
              </a:rPr>
              <a:t>Sammler",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Die Miliz zieht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Beschwerdebuch der Baillage von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Bearbeiten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Handel und Regierung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"Briefe über </a:t>
            </a:r>
            <a:r>
              <a:rPr sz="1200" i="1">
                <a:latin typeface="IBM Plex Sans"/>
              </a:rPr>
              <a:t>den Getreidehandel"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Einberufung der Generalstände in Versailles, 5. Mai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"Liste der Beschwerden"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"Rede vor der </a:t>
            </a:r>
            <a:r>
              <a:rPr sz="1200" i="1">
                <a:latin typeface="IBM Plex Sans"/>
              </a:rPr>
              <a:t>Nationalversammlung",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"Auswirkung der Assignaten </a:t>
            </a:r>
            <a:r>
              <a:rPr sz="1200" i="1">
                <a:latin typeface="IBM Plex Sans"/>
              </a:rPr>
              <a:t>auf den Brotpreis"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Zuteilung von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"Essay über die Natur des Handels im Allgemeinen"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"Eine Abhandlung </a:t>
            </a:r>
            <a:r>
              <a:rPr sz="1200" i="1">
                <a:latin typeface="IBM Plex Sans"/>
              </a:rPr>
              <a:t>über den 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