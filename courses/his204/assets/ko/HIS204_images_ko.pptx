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루이 레오폴드 보일리가 </a:t>
            </a:r>
            <a:r>
              <a:rPr sz="1200" i="1">
                <a:latin typeface="IBM Plex Sans"/>
              </a:rPr>
              <a:t>그린 19세기 농촌 </a:t>
            </a:r>
            <a:r>
              <a:rPr sz="1200" i="1">
                <a:latin typeface="IBM Plex Sans"/>
              </a:rPr>
              <a:t>생활의 한 장면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설리 공작의 초상화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앙리 4세 장관, 설리 공작의 회고록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장 밥티스트 콜베르,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루이 14세의 </a:t>
            </a:r>
            <a:r>
              <a:rPr sz="1200" i="1" lang="en-US">
                <a:latin typeface="IBM Plex Sans"/>
              </a:rPr>
              <a:t>재정 총책임자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18세기 깃털 제작자의 작업장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베르네의 18세기 보르도 항구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국가의 로빈 후드 - </a:t>
            </a:r>
            <a:r>
              <a:rPr sz="1400" i="1" lang="fr-FR">
                <a:latin typeface="IBM Plex Sans"/>
              </a:rPr>
              <a:t>세금 또는 죽음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스크루지 삼촌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보반의 초상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보반의 릴 시타델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보반, "왕실 십일조 프로젝트"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인구 센서스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토크빌, "낡은 체제와 혁명"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세 가지 주문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피에르 레페상 드 부아길베르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부아길베르, "루이 14세의 폐허가 된 프랑스"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포트 로열 데 샹 지도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구스타브 카일보트 - "상승의 길"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머레이 로스바드, "경제 사상의 역사에 대한 오스트리아의 관점"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리차드 칸티용, "상업의 본질에 관한 에세이"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존 로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법의 은행 청구서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생피에르 수도원장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구스타브 드 몰리나리의 초상화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몰리나리의 생 피에르 수도원장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생피에르 수도원장, "유럽의 평화 </a:t>
            </a:r>
            <a:r>
              <a:rPr sz="1200" i="1">
                <a:latin typeface="IBM Plex Sans"/>
              </a:rPr>
              <a:t>회복을 위한 프로젝트"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루이 14세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베르사유, 거울의 전당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프랑스 아카데미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무역과 경제 정책에 대한 초기 논의를 반영하여 상업과 금융에 대한 개혁을 제안하는 18세기 프랑스 팜플렛입니다.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마르퀴스 다겐손 후작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자유방임, 자유방임 통과자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핀 매뉴팩처, 디드로와 </a:t>
            </a:r>
            <a:r>
              <a:rPr sz="1200" i="1">
                <a:latin typeface="IBM Plex Sans"/>
              </a:rPr>
              <a:t>달랑베르의 "백과사전"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아담 스미스의 초상화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마르퀴스 다겐손, </a:t>
            </a:r>
            <a:r>
              <a:rPr sz="1200" i="1">
                <a:latin typeface="IBM Plex Sans"/>
              </a:rPr>
              <a:t>"일기와 회고록"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브누아 말브랑크, "빈센트 </a:t>
            </a:r>
            <a:r>
              <a:rPr sz="1200" i="1">
                <a:latin typeface="IBM Plex Sans"/>
              </a:rPr>
              <a:t>드 구르네"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무역에 관한 논문 조시아 차일드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1715년 6월 </a:t>
            </a:r>
            <a:r>
              <a:rPr sz="1200" i="1">
                <a:latin typeface="IBM Plex Sans"/>
              </a:rPr>
              <a:t>26일자 텍스트, </a:t>
            </a:r>
            <a:r>
              <a:rPr sz="1200" i="1">
                <a:latin typeface="IBM Plex Sans"/>
              </a:rPr>
              <a:t>상인 M. </a:t>
            </a:r>
            <a:r>
              <a:rPr sz="1200" i="1">
                <a:latin typeface="IBM Plex Sans"/>
              </a:rPr>
              <a:t>드 구르간이 </a:t>
            </a:r>
            <a:r>
              <a:rPr sz="1200" i="1">
                <a:latin typeface="IBM Plex Sans"/>
              </a:rPr>
              <a:t>쓴 </a:t>
            </a:r>
            <a:r>
              <a:rPr sz="1200" i="1">
                <a:latin typeface="IBM Plex Sans"/>
              </a:rPr>
              <a:t>글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Compagnie des </a:t>
            </a:r>
            <a:r>
              <a:rPr sz="1200" i="1">
                <a:latin typeface="IBM Plex Sans"/>
              </a:rPr>
              <a:t>Indes 공식 </a:t>
            </a:r>
            <a:r>
              <a:rPr sz="1200" i="1">
                <a:latin typeface="IBM Plex Sans"/>
              </a:rPr>
              <a:t>보고서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투르고의 </a:t>
            </a:r>
            <a:r>
              <a:rPr sz="1200" i="1">
                <a:latin typeface="IBM Plex Sans"/>
              </a:rPr>
              <a:t>초상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빈센트 드 구르네의 서클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데이비드 흄의 초상화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아베 가브리엘-프랑수아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코이어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"라 노블레스 커머상"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일반 곡물 정책에 관한 에세이(1755)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리차드 칸티용, "상업의 본질에 대한 에세이"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프랑스의 경제 출판에 관한 연구,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아베 가브리엘-프랑수아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코이어, </a:t>
            </a:r>
            <a:r>
              <a:rPr sz="1200" i="1">
                <a:latin typeface="IBM Plex Sans"/>
              </a:rPr>
              <a:t>"친키"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1789년 프랑스 에스테이트-제너럴에서 열린 토론회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미라보의 초상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미라보, "라미 </a:t>
            </a:r>
            <a:r>
              <a:rPr sz="1200" i="1">
                <a:latin typeface="IBM Plex Sans"/>
              </a:rPr>
              <a:t>데 옴므"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리차드 칸티용, "상업의 본질에 대한 에세이"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경제 및 사회 교리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미라보 후작의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프랑수아 퀘네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피에르 사무엘 뒤퐁 드 네모르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미라보, "과세 </a:t>
            </a:r>
            <a:r>
              <a:rPr sz="1200" i="1">
                <a:latin typeface="IBM Plex Sans"/>
              </a:rPr>
              <a:t>이론"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프랑수아 퀘네의 경제 차트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프랑수아 퀘네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프랑수아 퀘네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백과사전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듀퐁 드 </a:t>
            </a:r>
            <a:r>
              <a:rPr sz="1200" i="1">
                <a:latin typeface="IBM Plex Sans"/>
              </a:rPr>
              <a:t>네모르,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"과세 이론"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"생리학", 1768년 퀘스네의 기사 모음집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"에페메리데스 뒤 시토엥", 피지오크라트 공식 저널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부아길베르, "프랑스의 </a:t>
            </a:r>
            <a:r>
              <a:rPr sz="1200" i="1">
                <a:latin typeface="IBM Plex Sans"/>
              </a:rPr>
              <a:t>디테일"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칸티용, "상업의 본질에 </a:t>
            </a:r>
            <a:r>
              <a:rPr sz="1200" i="1">
                <a:latin typeface="IBM Plex Sans"/>
              </a:rPr>
              <a:t>관한 에세이"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퀘스네의 경제 차트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미라보, </a:t>
            </a:r>
            <a:r>
              <a:rPr sz="1200" i="1">
                <a:latin typeface="IBM Plex Sans"/>
              </a:rPr>
              <a:t>"과세 </a:t>
            </a:r>
            <a:r>
              <a:rPr sz="1200" i="1">
                <a:latin typeface="IBM Plex Sans"/>
              </a:rPr>
              <a:t>이론"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퐁파두르 후작 후작부인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에페메리데스 뒤 시토엥, 피지오크라트 공식 저널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계몽주의 경제학자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생리학, 퀘스네의 기사 </a:t>
            </a:r>
            <a:r>
              <a:rPr sz="1200" i="1">
                <a:latin typeface="IBM Plex Sans"/>
              </a:rPr>
              <a:t>모음, 1768년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장 프랑수아 </a:t>
            </a:r>
            <a:r>
              <a:rPr sz="1200" i="1">
                <a:latin typeface="IBM Plex Sans"/>
              </a:rPr>
              <a:t>밀레, "농민"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토크빌, "낡은 체제와 혁명"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루이 16세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기장, </a:t>
            </a:r>
            <a:r>
              <a:rPr sz="1200" i="1">
                <a:latin typeface="IBM Plex Sans"/>
              </a:rPr>
              <a:t>"안젤루스"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18세기 보르도 항구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찰스 프레드릭, "바덴 대공"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러시아의 캐서린 </a:t>
            </a:r>
            <a:r>
              <a:rPr sz="1200" i="1">
                <a:latin typeface="IBM Plex Sans"/>
              </a:rPr>
              <a:t>2세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메르시에 드 라 </a:t>
            </a:r>
            <a:r>
              <a:rPr sz="1200" i="1">
                <a:latin typeface="IBM Plex Sans"/>
              </a:rPr>
              <a:t>리비에르, "정치 사회의 </a:t>
            </a:r>
            <a:r>
              <a:rPr sz="1200" i="1">
                <a:latin typeface="IBM Plex Sans"/>
              </a:rPr>
              <a:t>자연스럽고 본질적인 질서"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투르고의 초상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왕실 칙령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1789년 베르사유 궁정 장군 소환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아담 스미스, "국부론"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조셉 램보, "경제 교리의 역사"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기업 듀폰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듀퐁 드 네모르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후작 드 미라보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농업, 무역 및 </a:t>
            </a:r>
            <a:r>
              <a:rPr sz="1200" i="1">
                <a:latin typeface="IBM Plex Sans"/>
              </a:rPr>
              <a:t>금융 저널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저널 데 피지오크라테스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생리학, 퀘스네의 텍스트 모음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조셉 슘페터, "경제 분석의 역사"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1792년 튈르리 </a:t>
            </a:r>
            <a:r>
              <a:rPr sz="1200" i="1">
                <a:latin typeface="IBM Plex Sans"/>
              </a:rPr>
              <a:t>궁전 </a:t>
            </a:r>
            <a:r>
              <a:rPr sz="1200" i="1">
                <a:latin typeface="IBM Plex Sans"/>
              </a:rPr>
              <a:t>캡처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아담 스미스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백과사전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데니스 디드로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갈리아니의 밀 무역에 관한 대화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시민의 일기예보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볼테르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볼테르, "L'옴므 오 </a:t>
            </a:r>
            <a:r>
              <a:rPr sz="1200" i="1">
                <a:latin typeface="IBM Plex Sans"/>
              </a:rPr>
              <a:t>콰르테 에쿠스"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몽테스키외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"법의 정신"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백과사전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투고, "구르네를 </a:t>
            </a:r>
            <a:r>
              <a:rPr sz="1200" i="1">
                <a:latin typeface="IBM Plex Sans"/>
              </a:rPr>
              <a:t>위한 찬양"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투고, "부의 형성과 분배에 대한 성찰"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투르고, "곡물 무역의 자유에 관한 편지"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투고와 스미스,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"묘한 친밀감"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투르고, "메모아르 쉬르 레 </a:t>
            </a:r>
            <a:r>
              <a:rPr sz="1200" i="1">
                <a:latin typeface="IBM Plex Sans"/>
              </a:rPr>
              <a:t>프렛 드 아르젠트"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프리드리히 A. 하이에크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밀레, </a:t>
            </a:r>
            <a:r>
              <a:rPr sz="1200" i="1">
                <a:latin typeface="IBM Plex Sans"/>
              </a:rPr>
              <a:t>"채집꾼", </a:t>
            </a:r>
            <a:r>
              <a:rPr sz="1200" i="1">
                <a:latin typeface="IBM Plex Sans"/>
              </a:rPr>
              <a:t>1857년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민병대 추첨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네무르 가문의 고충 처리서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로이 편집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볼테르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루이 16세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미셸 드 몽테뉴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에티엔 보노 드 콩디약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콘딜락, 무역 및 정부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장 밥티스트 말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니콜라스 드 콩도르셋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앤 로버트 자크 투고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갈리아니, "곡물 무역에 </a:t>
            </a:r>
            <a:r>
              <a:rPr sz="1200" i="1">
                <a:latin typeface="IBM Plex Sans"/>
              </a:rPr>
              <a:t>관한 편지"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1789년 5월 5일, 베르사유 궁정 장군 소환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샴파니, "불만 사항 목록"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뒤퐁 드 </a:t>
            </a:r>
            <a:r>
              <a:rPr sz="1200" i="1">
                <a:latin typeface="IBM Plex Sans"/>
              </a:rPr>
              <a:t>네모르, "국회 </a:t>
            </a:r>
            <a:r>
              <a:rPr sz="1200" i="1">
                <a:latin typeface="IBM Plex Sans"/>
              </a:rPr>
              <a:t>연설", 1789년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듀퐁 드 네무르, </a:t>
            </a:r>
            <a:r>
              <a:rPr sz="1200" i="1">
                <a:latin typeface="IBM Plex Sans"/>
              </a:rPr>
              <a:t>"아싸이그가 빵 가격에 </a:t>
            </a:r>
            <a:r>
              <a:rPr sz="1200" i="1">
                <a:latin typeface="IBM Plex Sans"/>
              </a:rPr>
              <a:t>미치는 영향"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할당량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피에르 르 페상 드 부아길베르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칸티용, "일반적인 상업의 본질에 관한 에세이"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조시아 차일드, "무역에 </a:t>
            </a:r>
            <a:r>
              <a:rPr sz="1200" i="1">
                <a:latin typeface="IBM Plex Sans"/>
              </a:rPr>
              <a:t>관한 논문"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콘딜락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다겐슨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