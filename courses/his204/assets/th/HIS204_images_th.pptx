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ฉากชีวิตชนบทในศตวรรษที่ 19 </a:t>
            </a:r>
            <a:r>
              <a:rPr sz="1200" i="1">
                <a:latin typeface="IBM Plex Sans"/>
              </a:rPr>
              <a:t>ซึ่งมีชื่อว่า Louis-Léopold </a:t>
            </a:r>
            <a:r>
              <a:rPr sz="1200" i="1">
                <a:latin typeface="IBM Plex Sans"/>
              </a:rPr>
              <a:t>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ภาพเหมือนของดยุคแห่งซัลลี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บันทึกความทรงจำของดยุคเดอซัลลี รัฐมนตรีของเฮนรีที่ 4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ฌอง-บัปติสต์ โคลเบิร์ต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ผู้ควบคุมการเงินทั่วไปในสมัยหลุยส์ที่ </a:t>
            </a:r>
            <a:r>
              <a:rPr sz="1200" i="1" lang="en-US">
                <a:latin typeface="IBM Plex Sans"/>
              </a:rPr>
              <a:t>14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เวิร์กช็อปทำขนเป็ดในศตวรรษที่ 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ท่าเรือบอร์โดในศตวรรษที่ 18 โดยเวอร์เน็ต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โรบินฮูดแห่งรัฐ - </a:t>
            </a:r>
            <a:r>
              <a:rPr sz="1400" i="1" lang="fr-FR">
                <a:latin typeface="IBM Plex Sans"/>
              </a:rPr>
              <a:t>ภาษีหรือความตาย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ลุงสครูจ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ภาพเหมือนของโวแบง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ป้อมลิลล์โดยวอบอง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โวแบ็ง, “โครงการภาษีสิบเปอร์เซ็นต์ของราชา”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การสำรวจประชากร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ทอควิลล์, “ระบอบเก่าและการปฏิวัติ”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สามคำสั่ง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ปิแอร์ เลอปเซอแซงต์ เดอ บัวกีแบร์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“ฝรั่งเศสที่ถูกทำลายภายใต้หลุยส์ที่ 14”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แผนที่ของพอร์ตรอยัลเดส์ช็องป์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กุสตาฟ คาเยบอท - "เส้นทางขึ้น"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เมอเรย์ รอธบาร์ด, “มุมมองแบบออสเตรียต่อประวัติศาสตร์ของความคิดทางเศรษฐศาสตร์”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ริชาร์ด แคนทิลลอน, “เรียงความเกี่ยวกับธรรมชาติของการค้า”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จอห์น ลอว์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ใบเรียกเก็บเงินของกฎหมาย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เจ้าอาวาสแห่งเซนต์ปีแอร์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ภาพเหมือนของกุสตาฟ เดอ โมลินารี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อาบบอตแห่งแซงต์-ปิแอร์ โดย โมลินารี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อธิการแห่งเซนต์ปีแอร์ </a:t>
            </a:r>
            <a:r>
              <a:rPr sz="1200" i="1">
                <a:latin typeface="IBM Plex Sans"/>
              </a:rPr>
              <a:t>“โครงการฟื้นฟูสันติภาพในยุโรป”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หลุยส์ที่ 14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แวร์ซาย, ห้องกระจก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อAcadémie française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แผ่นพับฝรั่งเศสในศตวรรษที่ 18 ที่เสนอการปฏิรูปการค้าและการเงิน สะท้อนถึงการอภิปรายในช่วงต้นเกี่ยวกับการค้าและนโยบายเศรษฐกิจ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มาร์ควิสดาร์เจนซอง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ปล่อยให้ทำตามใจ, ปล่อยให้ผ่าน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การผลิตหมุด, “เอนไซโคลพีเดีย” โดย </a:t>
            </a:r>
            <a:r>
              <a:rPr sz="1200" i="1">
                <a:latin typeface="IBM Plex Sans"/>
              </a:rPr>
              <a:t>ดิดีโรต และ ดาลัมเบิร์ต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ภาพเหมือนของอดัม สมิธ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มาร์ควีส์ดาร์เจนซง, </a:t>
            </a:r>
            <a:r>
              <a:rPr sz="1200" i="1">
                <a:latin typeface="IBM Plex Sans"/>
              </a:rPr>
              <a:t>“บันทึกและความทรงจำ”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เบอนัวต์ มัลบลังค์, “วินเซนต์ </a:t>
            </a:r>
            <a:r>
              <a:rPr sz="1200" i="1">
                <a:latin typeface="IBM Plex Sans"/>
              </a:rPr>
              <a:t>เดอ กูร์เนย์”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เอกสารว่าด้วยการค้า โจไซอาห์ ไชลด์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ข้อความลงวันที่ 26 </a:t>
            </a:r>
            <a:r>
              <a:rPr sz="1200" i="1">
                <a:latin typeface="IBM Plex Sans"/>
              </a:rPr>
              <a:t>มิถุนายน 1715 </a:t>
            </a:r>
            <a:r>
              <a:rPr sz="1200" i="1">
                <a:latin typeface="IBM Plex Sans"/>
              </a:rPr>
              <a:t>เขียนโดย ม. </a:t>
            </a:r>
            <a:r>
              <a:rPr sz="1200" i="1">
                <a:latin typeface="IBM Plex Sans"/>
              </a:rPr>
              <a:t>เดอ </a:t>
            </a:r>
            <a:r>
              <a:rPr sz="1200" i="1">
                <a:latin typeface="IBM Plex Sans"/>
              </a:rPr>
              <a:t>กูร์กัง </a:t>
            </a:r>
            <a:r>
              <a:rPr sz="1200" i="1">
                <a:latin typeface="IBM Plex Sans"/>
              </a:rPr>
              <a:t>พ่อค้า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รายงานอย่างเป็นทางการเกี่ยวกับบริษัทอินเดีย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ภาพเหมือนของทูร์โกต์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วงกลมของวินเซนต์ เดอ กูร์เนย์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ภาพเหมือนของเดวิด ฮูม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อับเบย์ กาเบรียล-ฟร็องซัวส์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คอยเยร์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“ชนชั้นสูงนักค้า”</a:t>
            </a:r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เรียงความเกี่ยวกับนโยบายธัญพืชทั่วไป (ปี 1755)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ริชาร์ด แคนทิลลอน, “เรียงความเกี่ยวกับธรรมชาติของการค้า”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การศึกษาเกี่ยวกับการเผยแพร่ทางเศรษฐกิจในฝรั่งเศส,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อับเบย์ กาเบรียล-ฟรองซัวส์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คอยเยอร์, </a:t>
            </a:r>
            <a:r>
              <a:rPr sz="1200" i="1">
                <a:latin typeface="IBM Plex Sans"/>
              </a:rPr>
              <a:t>“ชินกิ”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การอภิปรายที่สภาแห่งชาติ, ฝรั่งเศส,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ภาพเหมือนของมิราโบ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มิราบอ, </a:t>
            </a:r>
            <a:r>
              <a:rPr sz="1200" i="1">
                <a:latin typeface="IBM Plex Sans"/>
              </a:rPr>
              <a:t>“เพื่อนของมนุษย์”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ริชาร์ด แคนติลลอน, “เรียงความเกี่ยวกับธรรมชาติของการค้า”</a:t>
            </a:r>
            <a:endParaRPr sz="14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หลักเศรษฐกิจและสังคมของมาร์คีส เดอ มิราบอ</a:t>
            </a:r>
            <a:endParaRPr sz="1200" i="1">
              <a:latin typeface="IBM Plex Sans"/>
            </a:endParaRPr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ฟรองซัวส์ เคสเนย์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ปิแอร์ ซามูเอล ดูปองต์ เดอ เนมูร์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มิราบอ, </a:t>
            </a:r>
            <a:r>
              <a:rPr sz="1200" i="1">
                <a:latin typeface="IBM Plex Sans"/>
              </a:rPr>
              <a:t>“ทฤษฎีการเก็บภาษี”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แผนภูมิทางเศรษฐกิจโดย ฟรองซัวส์ เคสเนย์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ฟรองซัวส์ เคสนาย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ฟรองซัวส์ เคสเนย์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สารานุกรม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ดูปองต์ เดอ </a:t>
            </a:r>
            <a:r>
              <a:rPr sz="1200" i="1">
                <a:latin typeface="IBM Plex Sans"/>
              </a:rPr>
              <a:t>เนมูร์ส,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“ทฤษฎีการเก็บภาษี”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“ฟิสิโอคราซี” รวมบทความโดยเคสเนย์, 1768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“Ephémérides du Citoyen” วารสารทางการของฟิสิออครัต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</a:t>
            </a:r>
            <a:r>
              <a:rPr sz="1200" i="1">
                <a:latin typeface="IBM Plex Sans"/>
              </a:rPr>
              <a:t>“รายละเอียดของฝรั่งเศส”</a:t>
            </a:r>
            <a:endParaRPr sz="1200" i="1">
              <a:latin typeface="IBM Plex Sans"/>
            </a:endParaRPr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แคนนิลลอน, </a:t>
            </a:r>
            <a:r>
              <a:rPr sz="1200" i="1">
                <a:latin typeface="IBM Plex Sans"/>
              </a:rPr>
              <a:t>“เรียงความเกี่ยวกับธรรมชาติของการค้า”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เควนาย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แผนภูมิทางเศรษฐกิจของเคสเนย์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มิราบอ, </a:t>
            </a:r>
            <a:r>
              <a:rPr sz="1200" i="1">
                <a:latin typeface="IBM Plex Sans"/>
              </a:rPr>
              <a:t>“ทฤษฎีการเก็บภาษี”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มาร์ควิสเดอปอมปาดูร์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วารสารทางการของฟิสิโอเครต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นักเศรษฐศาสตร์ยุคสว่าง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ฟิสิโอเครซี, การรวบรวมบทความโดยเคสเนย์, </a:t>
            </a:r>
            <a:r>
              <a:rPr sz="1200" i="1">
                <a:latin typeface="IBM Plex Sans"/>
              </a:rPr>
              <a:t>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ฌอง-ฟร็องซัว มิลเลต์, </a:t>
            </a:r>
            <a:r>
              <a:rPr sz="1200" i="1">
                <a:latin typeface="IBM Plex Sans"/>
              </a:rPr>
              <a:t>“ชาวนา”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ทอควิลล์, “ระบอบเก่าและการปฏิวัติ”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หลุยส์ที่ 16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มิลเลต์, </a:t>
            </a:r>
            <a:r>
              <a:rPr sz="1200" i="1">
                <a:latin typeface="IBM Plex Sans"/>
              </a:rPr>
              <a:t>“แองเจลัส”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ท่าเรือบอร์โดในศตวรรษที่ 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ชาร์ลส์ เฟรเดอริก, “ดยุคใหญ่แห่งบาเดน”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แคทเธอรีนที่ 2 </a:t>
            </a:r>
            <a:r>
              <a:rPr sz="1200" i="1">
                <a:latin typeface="IBM Plex Sans"/>
              </a:rPr>
              <a:t>แห่งรัสเซีย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เมอซิเอร์ เดอ </a:t>
            </a:r>
            <a:r>
              <a:rPr sz="1200" i="1">
                <a:latin typeface="IBM Plex Sans"/>
              </a:rPr>
              <a:t>ลา ริเวียร์, </a:t>
            </a:r>
            <a:r>
              <a:rPr sz="1200" i="1">
                <a:latin typeface="IBM Plex Sans"/>
              </a:rPr>
              <a:t>“ลำดับธรรมชาติและที่จำเป็นของสังคมการเมือง”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ภาพเหมือนของทูร์โกต์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พระราชกฤษฎีกา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การเรียกประชุมสภาแห่งชาติที่แวร์ซายในปี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อาดัม สมิธ, “ความมั่งคั่งของชาติ”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โจเซฟ แรมโบ, “ประวัติศาสตร์ของหลักเศรษฐศาสตร์”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บริษัท ดูปองต์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ดูปองต์ เดอ เนมูร์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มาร์ควีส์ เดอ มิราบอว์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วารสารการเกษตร การค้า </a:t>
            </a:r>
            <a:r>
              <a:rPr sz="1200" i="1">
                <a:latin typeface="IBM Plex Sans"/>
              </a:rPr>
              <a:t>และการเงิน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เคสเนย์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วารสารของฟีโซเครต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ฟิสิโอคราซี, การรวบรวมเอกสารโดยเคสเนย์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โจเซฟ ชุมเปเตอร์, "ประวัติการวิเคราะห์ทางเศรษฐศาสตร์"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การจับกุมพระราชวังตูเลอรีในปี </a:t>
            </a:r>
            <a:r>
              <a:rPr sz="1200" i="1">
                <a:latin typeface="IBM Plex Sans"/>
              </a:rPr>
              <a:t>1792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อดัม สมิธ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สารานุกรม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เดนิส ดิดโรต์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บทสนทนาเกี่ยวกับการค้าข้าวสาลี โดย กาลิอานี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ข้อมูลดาวฤกษ์สำหรับประชาชน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วอลแตร์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วอลแตร์, </a:t>
            </a:r>
            <a:r>
              <a:rPr sz="1200" i="1">
                <a:latin typeface="IBM Plex Sans"/>
              </a:rPr>
              <a:t>“ชายผู้มีสี่สิบฟรัง”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มองเตสกีเยอ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“จิตวิญญาณของกฎหมาย”</a:t>
            </a:r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สารานุกรม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ทูร์โกต์, </a:t>
            </a:r>
            <a:r>
              <a:rPr sz="1200" i="1">
                <a:latin typeface="IBM Plex Sans"/>
              </a:rPr>
              <a:t>“คำสรรเสริญสำหรับกูร์เนย์”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ทูร์โกต์, “การสะท้อนเกี่ยวกับการสร้างและการกระจายความมั่งคั่ง”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ทูร์โกต์, “จดหมายเกี่ยวกับเสรีภาพในการค้าข้าว”</a:t>
            </a:r>
            <a:endParaRPr sz="1200" i="1">
              <a:latin typeface="IBM Plex Sans"/>
            </a:endParaRPr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ทูร์โกต์และสมิธ,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"ความใกล้ชิดที่แปลกประหลาด"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ทูร์โกต์, </a:t>
            </a:r>
            <a:r>
              <a:rPr sz="1200" i="1">
                <a:latin typeface="IBM Plex Sans"/>
              </a:rPr>
              <a:t>“ความทรงจำเกี่ยวกับการให้กู้ยืมเงิน”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ฟรีดริช เอ. ฮาเยค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เติร์กโกต์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“ผู้เก็บเกี่ยว”,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กองกำลังติดอาวุธเรียกร้อง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สมุดบันทึกเรื่องร้องเรียนของเขตเนมูร์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เอดิท ดู รอย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วอลแตร์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หลุยส์ที่ 16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มิเชล เดอ มงแตญ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เอเตียน บอนโนต์ เดอ คอนดิญัก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คอนดิแล็ค, การค้าและรัฐบาล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ฌอง-แบปติสต์ เซย์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นิโคลาส เดอ คอนดอร์เซต์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แอนน์ โรเบิร์ต ฌาคส์ เติร์กอท์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กาลิอานี, </a:t>
            </a:r>
            <a:r>
              <a:rPr sz="1200" i="1">
                <a:latin typeface="IBM Plex Sans"/>
              </a:rPr>
              <a:t>“จดหมายเกี่ยวกับการค้าข้าว”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การเรียกประชุมสภาแห่งชาติที่แวร์ซายส์ วันที่ 5 พฤษภาคม 1789</a:t>
            </a:r>
            <a:endParaRPr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“รายการข้อร้องเรียน”</a:t>
            </a:r>
            <a:endParaRPr lang="en-US" sz="12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ดูปองท์ เดอ </a:t>
            </a:r>
            <a:r>
              <a:rPr sz="1200" i="1">
                <a:latin typeface="IBM Plex Sans"/>
              </a:rPr>
              <a:t>เนมูร์ส, “สุนทรพจน์ต่อสภาแห่งชาติ”, </a:t>
            </a:r>
            <a:r>
              <a:rPr sz="1200" i="1">
                <a:latin typeface="IBM Plex Sans"/>
              </a:rPr>
              <a:t>1789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ดูปองต์ เดอ </a:t>
            </a:r>
            <a:r>
              <a:rPr sz="1200" i="1">
                <a:latin typeface="IBM Plex Sans"/>
              </a:rPr>
              <a:t>เนมูร์, </a:t>
            </a:r>
            <a:r>
              <a:rPr sz="1200" i="1">
                <a:latin typeface="IBM Plex Sans"/>
              </a:rPr>
              <a:t>“ผลกระทบของแอสซิญาตต่อราคาขนมปัง”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ใบสั่งจ่าย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ปิแอร์ เลอ เปซองต์ เดอ บัวกีแบร์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แคนติโยน, “เรียงความเกี่ยวกับธรรมชาติของการค้าโดยทั่วไป”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โจเซียห์ ไชลด์, </a:t>
            </a:r>
            <a:r>
              <a:rPr sz="1200" i="1">
                <a:latin typeface="IBM Plex Sans"/>
              </a:rPr>
              <a:t>“เอกสารว่าด้วยการค้า”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เควสนาย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คอนดิแล็ค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ดาร์เจนซง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