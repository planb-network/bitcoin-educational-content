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Ivyabaye mu buzima bwo mu misozi </a:t>
            </a:r>
            <a:r>
              <a:rPr sz="1200" i="1">
                <a:latin typeface="IBM Plex Sans"/>
              </a:rPr>
              <a:t>mu kinjana ca 19, bivugwa </a:t>
            </a:r>
            <a:r>
              <a:rPr sz="1200" i="1">
                <a:latin typeface="IBM Plex Sans"/>
              </a:rPr>
              <a:t>ko vyakozwe na Louis-Léopold Boilly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Igishushanyo ca Duc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Ivyiyumviro vya Duc de Sully, umushikiranganji wa Henri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Umugenzuzi Mukuru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w’Ivy’Imari ku ngoma </a:t>
            </a:r>
            <a:r>
              <a:rPr sz="1200" i="1" lang="en-US">
                <a:latin typeface="IBM Plex Sans"/>
              </a:rPr>
              <a:t>ya Ludoviko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Amahugurwa y'abahinguzi b'amababa yo mu kinjana ca 18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Icibutso ca Bordeaux mu kinjana ca 18 cakozwe na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wa Leta </a:t>
            </a:r>
            <a:r>
              <a:rPr sz="1400" i="1" lang="fr-FR">
                <a:latin typeface="IBM Plex Sans"/>
              </a:rPr>
              <a:t>- imisoro canke urupfu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Marume Sikuruge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Igishushanyo ca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Igisagara ca Lille cakozwe na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“Umugambi w’ic’icumi w’Ubwami”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Ibarura ry'abanyagihugu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“Intwaro ya kera n’Impinduka”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Amategeko atatu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Piyeri Lepesanti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“Ubufaransa bwasambutse ku ngoma ya Ludoviko wa XIV”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Ikarata y'Ikivuko ca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"Inzira ija hejuru"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“Iciyumviro c’Abanyaotirishiya ku bijanye n’amateka y’ivyiyumviro vy’ubutunzi”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“Inyandiko yerekeye kamere y’ubudandaji”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Yohani Itegeko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Itegeko rya banki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Umukuru w'idini ry'i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Igishushanyo ca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Umukuru w'idini ry'i Saint-Pierre yanditswe na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Umukuru w’Ishengero ry’i Saint-Pierre, “Umugambi </a:t>
            </a:r>
            <a:r>
              <a:rPr sz="1200" i="1">
                <a:latin typeface="IBM Plex Sans"/>
              </a:rPr>
              <a:t>wo kugarukana amahoro mu Buraya”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Ludoviko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Ingoro y'Indorerwamo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Ishure ry'igifaransa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Agatabu k’igifaransa ko mu kinjana ca 18 kasaba ko habaho ihinduka mu vy’ubudandaji no mu vy’amahera, kagaragaza impaka za kera ku bijanye n’ubudandaji be n’ingingo mfatirwako z’ubutunzi.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Umukuru w'igihugu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Ukwirekura, kwirekura-uguca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Igikoresho co gukora amapine, “Igitabo c’inkoranyabumenyi” </a:t>
            </a:r>
            <a:r>
              <a:rPr sz="1200" i="1">
                <a:latin typeface="IBM Plex Sans"/>
              </a:rPr>
              <a:t>canditswe na Diderot na d’Alambert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Ishusho ya Adamu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Mariki d’Argenson, “Igitabo </a:t>
            </a:r>
            <a:r>
              <a:rPr sz="1200" i="1">
                <a:latin typeface="IBM Plex Sans"/>
              </a:rPr>
              <a:t>c’ivya kera n’ivy’ivyiyumviro”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Benoit Malbranque, “Vincent </a:t>
            </a:r>
            <a:r>
              <a:rPr sz="1200" i="1">
                <a:latin typeface="IBM Plex Sans"/>
              </a:rPr>
              <a:t>de Gournay”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Igitabo kivuga ku bucuruzi Yosiya Umwana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Ivyanditswe vyo ku </a:t>
            </a:r>
            <a:r>
              <a:rPr sz="1200" i="1">
                <a:latin typeface="IBM Plex Sans"/>
              </a:rPr>
              <a:t>wa 26 Ruheshi </a:t>
            </a:r>
            <a:r>
              <a:rPr sz="1200" i="1">
                <a:latin typeface="IBM Plex Sans"/>
              </a:rPr>
              <a:t>1715, vyanditswe </a:t>
            </a:r>
            <a:r>
              <a:rPr sz="1200" i="1">
                <a:latin typeface="IBM Plex Sans"/>
              </a:rPr>
              <a:t>na M. </a:t>
            </a:r>
            <a:r>
              <a:rPr sz="1200" i="1">
                <a:latin typeface="IBM Plex Sans"/>
              </a:rPr>
              <a:t>de Gourgan, </a:t>
            </a:r>
            <a:r>
              <a:rPr sz="1200" i="1">
                <a:latin typeface="IBM Plex Sans"/>
              </a:rPr>
              <a:t>umucuruzi .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Raporo yemewe </a:t>
            </a:r>
            <a:r>
              <a:rPr sz="1200" i="1">
                <a:latin typeface="IBM Plex Sans"/>
              </a:rPr>
              <a:t>ku bijanye </a:t>
            </a:r>
            <a:r>
              <a:rPr sz="1200" i="1">
                <a:latin typeface="IBM Plex Sans"/>
              </a:rPr>
              <a:t>n'Ishirahamwe ry'Abanyagihugu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Igishushanyo </a:t>
            </a:r>
            <a:r>
              <a:rPr sz="1200" i="1">
                <a:latin typeface="IBM Plex Sans"/>
              </a:rPr>
              <a:t>ca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Uruziga rwa Vincent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Igishushanyo ca Dawidi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Gaburiyeli-François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“Umucuruzi w’icubahiro”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Inyandiko ku vyerekeye politike rusangi y'intete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“Igitabo kivuga ku kamere k’ubudandaji”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Ivyigwa ku bijanye n’ugusohora ibitabu vy’ubutunzi mu Bufaransa,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Abbé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“Chinki”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Impaka zabereye mu nama nkuru y’igihugu, mu Bufaransa, mu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Igishushanyo ca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“Umugenzi </a:t>
            </a:r>
            <a:r>
              <a:rPr sz="1200" i="1">
                <a:latin typeface="IBM Plex Sans"/>
              </a:rPr>
              <a:t>w'abantu”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“Igitabo kivuga ku kamere k’ubudandaji”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Inyigisho z'ubutunzi n'imibano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y'Umukuru w'Igihugu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Fransuwa Kwesine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Samweli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“Ivyiyumviro </a:t>
            </a:r>
            <a:r>
              <a:rPr sz="1200" i="1">
                <a:latin typeface="IBM Plex Sans"/>
              </a:rPr>
              <a:t>vyerekeye imisoro”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Igishushanyo c'ubutunzi cakozwe na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Fransuwa Kwesine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Fransuwa Kwesine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Inkoranyamagambo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Umukuru </a:t>
            </a:r>
            <a:r>
              <a:rPr sz="1200" i="1">
                <a:latin typeface="IBM Plex Sans"/>
              </a:rPr>
              <a:t>w'igihugu,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“Ivyiyumviro vyerekeye imisoro”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“Ubutegetsi bw’umubiri”, igitabu c’ingingo zanditswe na Quesnay, mu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“Ephémérides du Citoyen”, ikinyamakuru cemewe c’abahinga mu vy’umubiri .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“Ivyiyumviro </a:t>
            </a:r>
            <a:r>
              <a:rPr sz="1200" i="1">
                <a:latin typeface="IBM Plex Sans"/>
              </a:rPr>
              <a:t>vy’Ubufaransa”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“Inyandiko yerekeye </a:t>
            </a:r>
            <a:r>
              <a:rPr sz="1200" i="1">
                <a:latin typeface="IBM Plex Sans"/>
              </a:rPr>
              <a:t>kamere y’ubudandaji”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Ikibazo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Imbonerahamwe y'ubutunzi ya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</a:t>
            </a:r>
            <a:r>
              <a:rPr sz="1200" i="1">
                <a:latin typeface="IBM Plex Sans"/>
              </a:rPr>
              <a:t>“Ivyiyumviro </a:t>
            </a:r>
            <a:r>
              <a:rPr sz="1200" i="1">
                <a:latin typeface="IBM Plex Sans"/>
              </a:rPr>
              <a:t>vy’Imisoro”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Umwamikazi wa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ikinyamakuru cemewe c’abahinga mu vy’umubiri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Abahinga mu vy'ubutunzi b'umuco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Ivy’ubuhinga bw’umubiri, ihuriro ry’ingingo </a:t>
            </a:r>
            <a:r>
              <a:rPr sz="1200" i="1">
                <a:latin typeface="IBM Plex Sans"/>
              </a:rPr>
              <a:t>za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</a:t>
            </a:r>
            <a:r>
              <a:rPr sz="1200" i="1">
                <a:latin typeface="IBM Plex Sans"/>
              </a:rPr>
              <a:t>“Abarimyi”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“Intwaro ya kera n’Impinduka”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Ludoviko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Umuceri, </a:t>
            </a:r>
            <a:r>
              <a:rPr sz="1200" i="1">
                <a:latin typeface="IBM Plex Sans"/>
              </a:rPr>
              <a:t>“Umumarayika”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Icibutso ca Bordeaux mu kinjana ca 18 .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Charles Frederick, “Umwami Mukuru wa Baden”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Catherine wa </a:t>
            </a:r>
            <a:r>
              <a:rPr sz="1200" i="1">
                <a:latin typeface="IBM Plex Sans"/>
              </a:rPr>
              <a:t>kabiri w'Uburusiya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“Urutonde rw’ibinyabuzima kandi rw’ingenzi </a:t>
            </a:r>
            <a:r>
              <a:rPr sz="1200" i="1">
                <a:latin typeface="IBM Plex Sans"/>
              </a:rPr>
              <a:t>rw’imibano ya politike”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Igishushanyo ca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Itegeko ry'Umwami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Guhamagara abakuru b'ibihugu i Versailles mu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Adamu Smith, “Ubutunzi bw’Amahanga”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“Amateka y’inyigisho z’ubutunzi”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Ubucuruzi bwa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Umukuru w'igihugu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Ikinyamakuru c'uburimyi, </a:t>
            </a:r>
            <a:r>
              <a:rPr sz="1200" i="1">
                <a:latin typeface="IBM Plex Sans"/>
              </a:rPr>
              <a:t>ubudandaji n'ivy'imari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Ikibazo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Ikinyamakuru ca Fiziyokarate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Fiziyokarasi, ihuriro ry'ivyanditswe na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Yozefu Schumpeter,” Amateka y’ugusesangura ubutunzi”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Ingoro ya </a:t>
            </a:r>
            <a:r>
              <a:rPr sz="1200" i="1">
                <a:latin typeface="IBM Plex Sans"/>
              </a:rPr>
              <a:t>Tuileries yafashwe </a:t>
            </a:r>
            <a:r>
              <a:rPr sz="1200" i="1">
                <a:latin typeface="IBM Plex Sans"/>
              </a:rPr>
              <a:t>mu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Adamu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Inkoranyamagambo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 Dideroti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Ikiganiro ku bijanye n’ubudandaji bw’ingano, canditswe na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Ivy'abanyagihugu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“Umuntu </a:t>
            </a:r>
            <a:r>
              <a:rPr sz="1200" i="1">
                <a:latin typeface="IBM Plex Sans"/>
              </a:rPr>
              <a:t>w'ibanga”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Monteskiye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“Impwemu y’amategeko”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Inkoranyamagambo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“Ishimwe </a:t>
            </a:r>
            <a:r>
              <a:rPr sz="1200" i="1">
                <a:latin typeface="IBM Plex Sans"/>
              </a:rPr>
              <a:t>rya Gournay”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“Ivyiyumviro ku bijanye n’uguhingura no gusangira ubutunzi”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“Amakete yerekeye umwidegemvyo wo gucuruza intete”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na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”Ukwegerana kudasanzwe”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“Ivyiyumviro vyerekeye </a:t>
            </a:r>
            <a:r>
              <a:rPr sz="1200" i="1">
                <a:latin typeface="IBM Plex Sans"/>
              </a:rPr>
              <a:t>ivyiza vy’ifeza”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Firidiri A. Hayeki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“Abanyabuhinga”,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Abasirikare baratsinda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Igitabo c'ibirego c'abanya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Guhindura du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Ludoviko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Misheli de Monteni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 Bonnot wa Kondilaki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Ubucuruzi na Leta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Jean-Batista aravuga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Nikola de Kondorseti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Yaki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“Amakete yerekeye </a:t>
            </a:r>
            <a:r>
              <a:rPr sz="1200" i="1">
                <a:latin typeface="IBM Plex Sans"/>
              </a:rPr>
              <a:t>ubudandaji bw’intete”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Guhamagara abakuru b’ibihugu i Versailles, ku wa 5 Rusama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“Urutonde rw’Ivyidodombo”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“Ijambo yashikirije Inama </a:t>
            </a:r>
            <a:r>
              <a:rPr sz="1200" i="1">
                <a:latin typeface="IBM Plex Sans"/>
              </a:rPr>
              <a:t>Nkuru y’Igihugu”,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“Ingaruka z’Ibikorwa ku </a:t>
            </a:r>
            <a:r>
              <a:rPr sz="1200" i="1">
                <a:latin typeface="IBM Plex Sans"/>
              </a:rPr>
              <a:t>Giciro c’Umukate”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Gushinga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Piyeri Le Pesanti wa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“Inyandiko yerekeye kamere y’ubudandaji muri rusangi”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Yosiya Umwana, “Igitabu </a:t>
            </a:r>
            <a:r>
              <a:rPr sz="1200" i="1">
                <a:latin typeface="IBM Plex Sans"/>
              </a:rPr>
              <a:t>kivuga ivy’ubudandaji”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Ikibazo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Kondilaki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D'Arjenisoni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