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Scene of rural life </a:t>
            </a:r>
            <a:r>
              <a:rPr sz="1200" i="1">
                <a:latin typeface="IBM Plex Sans"/>
              </a:rPr>
              <a:t>in the 19th century, </a:t>
            </a:r>
            <a:r>
              <a:rPr sz="1200" i="1">
                <a:latin typeface="IBM Plex Sans"/>
              </a:rPr>
              <a:t>attributed to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Portrait of the Duc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Memoirs of the Duc de Sully, Minister of Henri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General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Controller of Finances </a:t>
            </a:r>
            <a:r>
              <a:rPr sz="1200" i="1" lang="en-US">
                <a:latin typeface="IBM Plex Sans"/>
              </a:rPr>
              <a:t>under Louis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18th-century feather-maker's workshop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Port of Bordeaux in the 18th century by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of the State </a:t>
            </a:r>
            <a:r>
              <a:rPr sz="1400" i="1" lang="fr-FR">
                <a:latin typeface="IBM Plex Sans"/>
              </a:rPr>
              <a:t>- taxes or death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Uncle Scrooge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of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Lille Citadel by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“Royal tithe project”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Population census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“The Old Regime and the Revolution”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The three orders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“Ruined France under Louis XIV”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Map of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"Upward Path”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“An Austrian perspective on the History of Economic Thought”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“Essay on the Nature of Commerce”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Law's bank bill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The Abbot of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of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The Abbot of Saint-Pierre by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The Abbot of Saint-Pierre, “Project </a:t>
            </a:r>
            <a:r>
              <a:rPr sz="1200" i="1">
                <a:latin typeface="IBM Plex Sans"/>
              </a:rPr>
              <a:t>to Restore Peace in Europe”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Hall of Mirrors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French Academy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18th-century French pamphlet proposing reforms to commerce and finance, reflecting early debates on trade and economic policy.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Pin Manufacture, “Encyclopédie” by </a:t>
            </a:r>
            <a:r>
              <a:rPr sz="1200" i="1">
                <a:latin typeface="IBM Plex Sans"/>
              </a:rPr>
              <a:t>Diderot and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of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Marquis d'Argenson, “Diary </a:t>
            </a:r>
            <a:r>
              <a:rPr sz="1200" i="1">
                <a:latin typeface="IBM Plex Sans"/>
              </a:rPr>
              <a:t>and Memoirs”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“Vincent </a:t>
            </a:r>
            <a:r>
              <a:rPr sz="1200" i="1">
                <a:latin typeface="IBM Plex Sans"/>
              </a:rPr>
              <a:t>de Gournay”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 treatise on trade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Text dated </a:t>
            </a:r>
            <a:r>
              <a:rPr sz="1200" i="1">
                <a:latin typeface="IBM Plex Sans"/>
              </a:rPr>
              <a:t>June 26, </a:t>
            </a:r>
            <a:r>
              <a:rPr sz="1200" i="1">
                <a:latin typeface="IBM Plex Sans"/>
              </a:rPr>
              <a:t>1715, written </a:t>
            </a:r>
            <a:r>
              <a:rPr sz="1200" i="1">
                <a:latin typeface="IBM Plex Sans"/>
              </a:rPr>
              <a:t>by M. </a:t>
            </a:r>
            <a:r>
              <a:rPr sz="1200" i="1">
                <a:latin typeface="IBM Plex Sans"/>
              </a:rPr>
              <a:t>de Gourgan, </a:t>
            </a:r>
            <a:r>
              <a:rPr sz="1200" i="1">
                <a:latin typeface="IBM Plex Sans"/>
              </a:rPr>
              <a:t>merchant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Official report on </a:t>
            </a:r>
            <a:r>
              <a:rPr sz="1200" i="1">
                <a:latin typeface="IBM Plex Sans"/>
              </a:rPr>
              <a:t>the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</a:t>
            </a:r>
            <a:r>
              <a:rPr sz="1200" i="1">
                <a:latin typeface="IBM Plex Sans"/>
              </a:rPr>
              <a:t>of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Vincent de Gournay's circle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of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“La Noblesse commerçante”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Essay on the general grain policy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“Essay on the nature of commerce”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Study on economic publishing in France,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“Chinki”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Debate at the Estates-General, France,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of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“L'ami </a:t>
            </a:r>
            <a:r>
              <a:rPr sz="1200" i="1">
                <a:latin typeface="IBM Plex Sans"/>
              </a:rPr>
              <a:t>des hommes”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“Essay on the nature of commerce”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Economic and social doctrines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of the Marquis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“Theory </a:t>
            </a:r>
            <a:r>
              <a:rPr sz="1200" i="1">
                <a:latin typeface="IBM Plex Sans"/>
              </a:rPr>
              <a:t>of taxation”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Economic chart by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Encyclopedia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“Theory of taxation”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“Physiocracy”, collection of articles by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“Ephémérides du Citoyen”, official journal of the Physiocrats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“Detail </a:t>
            </a:r>
            <a:r>
              <a:rPr sz="1200" i="1">
                <a:latin typeface="IBM Plex Sans"/>
              </a:rPr>
              <a:t>of France”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“Essay on the </a:t>
            </a:r>
            <a:r>
              <a:rPr sz="1200" i="1">
                <a:latin typeface="IBM Plex Sans"/>
              </a:rPr>
              <a:t>nature of commerce”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Quesnay's economic chart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“Theory </a:t>
            </a:r>
            <a:r>
              <a:rPr sz="1200" i="1">
                <a:latin typeface="IBM Plex Sans"/>
              </a:rPr>
              <a:t>of </a:t>
            </a:r>
            <a:r>
              <a:rPr sz="1200" i="1">
                <a:latin typeface="IBM Plex Sans"/>
              </a:rPr>
              <a:t>Taxation”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Marquess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official journal of the Physiocrats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Enlightenment economists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Physiocracy, collection of articles </a:t>
            </a:r>
            <a:r>
              <a:rPr sz="1200" i="1">
                <a:latin typeface="IBM Plex Sans"/>
              </a:rPr>
              <a:t>by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“Peasants”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“The Old Regime and the Revolution”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“Angelus”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The port of Bordeaux in the 18th century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Charles Frederick, “Grand Duke of Baden”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Catherine II </a:t>
            </a:r>
            <a:r>
              <a:rPr sz="1200" i="1">
                <a:latin typeface="IBM Plex Sans"/>
              </a:rPr>
              <a:t>of Russia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“The natural and essential </a:t>
            </a:r>
            <a:r>
              <a:rPr sz="1200" i="1">
                <a:latin typeface="IBM Plex Sans"/>
              </a:rPr>
              <a:t>order of political societies”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of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Royal Edict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Summoning of the Estates General at Versailles in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“Wealth of Nations”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“History of economic doctrines”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Entreprise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of agriculture, </a:t>
            </a:r>
            <a:r>
              <a:rPr sz="1200" i="1">
                <a:latin typeface="IBM Plex Sans"/>
              </a:rPr>
              <a:t>trade and finance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Physiocracy, collection of texts by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Schumpeter,” History of economic analysis”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Capture of the </a:t>
            </a:r>
            <a:r>
              <a:rPr sz="1200" i="1">
                <a:latin typeface="IBM Plex Sans"/>
              </a:rPr>
              <a:t>Tuileries Palace </a:t>
            </a:r>
            <a:r>
              <a:rPr sz="1200" i="1">
                <a:latin typeface="IBM Plex Sans"/>
              </a:rPr>
              <a:t>in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Encyclopedia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Dialogue on the wheat trade, by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Citizen's ephemerides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“L'homme aux </a:t>
            </a:r>
            <a:r>
              <a:rPr sz="1200" i="1">
                <a:latin typeface="IBM Plex Sans"/>
              </a:rPr>
              <a:t>quarante écus”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“The Spirit of Laws”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Encyclopedia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“Praise </a:t>
            </a:r>
            <a:r>
              <a:rPr sz="1200" i="1">
                <a:latin typeface="IBM Plex Sans"/>
              </a:rPr>
              <a:t>for Gournay”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“Reflections on the formation and distribution of wealth”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“Letters on the freedom of grain trade”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and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”A strange closeness”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“Mémoire sur </a:t>
            </a:r>
            <a:r>
              <a:rPr sz="1200" i="1">
                <a:latin typeface="IBM Plex Sans"/>
              </a:rPr>
              <a:t>les prêts d'argent”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“The </a:t>
            </a:r>
            <a:r>
              <a:rPr sz="1200" i="1">
                <a:latin typeface="IBM Plex Sans"/>
              </a:rPr>
              <a:t>Gleaners”,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The militia draw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Grievance book of the baillage of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Trade and Government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“Letters on </a:t>
            </a:r>
            <a:r>
              <a:rPr sz="1200" i="1">
                <a:latin typeface="IBM Plex Sans"/>
              </a:rPr>
              <a:t>the grain trade”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Summoning of the Estates General at Versailles, May 5,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“List of Grievances”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“Speech to the </a:t>
            </a:r>
            <a:r>
              <a:rPr sz="1200" i="1">
                <a:latin typeface="IBM Plex Sans"/>
              </a:rPr>
              <a:t>National Assembly”,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“Effect </a:t>
            </a:r>
            <a:r>
              <a:rPr sz="1200" i="1">
                <a:latin typeface="IBM Plex Sans"/>
              </a:rPr>
              <a:t>of Assignats on the </a:t>
            </a:r>
            <a:r>
              <a:rPr sz="1200" i="1">
                <a:latin typeface="IBM Plex Sans"/>
              </a:rPr>
              <a:t>Price of Bread”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Assignat of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“Essay on the nature of commerce in general”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“A </a:t>
            </a:r>
            <a:r>
              <a:rPr sz="1200" i="1">
                <a:latin typeface="IBM Plex Sans"/>
              </a:rPr>
              <a:t>treatise on trade”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