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notesMaster" Target="notesMasters/notesMaster1.xml"/><Relationship Id="rId100" Type="http://schemas.openxmlformats.org/officeDocument/2006/relationships/presProps" Target="presProps.xml"/><Relationship Id="rId101" Type="http://schemas.openxmlformats.org/officeDocument/2006/relationships/tableStyles" Target="tableStyles.xml"/><Relationship Id="rId10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11038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7222375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29237887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4470693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432814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6975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4066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4634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62702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8801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4989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706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7554D-54F7-FF06-986A-5AE9FB7140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2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7375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873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AE9AF9-3039-CDED-E4DB-99C8C3AF95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968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9275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531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08992D-A1E7-DE6B-90C1-66B372F51E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9808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5879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2756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0D6D09-4274-5697-C528-D056E2A56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2616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0158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3234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4B608-D557-01F0-A8B0-B9E7B6A3C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443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7133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738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470F31-004D-53D4-8382-4C5AF86EC8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78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7621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277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9FE4A7-DEC4-10C2-7F4A-65C3B59076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182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6074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786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56ECE-0035-E808-A449-ECE9D7E1AB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4856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08178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999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5039CD-39CB-DB67-1D5A-E2B051B428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15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124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926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952DCA-933D-8F77-2936-A66C3A844A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82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88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89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21594D-C84A-C547-1605-85B2319132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7079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544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822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803B21-71E7-C522-8A94-F3CA630555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8590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5088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4074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E4DAFF-04F7-4230-4BEA-EF427F07C0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113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5331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0009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782E25-7CDB-5CD6-E19F-435B3470BB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789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7454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351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047713-D329-CC9F-620C-6911A03712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846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7096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115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B5D5CA-DCF7-3D49-2421-D4E18933B9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4711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18179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034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B24F63-817F-0D30-E142-FE7737E22E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45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6746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254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AC652D-E91A-58D6-5923-F0C1FC0190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65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9471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4777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CC6B97-41EC-395A-1064-9FCBE703F5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268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77066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2635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DB6E2E-CF63-5FED-2AC7-A0CE5050A7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9831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6771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82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381DD-2281-8E8E-EFB4-16B032A0F4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1016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1435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481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6D87FA-7213-3341-A261-31A97A2C72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343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8686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92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A8E771-4C19-3D20-69C1-9338EA8C2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92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0998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826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6BA9C1-D5A8-8E5C-2084-79D5D66CFA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626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458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30387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E4E1C1-80F4-D8D0-CF76-BCC0A4739A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91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0968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001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B0075F-8DB6-CC5F-165D-ED13D1EEE0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97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093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992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B06FCC-EE63-40E5-8EE7-25EFAD702D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457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90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673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648720-9216-0680-5CDC-93A9F68102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3488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610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0198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5490E-1363-1FBC-42E0-702393BA63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3206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8249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698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EC5E37-1B7B-FD8A-D19E-89E3560CFA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4663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1501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184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4CDD8-4F78-D0C1-F445-8CDC555517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309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6888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674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5A5D82-54A1-E010-1DCB-58053402D9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717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144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410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7FA534-F7CE-9754-80BF-A583283D45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36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8114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739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C83C34-1783-C514-F7C9-033780CB21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589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255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44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9AFB8D-6200-D523-407A-2237E034D7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431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53718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152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E1B43-876E-8501-05A3-BBD8233AB5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157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1217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109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332D0A-9FBE-A5D0-204A-96C778835C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6234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63784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006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EBE33C-D227-C9CC-DEF9-6D9A8826BE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750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88361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936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21C186-B21E-B518-F05E-E6FA785701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4668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5117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73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93D077-7A35-A1BD-0D22-3EDB2DF29B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1743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5004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135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52EF15-93B0-5A99-10E5-8AD2DADDD0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899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0582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0003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9D548A-7E2E-02BB-948C-A747D913DB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170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1009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618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2716DB-A4AB-A4DD-82DD-077D939B25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82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8553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11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C0A1D0-7C9F-717E-AD41-DDC4D2FF56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1892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6914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233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59A78C-8CAB-66D7-5361-5F4AA65D48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2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507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7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41777-0EAB-FF74-79A3-7B365D8F5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118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409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9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4EC14F-C21C-4660-D0FC-8BE5F1E9DA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02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7022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091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188EEA-5E50-9E80-0608-E947758704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000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6385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916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2CCD28-7C20-E9DD-0AE9-AEAF4144B1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967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5362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800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5B8E9B-596E-B710-3451-51C1B8FCE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1364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0612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335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1D3192-4248-9D56-1F06-9EF700C844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097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910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676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3ADEC-ABD1-56E3-0BD7-ACBBD5AF67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0377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5497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10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3139C2-200E-271C-177A-A102371E8C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032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8334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29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BDFC8D-0946-817C-9911-10B70A71E2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6111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3986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9396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E61E51-3776-1744-CFC0-F35C780D22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836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83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895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526887-417A-FC5D-3DB7-604680289C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893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6972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662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89C3ED-A1E5-F975-B4E3-B4BFE3D51D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349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316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5050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4A9015-A362-0E32-627C-3EBC75E729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868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2516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7438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E2BB51-EADA-3BDC-DDA8-ED9A388EB4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806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7233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81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96B659-0D0D-137C-92EF-822A16A390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99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7379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1904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90FE3-36F2-61FE-3FAF-1E75E93C0E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4576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7489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633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8ECA71-7D42-9DCC-DA2D-3827FCE410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841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4374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118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E9C9EA-D0C5-8A16-AC99-D1073920CA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59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096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636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324B50-0E93-7B2A-65EE-990BB005D2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7875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66501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572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6789BF-8A8A-C141-2107-79764C5064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59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9387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729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763A53-653B-8F0A-FDDD-40D3067DCF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328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710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14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2856DD-B1FD-3949-450A-748E65E111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1222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823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354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283160-E820-CB5F-8686-C280DB1BBC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089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61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828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72F173-1261-400B-DD91-164242E331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734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2536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0556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AD88F-53EB-99E7-4867-1369A2FB56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35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0287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85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3E1A94-3978-23BE-18F0-1FF6ABD1CB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1294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7070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8074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26E6BB-64EC-813F-23A3-78DBA3CAF3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0524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9248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9489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6C2F3-DE2C-DF24-3C4C-DB1166DFEF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223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12474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540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6B5351-9DAF-0272-55C9-595D51A67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823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7781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32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B17EEF-8D2B-0DB9-78D7-ECE1F209AA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481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4219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168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377636-A712-215A-99B4-39353C233A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2329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244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9580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000D36-A770-D10F-B094-21B84D82D2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5275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537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20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2FADE5-E39F-5DF0-6580-A4AE781C62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6219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2062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032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F84FDF-04F1-C98D-038A-F75045A135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8906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205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586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A8AD87-C3CB-800B-A770-F73DBFE8F0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3904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211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49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F5F1EC-E097-505F-140F-0FA67296C3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3393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2756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156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5BCBF3-6ECB-4DFA-2795-FC53646534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664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656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154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DEE583-A167-B651-BDE0-01D45DD9C9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7091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473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6935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769EF6-F864-7F32-61DE-87CC5FAC2F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80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518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646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C62D53-2FB8-A716-B057-747DEB6099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116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281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315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B8D1BB-8670-CC74-FE76-8836849437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1721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9158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62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E7A4C0-D52A-AA81-6013-10C20CB26A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097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2968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8843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C11D47-4C3A-DD78-8CFA-CE968BD46E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34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6307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353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364BE-049E-EEFC-8EA9-DC15E5B979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219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390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149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1E6BE-6F33-1A8D-97D6-12AC929ABA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9909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9856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7497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E6731-C6E3-7F23-EE71-783DD17F6B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8747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7428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016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B66A66-75A6-A719-8BE4-B2BBAF584D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425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00912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506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DD47A6-21B0-FDB8-4CFE-EC02F58A3A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55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799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669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2DA9-53AC-C070-34D7-6FD2234E09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65546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786179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221979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37281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72299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046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1585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70106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65934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53981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58587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98838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93364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013973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41348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732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701831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292946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02954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675461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93030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8515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658758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933735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074403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4780986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65776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6984889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052413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60309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6551648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64001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515680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19434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772632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442803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01507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062141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86887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5319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47689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60252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97919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879902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566292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619902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232510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83646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9090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579627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18969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07949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0591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7323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00433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13339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71725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38111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96896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3710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165807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0636156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2066897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jpg"/><Relationship Id="rId4" Type="http://schemas.openxmlformats.org/officeDocument/2006/relationships/image" Target="../media/image4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jpg"/><Relationship Id="rId4" Type="http://schemas.openxmlformats.org/officeDocument/2006/relationships/image" Target="../media/image50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4.jpg"/><Relationship Id="rId4" Type="http://schemas.openxmlformats.org/officeDocument/2006/relationships/image" Target="../media/image5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6.jpg"/><Relationship Id="rId4" Type="http://schemas.openxmlformats.org/officeDocument/2006/relationships/image" Target="../media/image57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8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9.jpg"/><Relationship Id="rId4" Type="http://schemas.openxmlformats.org/officeDocument/2006/relationships/image" Target="../media/image60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1.jpg"/><Relationship Id="rId4" Type="http://schemas.openxmlformats.org/officeDocument/2006/relationships/image" Target="../media/image6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3.jpg"/><Relationship Id="rId4" Type="http://schemas.openxmlformats.org/officeDocument/2006/relationships/image" Target="../media/image6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5.jpg"/><Relationship Id="rId4" Type="http://schemas.openxmlformats.org/officeDocument/2006/relationships/image" Target="../media/image66.jpg"/><Relationship Id="rId5" Type="http://schemas.openxmlformats.org/officeDocument/2006/relationships/image" Target="../media/image6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8.jpg"/><Relationship Id="rId4" Type="http://schemas.openxmlformats.org/officeDocument/2006/relationships/image" Target="../media/image7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2.jpg"/><Relationship Id="rId4" Type="http://schemas.openxmlformats.org/officeDocument/2006/relationships/image" Target="../media/image8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4.png"/><Relationship Id="rId4" Type="http://schemas.openxmlformats.org/officeDocument/2006/relationships/image" Target="../media/image8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6.jpg"/><Relationship Id="rId4" Type="http://schemas.openxmlformats.org/officeDocument/2006/relationships/image" Target="../media/image87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8.jpg"/><Relationship Id="rId4" Type="http://schemas.openxmlformats.org/officeDocument/2006/relationships/image" Target="../media/image8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90.jpg"/><Relationship Id="rId4" Type="http://schemas.openxmlformats.org/officeDocument/2006/relationships/image" Target="../media/image9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2.jpg"/><Relationship Id="rId4" Type="http://schemas.openxmlformats.org/officeDocument/2006/relationships/image" Target="../media/image93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4.jpg"/><Relationship Id="rId4" Type="http://schemas.openxmlformats.org/officeDocument/2006/relationships/image" Target="../media/image9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9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97.jpg"/><Relationship Id="rId4" Type="http://schemas.openxmlformats.org/officeDocument/2006/relationships/image" Target="../media/image98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99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00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01.jpg"/><Relationship Id="rId4" Type="http://schemas.openxmlformats.org/officeDocument/2006/relationships/image" Target="../media/image102.jpg"/><Relationship Id="rId5" Type="http://schemas.openxmlformats.org/officeDocument/2006/relationships/image" Target="../media/image10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04.jpg"/><Relationship Id="rId4" Type="http://schemas.openxmlformats.org/officeDocument/2006/relationships/image" Target="../media/image10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06.jpg"/><Relationship Id="rId4" Type="http://schemas.openxmlformats.org/officeDocument/2006/relationships/image" Target="../media/image107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08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09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0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1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1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12.jpg"/><Relationship Id="rId4" Type="http://schemas.openxmlformats.org/officeDocument/2006/relationships/image" Target="../media/image113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14.jpg"/><Relationship Id="rId4" Type="http://schemas.openxmlformats.org/officeDocument/2006/relationships/image" Target="../media/image11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16.jpg"/><Relationship Id="rId4" Type="http://schemas.openxmlformats.org/officeDocument/2006/relationships/image" Target="../media/image117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18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19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2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2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22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23.jpg"/><Relationship Id="rId4" Type="http://schemas.openxmlformats.org/officeDocument/2006/relationships/image" Target="../media/image124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25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26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27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28.jpg"/><Relationship Id="rId4" Type="http://schemas.openxmlformats.org/officeDocument/2006/relationships/image" Target="../media/image129.jpg"/><Relationship Id="rId5" Type="http://schemas.openxmlformats.org/officeDocument/2006/relationships/image" Target="../media/image130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31.jpg"/><Relationship Id="rId4" Type="http://schemas.openxmlformats.org/officeDocument/2006/relationships/image" Target="../media/image132.jpg"/><Relationship Id="rId5" Type="http://schemas.openxmlformats.org/officeDocument/2006/relationships/image" Target="../media/image1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5693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148" y="736453"/>
            <a:ext cx="6041702" cy="490018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95539773" name=""/>
          <p:cNvSpPr txBox="1"/>
          <p:nvPr/>
        </p:nvSpPr>
        <p:spPr bwMode="auto">
          <a:xfrm rot="0" flipH="0" flipV="0">
            <a:off x="1637698" y="5749358"/>
            <a:ext cx="89166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Scène de vie rurale </a:t>
            </a:r>
            <a:r>
              <a:rPr sz="1200" i="1">
                <a:latin typeface="IBM Plex Sans"/>
              </a:rPr>
              <a:t>au XIXe siècle, attribuée </a:t>
            </a:r>
            <a:r>
              <a:rPr sz="1200" i="1">
                <a:latin typeface="IBM Plex Sans"/>
              </a:rPr>
              <a:t>à Louis-Léopold Boilly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81398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213" y="963415"/>
            <a:ext cx="4705157" cy="493116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56923613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226982" y="956998"/>
            <a:ext cx="6597515" cy="494400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37346195" name=""/>
          <p:cNvSpPr txBox="1"/>
          <p:nvPr/>
        </p:nvSpPr>
        <p:spPr bwMode="auto">
          <a:xfrm rot="0" flipH="0" flipV="0">
            <a:off x="457447" y="6012918"/>
            <a:ext cx="46720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Portrait du duc de Sully</a:t>
            </a:r>
            <a:endParaRPr sz="1200" b="0" i="1">
              <a:latin typeface="IBM Plex Sans"/>
              <a:cs typeface="IBM Plex Sans"/>
            </a:endParaRPr>
          </a:p>
        </p:txBody>
      </p:sp>
      <p:sp>
        <p:nvSpPr>
          <p:cNvPr id="1695758245" name=""/>
          <p:cNvSpPr txBox="1"/>
          <p:nvPr/>
        </p:nvSpPr>
        <p:spPr bwMode="auto">
          <a:xfrm rot="0" flipH="0" flipV="0">
            <a:off x="5226981" y="6012918"/>
            <a:ext cx="66545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Mémoires du duc de Sully, ministre d'Henri IV</a:t>
            </a:r>
            <a:endParaRPr sz="12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27329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2940" y="748832"/>
            <a:ext cx="3956026" cy="536033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360958819" name=""/>
          <p:cNvSpPr txBox="1"/>
          <p:nvPr/>
        </p:nvSpPr>
        <p:spPr bwMode="auto">
          <a:xfrm rot="0" flipH="0" flipV="0">
            <a:off x="2114879" y="6178730"/>
            <a:ext cx="753466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Jean-Baptiste Colbert, contrôleur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général des finances </a:t>
            </a:r>
            <a:r>
              <a:rPr sz="1200" i="1" lang="en-US">
                <a:latin typeface="IBM Plex Sans"/>
              </a:rPr>
              <a:t>sous Louis XIV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07247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23236" y="848034"/>
            <a:ext cx="6945526" cy="516193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99628209" name=""/>
          <p:cNvSpPr txBox="1"/>
          <p:nvPr/>
        </p:nvSpPr>
        <p:spPr bwMode="auto">
          <a:xfrm rot="0" flipH="0" flipV="0">
            <a:off x="2623235" y="6113748"/>
            <a:ext cx="694660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atelier de plumassier du XVIIIe siècle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414699" name=""/>
          <p:cNvSpPr txBox="1"/>
          <p:nvPr/>
        </p:nvSpPr>
        <p:spPr bwMode="auto">
          <a:xfrm rot="0" flipH="0" flipV="0">
            <a:off x="2201303" y="5160814"/>
            <a:ext cx="806828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Le port de Bordeaux au XVIIIe siècle par Vernet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735461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9398" y="1437409"/>
            <a:ext cx="5715000" cy="3600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382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53340" y="1118120"/>
            <a:ext cx="4865927" cy="462175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37625077" name=""/>
          <p:cNvSpPr txBox="1"/>
          <p:nvPr/>
        </p:nvSpPr>
        <p:spPr bwMode="auto">
          <a:xfrm rot="0" flipH="0" flipV="0">
            <a:off x="3401293" y="5825197"/>
            <a:ext cx="604553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Robin des bois de l'État - </a:t>
            </a:r>
            <a:r>
              <a:rPr sz="1400" i="1" lang="fr-FR">
                <a:latin typeface="IBM Plex Sans"/>
              </a:rPr>
              <a:t>les impôts ou la mort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074642" name=""/>
          <p:cNvSpPr txBox="1"/>
          <p:nvPr/>
        </p:nvSpPr>
        <p:spPr bwMode="auto">
          <a:xfrm rot="0" flipH="0" flipV="0">
            <a:off x="363957" y="5617380"/>
            <a:ext cx="1146408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chemeClr val="tx1"/>
                </a:solidFill>
                <a:latin typeface="IBM Plex Sans"/>
              </a:rPr>
              <a:t>Oncle Scrooge</a:t>
            </a:r>
            <a:endParaRPr sz="1400" i="1">
              <a:latin typeface="IBM Plex Sans"/>
              <a:cs typeface="IBM Plex Sans"/>
            </a:endParaRPr>
          </a:p>
        </p:txBody>
      </p:sp>
      <p:pic>
        <p:nvPicPr>
          <p:cNvPr id="394419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10468" y="610092"/>
            <a:ext cx="6371062" cy="4892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63742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32616" y="1058120"/>
            <a:ext cx="3559365" cy="474175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52445511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642109" y="1031974"/>
            <a:ext cx="6152365" cy="47940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6661607" name=""/>
          <p:cNvSpPr txBox="1"/>
          <p:nvPr/>
        </p:nvSpPr>
        <p:spPr bwMode="auto">
          <a:xfrm rot="0" flipH="0" flipV="0">
            <a:off x="1132615" y="5880385"/>
            <a:ext cx="35629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Portrait de Vauban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49802602" name=""/>
          <p:cNvSpPr txBox="1"/>
          <p:nvPr/>
        </p:nvSpPr>
        <p:spPr bwMode="auto">
          <a:xfrm rot="0" flipH="0" flipV="0">
            <a:off x="5642108" y="5880385"/>
            <a:ext cx="615596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La citadelle de Lille par Vauban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5102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74095" y="581589"/>
            <a:ext cx="7243809" cy="56948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10464338" name=""/>
          <p:cNvSpPr txBox="1"/>
          <p:nvPr/>
        </p:nvSpPr>
        <p:spPr bwMode="auto">
          <a:xfrm rot="0" flipH="0" flipV="0">
            <a:off x="2501832" y="6320589"/>
            <a:ext cx="7190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Vauban, "Projet de dîme royale"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57814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4888" y="483661"/>
            <a:ext cx="3735550" cy="58906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5486339" name=""/>
          <p:cNvSpPr txBox="1"/>
          <p:nvPr/>
        </p:nvSpPr>
        <p:spPr bwMode="auto">
          <a:xfrm rot="0" flipH="0" flipV="0">
            <a:off x="3781755" y="6436677"/>
            <a:ext cx="49421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Recensement de la population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0201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74351" y="745722"/>
            <a:ext cx="4372052" cy="53665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797554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963000" y="771307"/>
            <a:ext cx="3217740" cy="53153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14527803" name=""/>
          <p:cNvSpPr txBox="1"/>
          <p:nvPr/>
        </p:nvSpPr>
        <p:spPr bwMode="auto">
          <a:xfrm rot="0" flipH="0" flipV="0">
            <a:off x="816016" y="6186376"/>
            <a:ext cx="55373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Tocqueville, "L'ancien régime et la révolution"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9933571" name=""/>
          <p:cNvSpPr txBox="1"/>
          <p:nvPr/>
        </p:nvSpPr>
        <p:spPr bwMode="auto">
          <a:xfrm rot="0" flipH="0" flipV="0">
            <a:off x="7074350" y="6186376"/>
            <a:ext cx="43727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Les trois ordres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863672" name=""/>
          <p:cNvSpPr txBox="1"/>
          <p:nvPr/>
        </p:nvSpPr>
        <p:spPr bwMode="auto">
          <a:xfrm rot="0" flipH="0" flipV="0">
            <a:off x="2800572" y="5439041"/>
            <a:ext cx="67883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Lepesant de Boisguilbert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714102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7413" y="650462"/>
            <a:ext cx="3507767" cy="46709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0462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23400" y="898921"/>
            <a:ext cx="2811197" cy="506015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6401079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85742" y="847825"/>
            <a:ext cx="3379667" cy="5162348"/>
          </a:xfrm>
          <a:prstGeom prst="rect">
            <a:avLst/>
          </a:prstGeom>
        </p:spPr>
      </p:pic>
      <p:sp>
        <p:nvSpPr>
          <p:cNvPr id="1674216470" name=""/>
          <p:cNvSpPr txBox="1"/>
          <p:nvPr/>
        </p:nvSpPr>
        <p:spPr bwMode="auto">
          <a:xfrm rot="0" flipH="0" flipV="0">
            <a:off x="1143439" y="6132796"/>
            <a:ext cx="52515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Boisguilbert, "La France ruinée sous Louis XIV"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816580096" name=""/>
          <p:cNvSpPr txBox="1"/>
          <p:nvPr/>
        </p:nvSpPr>
        <p:spPr bwMode="auto">
          <a:xfrm rot="0" flipH="0" flipV="0">
            <a:off x="6438195" y="6132799"/>
            <a:ext cx="4797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Carte de Port Royal des Champs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36555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7706" y="1124827"/>
            <a:ext cx="6558025" cy="460834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8921104" name=""/>
          <p:cNvSpPr txBox="1"/>
          <p:nvPr/>
        </p:nvSpPr>
        <p:spPr bwMode="auto">
          <a:xfrm rot="0" flipH="0" flipV="0">
            <a:off x="2816264" y="5850185"/>
            <a:ext cx="65609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Gustave Caillebotte - "Le chemin vers le haut"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20352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88961" y="930765"/>
            <a:ext cx="3330976" cy="4996465"/>
          </a:xfrm>
          <a:prstGeom prst="rect">
            <a:avLst/>
          </a:prstGeom>
        </p:spPr>
      </p:pic>
      <p:sp>
        <p:nvSpPr>
          <p:cNvPr id="1984690885" name=""/>
          <p:cNvSpPr txBox="1"/>
          <p:nvPr/>
        </p:nvSpPr>
        <p:spPr bwMode="auto">
          <a:xfrm rot="0" flipH="0" flipV="0">
            <a:off x="254529" y="6010596"/>
            <a:ext cx="1100307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Murray Rothbard, "Une perspective autrichienne sur l'histoire de la pensée économique"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631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713692" y="987031"/>
            <a:ext cx="3795930" cy="488393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10239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600834" y="1003282"/>
            <a:ext cx="2847853" cy="48514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99946519" name=""/>
          <p:cNvSpPr txBox="1"/>
          <p:nvPr/>
        </p:nvSpPr>
        <p:spPr bwMode="auto">
          <a:xfrm rot="0" flipH="0" flipV="0">
            <a:off x="297825" y="5994360"/>
            <a:ext cx="55810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Cantillon, "Essai sur la nature du commerce"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76655800" name=""/>
          <p:cNvSpPr txBox="1"/>
          <p:nvPr/>
        </p:nvSpPr>
        <p:spPr bwMode="auto">
          <a:xfrm rot="0" flipH="0" flipV="0">
            <a:off x="6385124" y="5994362"/>
            <a:ext cx="46003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John Law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561738" name=""/>
          <p:cNvSpPr txBox="1"/>
          <p:nvPr/>
        </p:nvSpPr>
        <p:spPr bwMode="auto">
          <a:xfrm rot="0" flipH="0" flipV="0">
            <a:off x="2234355" y="5644315"/>
            <a:ext cx="80080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Facture bancaire de Law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588975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76550" y="440530"/>
            <a:ext cx="7723283" cy="50891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40146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76295" y="1632539"/>
            <a:ext cx="2754570" cy="359291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00251642" name=""/>
          <p:cNvSpPr txBox="1"/>
          <p:nvPr/>
        </p:nvSpPr>
        <p:spPr bwMode="auto">
          <a:xfrm rot="0" flipH="0" flipV="0">
            <a:off x="4034763" y="5393329"/>
            <a:ext cx="48412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L'abbé de Saint-Pierre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629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30437" y="1557211"/>
            <a:ext cx="2152359" cy="37005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47713382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018111" y="1600240"/>
            <a:ext cx="3106773" cy="36575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60411752" name=""/>
          <p:cNvSpPr txBox="1"/>
          <p:nvPr/>
        </p:nvSpPr>
        <p:spPr bwMode="auto">
          <a:xfrm rot="0" flipH="0" flipV="0">
            <a:off x="1371373" y="5368448"/>
            <a:ext cx="44071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Portrait de Gustave de Molinari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17743035" name=""/>
          <p:cNvSpPr txBox="1"/>
          <p:nvPr/>
        </p:nvSpPr>
        <p:spPr bwMode="auto">
          <a:xfrm rot="0" flipH="0" flipV="0">
            <a:off x="5778126" y="5368447"/>
            <a:ext cx="54564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L'abbé de Saint-Pierre par Molinari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072379" name=""/>
          <p:cNvSpPr txBox="1"/>
          <p:nvPr/>
        </p:nvSpPr>
        <p:spPr bwMode="auto">
          <a:xfrm rot="0" flipH="0" flipV="0">
            <a:off x="2700898" y="6008069"/>
            <a:ext cx="68053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L'abbé de Saint-Pierre, "Projet de restauration </a:t>
            </a:r>
            <a:r>
              <a:rPr sz="1200" i="1">
                <a:latin typeface="IBM Plex Sans"/>
              </a:rPr>
              <a:t>de la paix en Europe"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159102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40758" y="528813"/>
            <a:ext cx="3510482" cy="53885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18787" name=""/>
          <p:cNvSpPr txBox="1"/>
          <p:nvPr/>
        </p:nvSpPr>
        <p:spPr bwMode="auto">
          <a:xfrm rot="0" flipH="0" flipV="0">
            <a:off x="95249" y="5634534"/>
            <a:ext cx="554693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Louis XIV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25831263" name=""/>
          <p:cNvSpPr txBox="1"/>
          <p:nvPr/>
        </p:nvSpPr>
        <p:spPr bwMode="auto">
          <a:xfrm rot="0" flipH="0" flipV="0">
            <a:off x="5784994" y="5634534"/>
            <a:ext cx="63886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Versailles, galerie des Glaces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878328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5249" y="1294972"/>
            <a:ext cx="5545499" cy="4268054"/>
          </a:xfrm>
          <a:prstGeom prst="rect">
            <a:avLst/>
          </a:prstGeom>
        </p:spPr>
      </p:pic>
      <p:pic>
        <p:nvPicPr>
          <p:cNvPr id="1803538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84994" y="1298032"/>
            <a:ext cx="6387955" cy="426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723332" name=""/>
          <p:cNvSpPr txBox="1"/>
          <p:nvPr/>
        </p:nvSpPr>
        <p:spPr bwMode="auto">
          <a:xfrm rot="0" flipH="0" flipV="0">
            <a:off x="1942124" y="6325407"/>
            <a:ext cx="830846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Académie française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01618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42124" y="661480"/>
            <a:ext cx="8307749" cy="55350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85880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91206" y="1409708"/>
            <a:ext cx="2453546" cy="403858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85129154" name=""/>
          <p:cNvSpPr txBox="1"/>
          <p:nvPr/>
        </p:nvSpPr>
        <p:spPr bwMode="auto">
          <a:xfrm rot="0" flipH="0" flipV="0">
            <a:off x="3067380" y="5615308"/>
            <a:ext cx="57015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pamphlet français du XVIIIe siècle proposant des réformes du commerce et des finances, reflétant les premiers débats sur le commerce et la politique économique.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71714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57693" y="991939"/>
            <a:ext cx="3292167" cy="487412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65025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42413" y="991940"/>
            <a:ext cx="3745186" cy="48741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26952596" name=""/>
          <p:cNvSpPr txBox="1"/>
          <p:nvPr/>
        </p:nvSpPr>
        <p:spPr bwMode="auto">
          <a:xfrm rot="0" flipH="0" flipV="0">
            <a:off x="1799496" y="5964752"/>
            <a:ext cx="3223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Marquis d'Argenson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46427471" name=""/>
          <p:cNvSpPr txBox="1"/>
          <p:nvPr/>
        </p:nvSpPr>
        <p:spPr bwMode="auto">
          <a:xfrm rot="0" flipH="0" flipV="0">
            <a:off x="6080658" y="5964752"/>
            <a:ext cx="404225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Laissez-faire, laissez-passer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08111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6194" y="1603482"/>
            <a:ext cx="4753949" cy="365103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3760976" name=""/>
          <p:cNvSpPr txBox="1"/>
          <p:nvPr/>
        </p:nvSpPr>
        <p:spPr bwMode="auto">
          <a:xfrm rot="0" flipH="0" flipV="0">
            <a:off x="1995817" y="5404298"/>
            <a:ext cx="793613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Fabrication d'épingles, "Encyclopédie" de </a:t>
            </a:r>
            <a:r>
              <a:rPr sz="1200" i="1">
                <a:latin typeface="IBM Plex Sans"/>
              </a:rPr>
              <a:t>Diderot et d'Alambert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384138" name=""/>
          <p:cNvSpPr txBox="1"/>
          <p:nvPr/>
        </p:nvSpPr>
        <p:spPr bwMode="auto">
          <a:xfrm rot="0" flipH="0" flipV="0">
            <a:off x="3603161" y="5856661"/>
            <a:ext cx="500206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Portrait d'Adam Smith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86001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8707" y="1087128"/>
            <a:ext cx="3130615" cy="468374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58872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05457" y="694032"/>
            <a:ext cx="2996114" cy="497767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07906865" name=""/>
          <p:cNvSpPr txBox="1"/>
          <p:nvPr/>
        </p:nvSpPr>
        <p:spPr bwMode="auto">
          <a:xfrm rot="0" flipH="0" flipV="0">
            <a:off x="2581928" y="5780153"/>
            <a:ext cx="71527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Marquis d'Argenson, "Journal </a:t>
            </a:r>
            <a:r>
              <a:rPr sz="1200" i="1">
                <a:latin typeface="IBM Plex Sans"/>
              </a:rPr>
              <a:t>et mémoires"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15157" name=""/>
          <p:cNvSpPr txBox="1"/>
          <p:nvPr/>
        </p:nvSpPr>
        <p:spPr bwMode="auto">
          <a:xfrm rot="0" flipH="0" flipV="0">
            <a:off x="2665543" y="5405847"/>
            <a:ext cx="63901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Benoît Malbranque, "Vincent </a:t>
            </a:r>
            <a:r>
              <a:rPr sz="1200" i="1">
                <a:latin typeface="IBM Plex Sans"/>
              </a:rPr>
              <a:t>de Gournay"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2114462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2248" y="652462"/>
            <a:ext cx="3134857" cy="4669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1834184" name=""/>
          <p:cNvPicPr>
            <a:picLocks noChangeAspect="1"/>
          </p:cNvPicPr>
          <p:nvPr/>
        </p:nvPicPr>
        <p:blipFill>
          <a:blip r:embed="rId3"/>
          <a:srcRect l="8172" t="6465" r="7019" b="5123"/>
          <a:stretch/>
        </p:blipFill>
        <p:spPr bwMode="auto">
          <a:xfrm flipH="0" flipV="0">
            <a:off x="8114488" y="1272334"/>
            <a:ext cx="3028949" cy="431333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4667875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30165" y="1268260"/>
            <a:ext cx="2593733" cy="432147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9312451" name=""/>
          <p:cNvSpPr txBox="1"/>
          <p:nvPr/>
        </p:nvSpPr>
        <p:spPr bwMode="auto">
          <a:xfrm rot="0" flipH="0" flipV="0">
            <a:off x="943947" y="5700709"/>
            <a:ext cx="28307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Un traité sur le commerce Josiah Child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43681071" name=""/>
          <p:cNvSpPr txBox="1"/>
          <p:nvPr/>
        </p:nvSpPr>
        <p:spPr bwMode="auto">
          <a:xfrm rot="0" flipH="0" flipV="0">
            <a:off x="4406834" y="5700709"/>
            <a:ext cx="3068379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Texte daté </a:t>
            </a:r>
            <a:r>
              <a:rPr sz="1200" i="1">
                <a:latin typeface="IBM Plex Sans"/>
              </a:rPr>
              <a:t>du 26 </a:t>
            </a:r>
            <a:r>
              <a:rPr sz="1200" i="1">
                <a:latin typeface="IBM Plex Sans"/>
              </a:rPr>
              <a:t>juin 1715, </a:t>
            </a:r>
            <a:r>
              <a:rPr sz="1200" i="1">
                <a:latin typeface="IBM Plex Sans"/>
              </a:rPr>
              <a:t>écrit par </a:t>
            </a:r>
            <a:r>
              <a:rPr sz="1200" i="1">
                <a:latin typeface="IBM Plex Sans"/>
              </a:rPr>
              <a:t>M. de </a:t>
            </a:r>
            <a:r>
              <a:rPr sz="1200" i="1">
                <a:latin typeface="IBM Plex Sans"/>
              </a:rPr>
              <a:t>Gourgan, marchand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314446454" name=""/>
          <p:cNvSpPr txBox="1"/>
          <p:nvPr/>
        </p:nvSpPr>
        <p:spPr bwMode="auto">
          <a:xfrm rot="0" flipH="0" flipV="0">
            <a:off x="8114486" y="5700709"/>
            <a:ext cx="303362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Rapport officiel sur </a:t>
            </a:r>
            <a:r>
              <a:rPr sz="1200" i="1">
                <a:latin typeface="IBM Plex Sans"/>
              </a:rPr>
              <a:t>la Compagnie </a:t>
            </a:r>
            <a:r>
              <a:rPr sz="1200" i="1">
                <a:latin typeface="IBM Plex Sans"/>
              </a:rPr>
              <a:t>des Indes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89967434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943946" y="1272333"/>
            <a:ext cx="2836271" cy="438006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684048" name=""/>
          <p:cNvSpPr txBox="1"/>
          <p:nvPr/>
        </p:nvSpPr>
        <p:spPr bwMode="auto">
          <a:xfrm rot="0" flipH="0" flipV="0">
            <a:off x="3835793" y="6264950"/>
            <a:ext cx="45218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Portrait </a:t>
            </a:r>
            <a:r>
              <a:rPr sz="1200" i="1">
                <a:latin typeface="IBM Plex Sans"/>
              </a:rPr>
              <a:t>de </a:t>
            </a: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701614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372775" name=""/>
          <p:cNvSpPr txBox="1"/>
          <p:nvPr/>
        </p:nvSpPr>
        <p:spPr bwMode="auto">
          <a:xfrm rot="0" flipH="0" flipV="0">
            <a:off x="4377884" y="4975233"/>
            <a:ext cx="314053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Le cercle de Vincent de Gournay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20413162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28722" y="1583530"/>
            <a:ext cx="3238499" cy="3238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931849" name=""/>
          <p:cNvSpPr txBox="1"/>
          <p:nvPr/>
        </p:nvSpPr>
        <p:spPr bwMode="auto">
          <a:xfrm rot="0" flipH="0" flipV="0">
            <a:off x="3858603" y="5796081"/>
            <a:ext cx="43624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Portrait de David Hume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017320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974522" y="450272"/>
            <a:ext cx="3933824" cy="5238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56153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536404" y="1624490"/>
            <a:ext cx="4096724" cy="36090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285544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28898" y="1585474"/>
            <a:ext cx="2266949" cy="368705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05059592" name=""/>
          <p:cNvSpPr txBox="1"/>
          <p:nvPr/>
        </p:nvSpPr>
        <p:spPr bwMode="auto">
          <a:xfrm rot="0" flipH="0" flipV="0">
            <a:off x="5553459" y="5339678"/>
            <a:ext cx="408578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Abbé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"La Noblesse commerçante</a:t>
            </a:r>
          </a:p>
          <a:p>
            <a:pPr algn="ctr"/>
          </a:p>
        </p:txBody>
      </p:sp>
      <p:sp>
        <p:nvSpPr>
          <p:cNvPr id="370785627" name=""/>
          <p:cNvSpPr txBox="1"/>
          <p:nvPr/>
        </p:nvSpPr>
        <p:spPr bwMode="auto">
          <a:xfrm rot="0" flipH="0" flipV="0">
            <a:off x="2563537" y="5339679"/>
            <a:ext cx="23582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Essai sur la politique générale des grains (1755)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78726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83634" y="1270081"/>
            <a:ext cx="2534625" cy="43178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9872120" name=""/>
          <p:cNvSpPr txBox="1"/>
          <p:nvPr/>
        </p:nvSpPr>
        <p:spPr bwMode="auto">
          <a:xfrm rot="0" flipH="0" flipV="0">
            <a:off x="4168710" y="5648629"/>
            <a:ext cx="356555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Cantillon, "Essai sur la nature du commerce"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5949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62000" y="1075212"/>
            <a:ext cx="2867999" cy="4707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20654627" name=""/>
          <p:cNvSpPr/>
          <p:nvPr/>
        </p:nvSpPr>
        <p:spPr bwMode="auto">
          <a:xfrm flipH="0" flipV="0">
            <a:off x="3348292" y="5831958"/>
            <a:ext cx="5495414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Étude sur l'édition économique en France, 1566-1789.</a:t>
            </a:r>
            <a:endParaRPr sz="1200" b="0" i="1" u="non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410853" name=""/>
          <p:cNvSpPr txBox="1"/>
          <p:nvPr/>
        </p:nvSpPr>
        <p:spPr bwMode="auto">
          <a:xfrm rot="0" flipH="0" flipV="0">
            <a:off x="4195163" y="5594311"/>
            <a:ext cx="381834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Abbé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Coyer, </a:t>
            </a:r>
            <a:r>
              <a:rPr sz="1200" i="1">
                <a:latin typeface="IBM Plex Sans"/>
              </a:rPr>
              <a:t>"Chinki"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209819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60093" y="1364871"/>
            <a:ext cx="2692031" cy="4033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30509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53430" y="1731168"/>
            <a:ext cx="5389710" cy="33956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0748387" name=""/>
          <p:cNvSpPr/>
          <p:nvPr/>
        </p:nvSpPr>
        <p:spPr bwMode="auto">
          <a:xfrm flipH="0" flipV="0">
            <a:off x="3201327" y="5198765"/>
            <a:ext cx="5494276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0" u="none">
                <a:solidFill>
                  <a:srgbClr val="000000"/>
                </a:solidFill>
                <a:latin typeface="IBM Plex Sans"/>
              </a:rPr>
              <a:t>Débat aux États généraux, France, 1789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62542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4294" y="1181099"/>
            <a:ext cx="3283887" cy="44957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85771579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534744" y="1174446"/>
            <a:ext cx="2525099" cy="450910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5753349" name=""/>
          <p:cNvSpPr txBox="1"/>
          <p:nvPr/>
        </p:nvSpPr>
        <p:spPr bwMode="auto">
          <a:xfrm rot="0" flipH="0" flipV="0">
            <a:off x="2934291" y="5764453"/>
            <a:ext cx="328532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Portrait de Mirabeau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15953704" name=""/>
          <p:cNvSpPr txBox="1"/>
          <p:nvPr/>
        </p:nvSpPr>
        <p:spPr bwMode="auto">
          <a:xfrm rot="0" flipH="0" flipV="0">
            <a:off x="6621444" y="5779872"/>
            <a:ext cx="242854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"L'ami </a:t>
            </a:r>
            <a:r>
              <a:rPr sz="1200" i="1">
                <a:latin typeface="IBM Plex Sans"/>
              </a:rPr>
              <a:t>des hommes"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54028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14045" y="945558"/>
            <a:ext cx="2915624" cy="49668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02008907" name=""/>
          <p:cNvSpPr txBox="1"/>
          <p:nvPr/>
        </p:nvSpPr>
        <p:spPr bwMode="auto">
          <a:xfrm rot="0" flipH="0" flipV="0">
            <a:off x="4198474" y="6103737"/>
            <a:ext cx="3747483" cy="792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Richard Cantillon, "Essai sur la nature du commerce"</a:t>
            </a:r>
            <a:endParaRPr sz="14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84563" name=""/>
          <p:cNvSpPr txBox="1"/>
          <p:nvPr/>
        </p:nvSpPr>
        <p:spPr bwMode="auto">
          <a:xfrm rot="0" flipH="0" flipV="0">
            <a:off x="4271145" y="5490666"/>
            <a:ext cx="3262515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Doctrines économiques et sociales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du marquis de Mirabeau</a:t>
            </a:r>
          </a:p>
          <a:p>
            <a:pPr algn="ctr"/>
          </a:p>
        </p:txBody>
      </p:sp>
      <p:pic>
        <p:nvPicPr>
          <p:cNvPr id="14056131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71146" y="503216"/>
            <a:ext cx="3323358" cy="4902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544032" name=""/>
          <p:cNvSpPr txBox="1"/>
          <p:nvPr/>
        </p:nvSpPr>
        <p:spPr bwMode="auto">
          <a:xfrm rot="0" flipH="0" flipV="0">
            <a:off x="4700094" y="5539107"/>
            <a:ext cx="283120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525270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00455" y="1390186"/>
            <a:ext cx="2830129" cy="4077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6008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43648" y="1368701"/>
            <a:ext cx="2658449" cy="412059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7309764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67061" y="1370527"/>
            <a:ext cx="2739412" cy="411694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47843350" name=""/>
          <p:cNvSpPr txBox="1"/>
          <p:nvPr/>
        </p:nvSpPr>
        <p:spPr bwMode="auto">
          <a:xfrm rot="0" flipH="0" flipV="0">
            <a:off x="6335100" y="5620965"/>
            <a:ext cx="27897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Samuel Dupont de Nemours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80957488" name=""/>
          <p:cNvSpPr txBox="1"/>
          <p:nvPr/>
        </p:nvSpPr>
        <p:spPr bwMode="auto">
          <a:xfrm rot="0" flipH="0" flipV="0">
            <a:off x="3172797" y="5620964"/>
            <a:ext cx="27397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"Théorie </a:t>
            </a:r>
            <a:r>
              <a:rPr sz="1200" i="1">
                <a:latin typeface="IBM Plex Sans"/>
              </a:rPr>
              <a:t>de l'impôt"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023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398181" y="1566404"/>
            <a:ext cx="2264278" cy="3423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23672778" name=""/>
          <p:cNvSpPr txBox="1"/>
          <p:nvPr/>
        </p:nvSpPr>
        <p:spPr bwMode="auto">
          <a:xfrm rot="0" flipH="0" flipV="0">
            <a:off x="7351488" y="5146176"/>
            <a:ext cx="2143511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Tableau économique de François Quesnay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909772607" name=""/>
          <p:cNvSpPr txBox="1"/>
          <p:nvPr/>
        </p:nvSpPr>
        <p:spPr bwMode="auto">
          <a:xfrm rot="0" flipH="0" flipV="0">
            <a:off x="3370627" y="5084856"/>
            <a:ext cx="23526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66037319" name=""/>
          <p:cNvPicPr>
            <a:picLocks noChangeAspect="1"/>
          </p:cNvPicPr>
          <p:nvPr/>
        </p:nvPicPr>
        <p:blipFill>
          <a:blip r:embed="rId4"/>
          <a:srcRect l="16910" t="0" r="23944" b="0"/>
          <a:stretch/>
        </p:blipFill>
        <p:spPr bwMode="auto">
          <a:xfrm flipH="0" flipV="0">
            <a:off x="2510051" y="1579616"/>
            <a:ext cx="4455175" cy="340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766573" name=""/>
          <p:cNvSpPr txBox="1"/>
          <p:nvPr/>
        </p:nvSpPr>
        <p:spPr bwMode="auto">
          <a:xfrm rot="0" flipH="0" flipV="0">
            <a:off x="4680035" y="5021432"/>
            <a:ext cx="28319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14998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1047749"/>
            <a:ext cx="7619999" cy="388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8073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6072" y="2114549"/>
            <a:ext cx="3505199" cy="26289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3151826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135941" y="2114892"/>
            <a:ext cx="1748812" cy="262821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70515060" name=""/>
          <p:cNvSpPr txBox="1"/>
          <p:nvPr/>
        </p:nvSpPr>
        <p:spPr bwMode="auto">
          <a:xfrm rot="0" flipH="0" flipV="0">
            <a:off x="2886071" y="4867597"/>
            <a:ext cx="3506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Encyclopédie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86248363" name=""/>
          <p:cNvSpPr txBox="1"/>
          <p:nvPr/>
        </p:nvSpPr>
        <p:spPr bwMode="auto">
          <a:xfrm rot="0" flipH="0" flipV="0">
            <a:off x="6910167" y="4867596"/>
            <a:ext cx="220503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</a:t>
            </a:r>
            <a:r>
              <a:rPr sz="1200" i="1">
                <a:latin typeface="IBM Plex Sans"/>
              </a:rPr>
              <a:t>Nemours,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"Théorie de la fiscalité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80787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11500" y="2009775"/>
            <a:ext cx="1759837" cy="2838449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pic>
        <p:nvPicPr>
          <p:cNvPr id="152948803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93925" y="2009775"/>
            <a:ext cx="1633080" cy="283844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44813895" name=""/>
          <p:cNvSpPr txBox="1"/>
          <p:nvPr/>
        </p:nvSpPr>
        <p:spPr bwMode="auto">
          <a:xfrm rot="0" flipH="0" flipV="0">
            <a:off x="3528747" y="5037696"/>
            <a:ext cx="214600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"Physiocratie", recueil d'articles de Quesnay, 1768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745085485" name=""/>
          <p:cNvSpPr txBox="1"/>
          <p:nvPr/>
        </p:nvSpPr>
        <p:spPr bwMode="auto">
          <a:xfrm rot="0" flipH="0" flipV="0">
            <a:off x="5924880" y="5037696"/>
            <a:ext cx="260665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"Ephémérides du Citoyen", journal officiel des Physiocrates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2732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3861" y="1793817"/>
            <a:ext cx="1915499" cy="32703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4835461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33797" y="1793111"/>
            <a:ext cx="2239349" cy="327177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12686710" name=""/>
          <p:cNvSpPr txBox="1"/>
          <p:nvPr/>
        </p:nvSpPr>
        <p:spPr bwMode="auto">
          <a:xfrm rot="0" flipH="0" flipV="0">
            <a:off x="3733795" y="5208854"/>
            <a:ext cx="2279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Boisguilbert, "Détail de </a:t>
            </a:r>
            <a:r>
              <a:rPr sz="1200" i="1">
                <a:latin typeface="IBM Plex Sans"/>
              </a:rPr>
              <a:t>la France"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1700346691" name=""/>
          <p:cNvSpPr txBox="1"/>
          <p:nvPr/>
        </p:nvSpPr>
        <p:spPr bwMode="auto">
          <a:xfrm rot="0" flipH="0" flipV="0">
            <a:off x="6341599" y="5208854"/>
            <a:ext cx="210351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Cantillon, "Essai sur la </a:t>
            </a:r>
            <a:r>
              <a:rPr sz="1200" i="1">
                <a:latin typeface="IBM Plex Sans"/>
              </a:rPr>
              <a:t>nature du commerce"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3616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860655" y="1660733"/>
            <a:ext cx="1864370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8290357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933807" y="1679835"/>
            <a:ext cx="1875477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19236334" name=""/>
          <p:cNvSpPr txBox="1"/>
          <p:nvPr/>
        </p:nvSpPr>
        <p:spPr bwMode="auto">
          <a:xfrm rot="0" flipH="0" flipV="0">
            <a:off x="2919485" y="4592245"/>
            <a:ext cx="14348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722751012" name=""/>
          <p:cNvSpPr txBox="1"/>
          <p:nvPr/>
        </p:nvSpPr>
        <p:spPr bwMode="auto">
          <a:xfrm rot="0" flipH="0" flipV="0">
            <a:off x="4965435" y="4592245"/>
            <a:ext cx="151934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Le tableau économique de Quesnay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724211289" name=""/>
          <p:cNvSpPr txBox="1"/>
          <p:nvPr/>
        </p:nvSpPr>
        <p:spPr bwMode="auto">
          <a:xfrm rot="0" flipH="0" flipV="0">
            <a:off x="7107106" y="4592243"/>
            <a:ext cx="153498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Mirabeau, "Théorie </a:t>
            </a:r>
            <a:r>
              <a:rPr sz="1200" i="1">
                <a:latin typeface="IBM Plex Sans"/>
              </a:rPr>
              <a:t>de la </a:t>
            </a:r>
            <a:r>
              <a:rPr sz="1200" i="1">
                <a:latin typeface="IBM Plex Sans"/>
              </a:rPr>
              <a:t>fiscalité"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pic>
        <p:nvPicPr>
          <p:cNvPr id="25218133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2763468" y="1679835"/>
            <a:ext cx="1929755" cy="2780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63288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84152" y="1486932"/>
            <a:ext cx="2806086" cy="3884132"/>
          </a:xfrm>
          <a:prstGeom prst="rect">
            <a:avLst/>
          </a:prstGeom>
        </p:spPr>
      </p:pic>
      <p:sp>
        <p:nvSpPr>
          <p:cNvPr id="613925283" name=""/>
          <p:cNvSpPr txBox="1"/>
          <p:nvPr/>
        </p:nvSpPr>
        <p:spPr bwMode="auto">
          <a:xfrm rot="0" flipH="0" flipV="0">
            <a:off x="4744422" y="5481361"/>
            <a:ext cx="28898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Marquis de Pompadour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18455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09231" y="1707567"/>
            <a:ext cx="2134574" cy="3442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13662740" name=""/>
          <p:cNvSpPr/>
          <p:nvPr/>
        </p:nvSpPr>
        <p:spPr bwMode="auto">
          <a:xfrm>
            <a:off x="3455440" y="5345761"/>
            <a:ext cx="5442512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Ephémérides du Citoyen, journal officiel des Physiocrates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791806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4097" y="2700453"/>
            <a:ext cx="7363800" cy="14570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67580663" name=""/>
          <p:cNvSpPr txBox="1"/>
          <p:nvPr/>
        </p:nvSpPr>
        <p:spPr bwMode="auto">
          <a:xfrm rot="0" flipH="0" flipV="0">
            <a:off x="2414097" y="4321262"/>
            <a:ext cx="736559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Les économistes du siècle des Lumières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037205" name=""/>
          <p:cNvSpPr txBox="1"/>
          <p:nvPr/>
        </p:nvSpPr>
        <p:spPr bwMode="auto">
          <a:xfrm rot="0" flipH="0" flipV="0">
            <a:off x="4885688" y="5464638"/>
            <a:ext cx="2421338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Physiocratie, recueil d'articles </a:t>
            </a:r>
            <a:r>
              <a:rPr sz="1200" i="1">
                <a:latin typeface="IBM Plex Sans"/>
              </a:rPr>
              <a:t>de Quesnay, 1768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1409527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28568" y="238124"/>
            <a:ext cx="2934862" cy="5118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567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013" y="1452562"/>
            <a:ext cx="5391973" cy="310038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29465082" name=""/>
          <p:cNvSpPr txBox="1"/>
          <p:nvPr/>
        </p:nvSpPr>
        <p:spPr bwMode="auto">
          <a:xfrm rot="0" flipH="0" flipV="0">
            <a:off x="4175568" y="4661019"/>
            <a:ext cx="36198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Jean-François Millet, </a:t>
            </a:r>
            <a:r>
              <a:rPr sz="1200" i="1">
                <a:latin typeface="IBM Plex Sans"/>
              </a:rPr>
              <a:t>"Paysans"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317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2302" y="1485003"/>
            <a:ext cx="2353649" cy="388799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49110283" name=""/>
          <p:cNvSpPr txBox="1"/>
          <p:nvPr/>
        </p:nvSpPr>
        <p:spPr bwMode="auto">
          <a:xfrm rot="0" flipH="0" flipV="0">
            <a:off x="4897965" y="5483745"/>
            <a:ext cx="252339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Tocqueville, "L'ancien régime et la révolution"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191295" name=""/>
          <p:cNvSpPr txBox="1"/>
          <p:nvPr/>
        </p:nvSpPr>
        <p:spPr bwMode="auto">
          <a:xfrm rot="0" flipH="0" flipV="0">
            <a:off x="3767247" y="6455965"/>
            <a:ext cx="465894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Louis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756564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67247" y="155951"/>
            <a:ext cx="4657503" cy="6234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824030" name=""/>
          <p:cNvSpPr txBox="1"/>
          <p:nvPr/>
        </p:nvSpPr>
        <p:spPr bwMode="auto">
          <a:xfrm rot="0" flipH="0" flipV="0">
            <a:off x="4375075" y="6245419"/>
            <a:ext cx="344544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Millet, </a:t>
            </a:r>
            <a:r>
              <a:rPr sz="1200" i="1">
                <a:latin typeface="IBM Plex Sans"/>
              </a:rPr>
              <a:t>"Angelus"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854537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08933" y="74217"/>
            <a:ext cx="7374133" cy="5974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63429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67725" y="2207417"/>
            <a:ext cx="3857625" cy="24431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35728965" name=""/>
          <p:cNvSpPr txBox="1"/>
          <p:nvPr/>
        </p:nvSpPr>
        <p:spPr bwMode="auto">
          <a:xfrm rot="0" flipH="0" flipV="0">
            <a:off x="4167183" y="4754975"/>
            <a:ext cx="38590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Le port de Bordeaux au XVIIIe siècle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005189" name=""/>
          <p:cNvSpPr/>
          <p:nvPr/>
        </p:nvSpPr>
        <p:spPr bwMode="auto">
          <a:xfrm rot="0" flipH="0" flipV="0">
            <a:off x="4500680" y="1709736"/>
            <a:ext cx="2819399" cy="34385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pic>
        <p:nvPicPr>
          <p:cNvPr id="11033591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69274" y="1935605"/>
            <a:ext cx="2282212" cy="2986787"/>
          </a:xfrm>
          <a:prstGeom prst="ellipse">
            <a:avLst/>
          </a:prstGeom>
        </p:spPr>
      </p:pic>
      <p:sp>
        <p:nvSpPr>
          <p:cNvPr id="1975454646" name=""/>
          <p:cNvSpPr txBox="1"/>
          <p:nvPr/>
        </p:nvSpPr>
        <p:spPr bwMode="auto">
          <a:xfrm rot="0" flipH="0" flipV="0">
            <a:off x="3046587" y="5250471"/>
            <a:ext cx="58953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Charles Frederick, "Grand Duc de Bade"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51322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8550" y="1695598"/>
            <a:ext cx="2782274" cy="3466802"/>
          </a:xfrm>
          <a:prstGeom prst="rect">
            <a:avLst/>
          </a:prstGeom>
        </p:spPr>
      </p:pic>
      <p:pic>
        <p:nvPicPr>
          <p:cNvPr id="4903690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37087" y="1707856"/>
            <a:ext cx="2429848" cy="3442287"/>
          </a:xfrm>
          <a:prstGeom prst="rect">
            <a:avLst/>
          </a:prstGeom>
        </p:spPr>
      </p:pic>
      <p:sp>
        <p:nvSpPr>
          <p:cNvPr id="1569786394" name=""/>
          <p:cNvSpPr txBox="1"/>
          <p:nvPr/>
        </p:nvSpPr>
        <p:spPr bwMode="auto">
          <a:xfrm rot="0" flipH="0" flipV="0">
            <a:off x="2709049" y="5318191"/>
            <a:ext cx="271625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Catherine II </a:t>
            </a:r>
            <a:r>
              <a:rPr sz="1200" i="1">
                <a:latin typeface="IBM Plex Sans"/>
              </a:rPr>
              <a:t>de Russie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01207350" name=""/>
          <p:cNvSpPr txBox="1"/>
          <p:nvPr/>
        </p:nvSpPr>
        <p:spPr bwMode="auto">
          <a:xfrm rot="0" flipH="0" flipV="0">
            <a:off x="6003187" y="5318190"/>
            <a:ext cx="287497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Mercier de la Rivière, </a:t>
            </a:r>
            <a:r>
              <a:rPr sz="1200" i="1">
                <a:latin typeface="IBM Plex Sans"/>
              </a:rPr>
              <a:t>"L'ordre naturel et essentiel </a:t>
            </a:r>
            <a:r>
              <a:rPr sz="1200" i="1">
                <a:latin typeface="IBM Plex Sans"/>
              </a:rPr>
              <a:t>des sociétés politiques"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039365" name=""/>
          <p:cNvSpPr txBox="1"/>
          <p:nvPr/>
        </p:nvSpPr>
        <p:spPr bwMode="auto">
          <a:xfrm rot="0" flipH="0" flipV="0">
            <a:off x="4992105" y="6377725"/>
            <a:ext cx="22077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Portrait de 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32301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032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99997" y="1810262"/>
            <a:ext cx="4030049" cy="3237473"/>
          </a:xfrm>
          <a:prstGeom prst="rect">
            <a:avLst/>
          </a:prstGeom>
        </p:spPr>
      </p:pic>
      <p:sp>
        <p:nvSpPr>
          <p:cNvPr id="1676668344" name=""/>
          <p:cNvSpPr txBox="1"/>
          <p:nvPr/>
        </p:nvSpPr>
        <p:spPr bwMode="auto">
          <a:xfrm rot="0" flipH="0" flipV="0">
            <a:off x="3983837" y="5047732"/>
            <a:ext cx="394728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Édit royal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6309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20787" y="1912142"/>
            <a:ext cx="4823791" cy="303371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39665588" name=""/>
          <p:cNvSpPr txBox="1"/>
          <p:nvPr/>
        </p:nvSpPr>
        <p:spPr bwMode="auto">
          <a:xfrm rot="0" flipH="0" flipV="0">
            <a:off x="1951167" y="5079618"/>
            <a:ext cx="796698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Convocation des États généraux à Versailles en 1789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6209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8803" y="1963800"/>
            <a:ext cx="1953599" cy="29303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8891590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812035" y="1963544"/>
            <a:ext cx="3539512" cy="293090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08882711" name=""/>
          <p:cNvSpPr txBox="1"/>
          <p:nvPr/>
        </p:nvSpPr>
        <p:spPr bwMode="auto">
          <a:xfrm rot="0" flipH="0" flipV="0">
            <a:off x="5812032" y="4954842"/>
            <a:ext cx="35972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Smith, "La richesse des nations"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951186138" name=""/>
          <p:cNvSpPr txBox="1"/>
          <p:nvPr/>
        </p:nvSpPr>
        <p:spPr bwMode="auto">
          <a:xfrm rot="0" flipH="0" flipV="0">
            <a:off x="2522120" y="4954842"/>
            <a:ext cx="249670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Rambaud, "Histoire des doctrines économiques"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4246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39348" y="2713018"/>
            <a:ext cx="4675799" cy="1431963"/>
          </a:xfrm>
          <a:prstGeom prst="rect">
            <a:avLst/>
          </a:prstGeom>
        </p:spPr>
      </p:pic>
      <p:pic>
        <p:nvPicPr>
          <p:cNvPr id="197757799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582873" y="2106888"/>
            <a:ext cx="1705950" cy="264422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32325847" name=""/>
          <p:cNvSpPr txBox="1"/>
          <p:nvPr/>
        </p:nvSpPr>
        <p:spPr bwMode="auto">
          <a:xfrm rot="0" flipH="0" flipV="0">
            <a:off x="2239346" y="4940495"/>
            <a:ext cx="4416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Entreprise Dupont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60237828" name=""/>
          <p:cNvSpPr txBox="1"/>
          <p:nvPr/>
        </p:nvSpPr>
        <p:spPr bwMode="auto">
          <a:xfrm rot="0" flipH="0" flipV="0">
            <a:off x="7434045" y="4940495"/>
            <a:ext cx="20042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Dupont de Nemours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49743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11319" y="1589667"/>
            <a:ext cx="2687024" cy="36786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6891255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695638" y="1589667"/>
            <a:ext cx="2493776" cy="367866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34201921" name=""/>
          <p:cNvSpPr txBox="1"/>
          <p:nvPr/>
        </p:nvSpPr>
        <p:spPr bwMode="auto">
          <a:xfrm rot="0" flipH="0" flipV="0">
            <a:off x="3111318" y="5377396"/>
            <a:ext cx="26888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Marquis de Mirabeau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3617164" name=""/>
          <p:cNvSpPr txBox="1"/>
          <p:nvPr/>
        </p:nvSpPr>
        <p:spPr bwMode="auto">
          <a:xfrm rot="0" flipH="0" flipV="0">
            <a:off x="6288937" y="5377395"/>
            <a:ext cx="333446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Revue de l'agriculture, du commerce </a:t>
            </a:r>
            <a:r>
              <a:rPr sz="1200" i="1">
                <a:latin typeface="IBM Plex Sans"/>
              </a:rPr>
              <a:t>et de la finance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3667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2349" y="1976419"/>
            <a:ext cx="1801199" cy="2905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84698254" name=""/>
          <p:cNvSpPr txBox="1"/>
          <p:nvPr/>
        </p:nvSpPr>
        <p:spPr bwMode="auto">
          <a:xfrm rot="0" flipH="0" flipV="0">
            <a:off x="3410044" y="5021555"/>
            <a:ext cx="23473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303337923" name=""/>
          <p:cNvSpPr txBox="1"/>
          <p:nvPr/>
        </p:nvSpPr>
        <p:spPr bwMode="auto">
          <a:xfrm rot="0" flipH="0" flipV="0">
            <a:off x="6279189" y="5021555"/>
            <a:ext cx="2947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Journal des Physiocrates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973898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39899" y="1956995"/>
            <a:ext cx="2029848" cy="2924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867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260304" y="1961006"/>
            <a:ext cx="2382224" cy="2935987"/>
          </a:xfrm>
          <a:prstGeom prst="rect">
            <a:avLst/>
          </a:prstGeom>
        </p:spPr>
      </p:pic>
      <p:pic>
        <p:nvPicPr>
          <p:cNvPr id="10758408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20107" y="1871949"/>
            <a:ext cx="1791674" cy="311410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3655940" name=""/>
          <p:cNvSpPr txBox="1"/>
          <p:nvPr/>
        </p:nvSpPr>
        <p:spPr bwMode="auto">
          <a:xfrm rot="0" flipH="0" flipV="0">
            <a:off x="6260302" y="5139094"/>
            <a:ext cx="26124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67983262" name=""/>
          <p:cNvSpPr txBox="1"/>
          <p:nvPr/>
        </p:nvSpPr>
        <p:spPr bwMode="auto">
          <a:xfrm rot="0" flipH="0" flipV="0">
            <a:off x="3529984" y="5139094"/>
            <a:ext cx="2217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Physiocratie, recueil de textes de Quesnay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76584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224116" y="2185987"/>
            <a:ext cx="1457325" cy="24860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1418206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08658" y="2171700"/>
            <a:ext cx="3826564" cy="25145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85118426" name=""/>
          <p:cNvSpPr txBox="1"/>
          <p:nvPr/>
        </p:nvSpPr>
        <p:spPr bwMode="auto">
          <a:xfrm rot="0" flipH="0" flipV="0">
            <a:off x="6807290" y="4826385"/>
            <a:ext cx="236492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Schumpeter, "Histoire de l'analyse économique"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96497960" name=""/>
          <p:cNvSpPr txBox="1"/>
          <p:nvPr/>
        </p:nvSpPr>
        <p:spPr bwMode="auto">
          <a:xfrm rot="0" flipH="0" flipV="0">
            <a:off x="2608656" y="4797810"/>
            <a:ext cx="37790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Prise du palais </a:t>
            </a:r>
            <a:r>
              <a:rPr sz="1200" i="1">
                <a:latin typeface="IBM Plex Sans"/>
              </a:rPr>
              <a:t>des Tuileries </a:t>
            </a:r>
            <a:r>
              <a:rPr sz="1200" i="1">
                <a:latin typeface="IBM Plex Sans"/>
              </a:rPr>
              <a:t>en 1792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6949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37449" y="2278856"/>
            <a:ext cx="3067049" cy="230028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73402254" name=""/>
          <p:cNvSpPr txBox="1"/>
          <p:nvPr/>
        </p:nvSpPr>
        <p:spPr bwMode="auto">
          <a:xfrm rot="0" flipH="0" flipV="0">
            <a:off x="2792912" y="4705618"/>
            <a:ext cx="22104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0094749" name=""/>
          <p:cNvSpPr txBox="1"/>
          <p:nvPr/>
        </p:nvSpPr>
        <p:spPr bwMode="auto">
          <a:xfrm rot="0" flipH="0" flipV="0">
            <a:off x="5637448" y="4705618"/>
            <a:ext cx="30684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Encyclopédie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4405785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925968" y="1471611"/>
            <a:ext cx="2077074" cy="310753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755822" name=""/>
          <p:cNvSpPr txBox="1"/>
          <p:nvPr/>
        </p:nvSpPr>
        <p:spPr bwMode="auto">
          <a:xfrm rot="0" flipH="0" flipV="0">
            <a:off x="4418876" y="5714403"/>
            <a:ext cx="31590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Denis Diderot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132497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20318" y="1335739"/>
            <a:ext cx="3157274" cy="41865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5405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05473" y="1759888"/>
            <a:ext cx="3885163" cy="333822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0985377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899130" y="1776701"/>
            <a:ext cx="2048849" cy="330459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61521615" name=""/>
          <p:cNvSpPr txBox="1"/>
          <p:nvPr/>
        </p:nvSpPr>
        <p:spPr bwMode="auto">
          <a:xfrm rot="0" flipH="0" flipV="0">
            <a:off x="5705471" y="5156323"/>
            <a:ext cx="3886601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Dialogue sur le commerce du blé, par Galiani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2022602657" name=""/>
          <p:cNvSpPr txBox="1"/>
          <p:nvPr/>
        </p:nvSpPr>
        <p:spPr bwMode="auto">
          <a:xfrm rot="0" flipH="0" flipV="0">
            <a:off x="2899128" y="5156323"/>
            <a:ext cx="20510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Ephémérides du citoyen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951579" name=""/>
          <p:cNvSpPr txBox="1"/>
          <p:nvPr/>
        </p:nvSpPr>
        <p:spPr bwMode="auto">
          <a:xfrm rot="0" flipH="0" flipV="0">
            <a:off x="4900562" y="6188518"/>
            <a:ext cx="23908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Voltaire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274060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3366" y="333374"/>
            <a:ext cx="4805267" cy="5825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52909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938712" y="1943100"/>
            <a:ext cx="2314575" cy="29718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0905046" name=""/>
          <p:cNvSpPr txBox="1"/>
          <p:nvPr/>
        </p:nvSpPr>
        <p:spPr bwMode="auto">
          <a:xfrm rot="0" flipH="0" flipV="0">
            <a:off x="3023827" y="4971506"/>
            <a:ext cx="614434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Voltaire, "L'homme aux </a:t>
            </a:r>
            <a:r>
              <a:rPr sz="1200" i="1">
                <a:latin typeface="IBM Plex Sans"/>
              </a:rPr>
              <a:t>quarante écus"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62218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34922" y="2090736"/>
            <a:ext cx="2171700" cy="2676524"/>
          </a:xfrm>
          <a:prstGeom prst="rect">
            <a:avLst/>
          </a:prstGeom>
        </p:spPr>
      </p:pic>
      <p:pic>
        <p:nvPicPr>
          <p:cNvPr id="88478205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033326" y="2121937"/>
            <a:ext cx="1739921" cy="26141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208951947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784901" y="2481262"/>
            <a:ext cx="2527299" cy="18954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8385075" name=""/>
          <p:cNvSpPr txBox="1"/>
          <p:nvPr/>
        </p:nvSpPr>
        <p:spPr bwMode="auto">
          <a:xfrm rot="0" flipH="0" flipV="0">
            <a:off x="1934921" y="4951861"/>
            <a:ext cx="21735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37056160" name=""/>
          <p:cNvSpPr txBox="1"/>
          <p:nvPr/>
        </p:nvSpPr>
        <p:spPr bwMode="auto">
          <a:xfrm rot="0" flipH="0" flipV="0">
            <a:off x="4792734" y="4875661"/>
            <a:ext cx="225378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Montesquieu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"L'esprit des lois</a:t>
            </a:r>
          </a:p>
          <a:p>
            <a:pPr algn="ctr"/>
          </a:p>
        </p:txBody>
      </p:sp>
      <p:sp>
        <p:nvSpPr>
          <p:cNvPr id="1043615154" name=""/>
          <p:cNvSpPr txBox="1"/>
          <p:nvPr/>
        </p:nvSpPr>
        <p:spPr bwMode="auto">
          <a:xfrm rot="0" flipH="0" flipV="0">
            <a:off x="7784901" y="4951861"/>
            <a:ext cx="25283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Encyclopédie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3475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5194" y="1780441"/>
            <a:ext cx="2296499" cy="32971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088604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76636" y="1774353"/>
            <a:ext cx="2072662" cy="33092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28704723" name=""/>
          <p:cNvSpPr txBox="1"/>
          <p:nvPr/>
        </p:nvSpPr>
        <p:spPr bwMode="auto">
          <a:xfrm rot="0" flipH="0" flipV="0">
            <a:off x="3695000" y="5191308"/>
            <a:ext cx="180365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"Éloge </a:t>
            </a:r>
            <a:r>
              <a:rPr sz="1200" i="1">
                <a:latin typeface="IBM Plex Sans"/>
              </a:rPr>
              <a:t>de Gournay"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09182822" name=""/>
          <p:cNvSpPr txBox="1"/>
          <p:nvPr/>
        </p:nvSpPr>
        <p:spPr bwMode="auto">
          <a:xfrm rot="0" flipH="0" flipV="0">
            <a:off x="5952426" y="5191308"/>
            <a:ext cx="296705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"Réflexions sur la formation et la répartition des richesses"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27999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6389" y="2025873"/>
            <a:ext cx="1848824" cy="28062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68254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00785" y="2009234"/>
            <a:ext cx="1796437" cy="2839530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sp>
        <p:nvSpPr>
          <p:cNvPr id="1438129544" name=""/>
          <p:cNvSpPr txBox="1"/>
          <p:nvPr/>
        </p:nvSpPr>
        <p:spPr bwMode="auto">
          <a:xfrm rot="0" flipH="0" flipV="0">
            <a:off x="6014176" y="5052902"/>
            <a:ext cx="251735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"Lettres sur la liberté du commerce des grains"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977429514" name=""/>
          <p:cNvSpPr txBox="1"/>
          <p:nvPr/>
        </p:nvSpPr>
        <p:spPr bwMode="auto">
          <a:xfrm rot="0" flipH="0" flipV="0">
            <a:off x="3231091" y="5052902"/>
            <a:ext cx="243980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 et Smith,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"Une étrange proximité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62808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35856" y="1786815"/>
            <a:ext cx="2120287" cy="328436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19682168" name=""/>
          <p:cNvSpPr txBox="1"/>
          <p:nvPr/>
        </p:nvSpPr>
        <p:spPr bwMode="auto">
          <a:xfrm rot="0" flipH="0" flipV="0">
            <a:off x="3297670" y="5234148"/>
            <a:ext cx="5597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Turgot, "Mémoire sur </a:t>
            </a:r>
            <a:r>
              <a:rPr sz="1200" i="1">
                <a:latin typeface="IBM Plex Sans"/>
              </a:rPr>
              <a:t>les prêts d'argent"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754858" name=""/>
          <p:cNvSpPr txBox="1"/>
          <p:nvPr/>
        </p:nvSpPr>
        <p:spPr bwMode="auto">
          <a:xfrm rot="0" flipH="0" flipV="0">
            <a:off x="4359042" y="6217345"/>
            <a:ext cx="3473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Friedrich A. Hayek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83511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24639" y="190499"/>
            <a:ext cx="4742720" cy="5976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966654" name=""/>
          <p:cNvSpPr txBox="1"/>
          <p:nvPr/>
        </p:nvSpPr>
        <p:spPr bwMode="auto">
          <a:xfrm rot="0" flipH="0" flipV="0">
            <a:off x="4813861" y="5844501"/>
            <a:ext cx="2564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84768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116798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57941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66762" y="1817717"/>
            <a:ext cx="4296749" cy="32225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887843" name=""/>
          <p:cNvSpPr txBox="1"/>
          <p:nvPr/>
        </p:nvSpPr>
        <p:spPr bwMode="auto">
          <a:xfrm rot="0" flipH="0" flipV="0">
            <a:off x="3666402" y="5150531"/>
            <a:ext cx="43025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J.F. Millet,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"Les </a:t>
            </a:r>
            <a:r>
              <a:rPr sz="1200" i="1">
                <a:latin typeface="IBM Plex Sans"/>
              </a:rPr>
              <a:t>glaneurs", </a:t>
            </a:r>
            <a:r>
              <a:rPr sz="1200" i="1">
                <a:latin typeface="IBM Plex Sans"/>
              </a:rPr>
              <a:t>1857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6822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21966" y="2214322"/>
            <a:ext cx="3191850" cy="24293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9697761" name=""/>
          <p:cNvSpPr txBox="1"/>
          <p:nvPr/>
        </p:nvSpPr>
        <p:spPr bwMode="auto">
          <a:xfrm rot="0" flipH="0" flipV="0">
            <a:off x="4323031" y="4745557"/>
            <a:ext cx="31900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La milice tire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8442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19240" y="2281237"/>
            <a:ext cx="2857500" cy="2295524"/>
          </a:xfrm>
          <a:prstGeom prst="rect">
            <a:avLst/>
          </a:prstGeom>
        </p:spPr>
      </p:pic>
      <p:pic>
        <p:nvPicPr>
          <p:cNvPr id="147133875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81881" y="2336902"/>
            <a:ext cx="2848949" cy="2184194"/>
          </a:xfrm>
          <a:prstGeom prst="rect">
            <a:avLst/>
          </a:prstGeom>
        </p:spPr>
      </p:pic>
      <p:sp>
        <p:nvSpPr>
          <p:cNvPr id="200566995" name=""/>
          <p:cNvSpPr txBox="1"/>
          <p:nvPr/>
        </p:nvSpPr>
        <p:spPr bwMode="auto">
          <a:xfrm rot="0" flipH="0" flipV="0">
            <a:off x="2365182" y="4711950"/>
            <a:ext cx="35137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Cahier de doléances du baillage de Nemours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476494168" name=""/>
          <p:cNvSpPr txBox="1"/>
          <p:nvPr/>
        </p:nvSpPr>
        <p:spPr bwMode="auto">
          <a:xfrm rot="0" flipH="0" flipV="0">
            <a:off x="6591901" y="4711950"/>
            <a:ext cx="247198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Edit du Roy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152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4598" y="1967913"/>
            <a:ext cx="2070830" cy="292217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767741" name=""/>
          <p:cNvSpPr txBox="1"/>
          <p:nvPr/>
        </p:nvSpPr>
        <p:spPr bwMode="auto">
          <a:xfrm rot="0" flipH="0" flipV="0">
            <a:off x="3441528" y="5045687"/>
            <a:ext cx="22837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Voltaire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2164138" name=""/>
          <p:cNvSpPr txBox="1"/>
          <p:nvPr/>
        </p:nvSpPr>
        <p:spPr bwMode="auto">
          <a:xfrm rot="0" flipH="0" flipV="0">
            <a:off x="6324596" y="5045687"/>
            <a:ext cx="20744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Louis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6363613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441529" y="1942157"/>
            <a:ext cx="2217996" cy="2973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8299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94625" y="1367286"/>
            <a:ext cx="3383324" cy="4123427"/>
          </a:xfrm>
          <a:prstGeom prst="rect">
            <a:avLst/>
          </a:prstGeom>
        </p:spPr>
      </p:pic>
      <p:pic>
        <p:nvPicPr>
          <p:cNvPr id="135285266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472000" y="1358237"/>
            <a:ext cx="2668446" cy="41415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723260587" name=""/>
          <p:cNvSpPr txBox="1"/>
          <p:nvPr/>
        </p:nvSpPr>
        <p:spPr bwMode="auto">
          <a:xfrm rot="0" flipH="0" flipV="0">
            <a:off x="2894625" y="5604018"/>
            <a:ext cx="33869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Michel de Montaigne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43448998" name=""/>
          <p:cNvSpPr txBox="1"/>
          <p:nvPr/>
        </p:nvSpPr>
        <p:spPr bwMode="auto">
          <a:xfrm rot="0" flipH="0" flipV="0">
            <a:off x="6471999" y="5604018"/>
            <a:ext cx="27403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Étienne Bonnot de Condillac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320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37553" y="2210625"/>
            <a:ext cx="3249000" cy="24367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75427645" name=""/>
          <p:cNvSpPr txBox="1"/>
          <p:nvPr/>
        </p:nvSpPr>
        <p:spPr bwMode="auto">
          <a:xfrm rot="0" flipH="0" flipV="0">
            <a:off x="2732121" y="4769027"/>
            <a:ext cx="646093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Condillac, commerce et gouvernement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8527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15775" y="1763784"/>
            <a:ext cx="2591775" cy="3330430"/>
          </a:xfrm>
          <a:prstGeom prst="rect">
            <a:avLst/>
          </a:prstGeom>
        </p:spPr>
      </p:pic>
      <p:sp>
        <p:nvSpPr>
          <p:cNvPr id="1341681092" name=""/>
          <p:cNvSpPr txBox="1"/>
          <p:nvPr/>
        </p:nvSpPr>
        <p:spPr bwMode="auto">
          <a:xfrm rot="0" flipH="0" flipV="0">
            <a:off x="4714875" y="5196666"/>
            <a:ext cx="259393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Jean-Baptiste Say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206855" name=""/>
          <p:cNvSpPr txBox="1"/>
          <p:nvPr/>
        </p:nvSpPr>
        <p:spPr bwMode="auto">
          <a:xfrm rot="0" flipH="0" flipV="0">
            <a:off x="3930583" y="5602247"/>
            <a:ext cx="38259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Nicolas de Condorcet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4845897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67011" y="802480"/>
            <a:ext cx="2952749" cy="465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33910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4636" y="1898436"/>
            <a:ext cx="2448899" cy="3061124"/>
          </a:xfrm>
          <a:prstGeom prst="rect">
            <a:avLst/>
          </a:prstGeom>
        </p:spPr>
      </p:pic>
      <p:sp>
        <p:nvSpPr>
          <p:cNvPr id="1203121228" name=""/>
          <p:cNvSpPr txBox="1"/>
          <p:nvPr/>
        </p:nvSpPr>
        <p:spPr bwMode="auto">
          <a:xfrm rot="0" flipH="0" flipV="0">
            <a:off x="4183592" y="5047664"/>
            <a:ext cx="33199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Anne Robert Jacques Turgot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75666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73569" y="1494393"/>
            <a:ext cx="2548912" cy="386921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42991926" name=""/>
          <p:cNvSpPr txBox="1"/>
          <p:nvPr/>
        </p:nvSpPr>
        <p:spPr bwMode="auto">
          <a:xfrm rot="0" flipH="0" flipV="0">
            <a:off x="4302652" y="5555937"/>
            <a:ext cx="329398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Galiani, "Lettres sur le </a:t>
            </a:r>
            <a:r>
              <a:rPr sz="1200" i="1">
                <a:latin typeface="IBM Plex Sans"/>
              </a:rPr>
              <a:t>commerce des céréales"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52310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52923" y="2074068"/>
            <a:ext cx="4117194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477636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34123" y="2074068"/>
            <a:ext cx="4308849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5920567" name=""/>
          <p:cNvSpPr txBox="1"/>
          <p:nvPr/>
        </p:nvSpPr>
        <p:spPr bwMode="auto">
          <a:xfrm rot="0" flipH="0" flipV="0">
            <a:off x="5924881" y="5148306"/>
            <a:ext cx="5287717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Convocation des États généraux à Versailles, 5 mai 1789</a:t>
            </a:r>
            <a:endParaRPr/>
          </a:p>
          <a:p>
            <a:pPr algn="ctr"/>
          </a:p>
        </p:txBody>
      </p:sp>
      <p:sp>
        <p:nvSpPr>
          <p:cNvPr id="2130158033" name=""/>
          <p:cNvSpPr txBox="1"/>
          <p:nvPr/>
        </p:nvSpPr>
        <p:spPr bwMode="auto">
          <a:xfrm rot="0" flipH="0" flipV="0">
            <a:off x="1350762" y="5148306"/>
            <a:ext cx="4123314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Champagney, "Liste des griefs"</a:t>
            </a:r>
            <a:endParaRPr lang="en-US" sz="1200" i="1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4092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83324" y="1600809"/>
            <a:ext cx="2091712" cy="365637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94869393" name=""/>
          <p:cNvSpPr txBox="1"/>
          <p:nvPr/>
        </p:nvSpPr>
        <p:spPr bwMode="auto">
          <a:xfrm rot="0" flipH="0" flipV="0">
            <a:off x="3930582" y="5468130"/>
            <a:ext cx="440187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Nemours, </a:t>
            </a:r>
            <a:r>
              <a:rPr sz="1200" i="1">
                <a:latin typeface="IBM Plex Sans"/>
              </a:rPr>
              <a:t>"Discours à l'Assemblée </a:t>
            </a:r>
            <a:r>
              <a:rPr sz="1200" i="1">
                <a:latin typeface="IBM Plex Sans"/>
              </a:rPr>
              <a:t>nationale", 1789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68445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6312" y="1170099"/>
            <a:ext cx="2721567" cy="451780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513147937" name=""/>
          <p:cNvSpPr txBox="1"/>
          <p:nvPr/>
        </p:nvSpPr>
        <p:spPr bwMode="auto">
          <a:xfrm rot="0" flipH="0" flipV="0">
            <a:off x="1474920" y="5802311"/>
            <a:ext cx="90708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Nemours, "Effet </a:t>
            </a:r>
            <a:r>
              <a:rPr sz="1200" i="1">
                <a:latin typeface="IBM Plex Sans"/>
              </a:rPr>
              <a:t>des assignats sur le </a:t>
            </a:r>
            <a:r>
              <a:rPr sz="1200" i="1">
                <a:latin typeface="IBM Plex Sans"/>
              </a:rPr>
              <a:t>prix du pain"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1240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55974" y="2245518"/>
            <a:ext cx="4107950" cy="2366961"/>
          </a:xfrm>
          <a:prstGeom prst="rect">
            <a:avLst/>
          </a:prstGeom>
        </p:spPr>
      </p:pic>
      <p:sp>
        <p:nvSpPr>
          <p:cNvPr id="312220677" name=""/>
          <p:cNvSpPr txBox="1"/>
          <p:nvPr/>
        </p:nvSpPr>
        <p:spPr bwMode="auto">
          <a:xfrm rot="0" flipH="0" flipV="0">
            <a:off x="3955252" y="4674591"/>
            <a:ext cx="41119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Assignat de 100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8574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7774" y="2338733"/>
            <a:ext cx="3329962" cy="2180533"/>
          </a:xfrm>
          <a:prstGeom prst="rect">
            <a:avLst/>
          </a:prstGeom>
        </p:spPr>
      </p:pic>
      <p:pic>
        <p:nvPicPr>
          <p:cNvPr id="8119187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429250" y="1835771"/>
            <a:ext cx="1870491" cy="318645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79003207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295786" y="1851835"/>
            <a:ext cx="2035049" cy="315432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46411566" name=""/>
          <p:cNvSpPr txBox="1"/>
          <p:nvPr/>
        </p:nvSpPr>
        <p:spPr bwMode="auto">
          <a:xfrm rot="0" flipH="0" flipV="0">
            <a:off x="1337772" y="5264746"/>
            <a:ext cx="333104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Pierre Le Pesant de Boisguilbert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44181952" name=""/>
          <p:cNvSpPr txBox="1"/>
          <p:nvPr/>
        </p:nvSpPr>
        <p:spPr bwMode="auto">
          <a:xfrm rot="0" flipH="0" flipV="0">
            <a:off x="5145937" y="5264745"/>
            <a:ext cx="254937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Cantillon, "Essai sur la nature du commerce en général"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595953150" name=""/>
          <p:cNvSpPr txBox="1"/>
          <p:nvPr/>
        </p:nvSpPr>
        <p:spPr bwMode="auto">
          <a:xfrm rot="0" flipH="0" flipV="0">
            <a:off x="7993593" y="5264745"/>
            <a:ext cx="275907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1" u="none" lang="en-US">
                <a:solidFill>
                  <a:srgbClr val="000000"/>
                </a:solidFill>
                <a:latin typeface="IBM Plex Sans"/>
              </a:rPr>
              <a:t>Josiah Child, "A treatise on </a:t>
            </a:r>
            <a:r>
              <a:rPr sz="1200" i="1">
                <a:latin typeface="IBM Plex Sans"/>
              </a:rPr>
              <a:t>trade" (Traité sur le commerce)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2857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2243" y="1771036"/>
            <a:ext cx="2239705" cy="331592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61301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492816" y="1701171"/>
            <a:ext cx="2244111" cy="34556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310785906" name=""/>
          <p:cNvSpPr txBox="1"/>
          <p:nvPr/>
        </p:nvSpPr>
        <p:spPr bwMode="auto">
          <a:xfrm rot="0" flipH="0" flipV="0">
            <a:off x="4594602" y="5305748"/>
            <a:ext cx="249485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93050672" name=""/>
          <p:cNvSpPr txBox="1"/>
          <p:nvPr/>
        </p:nvSpPr>
        <p:spPr bwMode="auto">
          <a:xfrm rot="0" flipH="0" flipV="0">
            <a:off x="7492095" y="5305748"/>
            <a:ext cx="22451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Condillac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71161700" name=""/>
          <p:cNvSpPr txBox="1"/>
          <p:nvPr/>
        </p:nvSpPr>
        <p:spPr bwMode="auto">
          <a:xfrm rot="0" flipH="0" flipV="0">
            <a:off x="1986120" y="5305748"/>
            <a:ext cx="19788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D'Argenson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7332074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595323" y="1688523"/>
            <a:ext cx="2416003" cy="3480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95</Slides>
  <Notes>95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19</cp:revision>
  <dcterms:modified xsi:type="dcterms:W3CDTF">2025-10-15T20:45:10Z</dcterms:modified>
</cp:coreProperties>
</file>