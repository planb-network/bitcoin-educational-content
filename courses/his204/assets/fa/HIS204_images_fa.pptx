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صحنه‌ای از زندگی روستایی در </a:t>
            </a:r>
            <a:r>
              <a:rPr sz="1200" i="1">
                <a:latin typeface="IBM Plex Sans"/>
              </a:rPr>
              <a:t>قرن نوزدهم، نسبت داده </a:t>
            </a:r>
            <a:r>
              <a:rPr sz="1200" i="1">
                <a:latin typeface="IBM Plex Sans"/>
              </a:rPr>
              <a:t>شده به لوئی-لئوپولد بویل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پرتره دوک دو سولی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خاطرات دوک دو سالی، وزیر هنری چهارم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ژان-باتیست کلبِر، کنترل‌کننده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کل مالیات در </a:t>
            </a:r>
            <a:r>
              <a:rPr sz="1200" i="1" lang="en-US">
                <a:latin typeface="IBM Plex Sans"/>
              </a:rPr>
              <a:t>دوران لویی چهاردهم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کارگاه پرسازی قرن هجدهم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بندر بوردو در قرن هجدهم اثر ورنه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رابین هود ایالت - </a:t>
            </a:r>
            <a:r>
              <a:rPr sz="1400" i="1" lang="fr-FR">
                <a:latin typeface="IBM Plex Sans"/>
              </a:rPr>
              <a:t>مالیات یا مرگ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دایی اسکروچ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پرتره‌ای از ووبان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قلعه لیل اثر ووبان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ووبان، "پروژه مالیات سلطنتی"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سرشماری جمعیت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توکویل، "رژیم قدیم و انقلاب"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سه دسته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پی‌یر لپسانت دو بواگیلبرت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بوازیلبر، "فرانسه ویران شده در دوران لویی چهاردهم"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نقشه پورت رویال د شانپ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گوستاو کایلبوت - "راه به بالا"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موری راثبارد، "یک دیدگاه اتریشی در مورد تاریخ تفکر اقتصادی"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ریچارد کنتیون، "مقاله‌ای درباره ماهیت تجارت"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جان لاو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برگ بانک قانون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راهب بزرگ سن-پی‌یر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پرتره گوستاو د مولیناری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راهب سنت-پی‌یر اثر مولیناری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راهب بزرگ سن-پی‌یر، "پروژه‌ای برای </a:t>
            </a:r>
            <a:r>
              <a:rPr sz="1200" i="1">
                <a:latin typeface="IBM Plex Sans"/>
              </a:rPr>
              <a:t>بازگرداندن صلح به اروپا"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لوئی چهاردهم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ورساي، سالن آینه‌ها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آکادمی فرانسه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جزوه‌ای فرانسوی از قرن هجدهم که پیشنهاداتی برای اصلاحات در تجارت و مالیه ارائه می‌دهد و بازتاب‌دهنده‌ی مباحثات اولیه درباره‌ی تجارت و سیاست اقتصادی است.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مارکیز د'آرژنسون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laissez-faire،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تولید سنجاق، "دانشنامه" اثر </a:t>
            </a:r>
            <a:r>
              <a:rPr sz="1200" i="1">
                <a:latin typeface="IBM Plex Sans"/>
              </a:rPr>
              <a:t>دیدرو و دالامبر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پرتره آدام اسمیت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مارکی د'آرجنسون، "خاطرات </a:t>
            </a:r>
            <a:r>
              <a:rPr sz="1200" i="1">
                <a:latin typeface="IBM Plex Sans"/>
              </a:rPr>
              <a:t>و یادداشت‌ها"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بنوآ مالبرانک، "وینسنت </a:t>
            </a:r>
            <a:r>
              <a:rPr sz="1200" i="1">
                <a:latin typeface="IBM Plex Sans"/>
              </a:rPr>
              <a:t>دو گورنه"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مقاله‌ای در مورد تجارت جوزیا چایلد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متن تاریخ </a:t>
            </a:r>
            <a:r>
              <a:rPr sz="1200" i="1">
                <a:latin typeface="IBM Plex Sans"/>
              </a:rPr>
              <a:t>۲۶ ژوئن </a:t>
            </a:r>
            <a:r>
              <a:rPr sz="1200" i="1">
                <a:latin typeface="IBM Plex Sans"/>
              </a:rPr>
              <a:t>۱۷۱۵، نوشته </a:t>
            </a:r>
            <a:r>
              <a:rPr sz="1200" i="1">
                <a:latin typeface="IBM Plex Sans"/>
              </a:rPr>
              <a:t>شده توسط </a:t>
            </a:r>
            <a:r>
              <a:rPr sz="1200" i="1">
                <a:latin typeface="IBM Plex Sans"/>
              </a:rPr>
              <a:t>م. دو </a:t>
            </a:r>
            <a:r>
              <a:rPr sz="1200" i="1">
                <a:latin typeface="IBM Plex Sans"/>
              </a:rPr>
              <a:t>گورگان، بازرگان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گزارش رسمی </a:t>
            </a:r>
            <a:r>
              <a:rPr sz="1200" i="1">
                <a:latin typeface="IBM Plex Sans"/>
              </a:rPr>
              <a:t>درباره شرکت </a:t>
            </a:r>
            <a:r>
              <a:rPr sz="1200" i="1">
                <a:latin typeface="IBM Plex Sans"/>
              </a:rPr>
              <a:t>هند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پرترهٔ </a:t>
            </a:r>
            <a:r>
              <a:rPr sz="1200" i="1">
                <a:latin typeface="IBM Plex Sans"/>
              </a:rPr>
              <a:t>تورگو </a:t>
            </a:r>
            <a:r>
              <a:rPr sz="1200" i="1">
                <a:latin typeface="IBM Plex Sans"/>
              </a:rPr>
              <a:t/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دایره وینسنت دو گورنه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پرتره دیوید هیوم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آبای گابریل-فرانسیس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کُویه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"شرافتمندان بازرگان"</a:t>
            </a:r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مقاله‌ای درباره سیاست عمومی غلات (۱۷۵۵)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ریچارد کنتیون، "مقاله‌ای در مورد ماهیت تجارت"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مطالعه‌ای در مورد نشر اقتصادی در فرانسه، ۱۵۶۶-۱۷۸۹.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آبه گابریل-فرانسیس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کویه، </a:t>
            </a:r>
            <a:r>
              <a:rPr sz="1200" i="1">
                <a:latin typeface="IBM Plex Sans"/>
              </a:rPr>
              <a:t>"چینکی"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مباحثه در مجلس ملی، فرانسه، ۱۷۸۹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پرتره میرابو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میرا بو، </a:t>
            </a:r>
            <a:r>
              <a:rPr sz="1200" i="1">
                <a:latin typeface="IBM Plex Sans"/>
              </a:rPr>
              <a:t>"دوست انسان‌ها"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ریچارد کانتیلون، "مقاله‌ای در مورد ماهیت تجارت"</a:t>
            </a:r>
            <a:endParaRPr sz="14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دکترین‌های اقتصادی و اجتماعی مارکیز دو میرابو</a:t>
            </a:r>
            <a:endParaRPr sz="1200" i="1">
              <a:latin typeface="IBM Plex Sans"/>
            </a:endParaRPr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فرانسوا کِسنه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پی‌یر ساموئل دوپونت دِ نِموُر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میرابو، "نظریه </a:t>
            </a:r>
            <a:r>
              <a:rPr sz="1200" i="1">
                <a:latin typeface="IBM Plex Sans"/>
              </a:rPr>
              <a:t>مالیات"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نمودار اقتصادی توسط فرانسوا کسنای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فرانسیس کِنه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فرانسیس کِناي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دانشنامه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دوپون د </a:t>
            </a:r>
            <a:r>
              <a:rPr sz="1200" i="1">
                <a:latin typeface="IBM Plex Sans"/>
              </a:rPr>
              <a:t>نمر،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"نظریه مالیات"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«فیزیوکراسی»، مجموعه‌ای از مقالات کسنای، ۱۷۶۸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«افمرایدهای شهروند»، نشریه رسمی فیزیوقرات‌ها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بوازیلبرت، "جزئیات </a:t>
            </a:r>
            <a:r>
              <a:rPr sz="1200" i="1">
                <a:latin typeface="IBM Plex Sans"/>
              </a:rPr>
              <a:t>فرانسه"</a:t>
            </a:r>
            <a:endParaRPr sz="1200" i="1">
              <a:latin typeface="IBM Plex Sans"/>
            </a:endParaRPr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کانتیلون، "مقاله‌ای در </a:t>
            </a:r>
            <a:r>
              <a:rPr sz="1200" i="1">
                <a:latin typeface="IBM Plex Sans"/>
              </a:rPr>
              <a:t>مورد ماهیت تجارت"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کِسنه‌ای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نمودار اقتصادی کِوِنی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میرابو، </a:t>
            </a:r>
            <a:r>
              <a:rPr sz="1200" i="1">
                <a:latin typeface="IBM Plex Sans"/>
              </a:rPr>
              <a:t>"نظریه </a:t>
            </a:r>
            <a:r>
              <a:rPr sz="1200" i="1">
                <a:latin typeface="IBM Plex Sans"/>
              </a:rPr>
              <a:t>مالیات"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مارکیز دو پومپادور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افمرایدس دو سیتوآیان، نشریه رسمی فیزیوکرات‌ها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اقتصاددانان روشنگری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فیزیوکراسی، مجموعه‌ای از مقالات </a:t>
            </a:r>
            <a:r>
              <a:rPr sz="1200" i="1">
                <a:latin typeface="IBM Plex Sans"/>
              </a:rPr>
              <a:t>توسط کسنای، ۱۷۶۸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ژان-فرانسوا میله، </a:t>
            </a:r>
            <a:r>
              <a:rPr sz="1200" i="1">
                <a:latin typeface="IBM Plex Sans"/>
              </a:rPr>
              <a:t>"دهقانان"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توکویل، "رژیم قدیم و انقلاب"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لویی شانزدهم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میلت، </a:t>
            </a:r>
            <a:r>
              <a:rPr sz="1200" i="1">
                <a:latin typeface="IBM Plex Sans"/>
              </a:rPr>
              <a:t>"آنجلوس"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بندر بوردو در قرن هجدهم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چارلز فردریک، "دوک بزرگ بادن"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کاترین دوم </a:t>
            </a:r>
            <a:r>
              <a:rPr sz="1200" i="1">
                <a:latin typeface="IBM Plex Sans"/>
              </a:rPr>
              <a:t>روسیه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مرسیه دو لا ریویرا، </a:t>
            </a:r>
            <a:r>
              <a:rPr sz="1200" i="1">
                <a:latin typeface="IBM Plex Sans"/>
              </a:rPr>
              <a:t>"ترتیب طبیعی و </a:t>
            </a:r>
            <a:r>
              <a:rPr sz="1200" i="1">
                <a:latin typeface="IBM Plex Sans"/>
              </a:rPr>
              <a:t>اساسی جوامع سیاسی"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پرتره توروگوت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فرمان سلطنتی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احضار ایالت‌های عمومی در ورساي در سال ۱۷۸۹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آدام اسمیت، "ثروت ملل"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جوزف رامبو، "تاریخ دکترین‌های اقتصادی"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شرکت دوپونت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دوپونت دو نمور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مارکی دو میرابو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نشریه کشاورزی، تجارت </a:t>
            </a:r>
            <a:r>
              <a:rPr sz="1200" i="1">
                <a:latin typeface="IBM Plex Sans"/>
              </a:rPr>
              <a:t>و مالی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کِوِنی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ژورنال فیزیوکرات‌ها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تورگو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فیزیوکراسی، مجموعه‌ای از متون توسط کسنای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جوزف شومپیتر، "تاریخ تحلیل اقتصادی"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تصرف کاخ </a:t>
            </a:r>
            <a:r>
              <a:rPr sz="1200" i="1">
                <a:latin typeface="IBM Plex Sans"/>
              </a:rPr>
              <a:t>تویلری در </a:t>
            </a:r>
            <a:r>
              <a:rPr sz="1200" i="1">
                <a:latin typeface="IBM Plex Sans"/>
              </a:rPr>
              <a:t>سال ۱۷۹۲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آدام اسمیت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دانشنامه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دنیش دیدرو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گفتگو درباره تجارت گندم، توسط گالیانی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افق‌نامه‌های شهروندی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ولتیر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ولتر، "مرد </a:t>
            </a:r>
            <a:r>
              <a:rPr sz="1200" i="1">
                <a:latin typeface="IBM Plex Sans"/>
              </a:rPr>
              <a:t>چهل سکه"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تورگو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مونتسکیو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"روح قوانین"</a:t>
            </a:r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دانشنامه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تورگو، "ستایش </a:t>
            </a:r>
            <a:r>
              <a:rPr sz="1200" i="1">
                <a:latin typeface="IBM Plex Sans"/>
              </a:rPr>
              <a:t>برای گورنی"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ترگوت، "تأملاتی در مورد شکل‌گیری و توزیع ثروت"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تورگو، "نامه‌ها در مورد آزادی تجارت غلات"</a:t>
            </a:r>
            <a:endParaRPr sz="1200" i="1">
              <a:latin typeface="IBM Plex Sans"/>
            </a:endParaRPr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تورگو و اسمیت،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"نزدیکی عجیب"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تورگو، "یادداشت درباره </a:t>
            </a:r>
            <a:r>
              <a:rPr sz="1200" i="1">
                <a:latin typeface="IBM Plex Sans"/>
              </a:rPr>
              <a:t>وام‌های پولی"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فریدریش آ. هایک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تورگو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جی.اف.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میله، </a:t>
            </a:r>
            <a:r>
              <a:rPr sz="1200" i="1">
                <a:latin typeface="IBM Plex Sans"/>
              </a:rPr>
              <a:t>"دروکنندگان"، </a:t>
            </a:r>
            <a:r>
              <a:rPr sz="1200" i="1">
                <a:latin typeface="IBM Plex Sans"/>
              </a:rPr>
              <a:t>۱۸۵۷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نیروهای شبه‌نظامی ترسیم می‌کنند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کتاب شکایات باج‌گیری نمور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ویرایش دو روی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ولتر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لوئی شانزدهم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میشل دو مونتنی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اتیان بونو د کوندیلاک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کوندیلاک، تجارت و دولت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ژان-باتیست سی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نیکولا دو کوندورسه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آن روبر ژاک تورگو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گالیانی، "نامه‌ها در </a:t>
            </a:r>
            <a:r>
              <a:rPr sz="1200" i="1">
                <a:latin typeface="IBM Plex Sans"/>
              </a:rPr>
              <a:t>مورد تجارت غلات"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فراخوانی ایالت‌های عمومی در ورسای، ۵ مه ۱۷۸۹</a:t>
            </a:r>
            <a:endParaRPr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شامپنی، "فهرست شکایات"</a:t>
            </a:r>
            <a:endParaRPr lang="en-US" sz="12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دوپون دِ نِمُور، </a:t>
            </a:r>
            <a:r>
              <a:rPr sz="1200" i="1">
                <a:latin typeface="IBM Plex Sans"/>
              </a:rPr>
              <a:t>"سخنرانی به مجمع </a:t>
            </a:r>
            <a:r>
              <a:rPr sz="1200" i="1">
                <a:latin typeface="IBM Plex Sans"/>
              </a:rPr>
              <a:t>ملی"، ۱۷۸۹</a:t>
            </a:r>
            <a:endParaRPr sz="1200" i="1">
              <a:latin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دوپون دو نمور، </a:t>
            </a:r>
            <a:r>
              <a:rPr sz="1200" i="1">
                <a:latin typeface="IBM Plex Sans"/>
              </a:rPr>
              <a:t>"اثر اسناد بر </a:t>
            </a:r>
            <a:r>
              <a:rPr sz="1200" i="1">
                <a:latin typeface="IBM Plex Sans"/>
              </a:rPr>
              <a:t>قیمت نان"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اسناد ۱۰۰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پی‌یر لو پسانت دو بواگیلبر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کانتیون، "مقاله‌ای در مورد ماهیت تجارت به طور کلی"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جوزیا چایلد، "مقاله‌ای </a:t>
            </a:r>
            <a:r>
              <a:rPr sz="1200" i="1">
                <a:latin typeface="IBM Plex Sans"/>
              </a:rPr>
              <a:t>در مورد تجارت"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کِسنه‌ای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کوندیلاک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د'آرژنسون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