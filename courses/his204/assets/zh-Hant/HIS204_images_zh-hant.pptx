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十九世紀農村生活風景，由 Louis-Léopold </a:t>
            </a:r>
            <a:r>
              <a:rPr sz="1200" i="1">
                <a:latin typeface="IBM Plex Sans"/>
              </a:rPr>
              <a:t>Boilly </a:t>
            </a:r>
            <a:r>
              <a:rPr sz="1200" i="1">
                <a:latin typeface="IBM Plex Sans"/>
              </a:rPr>
              <a:t>繪製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蘇利公爵肖像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亨利四世大臣蘇利公爵的回憶錄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Colbert，路易十四時期的財政總監官 </a:t>
            </a:r>
            <a:r>
              <a:rPr sz="1200" i="1" lang="en-US"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18 世紀羽毛製造工場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18 世紀的波爾多港口，Vernet 著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國家的羅賓漢 - </a:t>
            </a:r>
            <a:r>
              <a:rPr sz="1400" i="1" lang="fr-FR">
                <a:latin typeface="IBM Plex Sans"/>
              </a:rPr>
              <a:t>稅收或死亡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史古治叔叔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沃邦肖像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沃邦的里爾城堡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沃邦，「皇家什一稅項目」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人口普查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托克维尔，「旧制度与革命」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三種訂單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「路易十四統治下的破敗法國」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香榭麗舍皇家港地圖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古斯塔夫-卡爾博特 - 「向上的道路」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Rothbard，「經濟思想史的奧地利觀點」。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Cantillon，「論商業的本質」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羅氏銀行帳單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聖皮耶修道院長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de Molinari 的肖像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莫里納利的《聖皮耶修道院長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聖皮耶修道院長，「恢復歐洲和平計畫」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路易十四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凡爾賽，鏡廊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法國學院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18 世紀法國小冊子，建議改革商業和金融，反映早期有關貿易和經濟政策的爭論。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Argenson 侯爵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自由放任，自由通過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針腳製造，Diderot 和 d'Alambert </a:t>
            </a:r>
            <a:r>
              <a:rPr sz="1200" i="1">
                <a:latin typeface="IBM Plex Sans"/>
              </a:rPr>
              <a:t>的 "百科全書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亞當史密斯肖像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Marquis </a:t>
            </a:r>
            <a:r>
              <a:rPr sz="1200" i="1">
                <a:latin typeface="IBM Plex Sans"/>
              </a:rPr>
              <a:t>d'Argenson，「日記與回憶錄」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Malbranque，"Vincent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貿易論文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文本日期為 1715 </a:t>
            </a:r>
            <a:r>
              <a:rPr sz="1200" i="1">
                <a:latin typeface="IBM Plex Sans"/>
              </a:rPr>
              <a:t>年 6 </a:t>
            </a:r>
            <a:r>
              <a:rPr sz="1200" i="1">
                <a:latin typeface="IBM Plex Sans"/>
              </a:rPr>
              <a:t>月 26 </a:t>
            </a:r>
            <a:r>
              <a:rPr sz="1200" i="1">
                <a:latin typeface="IBM Plex Sans"/>
              </a:rPr>
              <a:t>日，由商人 M. </a:t>
            </a:r>
            <a:r>
              <a:rPr sz="1200" i="1">
                <a:latin typeface="IBM Plex Sans"/>
              </a:rPr>
              <a:t>de Gourgan </a:t>
            </a:r>
            <a:r>
              <a:rPr sz="1200" i="1">
                <a:latin typeface="IBM Plex Sans"/>
              </a:rPr>
              <a:t>撰寫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關於印度公司的官方報告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圖爾戈肖像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Vincent de Gournay 的圈子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大衛-休謨肖像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"商界貴族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一般穀物政策論文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Cantillon，「商業本質論」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法國經濟出版研究，1566-1789。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Gabriel-François </a:t>
            </a:r>
            <a:r>
              <a:rPr sz="1200" i="1">
                <a:latin typeface="IBM Plex Sans"/>
              </a:rPr>
              <a:t>Coyer，"Chinki"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法國國會辯論，1789 年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米拉波肖像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des </a:t>
            </a:r>
            <a:r>
              <a:rPr sz="1200" i="1">
                <a:latin typeface="IBM Plex Sans"/>
              </a:rPr>
              <a:t>hommes" (米拉波)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Cantillon，「商業本質論」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經濟與社會學說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米拉波侯爵的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</a:t>
            </a:r>
            <a:r>
              <a:rPr sz="1200" i="1">
                <a:latin typeface="IBM Plex Sans"/>
              </a:rPr>
              <a:t>「稅收理論」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 的經濟圖表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百科全書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Nemours、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「稅收理論」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「生理學」，魁奈文章集，1768 年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Physiocrats 的官方期刊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</a:t>
            </a:r>
            <a:r>
              <a:rPr sz="1200" i="1">
                <a:latin typeface="IBM Plex Sans"/>
              </a:rPr>
              <a:t>「法國細節」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</a:t>
            </a:r>
            <a:r>
              <a:rPr sz="1200" i="1">
                <a:latin typeface="IBM Plex Sans"/>
              </a:rPr>
              <a:t>「論商業的本質」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魁奈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魁奈的經濟圖表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</a:t>
            </a:r>
            <a:r>
              <a:rPr sz="1200" i="1">
                <a:latin typeface="IBM Plex Sans"/>
              </a:rPr>
              <a:t>「稅收理論」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蓬巴杜侯爵夫人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Physiocrats 的官方期刊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啟蒙經濟學家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生理學》，魁奈文章集，1768 </a:t>
            </a:r>
            <a:r>
              <a:rPr sz="1200" i="1">
                <a:latin typeface="IBM Plex Sans"/>
              </a:rPr>
              <a:t>年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</a:t>
            </a:r>
            <a:r>
              <a:rPr sz="1200" i="1">
                <a:latin typeface="IBM Plex Sans"/>
              </a:rPr>
              <a:t>Millet，「農民」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托克维尔，「旧制度与革命」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路易十六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十八世紀的波爾多港口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Charles Frederick，「巴登大公」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凯瑟琳二世 </a:t>
            </a:r>
            <a:r>
              <a:rPr sz="1200" i="1"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</a:t>
            </a:r>
            <a:r>
              <a:rPr sz="1200" i="1">
                <a:latin typeface="IBM Plex Sans"/>
              </a:rPr>
              <a:t>la </a:t>
            </a:r>
            <a:r>
              <a:rPr sz="1200" i="1">
                <a:latin typeface="IBM Plex Sans"/>
              </a:rPr>
              <a:t>Rivière，「政治社會的自然和基本秩序」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圖爾戈肖像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皇家敕令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1789 年在凡爾賽召開的眾議院大會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亞當‧斯密，「國富論」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Rambaud，「經濟學說史」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杜邦企業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杜邦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米拉波侯爵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農業、貿易和金融期刊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魁奈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Physiocrates 期刊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圖爾戈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生理學，魁奈文集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Schumpeter，「經濟分析史」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1792 </a:t>
            </a:r>
            <a:r>
              <a:rPr sz="1200" i="1">
                <a:latin typeface="IBM Plex Sans"/>
              </a:rPr>
              <a:t>年攻陷杜伊勒利宮 </a:t>
            </a:r>
            <a:r>
              <a:rPr sz="1200" i="1"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亞當-斯密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百科全書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丹尼斯-狄德羅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小麥貿易對話，Galiani 著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公民星曆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伏爾泰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伏爾泰，"L'homme aux quarante </a:t>
            </a:r>
            <a:r>
              <a:rPr sz="1200" i="1">
                <a:latin typeface="IBM Plex Sans"/>
              </a:rPr>
              <a:t>écus" (《四分鐘的人》)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圖爾戈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孟德斯鸠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「法律的精神」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百科全書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「讚美 </a:t>
            </a:r>
            <a:r>
              <a:rPr sz="1200" i="1">
                <a:latin typeface="IBM Plex Sans"/>
              </a:rPr>
              <a:t>Gournay」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「對財富的形成與分配的思考」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「關於穀物貿易自由的信」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和 Smith、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「一種奇怪的親近」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Turgot，"Mémoire sur les </a:t>
            </a:r>
            <a:r>
              <a:rPr sz="1200" i="1">
                <a:latin typeface="IBM Plex Sans"/>
              </a:rPr>
              <a:t>prêts d'argent" (關於金錢的備忘錄)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哈耶克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圖爾戈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Millet，《拾穗者》，1857 </a:t>
            </a:r>
            <a:r>
              <a:rPr sz="1200" i="1">
                <a:latin typeface="IBM Plex Sans"/>
              </a:rPr>
              <a:t>年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民兵抽籤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Nemours baillage 的申訴簿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伏爾泰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路易十六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蒙田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康迪拉克、貿易與政府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孔多塞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</a:t>
            </a:r>
            <a:r>
              <a:rPr sz="1200" i="1">
                <a:latin typeface="IBM Plex Sans"/>
              </a:rPr>
              <a:t>「關於穀物貿易的信」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1789年5月5日在凡爾賽召開議員大會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「申訴清單」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Nemours，「對國民大會的演講」，1789 </a:t>
            </a:r>
            <a:r>
              <a:rPr sz="1200" i="1">
                <a:latin typeface="IBM Plex Sans"/>
              </a:rPr>
              <a:t>年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Nemours，「Assignats </a:t>
            </a:r>
            <a:r>
              <a:rPr sz="1200" i="1">
                <a:latin typeface="IBM Plex Sans"/>
              </a:rPr>
              <a:t>對麵包價格的影響」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100 分數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「論一般商業的性質」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</a:t>
            </a:r>
            <a:r>
              <a:rPr sz="1200" i="1">
                <a:latin typeface="IBM Plex Sans"/>
              </a:rPr>
              <a:t>Child，「貿易論」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魁奈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康迪拉克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