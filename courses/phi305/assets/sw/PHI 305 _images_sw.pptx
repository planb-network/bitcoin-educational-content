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30BF3A4-69C4-42D1-95FA-64C459825D43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6C9237-77FB-4EC4-B52E-F4E6CEC8C74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5C1DDF-AC7B-442B-80F2-74D96EDBB1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C30647-76C2-425C-982F-0868CA7BEB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B95C89-BAF1-4562-A087-D97E468B80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557C15-82EC-4903-AA3F-F098EE6848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CAE20A-3142-4D98-AF2E-CFB79C352B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627D80-A93F-4038-88DF-EC4EED2184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26DD19-BBE3-4F37-A084-DC4CCE2FB7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1BF0A7-5DB6-43C9-B9C5-848ACCAB0C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D019AA-DF48-410B-818D-66B5CF1917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F13BBC-5C88-4AE4-B693-B185A4A41C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857A7D-36D1-4CD4-8276-F5675C9F0E6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E7B698-EFCD-42A4-9F99-7E6AD351EF1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Click to edit 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Master title style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&lt;date/time&gt;</a:t>
            </a:r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44EB7F-0D6B-47D9-BAD5-31DFEA1DC9EA}" type="slidenum"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image" Target="../media/image25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image" Target="../media/image28.jpeg"/><Relationship Id="rId3" Type="http://schemas.openxmlformats.org/officeDocument/2006/relationships/image" Target="../media/image29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3.png"/><Relationship Id="rId3" Type="http://schemas.openxmlformats.org/officeDocument/2006/relationships/image" Target="../media/image34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image" Target="../media/image38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4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44.jpeg"/><Relationship Id="rId2" Type="http://schemas.openxmlformats.org/officeDocument/2006/relationships/image" Target="../media/image4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4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4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4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5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5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5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5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5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55.jpeg"/><Relationship Id="rId2" Type="http://schemas.openxmlformats.org/officeDocument/2006/relationships/image" Target="../media/image56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5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5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6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1045080" y="6602040"/>
            <a:ext cx="10101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Picha ya Baruch Spinoza iliyohusishwa na Samuel van Hoogstraten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1045080" y="69480"/>
            <a:ext cx="10101240" cy="653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3925080" y="260280"/>
            <a:ext cx="4341240" cy="5817600"/>
          </a:xfrm>
          <a:prstGeom prst="rect">
            <a:avLst/>
          </a:prstGeom>
          <a:ln w="0">
            <a:noFill/>
          </a:ln>
        </p:spPr>
      </p:pic>
      <p:sp>
        <p:nvSpPr>
          <p:cNvPr id="50" name=""/>
          <p:cNvSpPr/>
          <p:nvPr/>
        </p:nvSpPr>
        <p:spPr>
          <a:xfrm>
            <a:off x="3922560" y="5940720"/>
            <a:ext cx="434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Uchongaji wa Baruch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 descr=""/>
          <p:cNvPicPr/>
          <p:nvPr/>
        </p:nvPicPr>
        <p:blipFill>
          <a:blip r:embed="rId1"/>
          <a:srcRect l="0" t="15070" r="0" b="23967"/>
          <a:stretch/>
        </p:blipFill>
        <p:spPr>
          <a:xfrm>
            <a:off x="4000680" y="1353240"/>
            <a:ext cx="4190760" cy="36226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52" name=""/>
          <p:cNvSpPr/>
          <p:nvPr/>
        </p:nvSpPr>
        <p:spPr>
          <a:xfrm>
            <a:off x="4000680" y="4976280"/>
            <a:ext cx="4191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Muhtasari wa "Maadili" ya Spinoza katika Kilatini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4512600" y="488880"/>
            <a:ext cx="3166560" cy="5289840"/>
          </a:xfrm>
          <a:prstGeom prst="rect">
            <a:avLst/>
          </a:prstGeom>
          <a:ln w="0">
            <a:noFill/>
          </a:ln>
        </p:spPr>
      </p:pic>
      <p:sp>
        <p:nvSpPr>
          <p:cNvPr id="54" name=""/>
          <p:cNvSpPr/>
          <p:nvPr/>
        </p:nvSpPr>
        <p:spPr>
          <a:xfrm>
            <a:off x="3876840" y="5779080"/>
            <a:ext cx="443808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Theologico-Politicus", 1675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2194920" y="738720"/>
            <a:ext cx="7801920" cy="5203800"/>
          </a:xfrm>
          <a:prstGeom prst="rect">
            <a:avLst/>
          </a:prstGeom>
          <a:ln w="0">
            <a:noFill/>
          </a:ln>
        </p:spPr>
      </p:pic>
      <p:sp>
        <p:nvSpPr>
          <p:cNvPr id="56" name=""/>
          <p:cNvSpPr/>
          <p:nvPr/>
        </p:nvSpPr>
        <p:spPr>
          <a:xfrm>
            <a:off x="2194920" y="5942880"/>
            <a:ext cx="7809840" cy="4568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Satoshi Nakamoto sanamu ya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Gergely, R., &amp; Gilly,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T. (2021). Graphisoft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Park, Budapest, Hungary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7870320" y="5884920"/>
            <a:ext cx="42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Muhuri uliotumiwa na Baruch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3680" y="5879520"/>
            <a:ext cx="7857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Uchoraji unaoonyesha kutengwa kwa Spinoza kutoka kwa jumuiya ya Wayahudi ya Amsterdam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13680" y="-15480"/>
            <a:ext cx="7855560" cy="5900040"/>
          </a:xfrm>
          <a:prstGeom prst="rect">
            <a:avLst/>
          </a:prstGeom>
          <a:ln w="0">
            <a:noFill/>
          </a:ln>
        </p:spPr>
      </p:pic>
      <p:pic>
        <p:nvPicPr>
          <p:cNvPr id="60" name="" descr=""/>
          <p:cNvPicPr/>
          <p:nvPr/>
        </p:nvPicPr>
        <p:blipFill>
          <a:blip r:embed="rId2"/>
          <a:stretch/>
        </p:blipFill>
        <p:spPr>
          <a:xfrm>
            <a:off x="7869600" y="811080"/>
            <a:ext cx="4266720" cy="4266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Johannes Kepler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63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64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65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Nicolaus Copernicus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614520" y="1419120"/>
            <a:ext cx="10962360" cy="3765600"/>
          </a:xfrm>
          <a:prstGeom prst="rect">
            <a:avLst/>
          </a:prstGeom>
          <a:ln w="0">
            <a:noFill/>
          </a:ln>
        </p:spPr>
      </p:pic>
      <p:sp>
        <p:nvSpPr>
          <p:cNvPr id="68" name=""/>
          <p:cNvSpPr/>
          <p:nvPr/>
        </p:nvSpPr>
        <p:spPr>
          <a:xfrm>
            <a:off x="5475600" y="5184720"/>
            <a:ext cx="289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Arthur Schopenhauer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14520" y="5144760"/>
            <a:ext cx="219744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Gottfried Wilhelm Leibniz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70" name=""/>
          <p:cNvSpPr/>
          <p:nvPr/>
        </p:nvSpPr>
        <p:spPr>
          <a:xfrm>
            <a:off x="8364240" y="5184720"/>
            <a:ext cx="321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Nietzsche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2809080" y="5184720"/>
            <a:ext cx="266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Immanuel Kant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" descr=""/>
          <p:cNvPicPr/>
          <p:nvPr/>
        </p:nvPicPr>
        <p:blipFill>
          <a:blip r:embed="rId1"/>
          <a:srcRect l="8476" t="0" r="9750" b="0"/>
          <a:stretch/>
        </p:blipFill>
        <p:spPr>
          <a:xfrm>
            <a:off x="1110960" y="1334880"/>
            <a:ext cx="9969840" cy="4187880"/>
          </a:xfrm>
          <a:prstGeom prst="rect">
            <a:avLst/>
          </a:prstGeom>
          <a:ln w="0">
            <a:noFill/>
          </a:ln>
        </p:spPr>
      </p:pic>
      <p:sp>
        <p:nvSpPr>
          <p:cNvPr id="73" name=""/>
          <p:cNvSpPr/>
          <p:nvPr/>
        </p:nvSpPr>
        <p:spPr>
          <a:xfrm>
            <a:off x="4385160" y="5523120"/>
            <a:ext cx="2971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7355160" y="5523120"/>
            <a:ext cx="3734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Jean-Jacques Rousseau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110960" y="5523120"/>
            <a:ext cx="327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Denis Diderot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3562200" y="47160"/>
            <a:ext cx="5067720" cy="6368400"/>
          </a:xfrm>
          <a:prstGeom prst="rect">
            <a:avLst/>
          </a:prstGeom>
          <a:ln w="0">
            <a:noFill/>
          </a:ln>
        </p:spPr>
      </p:pic>
      <p:sp>
        <p:nvSpPr>
          <p:cNvPr id="77" name=""/>
          <p:cNvSpPr/>
          <p:nvPr/>
        </p:nvSpPr>
        <p:spPr>
          <a:xfrm>
            <a:off x="3562200" y="6415920"/>
            <a:ext cx="5068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1425960" y="5921280"/>
            <a:ext cx="9340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845280" y="15840"/>
            <a:ext cx="10501200" cy="590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4600440" y="780840"/>
            <a:ext cx="2990520" cy="4762080"/>
          </a:xfrm>
          <a:prstGeom prst="rect">
            <a:avLst/>
          </a:prstGeom>
          <a:ln w="0">
            <a:noFill/>
          </a:ln>
        </p:spPr>
      </p:pic>
      <p:sp>
        <p:nvSpPr>
          <p:cNvPr id="81" name=""/>
          <p:cNvSpPr/>
          <p:nvPr/>
        </p:nvSpPr>
        <p:spPr>
          <a:xfrm>
            <a:off x="4600440" y="5543280"/>
            <a:ext cx="2991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"Maadili"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/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3736080" y="240480"/>
            <a:ext cx="4719240" cy="6003000"/>
          </a:xfrm>
          <a:prstGeom prst="rect">
            <a:avLst/>
          </a:prstGeom>
          <a:ln w="0">
            <a:noFill/>
          </a:ln>
        </p:spPr>
      </p:pic>
      <p:sp>
        <p:nvSpPr>
          <p:cNvPr id="83" name=""/>
          <p:cNvSpPr/>
          <p:nvPr/>
        </p:nvSpPr>
        <p:spPr>
          <a:xfrm>
            <a:off x="3736080" y="6243840"/>
            <a:ext cx="4720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Theologico-Politicus"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3838680" y="392760"/>
            <a:ext cx="4514400" cy="5733720"/>
          </a:xfrm>
          <a:prstGeom prst="rect">
            <a:avLst/>
          </a:prstGeom>
          <a:ln w="0">
            <a:noFill/>
          </a:ln>
        </p:spPr>
      </p:pic>
      <p:sp>
        <p:nvSpPr>
          <p:cNvPr id="87" name=""/>
          <p:cNvSpPr/>
          <p:nvPr/>
        </p:nvSpPr>
        <p:spPr>
          <a:xfrm>
            <a:off x="3838680" y="6162840"/>
            <a:ext cx="4515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Theologico-Politicus"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3662640" y="353520"/>
            <a:ext cx="4866120" cy="6026040"/>
          </a:xfrm>
          <a:prstGeom prst="rect">
            <a:avLst/>
          </a:prstGeom>
          <a:ln w="0">
            <a:noFill/>
          </a:ln>
        </p:spPr>
      </p:pic>
      <p:sp>
        <p:nvSpPr>
          <p:cNvPr id="89" name=""/>
          <p:cNvSpPr/>
          <p:nvPr/>
        </p:nvSpPr>
        <p:spPr>
          <a:xfrm>
            <a:off x="3662280" y="6381720"/>
            <a:ext cx="4876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"Maadili", Sehemu ya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I, "Kumhusu Mungu"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91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Uchoraji na William Blake, "Mungu akiumba Ulimwengu"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2332440" y="952560"/>
            <a:ext cx="7526520" cy="4647240"/>
          </a:xfrm>
          <a:prstGeom prst="rect">
            <a:avLst/>
          </a:prstGeom>
          <a:ln w="0">
            <a:noFill/>
          </a:ln>
        </p:spPr>
      </p:pic>
      <p:sp>
        <p:nvSpPr>
          <p:cNvPr id="93" name=""/>
          <p:cNvSpPr/>
          <p:nvPr/>
        </p:nvSpPr>
        <p:spPr>
          <a:xfrm>
            <a:off x="2396880" y="5552640"/>
            <a:ext cx="739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Tetemeko la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ardhi huko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Lisbon, 1755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2914200" y="5835600"/>
            <a:ext cx="6364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Gottfried Wilhelm Leibniz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3824280" y="120600"/>
            <a:ext cx="4543200" cy="571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809080" y="338400"/>
            <a:ext cx="6573600" cy="5477760"/>
          </a:xfrm>
          <a:prstGeom prst="rect">
            <a:avLst/>
          </a:prstGeom>
          <a:ln w="0">
            <a:noFill/>
          </a:ln>
        </p:spPr>
      </p:pic>
      <p:sp>
        <p:nvSpPr>
          <p:cNvPr id="97" name=""/>
          <p:cNvSpPr/>
          <p:nvPr/>
        </p:nvSpPr>
        <p:spPr>
          <a:xfrm>
            <a:off x="2809080" y="5816520"/>
            <a:ext cx="6574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Jean-Jacques Rousseau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397080" y="6262560"/>
            <a:ext cx="6250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Nicolas Copernic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647040" y="6262560"/>
            <a:ext cx="491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Charles Darwin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97080" y="147600"/>
            <a:ext cx="6249600" cy="611460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6647040" y="147600"/>
            <a:ext cx="4915800" cy="611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3528360" y="234360"/>
            <a:ext cx="5134680" cy="6008760"/>
          </a:xfrm>
          <a:prstGeom prst="rect">
            <a:avLst/>
          </a:prstGeom>
          <a:ln w="0">
            <a:noFill/>
          </a:ln>
        </p:spPr>
      </p:pic>
      <p:sp>
        <p:nvSpPr>
          <p:cNvPr id="103" name=""/>
          <p:cNvSpPr/>
          <p:nvPr/>
        </p:nvSpPr>
        <p:spPr>
          <a:xfrm>
            <a:off x="3558240" y="6243840"/>
            <a:ext cx="5076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Ramani ya Mviringo wa Kaskazini, karne ya 19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0" y="5420880"/>
            <a:ext cx="412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8503920" y="5420880"/>
            <a:ext cx="3595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Albert Einstein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0" y="96840"/>
            <a:ext cx="4172760" cy="532368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2"/>
          <a:stretch/>
        </p:blipFill>
        <p:spPr>
          <a:xfrm>
            <a:off x="4125240" y="96840"/>
            <a:ext cx="4384800" cy="5323680"/>
          </a:xfrm>
          <a:prstGeom prst="rect">
            <a:avLst/>
          </a:prstGeom>
          <a:ln w="0">
            <a:noFill/>
          </a:ln>
        </p:spPr>
      </p:pic>
      <p:pic>
        <p:nvPicPr>
          <p:cNvPr id="108" name="" descr=""/>
          <p:cNvPicPr/>
          <p:nvPr/>
        </p:nvPicPr>
        <p:blipFill>
          <a:blip r:embed="rId3"/>
          <a:stretch/>
        </p:blipFill>
        <p:spPr>
          <a:xfrm>
            <a:off x="8503920" y="96840"/>
            <a:ext cx="3594240" cy="5323680"/>
          </a:xfrm>
          <a:prstGeom prst="rect">
            <a:avLst/>
          </a:prstGeom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4041000" y="5420880"/>
            <a:ext cx="4462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Isaac Newton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2955960" y="702720"/>
            <a:ext cx="6279840" cy="5238360"/>
          </a:xfrm>
          <a:prstGeom prst="rect">
            <a:avLst/>
          </a:prstGeom>
          <a:ln w="0">
            <a:noFill/>
          </a:ln>
        </p:spPr>
      </p:pic>
      <p:sp>
        <p:nvSpPr>
          <p:cNvPr id="111" name=""/>
          <p:cNvSpPr/>
          <p:nvPr/>
        </p:nvSpPr>
        <p:spPr>
          <a:xfrm>
            <a:off x="4117680" y="5975640"/>
            <a:ext cx="3958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René Descartes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4220280" y="436320"/>
            <a:ext cx="3751200" cy="5547600"/>
          </a:xfrm>
          <a:prstGeom prst="rect">
            <a:avLst/>
          </a:prstGeom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4220280" y="5794920"/>
            <a:ext cx="37519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René Descartes, "Majadiliano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juu ya Mbinu"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2360880" y="685440"/>
            <a:ext cx="7470000" cy="5602320"/>
          </a:xfrm>
          <a:prstGeom prst="rect">
            <a:avLst/>
          </a:prstGeom>
          <a:ln w="0">
            <a:noFill/>
          </a:ln>
        </p:spPr>
      </p:pic>
      <p:sp>
        <p:nvSpPr>
          <p:cNvPr id="115" name=""/>
          <p:cNvSpPr/>
          <p:nvPr/>
        </p:nvSpPr>
        <p:spPr>
          <a:xfrm>
            <a:off x="2360880" y="6288120"/>
            <a:ext cx="7470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Sanamu ya Descartes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>
            <a:off x="1796400" y="5037840"/>
            <a:ext cx="1832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1276920" y="6067440"/>
            <a:ext cx="40827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8" name="Text Placeholder 2"/>
          <p:cNvSpPr/>
          <p:nvPr/>
        </p:nvSpPr>
        <p:spPr>
          <a:xfrm>
            <a:off x="6345360" y="2656080"/>
            <a:ext cx="388728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200000"/>
              </a:lnSpc>
            </a:pPr>
            <a:r>
              <a:rPr sz="2200" b="0" lang="en-US">
                <a:solidFill>
                  <a:srgbClr val="000000"/>
                </a:solidFill>
                <a:latin typeface="IBM Plex Sans"/>
              </a:rPr>
              <a:t>Nadhani, kwa hivyo niko</a:t>
            </a:r>
            <a:endParaRPr b="0" lang="it-IT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Picture 9" descr=""/>
          <p:cNvPicPr/>
          <p:nvPr/>
        </p:nvPicPr>
        <p:blipFill>
          <a:blip r:embed="rId1"/>
          <a:stretch/>
        </p:blipFill>
        <p:spPr>
          <a:xfrm>
            <a:off x="6188760" y="2189880"/>
            <a:ext cx="312840" cy="21132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10" descr=""/>
          <p:cNvPicPr/>
          <p:nvPr/>
        </p:nvPicPr>
        <p:blipFill>
          <a:blip r:embed="rId2"/>
          <a:stretch/>
        </p:blipFill>
        <p:spPr>
          <a:xfrm rot="10800000">
            <a:off x="10150560" y="3377520"/>
            <a:ext cx="312840" cy="211320"/>
          </a:xfrm>
          <a:prstGeom prst="rect">
            <a:avLst/>
          </a:prstGeom>
          <a:ln w="0">
            <a:noFill/>
          </a:ln>
        </p:spPr>
      </p:pic>
      <p:sp>
        <p:nvSpPr>
          <p:cNvPr id="121" name="Text Placeholder 6"/>
          <p:cNvSpPr/>
          <p:nvPr/>
        </p:nvSpPr>
        <p:spPr>
          <a:xfrm>
            <a:off x="10230840" y="3834000"/>
            <a:ext cx="7776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727"/>
              </a:lnSpc>
            </a:pPr>
            <a:r>
              <a:rPr sz="1400" b="0" i="1" lang="en-US">
                <a:solidFill>
                  <a:srgbClr val="000000"/>
                </a:solidFill>
                <a:latin typeface="IBM Plex Sans bold"/>
              </a:rPr>
              <a:t>Descartes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ts val="2727"/>
              </a:lnSpc>
            </a:pPr>
          </a:p>
        </p:txBody>
      </p:sp>
      <p:pic>
        <p:nvPicPr>
          <p:cNvPr id="122" name="" descr=""/>
          <p:cNvPicPr/>
          <p:nvPr/>
        </p:nvPicPr>
        <p:blipFill>
          <a:blip r:embed="rId3"/>
          <a:stretch/>
        </p:blipFill>
        <p:spPr>
          <a:xfrm>
            <a:off x="6840" y="25920"/>
            <a:ext cx="5352840" cy="680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3093120" y="231480"/>
            <a:ext cx="6005160" cy="56818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24" name=""/>
          <p:cNvSpPr/>
          <p:nvPr/>
        </p:nvSpPr>
        <p:spPr>
          <a:xfrm>
            <a:off x="3041640" y="5913720"/>
            <a:ext cx="6109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Kiambatisho cha sehemu ya kwanza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ya “Maadili” ya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>
            <a:off x="797760" y="6419880"/>
            <a:ext cx="10596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Emmanuel Kant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797760" y="90000"/>
            <a:ext cx="10595880" cy="632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5315400" y="964800"/>
            <a:ext cx="5832000" cy="4298400"/>
          </a:xfrm>
          <a:prstGeom prst="rect">
            <a:avLst/>
          </a:prstGeom>
          <a:ln w="0">
            <a:noFill/>
          </a:ln>
        </p:spPr>
      </p:pic>
      <p:pic>
        <p:nvPicPr>
          <p:cNvPr id="128" name="" descr=""/>
          <p:cNvPicPr/>
          <p:nvPr/>
        </p:nvPicPr>
        <p:blipFill>
          <a:blip r:embed="rId2"/>
          <a:srcRect l="22335" t="0" r="11841" b="0"/>
          <a:stretch/>
        </p:blipFill>
        <p:spPr>
          <a:xfrm>
            <a:off x="1211400" y="964800"/>
            <a:ext cx="3809520" cy="4298400"/>
          </a:xfrm>
          <a:prstGeom prst="rect">
            <a:avLst/>
          </a:prstGeom>
          <a:ln w="0">
            <a:noFill/>
          </a:ln>
        </p:spPr>
      </p:pic>
      <p:sp>
        <p:nvSpPr>
          <p:cNvPr id="129" name=""/>
          <p:cNvSpPr/>
          <p:nvPr/>
        </p:nvSpPr>
        <p:spPr>
          <a:xfrm>
            <a:off x="1210320" y="5263200"/>
            <a:ext cx="381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Ayn Rand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315400" y="5263200"/>
            <a:ext cx="291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Kichwa cha Chemchemi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8232480" y="5263200"/>
            <a:ext cx="2916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Atlas Iliyopigwa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2580120" y="276120"/>
            <a:ext cx="7031160" cy="535392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33" name=""/>
          <p:cNvSpPr/>
          <p:nvPr/>
        </p:nvSpPr>
        <p:spPr>
          <a:xfrm>
            <a:off x="2580120" y="5630040"/>
            <a:ext cx="703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"Maadili", Sehemu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ya Tatu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Johannes Kepler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136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137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138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Nicolaus Copernicus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4319280" y="1210320"/>
            <a:ext cx="3553200" cy="4600080"/>
          </a:xfrm>
          <a:prstGeom prst="rect">
            <a:avLst/>
          </a:prstGeom>
          <a:ln w="0">
            <a:noFill/>
          </a:ln>
        </p:spPr>
      </p:pic>
      <p:sp>
        <p:nvSpPr>
          <p:cNvPr id="141" name=""/>
          <p:cNvSpPr/>
          <p:nvPr/>
        </p:nvSpPr>
        <p:spPr>
          <a:xfrm>
            <a:off x="4723200" y="5810760"/>
            <a:ext cx="274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Jean-Baptiste Lamarck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4461840" y="1238400"/>
            <a:ext cx="3268080" cy="4750560"/>
          </a:xfrm>
          <a:prstGeom prst="rect">
            <a:avLst/>
          </a:prstGeom>
          <a:ln w="0">
            <a:noFill/>
          </a:ln>
        </p:spPr>
      </p:pic>
      <p:sp>
        <p:nvSpPr>
          <p:cNvPr id="143" name=""/>
          <p:cNvSpPr/>
          <p:nvPr/>
        </p:nvSpPr>
        <p:spPr>
          <a:xfrm>
            <a:off x="4426200" y="5989320"/>
            <a:ext cx="33037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400" b="0" i="1" lang="en-US">
                <a:solidFill>
                  <a:srgbClr val="000000"/>
                </a:solidFill>
                <a:latin typeface="IBM Plex Sans"/>
              </a:rPr>
              <a:t>Georges Cuvier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>
            <a:off x="2905920" y="6429960"/>
            <a:ext cx="6380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F.A. Hayek,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"Njia </a:t>
            </a:r>
            <a:r>
              <a:rPr sz="1200" b="0" i="1" lang="fr-FR">
                <a:solidFill>
                  <a:srgbClr val="000000"/>
                </a:solidFill>
                <a:latin typeface="IBM Plex Sans"/>
              </a:rPr>
              <a:t>ya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Serfdom"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2905920" y="50400"/>
            <a:ext cx="6379560" cy="637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" descr=""/>
          <p:cNvPicPr/>
          <p:nvPr/>
        </p:nvPicPr>
        <p:blipFill>
          <a:blip r:embed="rId1"/>
          <a:srcRect l="0" t="10067" r="0" b="22550"/>
          <a:stretch/>
        </p:blipFill>
        <p:spPr>
          <a:xfrm>
            <a:off x="4207680" y="934200"/>
            <a:ext cx="3776040" cy="36082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47" name=""/>
          <p:cNvSpPr/>
          <p:nvPr/>
        </p:nvSpPr>
        <p:spPr>
          <a:xfrm>
            <a:off x="3893760" y="4542840"/>
            <a:ext cx="4557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Muhtasari wa Maadili ya Spinoza katika Kilatini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149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Uchoraji na William Blake, "Mungu akiumba Ulimwengu"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1333440" y="6543720"/>
            <a:ext cx="9525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" descr=""/>
          <p:cNvPicPr/>
          <p:nvPr/>
        </p:nvPicPr>
        <p:blipFill>
          <a:blip r:embed="rId1"/>
          <a:stretch/>
        </p:blipFill>
        <p:spPr>
          <a:xfrm>
            <a:off x="1333440" y="190440"/>
            <a:ext cx="9524520" cy="635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984600" y="6307200"/>
            <a:ext cx="96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Voltaire, "Barua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kutoka Uingereza"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" descr=""/>
          <p:cNvPicPr/>
          <p:nvPr/>
        </p:nvPicPr>
        <p:blipFill>
          <a:blip r:embed="rId1"/>
          <a:stretch/>
        </p:blipFill>
        <p:spPr>
          <a:xfrm>
            <a:off x="6786000" y="95400"/>
            <a:ext cx="3861360" cy="6210000"/>
          </a:xfrm>
          <a:prstGeom prst="rect">
            <a:avLst/>
          </a:prstGeom>
          <a:ln w="0">
            <a:noFill/>
          </a:ln>
        </p:spPr>
      </p:pic>
      <p:pic>
        <p:nvPicPr>
          <p:cNvPr id="154" name="" descr=""/>
          <p:cNvPicPr/>
          <p:nvPr/>
        </p:nvPicPr>
        <p:blipFill>
          <a:blip r:embed="rId2"/>
          <a:stretch/>
        </p:blipFill>
        <p:spPr>
          <a:xfrm>
            <a:off x="984600" y="95400"/>
            <a:ext cx="5801040" cy="621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398520" y="6321240"/>
            <a:ext cx="11397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Anicet Charles Gabriel Lemonnier, "Salon ya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Madame Geoffrin", karne ya 18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56" name="" descr=""/>
          <p:cNvPicPr/>
          <p:nvPr/>
        </p:nvPicPr>
        <p:blipFill>
          <a:blip r:embed="rId1"/>
          <a:stretch/>
        </p:blipFill>
        <p:spPr>
          <a:xfrm>
            <a:off x="1397880" y="97920"/>
            <a:ext cx="9396000" cy="622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2281320" y="799920"/>
            <a:ext cx="7629120" cy="52574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58" name=""/>
          <p:cNvSpPr/>
          <p:nvPr/>
        </p:nvSpPr>
        <p:spPr>
          <a:xfrm>
            <a:off x="3178080" y="6057720"/>
            <a:ext cx="583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Dibaji ya “Mkataba wa Kitheolojia-Kisiasa” wa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" descr=""/>
          <p:cNvPicPr/>
          <p:nvPr/>
        </p:nvPicPr>
        <p:blipFill>
          <a:blip r:embed="rId1"/>
          <a:stretch/>
        </p:blipFill>
        <p:spPr>
          <a:xfrm>
            <a:off x="3719520" y="809640"/>
            <a:ext cx="4752720" cy="5238360"/>
          </a:xfrm>
          <a:prstGeom prst="rect">
            <a:avLst/>
          </a:prstGeom>
          <a:ln w="0">
            <a:noFill/>
          </a:ln>
        </p:spPr>
      </p:pic>
      <p:sp>
        <p:nvSpPr>
          <p:cNvPr id="160" name=""/>
          <p:cNvSpPr/>
          <p:nvPr/>
        </p:nvSpPr>
        <p:spPr>
          <a:xfrm>
            <a:off x="4240080" y="6048360"/>
            <a:ext cx="371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Picha ya Socrates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>
            <a:off x="3766320" y="6438960"/>
            <a:ext cx="46602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Fresco ya Mtakatifu Augustino na Sandro Botticelli, 1480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62" name="" descr=""/>
          <p:cNvPicPr/>
          <p:nvPr/>
        </p:nvPicPr>
        <p:blipFill>
          <a:blip r:embed="rId1"/>
          <a:stretch/>
        </p:blipFill>
        <p:spPr>
          <a:xfrm>
            <a:off x="3766320" y="19080"/>
            <a:ext cx="4658760" cy="644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" descr=""/>
          <p:cNvPicPr/>
          <p:nvPr/>
        </p:nvPicPr>
        <p:blipFill>
          <a:blip r:embed="rId1"/>
          <a:stretch/>
        </p:blipFill>
        <p:spPr>
          <a:xfrm>
            <a:off x="2574360" y="169200"/>
            <a:ext cx="7043040" cy="57038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4" name=""/>
          <p:cNvSpPr/>
          <p:nvPr/>
        </p:nvSpPr>
        <p:spPr>
          <a:xfrm>
            <a:off x="2574360" y="5880600"/>
            <a:ext cx="7048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"Maadili", Sehemu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ya 3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" descr=""/>
          <p:cNvPicPr/>
          <p:nvPr/>
        </p:nvPicPr>
        <p:blipFill>
          <a:blip r:embed="rId1"/>
          <a:stretch/>
        </p:blipFill>
        <p:spPr>
          <a:xfrm>
            <a:off x="3776760" y="222120"/>
            <a:ext cx="4638240" cy="60004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8" name=""/>
          <p:cNvSpPr/>
          <p:nvPr/>
        </p:nvSpPr>
        <p:spPr>
          <a:xfrm>
            <a:off x="3776760" y="6222960"/>
            <a:ext cx="4638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"Maadili"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" descr=""/>
          <p:cNvPicPr/>
          <p:nvPr/>
        </p:nvPicPr>
        <p:blipFill>
          <a:blip r:embed="rId1"/>
          <a:stretch/>
        </p:blipFill>
        <p:spPr>
          <a:xfrm>
            <a:off x="2305080" y="502200"/>
            <a:ext cx="7581600" cy="52480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0" name=""/>
          <p:cNvSpPr/>
          <p:nvPr/>
        </p:nvSpPr>
        <p:spPr>
          <a:xfrm>
            <a:off x="3043800" y="5747040"/>
            <a:ext cx="610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Dibaji ya Mkataba wa Kitheolojia-Kisiasa wa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" descr=""/>
          <p:cNvPicPr/>
          <p:nvPr/>
        </p:nvPicPr>
        <p:blipFill>
          <a:blip r:embed="rId1"/>
          <a:stretch/>
        </p:blipFill>
        <p:spPr>
          <a:xfrm>
            <a:off x="1515960" y="304920"/>
            <a:ext cx="9159840" cy="5724720"/>
          </a:xfrm>
          <a:prstGeom prst="rect">
            <a:avLst/>
          </a:prstGeom>
          <a:ln w="0">
            <a:noFill/>
          </a:ln>
        </p:spPr>
      </p:pic>
      <p:sp>
        <p:nvSpPr>
          <p:cNvPr id="172" name=""/>
          <p:cNvSpPr/>
          <p:nvPr/>
        </p:nvSpPr>
        <p:spPr>
          <a:xfrm>
            <a:off x="3094560" y="6030000"/>
            <a:ext cx="6003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Ukuaji wa Bitcoin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" descr=""/>
          <p:cNvPicPr/>
          <p:nvPr/>
        </p:nvPicPr>
        <p:blipFill>
          <a:blip r:embed="rId1"/>
          <a:stretch/>
        </p:blipFill>
        <p:spPr>
          <a:xfrm>
            <a:off x="1730160" y="329400"/>
            <a:ext cx="8731440" cy="5184000"/>
          </a:xfrm>
          <a:prstGeom prst="rect">
            <a:avLst/>
          </a:prstGeom>
          <a:ln w="0">
            <a:noFill/>
          </a:ln>
        </p:spPr>
      </p:pic>
      <p:sp>
        <p:nvSpPr>
          <p:cNvPr id="174" name=""/>
          <p:cNvSpPr/>
          <p:nvPr/>
        </p:nvSpPr>
        <p:spPr>
          <a:xfrm>
            <a:off x="1730160" y="5513760"/>
            <a:ext cx="8732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Sanamu ya Jupiter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" descr=""/>
          <p:cNvPicPr/>
          <p:nvPr/>
        </p:nvPicPr>
        <p:blipFill>
          <a:blip r:embed="rId1"/>
          <a:srcRect l="0" t="17468" r="0" b="22471"/>
          <a:stretch/>
        </p:blipFill>
        <p:spPr>
          <a:xfrm>
            <a:off x="4000680" y="1495440"/>
            <a:ext cx="4190760" cy="356940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6" name=""/>
          <p:cNvSpPr/>
          <p:nvPr/>
        </p:nvSpPr>
        <p:spPr>
          <a:xfrm>
            <a:off x="3817080" y="5073120"/>
            <a:ext cx="4557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Muhtasari wa Maadili ya Spinoza katika Kilatini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>
            <a:off x="5831640" y="6232680"/>
            <a:ext cx="4077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Sanamu ya Rousseau huko Genève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178" name=""/>
          <p:cNvSpPr/>
          <p:nvPr/>
        </p:nvSpPr>
        <p:spPr>
          <a:xfrm>
            <a:off x="1011960" y="6232680"/>
            <a:ext cx="47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Nietzsche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" name="" descr=""/>
          <p:cNvPicPr/>
          <p:nvPr/>
        </p:nvPicPr>
        <p:blipFill>
          <a:blip r:embed="rId1"/>
          <a:stretch/>
        </p:blipFill>
        <p:spPr>
          <a:xfrm>
            <a:off x="5831640" y="110880"/>
            <a:ext cx="4075920" cy="6121440"/>
          </a:xfrm>
          <a:prstGeom prst="rect">
            <a:avLst/>
          </a:prstGeom>
          <a:ln w="0">
            <a:noFill/>
          </a:ln>
        </p:spPr>
      </p:pic>
      <p:pic>
        <p:nvPicPr>
          <p:cNvPr id="180" name="" descr=""/>
          <p:cNvPicPr/>
          <p:nvPr/>
        </p:nvPicPr>
        <p:blipFill>
          <a:blip r:embed="rId2"/>
          <a:stretch/>
        </p:blipFill>
        <p:spPr>
          <a:xfrm>
            <a:off x="1042920" y="152280"/>
            <a:ext cx="4728600" cy="603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>
            <a:off x="3872160" y="6414840"/>
            <a:ext cx="4448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von Hayek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" descr=""/>
          <p:cNvPicPr/>
          <p:nvPr/>
        </p:nvPicPr>
        <p:blipFill>
          <a:blip r:embed="rId1"/>
          <a:stretch/>
        </p:blipFill>
        <p:spPr>
          <a:xfrm>
            <a:off x="3872160" y="443160"/>
            <a:ext cx="4447440" cy="597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/>
          <p:nvPr/>
        </p:nvSpPr>
        <p:spPr>
          <a:xfrm>
            <a:off x="2835360" y="6417000"/>
            <a:ext cx="6521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Frédéric Bastiat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" name="" descr=""/>
          <p:cNvPicPr/>
          <p:nvPr/>
        </p:nvPicPr>
        <p:blipFill>
          <a:blip r:embed="rId1"/>
          <a:stretch/>
        </p:blipFill>
        <p:spPr>
          <a:xfrm>
            <a:off x="2835360" y="279720"/>
            <a:ext cx="6521040" cy="613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" descr=""/>
          <p:cNvPicPr/>
          <p:nvPr/>
        </p:nvPicPr>
        <p:blipFill>
          <a:blip r:embed="rId1"/>
          <a:stretch/>
        </p:blipFill>
        <p:spPr>
          <a:xfrm>
            <a:off x="3838680" y="681120"/>
            <a:ext cx="4514400" cy="5495400"/>
          </a:xfrm>
          <a:prstGeom prst="rect">
            <a:avLst/>
          </a:prstGeom>
          <a:ln w="0">
            <a:noFill/>
          </a:ln>
        </p:spPr>
      </p:pic>
      <p:sp>
        <p:nvSpPr>
          <p:cNvPr id="186" name=""/>
          <p:cNvSpPr/>
          <p:nvPr/>
        </p:nvSpPr>
        <p:spPr>
          <a:xfrm>
            <a:off x="3838680" y="6176880"/>
            <a:ext cx="451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Milton Friedman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" descr=""/>
          <p:cNvPicPr/>
          <p:nvPr/>
        </p:nvPicPr>
        <p:blipFill>
          <a:blip r:embed="rId1"/>
          <a:stretch/>
        </p:blipFill>
        <p:spPr>
          <a:xfrm>
            <a:off x="2062080" y="435240"/>
            <a:ext cx="8067600" cy="5602320"/>
          </a:xfrm>
          <a:prstGeom prst="rect">
            <a:avLst/>
          </a:prstGeom>
          <a:ln w="0">
            <a:noFill/>
          </a:ln>
        </p:spPr>
      </p:pic>
      <p:sp>
        <p:nvSpPr>
          <p:cNvPr id="188" name=""/>
          <p:cNvSpPr/>
          <p:nvPr/>
        </p:nvSpPr>
        <p:spPr>
          <a:xfrm>
            <a:off x="2062080" y="6037920"/>
            <a:ext cx="807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"The Crypto Anarchist Manifesto"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na "A Cypherpunk Manifesto"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" descr=""/>
          <p:cNvPicPr/>
          <p:nvPr/>
        </p:nvPicPr>
        <p:blipFill>
          <a:blip r:embed="rId1"/>
          <a:stretch/>
        </p:blipFill>
        <p:spPr>
          <a:xfrm>
            <a:off x="1877400" y="279720"/>
            <a:ext cx="8436960" cy="5825160"/>
          </a:xfrm>
          <a:prstGeom prst="rect">
            <a:avLst/>
          </a:prstGeom>
          <a:ln w="0">
            <a:noFill/>
          </a:ln>
        </p:spPr>
      </p:pic>
      <p:sp>
        <p:nvSpPr>
          <p:cNvPr id="190" name=""/>
          <p:cNvSpPr/>
          <p:nvPr/>
        </p:nvSpPr>
        <p:spPr>
          <a:xfrm>
            <a:off x="1877400" y="6104880"/>
            <a:ext cx="8437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Bitcoin Mwanzo Block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Application>LibreOffice/7.4.7.2$Linux_X86_64 LibreOffice_project/40$Build-2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it-IT</dc:language>
  <cp:lastModifiedBy/>
  <dcterms:modified xsi:type="dcterms:W3CDTF">2025-12-03T11:55:19Z</dcterms:modified>
  <cp:revision>18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56</vt:i4>
  </property>
  <property fmtid="{D5CDD505-2E9C-101B-9397-08002B2CF9AE}" pid="4" name="PresentationFormat">
    <vt:lpwstr>On-screen Show (4:3)</vt:lpwstr>
  </property>
  <property fmtid="{D5CDD505-2E9C-101B-9397-08002B2CF9AE}" pid="5" name="Slides">
    <vt:i4>56</vt:i4>
  </property>
</Properties>
</file>