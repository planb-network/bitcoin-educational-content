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6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tableStyles" Target="tableStyles.xml"/><Relationship Id="rId63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202543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0039282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531981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5941272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1116594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5509404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3617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314730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56624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36306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134909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24273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AAEF36-9E99-B95B-59EC-9A4D666FE2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14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195249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583496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72BAA0-3A5B-B2EC-1597-BC959F9D49B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8368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3763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81482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CA08F9-3DC7-DCE4-68B4-BCFF040FAC1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13499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50430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63424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840C91-C52D-155F-66D0-A28A1BB496D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97486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924106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48630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89EE83-35FC-22FF-63C6-E32B8B3EE48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40078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04748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84137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307E4E-234B-FDF9-DCE7-1C50B4F6789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9648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254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91879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E85E07-D30C-F0EE-4F39-CE619F4D535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47857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57863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49906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58132A-C3C9-685D-38D8-EC94C424AC6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70366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1668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74028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21EC57-F523-1100-5168-AA39BED0E37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04307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606533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451860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AE0B25-6DF3-98EA-DBD0-A0D1BA95055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6452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4647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547463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1D2739-ECAB-BEBC-DE99-4736B5AAB8E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8294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14628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07630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64F3F2-7E83-F54B-E6AF-0518F8AD66B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18721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25225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083009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219823-A307-E415-2E6E-804A664CAA3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45084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92119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269462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D30949-8508-DCA9-A87D-BE5122D84F7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3991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85895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567033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9E7654-4B0F-9743-92B8-10731D7C3AE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04648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91230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911138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4D180B-F00F-904D-98C9-941F0B7743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1957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536566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40169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5EE3D9-5BD6-3B5F-5553-8032F3D292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38054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85050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9711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C1F0BD-32CD-16D5-8EAF-2D1EF9744E8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6479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65829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29703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05C9BB-3415-D9D4-08A7-7B58D01CC07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65960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444934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4389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83855A-AF68-1D83-0381-AE716CFEAA5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55200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4630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3114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517918-18DC-AB86-0F37-519DEF788D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59051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60411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643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763F0C-99BF-DED3-0530-21A2E071F3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3985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89880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50408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823560-D2F7-0199-80BA-E4B16D958F2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3347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03919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71939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5D0046-8A9E-6B5F-08FC-FC37D0185CD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86709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32608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336577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A371C4-632F-D7FA-B36C-667BC2BEC6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91405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79052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630552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E802DD-F6D6-B90D-7246-DC29B115B05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45414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59008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59442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4C398-B182-1BB5-38E6-B679C8D6E6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42196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77367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00948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1E3565-DA14-8398-E1A7-8A378D788A1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1585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74384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5525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DA46FE-A7AD-D48D-F2DD-97B0A99D1C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887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21185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224670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0C346B-A8A9-34EE-A49A-0D34CA0BAA4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000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3096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62151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C2791D-EBFB-6A53-9DC2-4007A120CBD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9385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6359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708086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CE9B6D-6769-8BB8-CA5B-B5F4F7CB7C1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3525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21213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478044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B04C21-F2E7-7ABA-16EF-DBEBAF4130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36028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30396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3402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377DF8-FA64-093F-597B-018B6695117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33768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84633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363180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2E90FF-511D-77F7-14DA-2D71E0E2515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1771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2816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66973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A7FF10-6968-ECEB-43CF-8848BA1E7A3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47325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3725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87850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1871E1-AB50-2C94-E5F8-DA3290AE10B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76685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998391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757470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29F5D7-014C-5543-A32D-BAA796B936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90519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49333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1772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9FBA9D-30FB-972B-E051-46CFC88931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5786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716854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3597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07E3AB-DA4A-3369-1CF9-E085F0F7E3F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30971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78550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2823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6326DF-E103-BCF5-AF9F-8EC70E6F0AA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9723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51465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15279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5FD49F-11E7-8036-EFE4-90286361B7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2178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203566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39608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BE31BF-414C-20A4-F74E-63D3DB5A6CD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6581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505430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67660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60803-51B9-82AE-8966-DAFD95EA04D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3956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751084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18676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5B4656-7C7A-3B05-521B-6D7D30A0546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70580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5673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457603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73A439-5340-929A-A556-6D8895E750F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74594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97437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62223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3A0AB1-A2A9-1D7E-5059-A4398DB9DE3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46416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6176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241125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F4D264-5F2C-4BB3-7E69-F357C2890E7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64604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06583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2141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6FBC58-7B07-9FA4-759A-087C732EC9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5052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34120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29686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3079F2-936C-FEEF-E010-0148021460A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9263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288119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46489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D2CB85-13D6-518A-C8FD-07A8DE151B0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85822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677277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646158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AC85DE-8DDE-0923-F8B5-B23AB7009B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29369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05936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435233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5FAAD1-BFFE-D073-17D5-2F3A0FA5E4E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47903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25664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38752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A211AC-A37D-815B-8CC8-9310B3A10DE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18133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59609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147274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015512-DFD9-679A-9259-CC2D38A4955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78221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8941267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1799858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23276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22462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85681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6204242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811323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296478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21246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6765201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714789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787726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250615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084324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9437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2069364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9747134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475550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8237864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712053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916036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7183922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8644957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108875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0878948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4420421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1682698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076482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6776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0558701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7347640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463794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12612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2212224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480461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114547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5797664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92572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4294438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1845855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90304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60663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27376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42438015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0381101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0689353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35658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26346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808126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54254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9816717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168343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723081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65030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204752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2411571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90356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2922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303307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0694006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6990806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4546879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5" Type="http://schemas.openxmlformats.org/officeDocument/2006/relationships/image" Target="../media/image29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2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3.png"/><Relationship Id="rId4" Type="http://schemas.openxmlformats.org/officeDocument/2006/relationships/image" Target="../media/image34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5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6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7.jpg"/><Relationship Id="rId4" Type="http://schemas.openxmlformats.org/officeDocument/2006/relationships/image" Target="../media/image38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9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0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2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3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0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4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5.jpg"/><Relationship Id="rId4" Type="http://schemas.openxmlformats.org/officeDocument/2006/relationships/image" Target="../media/image4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7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8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9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0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7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3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4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5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6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7.jpg"/><Relationship Id="rId4" Type="http://schemas.openxmlformats.org/officeDocument/2006/relationships/image" Target="../media/image58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9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0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6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62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6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976423" name=""/>
          <p:cNvSpPr txBox="1"/>
          <p:nvPr/>
        </p:nvSpPr>
        <p:spPr bwMode="auto">
          <a:xfrm rot="0" flipH="0" flipV="0">
            <a:off x="1045142" y="6602014"/>
            <a:ext cx="1010243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Retrato de Baruch </a:t>
            </a:r>
            <a:r>
              <a:rPr sz="1200" i="1">
                <a:latin typeface="IBM Plex Sans"/>
              </a:rPr>
              <a:t>Spinoza atribuído </a:t>
            </a:r>
            <a:r>
              <a:rPr sz="1200" i="1">
                <a:latin typeface="IBM Plex Sans"/>
              </a:rPr>
              <a:t>a Samuel </a:t>
            </a:r>
            <a:r>
              <a:rPr sz="1200" i="1">
                <a:latin typeface="IBM Plex Sans"/>
              </a:rPr>
              <a:t>van Hoogstraten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4113146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45142" y="69622"/>
            <a:ext cx="10101714" cy="65323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5214277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925233" y="260348"/>
            <a:ext cx="4341532" cy="5817886"/>
          </a:xfrm>
          <a:prstGeom prst="rect">
            <a:avLst/>
          </a:prstGeom>
        </p:spPr>
      </p:pic>
      <p:sp>
        <p:nvSpPr>
          <p:cNvPr id="817797892" name=""/>
          <p:cNvSpPr txBox="1"/>
          <p:nvPr/>
        </p:nvSpPr>
        <p:spPr bwMode="auto">
          <a:xfrm rot="0" flipH="0" flipV="0">
            <a:off x="3922713" y="5940894"/>
            <a:ext cx="43440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Gravura de </a:t>
            </a:r>
            <a:r>
              <a:rPr sz="1200" i="1">
                <a:latin typeface="IBM Plex Sans"/>
              </a:rPr>
              <a:t>Baruch Spinoza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11457299" name=""/>
          <p:cNvPicPr>
            <a:picLocks noChangeAspect="1"/>
          </p:cNvPicPr>
          <p:nvPr/>
        </p:nvPicPr>
        <p:blipFill rotWithShape="1">
          <a:blip r:embed="rId3"/>
          <a:srcRect l="0" t="15073" r="0" b="23968"/>
          <a:stretch/>
        </p:blipFill>
        <p:spPr bwMode="auto">
          <a:xfrm flipH="0" flipV="0">
            <a:off x="4000500" y="1353082"/>
            <a:ext cx="4190999" cy="362306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914964876" name=""/>
          <p:cNvSpPr txBox="1"/>
          <p:nvPr/>
        </p:nvSpPr>
        <p:spPr bwMode="auto">
          <a:xfrm rot="0" flipH="0" flipV="0">
            <a:off x="4000500" y="4976141"/>
            <a:ext cx="419171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Esboço da "Ética" de </a:t>
            </a:r>
            <a:r>
              <a:rPr sz="1200" i="1">
                <a:latin typeface="IBM Plex Sans"/>
              </a:rPr>
              <a:t>Spinoza em latim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8607197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512538" y="488947"/>
            <a:ext cx="3166923" cy="5290260"/>
          </a:xfrm>
          <a:prstGeom prst="rect">
            <a:avLst/>
          </a:prstGeom>
        </p:spPr>
      </p:pic>
      <p:sp>
        <p:nvSpPr>
          <p:cNvPr id="1753450939" name=""/>
          <p:cNvSpPr txBox="1"/>
          <p:nvPr/>
        </p:nvSpPr>
        <p:spPr bwMode="auto">
          <a:xfrm rot="0" flipH="0" flipV="0">
            <a:off x="3876747" y="5779206"/>
            <a:ext cx="4438504" cy="442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Spinoza, "Tractatus </a:t>
            </a:r>
            <a:r>
              <a:rPr sz="1200" i="1">
                <a:latin typeface="IBM Plex Sans"/>
              </a:rPr>
              <a:t>Theologico-Politicus", </a:t>
            </a:r>
            <a:r>
              <a:rPr sz="1200" i="1">
                <a:latin typeface="IBM Plex Sans"/>
              </a:rPr>
              <a:t>1675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155740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194847" y="738855"/>
            <a:ext cx="7802305" cy="5204077"/>
          </a:xfrm>
          <a:prstGeom prst="rect">
            <a:avLst/>
          </a:prstGeom>
        </p:spPr>
      </p:pic>
      <p:sp>
        <p:nvSpPr>
          <p:cNvPr id="916164723" name=""/>
          <p:cNvSpPr/>
          <p:nvPr/>
        </p:nvSpPr>
        <p:spPr bwMode="auto">
          <a:xfrm flipH="0" flipV="0">
            <a:off x="2194845" y="5942930"/>
            <a:ext cx="7810222" cy="4575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Estátua de Satoshi </a:t>
            </a:r>
            <a:r>
              <a:rPr sz="1200" b="0" i="1" u="none" lang="en-US">
                <a:solidFill>
                  <a:srgbClr val="000000"/>
                </a:solidFill>
                <a:latin typeface="IBM Plex Sans"/>
              </a:rPr>
              <a:t>Nakamoto por Gergely, </a:t>
            </a:r>
            <a:r>
              <a:rPr sz="1200" b="0" i="1" u="none" lang="en-US">
                <a:solidFill>
                  <a:srgbClr val="000000"/>
                </a:solidFill>
                <a:latin typeface="IBM Plex Sans"/>
              </a:rPr>
              <a:t>R., &amp; Gilly,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T. (2021). Parque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Graphisoft, Budapeste, Hungria</a:t>
            </a:r>
            <a:endParaRPr sz="1200" b="0" i="1" u="none">
              <a:solidFill>
                <a:srgbClr val="000000"/>
              </a:solidFill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078130" name=""/>
          <p:cNvSpPr txBox="1"/>
          <p:nvPr/>
        </p:nvSpPr>
        <p:spPr bwMode="auto">
          <a:xfrm rot="0" flipH="0" flipV="0">
            <a:off x="7870319" y="5884961"/>
            <a:ext cx="42675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Selo utilizado por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Baruch Spinoza</a:t>
            </a:r>
            <a:endParaRPr sz="1200" b="0" i="1">
              <a:latin typeface="IBM Plex Sans"/>
              <a:cs typeface="IBM Plex Sans"/>
            </a:endParaRPr>
          </a:p>
        </p:txBody>
      </p:sp>
      <p:sp>
        <p:nvSpPr>
          <p:cNvPr id="1165737183" name=""/>
          <p:cNvSpPr txBox="1"/>
          <p:nvPr/>
        </p:nvSpPr>
        <p:spPr bwMode="auto">
          <a:xfrm rot="0" flipH="0" flipV="0">
            <a:off x="13554" y="5879517"/>
            <a:ext cx="785784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Pintura que representa a exclusão de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Spinoza da comunidade judaica de Amesterdão</a:t>
            </a:r>
            <a:endParaRPr sz="1200" b="0" i="1" u="none">
              <a:solidFill>
                <a:srgbClr val="000000"/>
              </a:solidFill>
              <a:latin typeface="IBM Plex Sans"/>
            </a:endParaRPr>
          </a:p>
          <a:p>
            <a:pPr algn="ctr"/>
          </a:p>
        </p:txBody>
      </p:sp>
      <p:pic>
        <p:nvPicPr>
          <p:cNvPr id="25425732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3554" y="-15312"/>
            <a:ext cx="7856045" cy="5900274"/>
          </a:xfrm>
          <a:prstGeom prst="rect">
            <a:avLst/>
          </a:prstGeom>
        </p:spPr>
      </p:pic>
      <p:pic>
        <p:nvPicPr>
          <p:cNvPr id="168412699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869599" y="811060"/>
            <a:ext cx="4267199" cy="42671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644490" name=""/>
          <p:cNvSpPr txBox="1"/>
          <p:nvPr/>
        </p:nvSpPr>
        <p:spPr bwMode="auto">
          <a:xfrm rot="0" flipH="0" flipV="0">
            <a:off x="8340904" y="6185079"/>
            <a:ext cx="371268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Johannes Kepler</a:t>
            </a:r>
            <a:endParaRPr sz="1200">
              <a:latin typeface="IBM Plex Sans"/>
              <a:cs typeface="IBM Plex Sans"/>
            </a:endParaRPr>
          </a:p>
        </p:txBody>
      </p:sp>
      <p:pic>
        <p:nvPicPr>
          <p:cNvPr id="2658015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622" y="1094218"/>
            <a:ext cx="4110486" cy="5090861"/>
          </a:xfrm>
          <a:prstGeom prst="rect">
            <a:avLst/>
          </a:prstGeom>
        </p:spPr>
      </p:pic>
      <p:pic>
        <p:nvPicPr>
          <p:cNvPr id="104710680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128109" y="1094218"/>
            <a:ext cx="4269945" cy="5090861"/>
          </a:xfrm>
          <a:prstGeom prst="rect">
            <a:avLst/>
          </a:prstGeom>
        </p:spPr>
      </p:pic>
      <p:pic>
        <p:nvPicPr>
          <p:cNvPr id="530237065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8340905" y="1094218"/>
            <a:ext cx="3710523" cy="5090861"/>
          </a:xfrm>
          <a:prstGeom prst="rect">
            <a:avLst/>
          </a:prstGeom>
        </p:spPr>
      </p:pic>
      <p:sp>
        <p:nvSpPr>
          <p:cNvPr id="1893231068" name=""/>
          <p:cNvSpPr txBox="1"/>
          <p:nvPr/>
        </p:nvSpPr>
        <p:spPr bwMode="auto">
          <a:xfrm rot="0" flipH="0" flipV="0">
            <a:off x="17622" y="6185079"/>
            <a:ext cx="411228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Nicolau Copérnico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60250738" name=""/>
          <p:cNvSpPr txBox="1"/>
          <p:nvPr/>
        </p:nvSpPr>
        <p:spPr bwMode="auto">
          <a:xfrm rot="0" flipH="0" flipV="0">
            <a:off x="4129907" y="6185079"/>
            <a:ext cx="421963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Galileu Galilei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838916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14684" y="1418949"/>
            <a:ext cx="10962630" cy="3765866"/>
          </a:xfrm>
          <a:prstGeom prst="rect">
            <a:avLst/>
          </a:prstGeom>
        </p:spPr>
      </p:pic>
      <p:sp>
        <p:nvSpPr>
          <p:cNvPr id="1729214215" name=""/>
          <p:cNvSpPr txBox="1"/>
          <p:nvPr/>
        </p:nvSpPr>
        <p:spPr bwMode="auto">
          <a:xfrm rot="0" flipH="0" flipV="0">
            <a:off x="5475420" y="5184814"/>
            <a:ext cx="28905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Arthur Schopenhauer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466723052" name=""/>
          <p:cNvSpPr txBox="1"/>
          <p:nvPr/>
        </p:nvSpPr>
        <p:spPr bwMode="auto">
          <a:xfrm rot="0" flipH="0" flipV="0">
            <a:off x="614683" y="5144861"/>
            <a:ext cx="2197710" cy="442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Gottfried Wilhelm Leibniz</a:t>
            </a:r>
            <a:endParaRPr sz="11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2081126489" name=""/>
          <p:cNvSpPr txBox="1"/>
          <p:nvPr/>
        </p:nvSpPr>
        <p:spPr bwMode="auto">
          <a:xfrm rot="0" flipH="0" flipV="0">
            <a:off x="8364179" y="5184814"/>
            <a:ext cx="32134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Friedrich Nietzsche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66968852" name=""/>
          <p:cNvSpPr txBox="1"/>
          <p:nvPr/>
        </p:nvSpPr>
        <p:spPr bwMode="auto">
          <a:xfrm rot="0" flipH="0" flipV="0">
            <a:off x="2809153" y="5184814"/>
            <a:ext cx="26673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Immanuel Kant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9808348" name=""/>
          <p:cNvPicPr>
            <a:picLocks noChangeAspect="1"/>
          </p:cNvPicPr>
          <p:nvPr/>
        </p:nvPicPr>
        <p:blipFill rotWithShape="1">
          <a:blip r:embed="rId3"/>
          <a:srcRect l="8477" t="0" r="9747" b="0"/>
          <a:stretch/>
        </p:blipFill>
        <p:spPr bwMode="auto">
          <a:xfrm flipH="0" flipV="0">
            <a:off x="1110953" y="1334909"/>
            <a:ext cx="9970093" cy="4188177"/>
          </a:xfrm>
          <a:prstGeom prst="rect">
            <a:avLst/>
          </a:prstGeom>
        </p:spPr>
      </p:pic>
      <p:sp>
        <p:nvSpPr>
          <p:cNvPr id="1606306724" name=""/>
          <p:cNvSpPr txBox="1"/>
          <p:nvPr/>
        </p:nvSpPr>
        <p:spPr bwMode="auto">
          <a:xfrm rot="0" flipH="0" flipV="0">
            <a:off x="4385250" y="5523084"/>
            <a:ext cx="297215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20539432" name=""/>
          <p:cNvSpPr txBox="1"/>
          <p:nvPr/>
        </p:nvSpPr>
        <p:spPr bwMode="auto">
          <a:xfrm rot="0" flipH="0" flipV="0">
            <a:off x="7355248" y="5523084"/>
            <a:ext cx="373479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Jean-Jacques Rousseau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57138084" name=""/>
          <p:cNvSpPr txBox="1"/>
          <p:nvPr/>
        </p:nvSpPr>
        <p:spPr bwMode="auto">
          <a:xfrm rot="0" flipH="0" flipV="0">
            <a:off x="1110952" y="5523085"/>
            <a:ext cx="327429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Denis Diderot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095059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562034" y="47156"/>
            <a:ext cx="5067930" cy="6368699"/>
          </a:xfrm>
          <a:prstGeom prst="rect">
            <a:avLst/>
          </a:prstGeom>
        </p:spPr>
      </p:pic>
      <p:sp>
        <p:nvSpPr>
          <p:cNvPr id="1411022583" name=""/>
          <p:cNvSpPr txBox="1"/>
          <p:nvPr/>
        </p:nvSpPr>
        <p:spPr bwMode="auto">
          <a:xfrm rot="0" flipH="0" flipV="0">
            <a:off x="3562033" y="6415855"/>
            <a:ext cx="506900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1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45437" name=""/>
          <p:cNvSpPr txBox="1"/>
          <p:nvPr/>
        </p:nvSpPr>
        <p:spPr bwMode="auto">
          <a:xfrm rot="0" flipH="0" flipV="0">
            <a:off x="1425823" y="5921371"/>
            <a:ext cx="93414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Galileu Galilei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312072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45138" y="15874"/>
            <a:ext cx="10501719" cy="59054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66325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600575" y="780692"/>
            <a:ext cx="2990849" cy="4762499"/>
          </a:xfrm>
          <a:prstGeom prst="rect">
            <a:avLst/>
          </a:prstGeom>
        </p:spPr>
      </p:pic>
      <p:sp>
        <p:nvSpPr>
          <p:cNvPr id="1452078674" name=""/>
          <p:cNvSpPr txBox="1"/>
          <p:nvPr/>
        </p:nvSpPr>
        <p:spPr bwMode="auto">
          <a:xfrm rot="0" flipH="0" flipV="0">
            <a:off x="4600575" y="5543190"/>
            <a:ext cx="299156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Spinoza,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"A </a:t>
            </a:r>
            <a:r>
              <a:rPr sz="1200" i="1">
                <a:latin typeface="IBM Plex Sans"/>
              </a:rPr>
              <a:t>Ética"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8015896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736163" y="240349"/>
            <a:ext cx="4719670" cy="6003420"/>
          </a:xfrm>
          <a:prstGeom prst="rect">
            <a:avLst/>
          </a:prstGeom>
        </p:spPr>
      </p:pic>
      <p:sp>
        <p:nvSpPr>
          <p:cNvPr id="1019330377" name=""/>
          <p:cNvSpPr txBox="1"/>
          <p:nvPr/>
        </p:nvSpPr>
        <p:spPr bwMode="auto">
          <a:xfrm rot="0" flipH="0" flipV="0">
            <a:off x="3736162" y="6243768"/>
            <a:ext cx="4721109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Spinoza, "Tractatus Theologico-Politicus" </a:t>
            </a:r>
            <a:r>
              <a:rPr sz="1200" i="1">
                <a:latin typeface="IBM Plex Sans"/>
              </a:rPr>
              <a:t>(Tratado Teológico-Político)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3957779" name=""/>
          <p:cNvSpPr txBox="1"/>
          <p:nvPr/>
        </p:nvSpPr>
        <p:spPr bwMode="auto">
          <a:xfrm rot="0" flipH="0" flipV="0">
            <a:off x="2033217" y="6616695"/>
            <a:ext cx="81259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Gilles Deleuze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49664226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058968" y="23875"/>
            <a:ext cx="8074062" cy="6597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369179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838574" y="392838"/>
            <a:ext cx="4514850" cy="5734049"/>
          </a:xfrm>
          <a:prstGeom prst="rect">
            <a:avLst/>
          </a:prstGeom>
        </p:spPr>
      </p:pic>
      <p:sp>
        <p:nvSpPr>
          <p:cNvPr id="1018715711" name=""/>
          <p:cNvSpPr txBox="1"/>
          <p:nvPr/>
        </p:nvSpPr>
        <p:spPr bwMode="auto">
          <a:xfrm rot="0" flipH="0" flipV="0">
            <a:off x="3838573" y="6162670"/>
            <a:ext cx="45162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Spinoza, "Tractatus Theologico-Politicus"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(Tratado Teológico-Político)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740306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662774" y="353403"/>
            <a:ext cx="4866451" cy="6026565"/>
          </a:xfrm>
          <a:prstGeom prst="rect">
            <a:avLst/>
          </a:prstGeom>
        </p:spPr>
      </p:pic>
      <p:sp>
        <p:nvSpPr>
          <p:cNvPr id="336274" name=""/>
          <p:cNvSpPr txBox="1"/>
          <p:nvPr/>
        </p:nvSpPr>
        <p:spPr bwMode="auto">
          <a:xfrm rot="0" flipH="0" flipV="0">
            <a:off x="3662415" y="6381747"/>
            <a:ext cx="487724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"Ética", Parte I, "Acerca de Deus"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3969629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818982" y="31749"/>
            <a:ext cx="4554033" cy="6292846"/>
          </a:xfrm>
          <a:prstGeom prst="rect">
            <a:avLst/>
          </a:prstGeom>
        </p:spPr>
      </p:pic>
      <p:sp>
        <p:nvSpPr>
          <p:cNvPr id="1052575163" name=""/>
          <p:cNvSpPr txBox="1"/>
          <p:nvPr/>
        </p:nvSpPr>
        <p:spPr bwMode="auto">
          <a:xfrm rot="0" flipH="0" flipV="0">
            <a:off x="3818982" y="6324596"/>
            <a:ext cx="4555473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Pintura de William Blake, </a:t>
            </a:r>
            <a:r>
              <a:rPr sz="1200" i="1">
                <a:latin typeface="IBM Plex Sans"/>
              </a:rPr>
              <a:t>"Deus criando o Universo"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547212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332517" y="952497"/>
            <a:ext cx="7526964" cy="4647638"/>
          </a:xfrm>
          <a:prstGeom prst="rect">
            <a:avLst/>
          </a:prstGeom>
        </p:spPr>
      </p:pic>
      <p:sp>
        <p:nvSpPr>
          <p:cNvPr id="599123748" name=""/>
          <p:cNvSpPr txBox="1"/>
          <p:nvPr/>
        </p:nvSpPr>
        <p:spPr bwMode="auto">
          <a:xfrm rot="0" flipH="0" flipV="0">
            <a:off x="2396764" y="5552511"/>
            <a:ext cx="739846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O terramoto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de Lisboa, </a:t>
            </a:r>
            <a:r>
              <a:rPr sz="1200" i="1">
                <a:latin typeface="IBM Plex Sans"/>
              </a:rPr>
              <a:t>1755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205368" name=""/>
          <p:cNvSpPr txBox="1"/>
          <p:nvPr/>
        </p:nvSpPr>
        <p:spPr bwMode="auto">
          <a:xfrm rot="0" flipH="0" flipV="0">
            <a:off x="2914110" y="5835646"/>
            <a:ext cx="636521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Gottfried Wilhelm Leibniz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439688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824287" y="120648"/>
            <a:ext cx="4543425" cy="571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750054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809073" y="338268"/>
            <a:ext cx="6573852" cy="5478210"/>
          </a:xfrm>
          <a:prstGeom prst="rect">
            <a:avLst/>
          </a:prstGeom>
        </p:spPr>
      </p:pic>
      <p:sp>
        <p:nvSpPr>
          <p:cNvPr id="1012878591" name=""/>
          <p:cNvSpPr txBox="1"/>
          <p:nvPr/>
        </p:nvSpPr>
        <p:spPr bwMode="auto">
          <a:xfrm rot="0" flipH="0" flipV="0">
            <a:off x="2809072" y="5816476"/>
            <a:ext cx="65749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Jean-Jacques Rousseau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6023909" name=""/>
          <p:cNvSpPr txBox="1"/>
          <p:nvPr/>
        </p:nvSpPr>
        <p:spPr bwMode="auto">
          <a:xfrm rot="0" flipH="0" flipV="0">
            <a:off x="397171" y="6262724"/>
            <a:ext cx="6250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Nicolas Copernic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45966078" name=""/>
          <p:cNvSpPr txBox="1"/>
          <p:nvPr/>
        </p:nvSpPr>
        <p:spPr bwMode="auto">
          <a:xfrm rot="0" flipH="0" flipV="0">
            <a:off x="6646968" y="6262724"/>
            <a:ext cx="49172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Charles Darwin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7338315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97171" y="147714"/>
            <a:ext cx="6249795" cy="6115010"/>
          </a:xfrm>
          <a:prstGeom prst="rect">
            <a:avLst/>
          </a:prstGeom>
        </p:spPr>
      </p:pic>
      <p:pic>
        <p:nvPicPr>
          <p:cNvPr id="135438031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646968" y="147714"/>
            <a:ext cx="4916126" cy="61150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383523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528396" y="234483"/>
            <a:ext cx="5135208" cy="6009286"/>
          </a:xfrm>
          <a:prstGeom prst="rect">
            <a:avLst/>
          </a:prstGeom>
        </p:spPr>
      </p:pic>
      <p:sp>
        <p:nvSpPr>
          <p:cNvPr id="1209874838" name=""/>
          <p:cNvSpPr txBox="1"/>
          <p:nvPr/>
        </p:nvSpPr>
        <p:spPr bwMode="auto">
          <a:xfrm rot="0" flipH="0" flipV="0">
            <a:off x="3558125" y="6243768"/>
            <a:ext cx="5076462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Mapa Circumpolar do </a:t>
            </a:r>
            <a:r>
              <a:rPr sz="1200" i="1">
                <a:latin typeface="IBM Plex Sans"/>
              </a:rPr>
              <a:t>Norte, século XIX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775345" name=""/>
          <p:cNvSpPr txBox="1"/>
          <p:nvPr/>
        </p:nvSpPr>
        <p:spPr bwMode="auto">
          <a:xfrm rot="0" flipH="0" flipV="0">
            <a:off x="0" y="5420791"/>
            <a:ext cx="41267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Galileu Galilei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7465005" name=""/>
          <p:cNvSpPr txBox="1"/>
          <p:nvPr/>
        </p:nvSpPr>
        <p:spPr bwMode="auto">
          <a:xfrm rot="0" flipH="0" flipV="0">
            <a:off x="8504088" y="5420791"/>
            <a:ext cx="35956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Albert Einstein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17986959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0" y="96660"/>
            <a:ext cx="4172944" cy="5324131"/>
          </a:xfrm>
          <a:prstGeom prst="rect">
            <a:avLst/>
          </a:prstGeom>
        </p:spPr>
      </p:pic>
      <p:pic>
        <p:nvPicPr>
          <p:cNvPr id="92911679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125319" y="96660"/>
            <a:ext cx="4385305" cy="5324131"/>
          </a:xfrm>
          <a:prstGeom prst="rect">
            <a:avLst/>
          </a:prstGeom>
        </p:spPr>
      </p:pic>
      <p:pic>
        <p:nvPicPr>
          <p:cNvPr id="1017605646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8504088" y="96660"/>
            <a:ext cx="3594610" cy="5324131"/>
          </a:xfrm>
          <a:prstGeom prst="rect">
            <a:avLst/>
          </a:prstGeom>
        </p:spPr>
      </p:pic>
      <p:sp>
        <p:nvSpPr>
          <p:cNvPr id="1000328381" name=""/>
          <p:cNvSpPr txBox="1"/>
          <p:nvPr/>
        </p:nvSpPr>
        <p:spPr bwMode="auto">
          <a:xfrm rot="0" flipH="0" flipV="0">
            <a:off x="4041001" y="5420791"/>
            <a:ext cx="446344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Isaac Newton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152676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955911" y="702549"/>
            <a:ext cx="6280176" cy="5238556"/>
          </a:xfrm>
          <a:prstGeom prst="rect">
            <a:avLst/>
          </a:prstGeom>
        </p:spPr>
      </p:pic>
      <p:sp>
        <p:nvSpPr>
          <p:cNvPr id="1040812935" name=""/>
          <p:cNvSpPr txBox="1"/>
          <p:nvPr/>
        </p:nvSpPr>
        <p:spPr bwMode="auto">
          <a:xfrm rot="0" flipH="0" flipV="0">
            <a:off x="4117614" y="5975801"/>
            <a:ext cx="39592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René Descartes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0827925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220300" y="436189"/>
            <a:ext cx="3751399" cy="5547956"/>
          </a:xfrm>
          <a:prstGeom prst="rect">
            <a:avLst/>
          </a:prstGeom>
        </p:spPr>
      </p:pic>
      <p:sp>
        <p:nvSpPr>
          <p:cNvPr id="918179676" name=""/>
          <p:cNvSpPr txBox="1"/>
          <p:nvPr/>
        </p:nvSpPr>
        <p:spPr bwMode="auto">
          <a:xfrm rot="0" flipH="0" flipV="0">
            <a:off x="4220299" y="5794825"/>
            <a:ext cx="3752118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René Descartes, "Discurso </a:t>
            </a:r>
            <a:r>
              <a:rPr sz="1200" i="1">
                <a:latin typeface="IBM Plex Sans"/>
              </a:rPr>
              <a:t>sobre o Método"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490982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360775" y="685441"/>
            <a:ext cx="7470448" cy="5602836"/>
          </a:xfrm>
          <a:prstGeom prst="rect">
            <a:avLst/>
          </a:prstGeom>
        </p:spPr>
      </p:pic>
      <p:sp>
        <p:nvSpPr>
          <p:cNvPr id="1492696620" name=""/>
          <p:cNvSpPr txBox="1"/>
          <p:nvPr/>
        </p:nvSpPr>
        <p:spPr bwMode="auto">
          <a:xfrm rot="0" flipH="0" flipV="0">
            <a:off x="2360774" y="6288276"/>
            <a:ext cx="74711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Estátua de Descartes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928128" name=""/>
          <p:cNvSpPr txBox="1"/>
          <p:nvPr/>
        </p:nvSpPr>
        <p:spPr bwMode="auto">
          <a:xfrm rot="0" flipH="0" flipV="0">
            <a:off x="1796417" y="5037937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308454259" name=""/>
          <p:cNvSpPr txBox="1"/>
          <p:nvPr/>
        </p:nvSpPr>
        <p:spPr bwMode="auto">
          <a:xfrm rot="0" flipH="0" flipV="0">
            <a:off x="1276999" y="6067423"/>
            <a:ext cx="4083143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44208506" name="Text Placeholder 2"/>
          <p:cNvSpPr txBox="1"/>
          <p:nvPr/>
        </p:nvSpPr>
        <p:spPr bwMode="auto">
          <a:xfrm>
            <a:off x="6345472" y="2656170"/>
            <a:ext cx="3887533" cy="670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ct val="200000"/>
              </a:lnSpc>
              <a:defRPr sz="1300">
                <a:solidFill>
                  <a:srgbClr val="000000"/>
                </a:solidFill>
                <a:latin typeface="IBM Plex Sans"/>
                <a:ea typeface="Rubik"/>
                <a:cs typeface="Rubik"/>
              </a:defRPr>
            </a:lvl1pPr>
            <a:lvl2pPr marL="1028700" indent="-342900" algn="l" defTabSz="1371600">
              <a:lnSpc>
                <a:spcPct val="90000"/>
              </a:lnSpc>
              <a:spcBef>
                <a:spcPts val="748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>
              <a:lnSpc>
                <a:spcPct val="90000"/>
              </a:lnSpc>
              <a:spcBef>
                <a:spcPts val="748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>
              <a:lnSpc>
                <a:spcPct val="90000"/>
              </a:lnSpc>
              <a:spcBef>
                <a:spcPts val="748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>
              <a:lnSpc>
                <a:spcPct val="90000"/>
              </a:lnSpc>
              <a:spcBef>
                <a:spcPts val="748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>
              <a:lnSpc>
                <a:spcPct val="90000"/>
              </a:lnSpc>
              <a:spcBef>
                <a:spcPts val="748"/>
              </a:spcBef>
              <a:buFont typeface="Arial"/>
              <a:buChar char="•"/>
              <a:defRPr sz="2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>
              <a:lnSpc>
                <a:spcPct val="90000"/>
              </a:lnSpc>
              <a:spcBef>
                <a:spcPts val="748"/>
              </a:spcBef>
              <a:buFont typeface="Arial"/>
              <a:buChar char="•"/>
              <a:defRPr sz="2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>
              <a:lnSpc>
                <a:spcPct val="90000"/>
              </a:lnSpc>
              <a:spcBef>
                <a:spcPts val="748"/>
              </a:spcBef>
              <a:buFont typeface="Arial"/>
              <a:buChar char="•"/>
              <a:defRPr sz="2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>
              <a:lnSpc>
                <a:spcPct val="90000"/>
              </a:lnSpc>
              <a:spcBef>
                <a:spcPts val="748"/>
              </a:spcBef>
              <a:buFont typeface="Arial"/>
              <a:buChar char="•"/>
              <a:defRPr sz="2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2200" b="0" i="0" u="none" lang="en-US">
                <a:solidFill>
                  <a:srgbClr val="000000"/>
                </a:solidFill>
                <a:latin typeface="IBM Plex Sans"/>
              </a:rPr>
              <a:t>Penso, logo existo</a:t>
            </a:r>
            <a:endParaRPr sz="2200"/>
          </a:p>
        </p:txBody>
      </p:sp>
      <p:pic>
        <p:nvPicPr>
          <p:cNvPr id="1509614076" name="Picture 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188902" y="2189742"/>
            <a:ext cx="313144" cy="211582"/>
          </a:xfrm>
          <a:prstGeom prst="rect">
            <a:avLst/>
          </a:prstGeom>
        </p:spPr>
      </p:pic>
      <p:pic>
        <p:nvPicPr>
          <p:cNvPr id="1833826049" name="Picture 1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10799952">
            <a:off x="10150209" y="3377105"/>
            <a:ext cx="313144" cy="211582"/>
          </a:xfrm>
          <a:prstGeom prst="rect">
            <a:avLst/>
          </a:prstGeom>
        </p:spPr>
      </p:pic>
      <p:sp>
        <p:nvSpPr>
          <p:cNvPr id="466615379" name="Text Placeholder 6"/>
          <p:cNvSpPr txBox="1"/>
          <p:nvPr/>
        </p:nvSpPr>
        <p:spPr bwMode="auto">
          <a:xfrm>
            <a:off x="10230851" y="3834014"/>
            <a:ext cx="777875" cy="33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algn="r">
              <a:lnSpc>
                <a:spcPts val="2727"/>
              </a:lnSpc>
              <a:defRPr sz="1400">
                <a:latin typeface="IBM Plex Sans bold"/>
                <a:ea typeface="MuseoModerno Medium"/>
                <a:cs typeface="MuseoModerno Medium"/>
              </a:defRPr>
            </a:lvl1pPr>
            <a:lvl2pPr marL="1028700" indent="-342900" algn="l" defTabSz="1371600">
              <a:lnSpc>
                <a:spcPct val="90000"/>
              </a:lnSpc>
              <a:spcBef>
                <a:spcPts val="748"/>
              </a:spcBef>
              <a:buFont typeface="Arial"/>
              <a:buChar char="•"/>
              <a:defRPr sz="36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0" indent="-342900" algn="l" defTabSz="1371600">
              <a:lnSpc>
                <a:spcPct val="90000"/>
              </a:lnSpc>
              <a:spcBef>
                <a:spcPts val="748"/>
              </a:spcBef>
              <a:buFont typeface="Arial"/>
              <a:buChar char="•"/>
              <a:defRPr sz="30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400300" indent="-342900" algn="l" defTabSz="1371600">
              <a:lnSpc>
                <a:spcPct val="90000"/>
              </a:lnSpc>
              <a:spcBef>
                <a:spcPts val="748"/>
              </a:spcBef>
              <a:buFont typeface="Arial"/>
              <a:buChar char="•"/>
              <a:defRPr sz="27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3086100" indent="-342900" algn="l" defTabSz="1371600">
              <a:lnSpc>
                <a:spcPct val="90000"/>
              </a:lnSpc>
              <a:spcBef>
                <a:spcPts val="748"/>
              </a:spcBef>
              <a:buFont typeface="Arial"/>
              <a:buChar char="•"/>
              <a:defRPr sz="27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3771900" indent="-342900" algn="l" defTabSz="1371600">
              <a:lnSpc>
                <a:spcPct val="90000"/>
              </a:lnSpc>
              <a:spcBef>
                <a:spcPts val="748"/>
              </a:spcBef>
              <a:buFont typeface="Arial"/>
              <a:buChar char="•"/>
              <a:defRPr sz="2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>
              <a:lnSpc>
                <a:spcPct val="90000"/>
              </a:lnSpc>
              <a:spcBef>
                <a:spcPts val="748"/>
              </a:spcBef>
              <a:buFont typeface="Arial"/>
              <a:buChar char="•"/>
              <a:defRPr sz="2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>
              <a:lnSpc>
                <a:spcPct val="90000"/>
              </a:lnSpc>
              <a:spcBef>
                <a:spcPts val="748"/>
              </a:spcBef>
              <a:buFont typeface="Arial"/>
              <a:buChar char="•"/>
              <a:defRPr sz="2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>
              <a:lnSpc>
                <a:spcPct val="90000"/>
              </a:lnSpc>
              <a:spcBef>
                <a:spcPts val="748"/>
              </a:spcBef>
              <a:buFont typeface="Arial"/>
              <a:buChar char="•"/>
              <a:defRPr sz="2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1400" b="0" i="1" u="none" lang="en-US">
                <a:solidFill>
                  <a:schemeClr val="tx1"/>
                </a:solidFill>
                <a:latin typeface="IBM Plex Sans bold"/>
              </a:rPr>
              <a:t>Descartes</a:t>
            </a:r>
            <a:endParaRPr sz="1400" i="1"/>
          </a:p>
          <a:p>
            <a:pPr/>
          </a:p>
        </p:txBody>
      </p:sp>
      <p:pic>
        <p:nvPicPr>
          <p:cNvPr id="210114941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965" y="26022"/>
            <a:ext cx="5353175" cy="68059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8087032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093293" y="231447"/>
            <a:ext cx="6005413" cy="568210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553966033" name=""/>
          <p:cNvSpPr txBox="1"/>
          <p:nvPr/>
        </p:nvSpPr>
        <p:spPr bwMode="auto">
          <a:xfrm rot="0" flipH="0" flipV="0">
            <a:off x="3041595" y="5913553"/>
            <a:ext cx="61098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Apêndice à primeira parte </a:t>
            </a:r>
            <a:r>
              <a:rPr sz="1200" i="1">
                <a:latin typeface="IBM Plex Sans"/>
              </a:rPr>
              <a:t>da "Ética" de Spinoza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934316" name=""/>
          <p:cNvSpPr txBox="1"/>
          <p:nvPr/>
        </p:nvSpPr>
        <p:spPr bwMode="auto">
          <a:xfrm rot="0" flipH="0" flipV="0">
            <a:off x="797896" y="6419849"/>
            <a:ext cx="1059692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Emmanuel Kant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200157346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97896" y="90029"/>
            <a:ext cx="10596207" cy="63298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953638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315326" y="964739"/>
            <a:ext cx="5832528" cy="4298628"/>
          </a:xfrm>
          <a:prstGeom prst="rect">
            <a:avLst/>
          </a:prstGeom>
        </p:spPr>
      </p:pic>
      <p:pic>
        <p:nvPicPr>
          <p:cNvPr id="926933285" name=""/>
          <p:cNvPicPr>
            <a:picLocks noChangeAspect="1"/>
          </p:cNvPicPr>
          <p:nvPr/>
        </p:nvPicPr>
        <p:blipFill rotWithShape="1">
          <a:blip r:embed="rId4"/>
          <a:srcRect l="22338" t="0" r="11840" b="0"/>
          <a:stretch/>
        </p:blipFill>
        <p:spPr bwMode="auto">
          <a:xfrm flipH="0" flipV="0">
            <a:off x="1211565" y="964739"/>
            <a:ext cx="3809999" cy="4298628"/>
          </a:xfrm>
          <a:prstGeom prst="rect">
            <a:avLst/>
          </a:prstGeom>
        </p:spPr>
      </p:pic>
      <p:sp>
        <p:nvSpPr>
          <p:cNvPr id="376433482" name=""/>
          <p:cNvSpPr txBox="1"/>
          <p:nvPr/>
        </p:nvSpPr>
        <p:spPr bwMode="auto">
          <a:xfrm rot="0" flipH="0" flipV="0">
            <a:off x="1210485" y="5263366"/>
            <a:ext cx="38110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Ayn Rand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01519830" name=""/>
          <p:cNvSpPr txBox="1"/>
          <p:nvPr/>
        </p:nvSpPr>
        <p:spPr bwMode="auto">
          <a:xfrm rot="0" flipH="0" flipV="0">
            <a:off x="5315324" y="5263366"/>
            <a:ext cx="291734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O Chafariz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52943584" name=""/>
          <p:cNvSpPr txBox="1"/>
          <p:nvPr/>
        </p:nvSpPr>
        <p:spPr bwMode="auto">
          <a:xfrm rot="0" flipH="0" flipV="0">
            <a:off x="8232309" y="5263366"/>
            <a:ext cx="29166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Atlas Shrugged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580816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580199" y="275956"/>
            <a:ext cx="7031601" cy="535425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88938843" name=""/>
          <p:cNvSpPr txBox="1"/>
          <p:nvPr/>
        </p:nvSpPr>
        <p:spPr bwMode="auto">
          <a:xfrm rot="0" flipH="0" flipV="0">
            <a:off x="2580197" y="5630203"/>
            <a:ext cx="703699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Spinoza, "Ética",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Terceira Parte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159092" name=""/>
          <p:cNvSpPr txBox="1"/>
          <p:nvPr/>
        </p:nvSpPr>
        <p:spPr bwMode="auto">
          <a:xfrm rot="0" flipH="0" flipV="0">
            <a:off x="8340903" y="6185079"/>
            <a:ext cx="3712681" cy="27467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Johannes Kepler</a:t>
            </a:r>
            <a:endParaRPr sz="1200">
              <a:latin typeface="IBM Plex Sans"/>
              <a:cs typeface="IBM Plex Sans"/>
            </a:endParaRPr>
          </a:p>
        </p:txBody>
      </p:sp>
      <p:pic>
        <p:nvPicPr>
          <p:cNvPr id="44893370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622" y="1094217"/>
            <a:ext cx="4110485" cy="5090860"/>
          </a:xfrm>
          <a:prstGeom prst="rect">
            <a:avLst/>
          </a:prstGeom>
        </p:spPr>
      </p:pic>
      <p:pic>
        <p:nvPicPr>
          <p:cNvPr id="97549821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128108" y="1094217"/>
            <a:ext cx="4269944" cy="5090860"/>
          </a:xfrm>
          <a:prstGeom prst="rect">
            <a:avLst/>
          </a:prstGeom>
        </p:spPr>
      </p:pic>
      <p:pic>
        <p:nvPicPr>
          <p:cNvPr id="2004079731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8340904" y="1094217"/>
            <a:ext cx="3710522" cy="5090860"/>
          </a:xfrm>
          <a:prstGeom prst="rect">
            <a:avLst/>
          </a:prstGeom>
        </p:spPr>
      </p:pic>
      <p:sp>
        <p:nvSpPr>
          <p:cNvPr id="786945580" name=""/>
          <p:cNvSpPr txBox="1"/>
          <p:nvPr/>
        </p:nvSpPr>
        <p:spPr bwMode="auto">
          <a:xfrm rot="0" flipH="0" flipV="0">
            <a:off x="17622" y="6185079"/>
            <a:ext cx="4112284" cy="27467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Nicolau Copérnico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6965904" name=""/>
          <p:cNvSpPr txBox="1"/>
          <p:nvPr/>
        </p:nvSpPr>
        <p:spPr bwMode="auto">
          <a:xfrm rot="0" flipH="0" flipV="0">
            <a:off x="4129906" y="6185079"/>
            <a:ext cx="4219635" cy="27467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Galileu Galilei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289127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319235" y="1210484"/>
            <a:ext cx="3553529" cy="4600270"/>
          </a:xfrm>
          <a:prstGeom prst="rect">
            <a:avLst/>
          </a:prstGeom>
        </p:spPr>
      </p:pic>
      <p:sp>
        <p:nvSpPr>
          <p:cNvPr id="2039280932" name=""/>
          <p:cNvSpPr txBox="1"/>
          <p:nvPr/>
        </p:nvSpPr>
        <p:spPr bwMode="auto">
          <a:xfrm rot="0" flipH="0" flipV="0">
            <a:off x="4723138" y="5810753"/>
            <a:ext cx="274644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Jean-Baptiste Lamarck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6571526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461745" y="1238248"/>
            <a:ext cx="3268508" cy="4751059"/>
          </a:xfrm>
          <a:prstGeom prst="rect">
            <a:avLst/>
          </a:prstGeom>
        </p:spPr>
      </p:pic>
      <p:sp>
        <p:nvSpPr>
          <p:cNvPr id="912334727" name=""/>
          <p:cNvSpPr txBox="1"/>
          <p:nvPr/>
        </p:nvSpPr>
        <p:spPr bwMode="auto">
          <a:xfrm rot="0" flipH="0" flipV="0">
            <a:off x="4426094" y="5989306"/>
            <a:ext cx="330415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>
                <a:solidFill>
                  <a:srgbClr val="000000"/>
                </a:solidFill>
                <a:latin typeface="IBM Plex Sans"/>
              </a:rPr>
              <a:t>Georges Cuvier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2339285" name=""/>
          <p:cNvSpPr txBox="1"/>
          <p:nvPr/>
        </p:nvSpPr>
        <p:spPr bwMode="auto">
          <a:xfrm rot="0" flipH="0" flipV="0">
            <a:off x="2906042" y="6406755"/>
            <a:ext cx="638063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F.A.Hayek, "The Road </a:t>
            </a:r>
            <a:r>
              <a:rPr sz="1200" i="1">
                <a:latin typeface="IBM Plex Sans"/>
              </a:rPr>
              <a:t>to Serfdom" (O </a:t>
            </a:r>
            <a:r>
              <a:rPr sz="1200" i="1" lang="fr-FR">
                <a:latin typeface="IBM Plex Sans"/>
              </a:rPr>
              <a:t>caminho para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 servidão)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6137001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906762" y="26843"/>
            <a:ext cx="6379912" cy="63799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0591427" name=""/>
          <p:cNvPicPr>
            <a:picLocks noChangeAspect="1"/>
          </p:cNvPicPr>
          <p:nvPr/>
        </p:nvPicPr>
        <p:blipFill rotWithShape="1">
          <a:blip r:embed="rId3"/>
          <a:srcRect l="0" t="10069" r="0" b="22551"/>
          <a:stretch/>
        </p:blipFill>
        <p:spPr bwMode="auto">
          <a:xfrm flipH="0" flipV="0">
            <a:off x="4207826" y="934182"/>
            <a:ext cx="3776346" cy="3608509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1376272" name=""/>
          <p:cNvSpPr txBox="1"/>
          <p:nvPr/>
        </p:nvSpPr>
        <p:spPr bwMode="auto">
          <a:xfrm rot="0" flipH="0" flipV="0">
            <a:off x="3893596" y="4542690"/>
            <a:ext cx="455756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Esboço da Ética de </a:t>
            </a:r>
            <a:r>
              <a:rPr sz="1200" i="1">
                <a:latin typeface="IBM Plex Sans"/>
              </a:rPr>
              <a:t>Spinoza em latim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7233169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818981" y="31748"/>
            <a:ext cx="4554032" cy="6292845"/>
          </a:xfrm>
          <a:prstGeom prst="rect">
            <a:avLst/>
          </a:prstGeom>
        </p:spPr>
      </p:pic>
      <p:sp>
        <p:nvSpPr>
          <p:cNvPr id="641347396" name=""/>
          <p:cNvSpPr txBox="1"/>
          <p:nvPr/>
        </p:nvSpPr>
        <p:spPr bwMode="auto">
          <a:xfrm rot="0" flipH="0" flipV="0">
            <a:off x="3818981" y="6324595"/>
            <a:ext cx="4555472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Pintura de William Blake, </a:t>
            </a:r>
            <a:r>
              <a:rPr sz="1200" i="1">
                <a:latin typeface="IBM Plex Sans"/>
              </a:rPr>
              <a:t>"Deus criando o Universo"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5449566" name=""/>
          <p:cNvSpPr txBox="1"/>
          <p:nvPr/>
        </p:nvSpPr>
        <p:spPr bwMode="auto">
          <a:xfrm rot="0" flipH="0" flipV="0">
            <a:off x="1333499" y="6543675"/>
            <a:ext cx="952571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Gilles Deleuze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5466136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333499" y="190499"/>
            <a:ext cx="9524999" cy="63531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6795743" name=""/>
          <p:cNvSpPr txBox="1"/>
          <p:nvPr/>
        </p:nvSpPr>
        <p:spPr bwMode="auto">
          <a:xfrm rot="0" flipH="0" flipV="0">
            <a:off x="984543" y="6307082"/>
            <a:ext cx="966749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Voltaire, "Cartas </a:t>
            </a:r>
            <a:r>
              <a:rPr sz="1200" i="1">
                <a:latin typeface="IBM Plex Sans"/>
              </a:rPr>
              <a:t>de Inglaterra"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959980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786092" y="95249"/>
            <a:ext cx="3861624" cy="6210299"/>
          </a:xfrm>
          <a:prstGeom prst="rect">
            <a:avLst/>
          </a:prstGeom>
        </p:spPr>
      </p:pic>
      <p:pic>
        <p:nvPicPr>
          <p:cNvPr id="198735209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84543" y="95249"/>
            <a:ext cx="5801549" cy="62118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6012898" name=""/>
          <p:cNvSpPr txBox="1"/>
          <p:nvPr/>
        </p:nvSpPr>
        <p:spPr bwMode="auto">
          <a:xfrm rot="0" flipH="0" flipV="0">
            <a:off x="398553" y="6380388"/>
            <a:ext cx="1139849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Anicet Charles Gabriel </a:t>
            </a:r>
            <a:r>
              <a:rPr sz="1200" b="0" i="1">
                <a:latin typeface="IBM Plex Sans"/>
              </a:rPr>
              <a:t>Lemonnier, "Salão de </a:t>
            </a:r>
            <a:r>
              <a:rPr sz="1200" b="0" i="1">
                <a:latin typeface="IBM Plex Sans"/>
              </a:rPr>
              <a:t>Madame Geoffrin", </a:t>
            </a:r>
            <a:r>
              <a:rPr sz="1200" b="0" i="1">
                <a:latin typeface="IBM Plex Sans"/>
              </a:rPr>
              <a:t>século XVIII</a:t>
            </a:r>
            <a:endParaRPr sz="1200" b="0" i="1">
              <a:latin typeface="IBM Plex Sans"/>
            </a:endParaRPr>
          </a:p>
          <a:p>
            <a:pPr algn="ctr"/>
          </a:p>
        </p:txBody>
      </p:sp>
      <p:pic>
        <p:nvPicPr>
          <p:cNvPr id="121834944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419148" y="182931"/>
            <a:ext cx="9353702" cy="61974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644899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281237" y="800098"/>
            <a:ext cx="7629525" cy="525780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345665256" name=""/>
          <p:cNvSpPr txBox="1"/>
          <p:nvPr/>
        </p:nvSpPr>
        <p:spPr bwMode="auto">
          <a:xfrm rot="0" flipH="0" flipV="0">
            <a:off x="3178247" y="6057897"/>
            <a:ext cx="583658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Prefácio ao "Tratado Teológico-Político" de Spinoza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689891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719512" y="809623"/>
            <a:ext cx="4752974" cy="5238749"/>
          </a:xfrm>
          <a:prstGeom prst="rect">
            <a:avLst/>
          </a:prstGeom>
        </p:spPr>
      </p:pic>
      <p:sp>
        <p:nvSpPr>
          <p:cNvPr id="328473952" name=""/>
          <p:cNvSpPr txBox="1"/>
          <p:nvPr/>
        </p:nvSpPr>
        <p:spPr bwMode="auto">
          <a:xfrm rot="0" flipH="0" flipV="0">
            <a:off x="4240242" y="6048371"/>
            <a:ext cx="371187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Retrato de Sócrates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4512423" name=""/>
          <p:cNvSpPr txBox="1"/>
          <p:nvPr/>
        </p:nvSpPr>
        <p:spPr bwMode="auto">
          <a:xfrm rot="0" flipH="0" flipV="0">
            <a:off x="3766448" y="6438897"/>
            <a:ext cx="4660539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Fresco de Santo Agostinho de Sandro Botticelli, 1480</a:t>
            </a:r>
            <a:endParaRPr lang="en-US" sz="1200" b="0" i="1" u="none" strike="noStrike" cap="none" spc="0">
              <a:solidFill>
                <a:schemeClr val="tx1"/>
              </a:solidFill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28954267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766449" y="19049"/>
            <a:ext cx="4659100" cy="64464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248409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574389" y="169134"/>
            <a:ext cx="7043221" cy="5704139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767936592" name=""/>
          <p:cNvSpPr txBox="1"/>
          <p:nvPr/>
        </p:nvSpPr>
        <p:spPr bwMode="auto">
          <a:xfrm rot="0" flipH="0" flipV="0">
            <a:off x="2574387" y="5880551"/>
            <a:ext cx="704897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Spinoza, "Ética",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Parte 3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110754" name=""/>
          <p:cNvSpPr txBox="1"/>
          <p:nvPr/>
        </p:nvSpPr>
        <p:spPr bwMode="auto">
          <a:xfrm rot="0" flipH="0" flipV="0">
            <a:off x="2033217" y="6616694"/>
            <a:ext cx="8125923" cy="27467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Gilles Deleuze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00348515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058967" y="23874"/>
            <a:ext cx="8074062" cy="6597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761800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776662" y="222248"/>
            <a:ext cx="4638674" cy="600075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283170419" name=""/>
          <p:cNvSpPr txBox="1"/>
          <p:nvPr/>
        </p:nvSpPr>
        <p:spPr bwMode="auto">
          <a:xfrm rot="0" flipH="0" flipV="0">
            <a:off x="3776661" y="6222996"/>
            <a:ext cx="46393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Spinoza, "A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Ética"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019613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305050" y="502197"/>
            <a:ext cx="7581899" cy="524827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05702883" name=""/>
          <p:cNvSpPr txBox="1"/>
          <p:nvPr/>
        </p:nvSpPr>
        <p:spPr bwMode="auto">
          <a:xfrm rot="0" flipH="0" flipV="0">
            <a:off x="3043670" y="5747202"/>
            <a:ext cx="610501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Prefácio ao Tratado Teológico-Político de Spinoza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613114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515909" y="305012"/>
            <a:ext cx="9160180" cy="5725112"/>
          </a:xfrm>
          <a:prstGeom prst="rect">
            <a:avLst/>
          </a:prstGeom>
        </p:spPr>
      </p:pic>
      <p:sp>
        <p:nvSpPr>
          <p:cNvPr id="198151990" name=""/>
          <p:cNvSpPr txBox="1"/>
          <p:nvPr/>
        </p:nvSpPr>
        <p:spPr bwMode="auto">
          <a:xfrm rot="0" flipH="0" flipV="0">
            <a:off x="3094543" y="6030123"/>
            <a:ext cx="60039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Crescimento da Bitcoin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29469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30148" y="329367"/>
            <a:ext cx="8731702" cy="5184448"/>
          </a:xfrm>
          <a:prstGeom prst="rect">
            <a:avLst/>
          </a:prstGeom>
        </p:spPr>
      </p:pic>
      <p:sp>
        <p:nvSpPr>
          <p:cNvPr id="1959744885" name=""/>
          <p:cNvSpPr txBox="1"/>
          <p:nvPr/>
        </p:nvSpPr>
        <p:spPr bwMode="auto">
          <a:xfrm rot="0" flipH="0" flipV="0">
            <a:off x="1730147" y="5513813"/>
            <a:ext cx="873242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Estátua de Júpiter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1620876" name=""/>
          <p:cNvPicPr>
            <a:picLocks noChangeAspect="1"/>
          </p:cNvPicPr>
          <p:nvPr/>
        </p:nvPicPr>
        <p:blipFill rotWithShape="1">
          <a:blip r:embed="rId3"/>
          <a:srcRect l="0" t="17469" r="0" b="22471"/>
          <a:stretch/>
        </p:blipFill>
        <p:spPr bwMode="auto">
          <a:xfrm flipH="0" flipV="0">
            <a:off x="4000500" y="1495512"/>
            <a:ext cx="4190999" cy="3569649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395366778" name=""/>
          <p:cNvSpPr txBox="1"/>
          <p:nvPr/>
        </p:nvSpPr>
        <p:spPr bwMode="auto">
          <a:xfrm rot="0" flipH="0" flipV="0">
            <a:off x="3817216" y="5073090"/>
            <a:ext cx="45579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Esboço da Ética de </a:t>
            </a:r>
            <a:r>
              <a:rPr sz="1200" i="1">
                <a:latin typeface="IBM Plex Sans"/>
              </a:rPr>
              <a:t>Spinoza em latim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675632" name=""/>
          <p:cNvSpPr txBox="1"/>
          <p:nvPr/>
        </p:nvSpPr>
        <p:spPr bwMode="auto">
          <a:xfrm rot="0" flipH="0" flipV="0">
            <a:off x="5831566" y="6232663"/>
            <a:ext cx="4077462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Uma estátua de Rousseau em Genebra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1197503023" name=""/>
          <p:cNvSpPr txBox="1"/>
          <p:nvPr/>
        </p:nvSpPr>
        <p:spPr bwMode="auto">
          <a:xfrm rot="0" flipH="0" flipV="0">
            <a:off x="1012093" y="6232663"/>
            <a:ext cx="479404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Friedrich Nietzsche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7587847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831566" y="110986"/>
            <a:ext cx="4076382" cy="6121676"/>
          </a:xfrm>
          <a:prstGeom prst="rect">
            <a:avLst/>
          </a:prstGeom>
        </p:spPr>
      </p:pic>
      <p:pic>
        <p:nvPicPr>
          <p:cNvPr id="98979043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042918" y="152399"/>
            <a:ext cx="4728797" cy="60388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674700" name=""/>
          <p:cNvSpPr txBox="1"/>
          <p:nvPr/>
        </p:nvSpPr>
        <p:spPr bwMode="auto">
          <a:xfrm rot="0" flipH="0" flipV="0">
            <a:off x="3872096" y="6414988"/>
            <a:ext cx="444852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Friedrich von Hayek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0643327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872096" y="443011"/>
            <a:ext cx="4447806" cy="59719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6895968" name=""/>
          <p:cNvSpPr txBox="1"/>
          <p:nvPr/>
        </p:nvSpPr>
        <p:spPr bwMode="auto">
          <a:xfrm rot="0" flipH="0" flipV="0">
            <a:off x="2835220" y="6416953"/>
            <a:ext cx="652227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Frédéric Bastiat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4592424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835220" y="279853"/>
            <a:ext cx="6521558" cy="61370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835760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838574" y="681036"/>
            <a:ext cx="4514850" cy="5495924"/>
          </a:xfrm>
          <a:prstGeom prst="rect">
            <a:avLst/>
          </a:prstGeom>
        </p:spPr>
      </p:pic>
      <p:sp>
        <p:nvSpPr>
          <p:cNvPr id="1289536495" name=""/>
          <p:cNvSpPr txBox="1"/>
          <p:nvPr/>
        </p:nvSpPr>
        <p:spPr bwMode="auto">
          <a:xfrm rot="0" flipH="0" flipV="0">
            <a:off x="3838573" y="6176959"/>
            <a:ext cx="451557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Milton Friedman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398913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062085" y="435186"/>
            <a:ext cx="8067828" cy="5602658"/>
          </a:xfrm>
          <a:prstGeom prst="rect">
            <a:avLst/>
          </a:prstGeom>
        </p:spPr>
      </p:pic>
      <p:sp>
        <p:nvSpPr>
          <p:cNvPr id="1230398629" name=""/>
          <p:cNvSpPr txBox="1"/>
          <p:nvPr/>
        </p:nvSpPr>
        <p:spPr bwMode="auto">
          <a:xfrm rot="0" flipH="0" flipV="0">
            <a:off x="2062084" y="6037843"/>
            <a:ext cx="807322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"O Manifesto Cripto-Anarquista" e "Um Manifesto Cypherpunk"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973147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877346" y="279631"/>
            <a:ext cx="8437307" cy="5825367"/>
          </a:xfrm>
          <a:prstGeom prst="rect">
            <a:avLst/>
          </a:prstGeom>
        </p:spPr>
      </p:pic>
      <p:sp>
        <p:nvSpPr>
          <p:cNvPr id="1579907420" name=""/>
          <p:cNvSpPr txBox="1"/>
          <p:nvPr/>
        </p:nvSpPr>
        <p:spPr bwMode="auto">
          <a:xfrm rot="0" flipH="0" flipV="0">
            <a:off x="1877346" y="6104997"/>
            <a:ext cx="843802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Bloco Bitcoin Genesis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ONLYOFFICE/9.2.0.98</Application>
  <PresentationFormat>On-screen Show (4:3)</PresentationFormat>
  <Paragraphs>0</Paragraphs>
  <Slides>56</Slides>
  <Notes>56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18</cp:revision>
  <dcterms:modified xsi:type="dcterms:W3CDTF">2025-12-03T11:06:20Z</dcterms:modified>
</cp:coreProperties>
</file>