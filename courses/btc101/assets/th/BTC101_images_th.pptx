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ไฮเปอร์บิตคอยน์ไนเซชัน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มาตรฐานบิตคอยน์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การขึ้นบิน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ไซเฟอร์พังค์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นวัตกร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ผู้ใช้ที่เริ่มต้นเร็ว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กลุ่มคนส่วนใหญ่ในช่วงต้น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ผู้ติดตาม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ผู้มาสาย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เปอร์เซ็นต์ส่วนแบ่งตลาด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พฤษภาคม/มิถุนายน). ผู้ก่อการกับเหตุผล (ความเป็นส่วนตัวของคุณ).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เมย์, ที.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ซี.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แถลงการณ์ของนักอนาธิปไตยคริปโต.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บาร์โลว์, เจ.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พี.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คำประกาศอิสรภาพของไซเบอร์สเปซ.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ฮิวจ์ส, อี.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แถลงการณ์ของไซเฟอร์พังค์.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แหล่งที่มาของภาพ: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และการเกิดขึ้นของ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Cypherpunks (ข้อมูลเชิงกราฟิก).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ฉันต้องการซื้อแครอทของคุณด้วยทองคำ </a:t>
            </a:r>
            <a:r>
              <a:rPr sz="1600" lang="fr-FR">
                <a:latin typeface="IBM Plex Sans"/>
              </a:rPr>
              <a:t>จากนั้นคุณสามารถเก็บทองคำไว้เป็นการเก็บมูลค่าสำหรับสินค้าที่จะมาถึงในอนาคตได้ </a:t>
            </a:r>
            <a:r>
              <a:rPr sz="1600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ฉันหวังว่ามีใครสักคนต้องการแลกแครอทของฉันก่อนที่จะเน่าเสีย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บางทีฉันอาจจะแลกมันเป็นทองคำซึ่งจะไม่เน่าเสีย!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ใครอยากได้แครอทดีๆ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บ้าง?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เพียง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เหรียญทองต่อแครอท!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ร้านค้าของค่า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สื่อกลางในการแลกเปลี่ยน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หน่วยบัญชี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การพิมพ์เงิน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อำนาจการซื้อ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การสูญเสียความไว้วางใจ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การล่มสลายของสกุลเงิน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เงินเฟ้อที่สูงขึ้น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การฟื้นฟู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“เราหิว!”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จำนวนบิตคอยน์ที่หมุนเวียนอยู่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การสร้างเงินต่อบล็อก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บล็อก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(พัน)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ปี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บิตคอยน์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(ล้าน)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คนงานเหมืองเพิ่มเติม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บล็อกเพิ่มเติม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น้อยเวลา x บล็อก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ความยากมากขึ้น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บล็อกน้อยลง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นาที/บล็อก </a:t>
            </a:r>
            <a:r>
              <a:rPr sz="1100">
                <a:solidFill>
                  <a:srgbClr val="FFFFFF"/>
                </a:solidFill>
                <a:latin typeface="IBM Plex Sans"/>
              </a:rPr>
              <a:t>อีกครั้ง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ที่อยู่บิตคอยน์: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ใน 2 มัลติซิก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ความเสี่ยงสูงต่อการโจรกรรม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ความเสี่ยงต่ำต่อการโจรกรรม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ความเสี่ยงสูงต่อการโจรกรรม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ความเสี่ยงต่ำต่อการโจรกรรม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ซิงเกิลซิก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กระเป๋าเงิน/การแลกเปลี่ยนที่ดูแลรักษา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จาก 5 มัลติซิก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จาก 3 มัลติซิก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กระเป๋าเงิน Miniscript (พร้อมการล็อกเวลา)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จาก 2 มัลติซิก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ซิงเกิลซิกด้วยรหัสผ่าน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ฉันกำลังเตรียมแผนมรดกสำหรับหลาน </a:t>
            </a:r>
            <a:r>
              <a:rPr sz="1200">
                <a:latin typeface="IBM Plex Sans"/>
              </a:rPr>
              <a:t>ๆ </a:t>
            </a:r>
            <a:r>
              <a:rPr sz="1200">
                <a:latin typeface="IBM Plex Sans"/>
              </a:rPr>
              <a:t>ของฉัน! </a:t>
            </a:r>
            <a:r>
              <a:rPr sz="1200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Nakamoto, S. (2008, 31 ตุลาคม). "เอกสารเงินอิเล็กทรอนิกส์แบบ P2P ของบิตคอยน์," รายชื่อจดหมายเข้ารหัส.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นากาโมโตะ, เอส. (2008).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บิตคอยน์: ระบบเงินสดอิเล็กทรอนิกส์แบบเพียร์ทูเพียร์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บล็อกเจนเนซิสของบิตคอยน์ (บล็อก 0) ขุดโดยซาโทชิ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นากาโมโตะเมื่อวันที่ 3 มกราคม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2009. ดูเพิ่มเติมที่: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มกราคม). นายกรัฐมนตรีอยู่ในขอบเขตของการช่วยเหลือธนาคารครั้งที่สอง. The Times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(ลอนดอน), หน้า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 มกราคม). การวิ่งบิตคอยน์ [ทวีต]. ทวิตเตอร์.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[ลาซโล].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(2010, 18 พฤษภาคม).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พิซซ่าสำหรับบิตคอยน์?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T. (2021). รูปปั้นซาโทชิ นากาโมโตะ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[รูปปั้น]. กราฟิซอฟท์พาร์ค, บูดาเปสต์, ฮังการี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ซาโทชิ นากาโมโตะ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โดย </a:t>
            </a:r>
            <a:r>
              <a:rPr sz="1000" b="0" i="1" lang="fr-FR">
                <a:latin typeface="IBM Plex Sans"/>
              </a:rPr>
              <a:t>วาเลนตินา พิโคซซี่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จาก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ลูการ์โน, สวิตเซอร์แลนด์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ธุรกรรม: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ตัวอย่างต่าง ๆ ของโนดบิตคอยน์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การกระจายของโหนดบิตคอยน์ทั่วโลก </a:t>
            </a:r>
            <a:r>
              <a:rPr sz="1200" i="1" u="none" lang="fr-FR">
                <a:latin typeface="IBM Plex Sans"/>
              </a:rPr>
              <a:t/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คนงานเหมืองเพิ่มเติม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บล็อกเพิ่มเติม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น้อยเวลา x บล็อก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ความยากมากขึ้น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บล็อกน้อยลง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นาที/บล็อก </a:t>
            </a:r>
            <a:r>
              <a:rPr sz="1100">
                <a:solidFill>
                  <a:srgbClr val="FFFFFF"/>
                </a:solidFill>
                <a:latin typeface="IBM Plex Sans"/>
              </a:rPr>
              <a:t>อีกครั้ง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เครื่องขุด Bitmain S9 โดย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โรงงานขุด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อัตราแฮชรวม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อัตราแฮชรวม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ราคาในตลาด (ดอลลาร์สหรัฐ)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ปี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แฮชเรต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นาที / 1 บล็อก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วัน / 1000 บล็อก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เวลา/บล็อก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การโจมตีที่ประสานงานนำไปสู่ชัยชนะ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การโจมตีที่ไม่ประสานงานนำไปสู่ความพ่ายแพ้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ทรยศ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ทรยศ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ทรยศ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คนทรยศ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เครื่องขุด S9 ที่แปลงเป็นเครื่องทำความร้อนในบ้าน โครงการ ‘Attakaï’ โดย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เงินฟรี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นั่นยอดเยี่ยมมาก!!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ขอบคุณมาก!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รอเดี๋ยว!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คุณเอาเงินทั้งหมดนั้นมาจากไหน?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ช้าก่อน!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คุณล้อเล่นอยู่หรือเปล่า?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นี่มันบ้าเกินไปแล้ว!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ศิลปะข้างถนนในปารีส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ส่วนเบี่ยงเบนมาตรฐาน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ของผลตอบแทนรายวัน </a:t>
            </a:r>
            <a:r>
              <a:rPr sz="1400">
                <a:solidFill>
                  <a:schemeClr val="bg1"/>
                </a:solidFill>
                <a:latin typeface="IBM Plex Sans"/>
              </a:rPr>
              <a:t/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ดัชนีความผันผวนของบิตคอยน์ 60 วัน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ปี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ความผันผวนของ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ความผันผวนของทองคำ/USD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ความผันผวนของ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มันเป็นฟองสบู่.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มันเป็นฟองสบู่。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มันเป็นฟองอากาศ。 </a:t>
            </a:r>
            <a:r>
              <a:rPr sz="700" b="1">
                <a:latin typeface="IBM Plex Sans"/>
              </a:rPr>
              <a:t/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มันคือฟองสบู่。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 ผู้ค้า ที่รับ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พ่อค้าแม่ค้า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พนักงานประจำ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ผู้ประกอบการ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เศรษฐกิจหมุนเวียนใน </a:t>
            </a:r>
            <a:r>
              <a:rPr sz="1400">
                <a:solidFill>
                  <a:srgbClr val="E39C17"/>
                </a:solidFill>
                <a:latin typeface="IBM Plex Sans"/>
              </a:rPr>
              <a:t>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การบริจาค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ไฮเปอร์บิตคอยน์ไนเซชัน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มาตรฐานบิตคอยน์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การบินขึ้น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ไซเฟอร์พังค์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นวัตกร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ผู้ใช้ที่เริ่มต้นเร็ว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กลุ่มคนส่วนใหญ่ในช่วงต้น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ผู้ติดตาม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ผู้มาสาย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ส่วนแบ่งการตลาดเปอร์เซ็นต์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โปรโตคอลควบคุมการส่งข้อมูล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โปรโตคอลยูเซอร์ดาตาแกรม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โปรโตคอลการส่งอีเมล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โปรโตคอลอินเทอร์เน็ต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โปรโตคอลการถ่ายโอนไฟล์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เว็บเบราว์เซอร์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โปรโตคอล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การรักษาความปลอดภัยแบบเข้ารหัส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ระบบชื่อโดเมน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เงิน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โปรโตคอล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การแลกเปลี่ยนช่องของอลิซและบ็อบ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ช่อง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/>
            <a:r>
              <a:rPr sz="1400" b="0">
                <a:solidFill>
                  <a:srgbClr val="FFFFFF"/>
                </a:solidFill>
                <a:latin typeface="IBM Plex Sans"/>
              </a:rPr>
              <a:t>เปิดตัว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ช่อง 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การปิดตัว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การกระจายอำนาจ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ความปลอดภัย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ความสามารถในการขยายตัว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การกระโดดของเส้นทาง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โหนดการส่งข้อมูล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สถานะช่องเมื่อเปิด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สถานะช่องที่ปิดการใช้งาน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เกม </a:t>
            </a:r>
            <a:r>
              <a:rPr b="0">
                <a:solidFill>
                  <a:srgbClr val="000000"/>
                </a:solidFill>
                <a:latin typeface="IBM Plex Sans"/>
              </a:rPr>
              <a:t/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l"/>
            <a:r>
              <a:rPr b="1">
                <a:solidFill>
                  <a:srgbClr val="000000"/>
                </a:solidFill>
                <a:latin typeface="IBM Plex Sans"/>
              </a:rPr>
              <a:t>เข้า: 500 </a:t>
            </a:r>
            <a:r>
              <a:rPr b="0">
                <a:solidFill>
                  <a:srgbClr val="000000"/>
                </a:solidFill>
                <a:latin typeface="IBM Plex Sans"/>
              </a:rPr>
              <a:t>ซัตส์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การให้คำปรึกษา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คำถาม!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พรีเมียม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Network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ยังช่วยให้เราทำหลายสิ่งจากระยะไกลได้อีกด้วย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ส่งข้อความมาหาฉันสำหรับ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ซาต.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ห้ามส่งสแปมอีก!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