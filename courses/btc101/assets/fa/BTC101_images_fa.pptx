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هایپر بیت‌کوین‌سازی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استاندارد بیت‌کوین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پرواز کردن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سایفرپانک‌ها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نوآوران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پیشگامان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اکثریت </a:t>
            </a:r>
            <a:r>
              <a:rPr sz="900">
                <a:solidFill>
                  <a:srgbClr val="FFFFFF"/>
                </a:solidFill>
                <a:latin typeface="IBM Plex Sans"/>
              </a:rPr>
              <a:t>زودهنگام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دنبال‌کنندگان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دیرآمدگان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درصد سهم بازار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مجله وایرد. (1993، مه/ژوئن). شورشیان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با یک هدف (حریم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خصوصی شما). وایرد،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می، تی. سی.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(۱۹۸۸). مانفیستوی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کریپتو آنارشیست.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بارلو، جی. پی.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(۱۹۹۶). اعلامیه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استقلال سایبرسپیس.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هیوز، ای.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(۱۹۹۳). مانفیستوی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سایفرپانک.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منبع تصویر: cliffr2،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بیت‌کوین و ظهور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سایفرپانک‌ها (اینفوگرافیک).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من می‌خواهم هویج‌های شما را </a:t>
            </a:r>
            <a:r>
              <a:rPr sz="1600" lang="fr-FR">
                <a:latin typeface="IBM Plex Sans"/>
              </a:rPr>
              <a:t>با طلا بخرم. سپس، می‌توانید </a:t>
            </a:r>
            <a:r>
              <a:rPr sz="1600">
                <a:latin typeface="IBM Plex Sans"/>
              </a:rPr>
              <a:t>طلا را به عنوان </a:t>
            </a:r>
            <a:r>
              <a:rPr sz="1600" lang="fr-FR">
                <a:latin typeface="IBM Plex Sans"/>
              </a:rPr>
              <a:t>ذخیره‌ای از ارزش برای </a:t>
            </a:r>
            <a:r>
              <a:rPr sz="1600">
                <a:latin typeface="IBM Plex Sans"/>
              </a:rPr>
              <a:t>کالاهای آینده نگه دارید.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امیدوارم کسی بخواهد هویج‌های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من را قبل از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اینکه خراب شوند، مبادله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کند. شاید بتوانم آنها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را با طلا عوض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کنم، که خراب نمی‌شود!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کی می‌خواهد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هویج‌های خوبی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بخرد؟ فقط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۱ سکه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طلا برای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هر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هویج!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ذخیره ارزش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وسیله مبادله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واحد حسابداری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چاپ پول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قدرت خرید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از دست دادن اعتماد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سقوط ارز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تورم بالاتر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بازسازی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"ما گرسنه هستیم!"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تعداد بیت‌کوین‌های در گردش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خلق پول به ازای هر بلاک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بلوک‌ها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(هزاران)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سال‌ها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بیت‌کوین‌ها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(میلیون‌ها)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معدنچی‌های بیشتری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بیشتر بلوک‌ها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زمان کمتر x بلوک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بیشتر دشواری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بلوک‌های کمتر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۱۰ </a:t>
            </a:r>
            <a:r>
              <a:rPr sz="1100">
                <a:solidFill>
                  <a:srgbClr val="FFFFFF"/>
                </a:solidFill>
                <a:latin typeface="IBM Plex Sans"/>
              </a:rPr>
              <a:t>دقیقه/بلوک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ct val="80000"/>
              </a:lnSpc>
            </a:pPr>
            <a:r>
              <a:rPr sz="1100">
                <a:solidFill>
                  <a:srgbClr val="FFFFFF"/>
                </a:solidFill>
                <a:latin typeface="IBM Plex Sans"/>
              </a:rPr>
              <a:t>دوباره </a:t>
            </a:r>
            <a:r>
              <a:rPr sz="110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آدرس بیت‌کوین: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 از 2 چند امضایی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خطر بالای سرقت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خطر سرقت کم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خطر بالای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سرقت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ریسک پایین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سرقت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تک‌امضا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کیف پول‌های امانی/صرافی‌ها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۳ از ۵ چندامضایی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مالتی‌سگ ۲ از ۳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کیف پول مینی‌اسکریپت (با قفل‌های زمانی)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۲ از ۲ چند امضایی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تک‌امضا با عبارت عبور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من در </a:t>
            </a:r>
            <a:r>
              <a:rPr sz="1200">
                <a:latin typeface="IBM Plex Sans"/>
              </a:rPr>
              <a:t>حال تهیه </a:t>
            </a:r>
            <a:r>
              <a:rPr sz="1200">
                <a:latin typeface="IBM Plex Sans"/>
              </a:rPr>
              <a:t>یک برنامه </a:t>
            </a:r>
            <a:r>
              <a:rPr sz="1200" lang="fr-FR">
                <a:latin typeface="IBM Plex Sans"/>
              </a:rPr>
              <a:t>ارث برای </a:t>
            </a:r>
            <a:r>
              <a:rPr sz="1200">
                <a:latin typeface="IBM Plex Sans"/>
              </a:rPr>
              <a:t>نوه‌هایم هستم!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منبع: ناکاموتو، S. (2008، 31 اکتبر). "مقاله‌ی پول الکترونیکی P2P بیت‌کوین"، فهرست پستی رمزنگاری.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ناکاموتو، س. (۲۰۰۸). بیت‌کوین: یک سیستم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پول الکترونیکی همتا به همتا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بلوک ژنسیس بیت‌کوین (بلوک ۰)،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استخراج شده توسط ساتوشی ناکاموتو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در تاریخ ۳ ژانویه ۲۰۰۹.</a:t>
            </a:r>
            <a:endParaRPr sz="1400" i="1">
              <a:latin typeface="IBM Plex Sans"/>
              <a:cs typeface="IBM Plex Sans"/>
            </a:endParaRPr>
          </a:p>
          <a:p>
            <a:pPr algn="ctr"/>
            <a:r>
              <a:rPr sz="1000" b="0" i="1" u="none">
                <a:solidFill>
                  <a:srgbClr val="000000"/>
                </a:solidFill>
                <a:latin typeface="IBM Plex Sans"/>
              </a:rPr>
              <a:t>ببینید: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https://www.blockchain.com/explorer/blocks/btc/0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تایمز. (۲۰۰۹، ۳ ژانویه). صدراعظم در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آستانه‌ی دومین نجات مالی برای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بانک‌ها. تایمز (لندن)، ص. ۱.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فینی، ه. [@halfin]. (2009، 11 ژانویه). اجرای بیت‌کوین [توییت]. توییتر.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هانی‌چ، ل. [لازلو]. (2010،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 مه). پیتزا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برای بیت‌کوین؟ بیت‌کوین‌تاک.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گرگلی، ر.، و گلی، ت.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مجسمه ساتوشی ناکاموتو [مجسمه].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پارک گرافی‌سافت، بوداپست، مجارستان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« ساتوشی ناکاموتو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» اثر والنتینا </a:t>
            </a:r>
            <a:r>
              <a:rPr sz="1000" b="0" i="1" lang="fr-FR">
                <a:latin typeface="IBM Plex Sans"/>
              </a:rPr>
              <a:t>پیکوزی از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گالری ساتوشی.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لوگانو، سوئیس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معامله: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نمونه‌های مختلف گره بیت‌کوین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توزیع جهانی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نودهای </a:t>
            </a:r>
            <a:r>
              <a:rPr sz="1200" i="1" u="none" lang="fr-FR">
                <a:latin typeface="IBM Plex Sans"/>
              </a:rPr>
              <a:t>بیت‌کوین.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معدنچیان بیشتر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بلاک‌های بیشتر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زمان کمتر x بلوک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بیشتر سختی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بلوک‌های کمتر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۱۰ </a:t>
            </a:r>
            <a:r>
              <a:rPr sz="1100">
                <a:solidFill>
                  <a:srgbClr val="FFFFFF"/>
                </a:solidFill>
                <a:latin typeface="IBM Plex Sans"/>
              </a:rPr>
              <a:t>دقیقه/بلوک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ct val="80000"/>
              </a:lnSpc>
            </a:pPr>
            <a:r>
              <a:rPr sz="1100">
                <a:solidFill>
                  <a:srgbClr val="FFFFFF"/>
                </a:solidFill>
                <a:latin typeface="IBM Plex Sans"/>
              </a:rPr>
              <a:t>دوباره </a:t>
            </a:r>
            <a:r>
              <a:rPr sz="110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ماینر S9 بیت‌مین توسط بیت‌من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و یک تأسیسات استخراج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کل نرخ هش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کل هش ریت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قیمت بازار (دلار آمریکا)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سال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هش ریت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۱۰ دقیقه / ۱ بلوک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۷ روز / ۱۰۰۰ بلوک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زمان/بلوک‌ها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حمله هماهنگ منجر به پیروزی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حمله نامنسجم منجر به شکست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خیانتکار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خائن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خائن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خیانتکار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یک ماینر S9 که به عنوان بخاری خانگی تبدیل شده است. پروژه 'Attakaï' توسط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پول رایگان،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این فوق‌العاده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است!!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خیلی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ممنون!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صبر کن! این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همه پول رو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از کجا می‌آوری؟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آهسته‌تر!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داری شوخی می‌کنی؟ این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غیرقابل باور است!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هنر خیابانی در پاریس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انحراف معیار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بازده‌های </a:t>
            </a:r>
            <a:r>
              <a:rPr sz="1400">
                <a:solidFill>
                  <a:schemeClr val="bg1"/>
                </a:solidFill>
                <a:latin typeface="IBM Plex Sans"/>
              </a:rPr>
              <a:t>روزانه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شاخص نوسانات بیت‌کوین 60 روزه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سال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نوسانات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نوسانات طلا/USD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نوسانات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این یک </a:t>
            </a:r>
            <a:r>
              <a:rPr sz="900" b="1">
                <a:latin typeface="IBM Plex Sans"/>
              </a:rPr>
              <a:t>حباب است.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این یک </a:t>
            </a:r>
            <a:r>
              <a:rPr sz="900" b="1">
                <a:latin typeface="IBM Plex Sans"/>
              </a:rPr>
              <a:t>حباب است.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این یک </a:t>
            </a:r>
            <a:r>
              <a:rPr sz="700" b="1">
                <a:latin typeface="IBM Plex Sans"/>
              </a:rPr>
              <a:t>حباب است.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این یک </a:t>
            </a:r>
            <a:r>
              <a:rPr sz="900" b="1">
                <a:latin typeface="IBM Plex Sans"/>
              </a:rPr>
              <a:t>حباب است.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تجارت BTCmap که بیت‌کوین را قبول می‌کند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تاجران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کارکنان حقوق‌بگیر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کارآفرینان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اقتصاد دایره‌ای </a:t>
            </a:r>
            <a:r>
              <a:rPr sz="1400">
                <a:solidFill>
                  <a:srgbClr val="E39C17"/>
                </a:solidFill>
                <a:latin typeface="IBM Plex Sans"/>
              </a:rPr>
              <a:t>در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اهداءات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هایپر بیت‌کوینیزیشن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استاندارد بیت‌کوین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برخواستن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سایفرپانک‌ها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نوآوران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پذیرندگان اولیه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اکثریت </a:t>
            </a:r>
            <a:r>
              <a:rPr sz="900">
                <a:solidFill>
                  <a:srgbClr val="FFFFFF"/>
                </a:solidFill>
                <a:latin typeface="IBM Plex Sans"/>
              </a:rPr>
              <a:t>زودهنگام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دنبال‌کنندگان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دیرآمدگان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درصد سهم بازار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آی‌پی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پروتکل کنترل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انتقال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پروتکل دیتاگرام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کاربر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پروتکل انتقال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ایمیل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پروتکل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اینترنت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پروتکل انتقال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فایل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مرورگر وب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پروتکل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امنیت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رمزنگاری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سیستم نام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دامنه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پروتکل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پول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مبادلات کانال آلیس و باب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کانال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/>
            <a:r>
              <a:rPr sz="1400" b="0">
                <a:solidFill>
                  <a:srgbClr val="FFFFFF"/>
                </a:solidFill>
                <a:latin typeface="IBM Plex Sans"/>
              </a:rPr>
              <a:t>افتتاح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بستن کانال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تمرکززدایی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امنیت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قابلیت مقیاس‌پذیری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پرش‌های مسیریابی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گره مسیریابی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وضعیت کانال در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زمان افتتاح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وضعیت کانال در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زمان بسته شدن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بازی </a:t>
            </a:r>
            <a:r>
              <a:rPr b="0">
                <a:solidFill>
                  <a:srgbClr val="000000"/>
                </a:solidFill>
                <a:latin typeface="IBM Plex Sans"/>
              </a:rPr>
              <a:t/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l"/>
            <a:r>
              <a:rPr b="1">
                <a:solidFill>
                  <a:srgbClr val="000000"/>
                </a:solidFill>
                <a:latin typeface="IBM Plex Sans"/>
              </a:rPr>
              <a:t>ورود: ۵۰۰ </a:t>
            </a:r>
            <a:r>
              <a:rPr b="0">
                <a:solidFill>
                  <a:srgbClr val="000000"/>
                </a:solidFill>
                <a:latin typeface="IBM Plex Sans"/>
              </a:rPr>
              <a:t>ساتس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مشاوره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سوالات!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پریمیوم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شبکه لایتنینگ همچنین به ما این امکان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را می‌دهد که بسیاری از کارها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را از راه دور انجام دهیم.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برای من یک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پیام بفرستید برای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۱ سات. دیگر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اسپم نزنید!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