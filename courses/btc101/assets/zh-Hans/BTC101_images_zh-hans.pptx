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超级比特币化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比特币标准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起飞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赛弗朋克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创新者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早期采用者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早期多数 </a:t>
            </a:r>
            <a:r>
              <a:rPr sz="900">
                <a:solidFill>
                  <a:srgbClr val="FFFFFF"/>
                </a:solidFill>
                <a:latin typeface="IBM Plex Sans"/>
              </a:rPr>
              <a:t/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追随者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迟到者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市场份额百分比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连线》杂志。(1993年5月/6月）。Rebels with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 Cause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(Your Privacy).连线》，1（4）.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C.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(1988).The Crypto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Anarchist Manifesto.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(1996).A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Declaration of the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Independence of Cyberspace.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(1993).A Cypherpunk's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Manifesto.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图片来源：Cliffr2,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比特币与赛弗朋克的崛起（信息图表）。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/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我想用黄金买你的胡萝卜。然后，你可以把黄金作为未来货物的储藏价值。 </a:t>
            </a:r>
            <a:r>
              <a:rPr sz="1600"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我希望有人愿意在我的胡萝卜腐烂之前用它们交换。也许我可以用它们换取不会腐烂的黄金！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谁想要一些好胡萝卜？每根胡萝卜只需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1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块金币！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价值存储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交换媒介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记账单位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货币印刷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购买力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失去信任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货币崩溃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通货膨胀率升高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重建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"我们饿了！"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流通中的比特币数量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每个区块的货币创造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区块（千个）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/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年数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比特币（百万）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/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更多矿工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更多区块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更少时间 x 区块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更困难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少块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每块 10 </a:t>
            </a:r>
            <a:r>
              <a:rPr sz="1100">
                <a:solidFill>
                  <a:srgbClr val="FFFFFF"/>
                </a:solidFill>
                <a:latin typeface="IBM Plex Sans"/>
              </a:rPr>
              <a:t>分钟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比特币地址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1-2 多重加密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盗窃风险高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被盗风险低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盗窃风险高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被盗风险低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单密码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托管钱包/交易所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 之 5 多重加密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2-3 多重加密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迷你脚本钱包（带计时器）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2-2 多重加密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带口令的单密码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我正在为我的孙辈准备一份继承计划！ </a:t>
            </a:r>
            <a:r>
              <a:rPr sz="1200"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资料来源：Nakamoto, S. (2008, October 31)：Nakamoto, S. (2008, October 31)."比特币 P2P 电子现金论文"，密码学邮件列表。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(2008).比特币：点对点电子现金系统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比特币创世区块（0 号区块），由中本聪在 2009 年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 月 3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日挖出。 参见：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泰晤士报》。(2009年1月3日）。大臣濒临第二次救助银行。泰晤士报》（伦敦），第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1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页。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芬尼，H. [@halfin].(2009, 一月 11).运行比特币 [Tweet].Twitter.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[laszlo].(2010, May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18).比萨换比特币？Bitcointalk.org.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(2021)。中本聪雕像 [statue].匈牙利布达佩斯石墨公园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"Satoshigallery 的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Valentina </a:t>
            </a:r>
            <a:r>
              <a:rPr sz="1000" b="0" i="1" lang="fr-FR">
                <a:latin typeface="IBM Plex Sans"/>
              </a:rPr>
              <a:t>Picozzi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创作的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"中本聪"。瑞士卢加诺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交易：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比特币节点的各种示例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比特币节点的全球分布。 </a:t>
            </a:r>
            <a:r>
              <a:rPr sz="1200" i="1" u="none" lang="fr-FR">
                <a:latin typeface="IBM Plex Sans"/>
              </a:rPr>
              <a:t/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更多矿工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更多区块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更少时间 x 区块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更困难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少块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每块 10 </a:t>
            </a:r>
            <a:r>
              <a:rPr sz="1100">
                <a:solidFill>
                  <a:srgbClr val="FFFFFF"/>
                </a:solidFill>
                <a:latin typeface="IBM Plex Sans"/>
              </a:rPr>
              <a:t>分钟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Bitman 的 bitmain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S9 矿机和一个采矿设施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总哈希率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总哈希率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市场价格（美元）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年份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哈希率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分钟/1 个街区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天/1000 块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时间/块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协调进攻，取得胜利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进攻不协调导致失败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叛徒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叛徒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叛徒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叛徒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S9 矿机变身家庭取暖器。DecouvreBitcoin的 "Attakaï "项目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免费的钱，太棒了太感谢您了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等等，你哪来那么多钱？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慢点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开什么玩笑，这太疯狂了！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巴黎街头艺术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标准偏差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每日回报率 </a:t>
            </a:r>
            <a:r>
              <a:rPr sz="1400">
                <a:solidFill>
                  <a:schemeClr val="bg1"/>
                </a:solidFill>
                <a:latin typeface="IBM Plex Sans"/>
              </a:rPr>
              <a:t/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 天比特币波动指数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年份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比特币/美元波动性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黄金/美元波动性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欧元/美元波动性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这是一个气泡。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这是一个气泡。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这是一个气泡。 </a:t>
            </a:r>
            <a:r>
              <a:rPr sz="700" b="1">
                <a:latin typeface="IBM Plex Sans"/>
              </a:rPr>
              <a:t/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这是一个气泡。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接受比特币的 BTCmap 商户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商户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受薪工人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企业家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BTC </a:t>
            </a:r>
            <a:r>
              <a:rPr sz="1400">
                <a:solidFill>
                  <a:srgbClr val="E39C17"/>
                </a:solidFill>
                <a:latin typeface="IBM Plex Sans"/>
              </a:rPr>
              <a:t>的循环经济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捐赠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超级比特币化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比特币标准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起飞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赛弗朋克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创新者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早期采用者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早期多数 </a:t>
            </a:r>
            <a:r>
              <a:rPr sz="900">
                <a:solidFill>
                  <a:srgbClr val="FFFFFF"/>
                </a:solidFill>
                <a:latin typeface="IBM Plex Sans"/>
              </a:rPr>
              <a:t/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追随者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迟到者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市场份额百分比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文件传输协议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超文本传输协定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传输控制协议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用户数据报协议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电子邮件传输协议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互联网协议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文件传输协议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网络浏览器协议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密码图形安全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域名系统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货币议定书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爱丽丝和鲍勃的信道交换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频道开放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航道关闭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非集中化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安全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可扩展性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路由跳数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路由节点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开幕时的通道状态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/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关闭时的航道状况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/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游戏入口：500 </a:t>
            </a:r>
            <a:r>
              <a:rPr b="0">
                <a:solidFill>
                  <a:srgbClr val="000000"/>
                </a:solidFill>
                <a:latin typeface="IBM Plex Sans"/>
              </a:rPr>
              <a:t>萨特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咨询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问题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高级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闪电网络还能让我们远程完成许多事情。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给我发送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1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sat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的信息。不再有垃圾邮件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