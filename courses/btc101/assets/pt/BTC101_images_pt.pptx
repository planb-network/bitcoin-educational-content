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Takeoff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Innovators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Early adopters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Early</a:t>
            </a:r>
            <a:b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majority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Followers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Latecomers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Market Share Percentage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Wired Magazine. (1993, May/June). Rebels with a Cause (Your Privacy). 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Wired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, 1(4). 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May, T. C. (1988). </a:t>
            </a:r>
            <a:r>
              <a:rPr sz="11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Crypto Anarchist Manifesto</a:t>
            </a:r>
            <a:r>
              <a:rPr sz="11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.  </a:t>
            </a:r>
            <a:endParaRPr sz="1600" i="1">
              <a:latin typeface="IBM Plex Sans"/>
              <a:cs typeface="IBM Plex Sans"/>
            </a:endParaRPr>
          </a:p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Barlow, J. P. (1996). </a:t>
            </a:r>
            <a:r>
              <a:rPr sz="11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 Declaration of the Independence of Cyberspace</a:t>
            </a:r>
            <a:r>
              <a:rPr sz="11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.  </a:t>
            </a:r>
            <a:endParaRPr sz="1600" i="1">
              <a:latin typeface="IBM Plex Sans"/>
              <a:cs typeface="IBM Plex Sans"/>
            </a:endParaRPr>
          </a:p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Hughes, E. (1993). </a:t>
            </a:r>
            <a:r>
              <a:rPr sz="11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 Cypherpunk’s Manifesto</a:t>
            </a:r>
            <a:r>
              <a:rPr sz="11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.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Image source: cliffr2, 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 and the Rise of Cypherpunks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/>
                <a:latin typeface="IBM Plex Sans"/>
                <a:ea typeface="IBM Plex Sans"/>
                <a:cs typeface="IBM Plex Sans"/>
              </a:rPr>
              <a:t>I want to buy your carrots for gold. Then,</a:t>
            </a:r>
            <a:r>
              <a:rPr lang="fr-FR" sz="1600">
                <a:solidFill/>
                <a:latin typeface="IBM Plex Sans"/>
                <a:ea typeface="IBM Plex Sans"/>
                <a:cs typeface="IBM Plex Sans"/>
              </a:rPr>
              <a:t> </a:t>
            </a:r>
            <a:r>
              <a:rPr sz="1600">
                <a:solidFill/>
                <a:latin typeface="IBM Plex Sans"/>
                <a:ea typeface="IBM Plex Sans"/>
                <a:cs typeface="IBM Plex Sans"/>
              </a:rPr>
              <a:t>you could keep the gold as a store of value</a:t>
            </a:r>
            <a:r>
              <a:rPr lang="fr-FR" sz="1600">
                <a:solidFill/>
                <a:latin typeface="IBM Plex Sans"/>
                <a:ea typeface="IBM Plex Sans"/>
                <a:cs typeface="IBM Plex Sans"/>
              </a:rPr>
              <a:t> </a:t>
            </a:r>
            <a:r>
              <a:rPr sz="1600">
                <a:solidFill/>
                <a:latin typeface="IBM Plex Sans"/>
                <a:ea typeface="IBM Plex Sans"/>
                <a:cs typeface="IBM Plex Sans"/>
              </a:rPr>
              <a:t>for future goods.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I hope someone wants to barter my carrots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before they rot. Perhaps I can exchange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them for gold, which will not spoil!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Who wants some good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carrots? Only 1 gold piece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per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carrot!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Store of value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Medium of exchange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Unit of account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Monetary printing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Purchasing power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Loss of trust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Currency collapse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Higher inflation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Reconstruction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“We are hungry!”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Number of bitcoins in circulation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Monetary creation per block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  <a:ea typeface="IBM Plex Sans"/>
                <a:cs typeface="IBM Plex Sans"/>
              </a:rPr>
              <a:t>Blocks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  <a:ea typeface="IBM Plex Sans"/>
                <a:cs typeface="IBM Plex Sans"/>
              </a:rPr>
              <a:t>(thousands)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  <a:ea typeface="IBM Plex Sans"/>
                <a:cs typeface="IBM Plex Sans"/>
              </a:rPr>
              <a:t>Years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Bitcoins </a:t>
            </a:r>
            <a:r>
              <a:rPr sz="1400" b="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(millions)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more miners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more blocks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less time x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more difficulty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less blocks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10 min/block</a:t>
            </a:r>
            <a:b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again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/>
              </a:rPr>
              <a:t>Bitcoin address: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GB" sz="11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1-of-2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High Risk of Theft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Low Risk of Theft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High 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Risk of Theft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Low 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Risk of Theft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GB" sz="11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Single-sig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GB" sz="11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Custodial wallets/exchanges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GB" sz="11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GB" sz="11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3-of-5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GB" sz="11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2-of-3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GB" sz="11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Miniscript wallet (with timelocks)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GB" sz="11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2-of-2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GB" sz="11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Single-sig with passphrase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/>
                <a:latin typeface="IBM Plex Sans"/>
                <a:ea typeface="IBM Plex Sans"/>
                <a:cs typeface="IBM Plex Sans"/>
              </a:rPr>
              <a:t>I am preparing an</a:t>
            </a:r>
            <a:br>
              <a:rPr sz="1200">
                <a:latin typeface="IBM Plex Sans"/>
                <a:ea typeface="IBM Plex Sans"/>
                <a:cs typeface="IBM Plex Sans"/>
              </a:rPr>
            </a:br>
            <a:r>
              <a:rPr sz="1200">
                <a:solidFill/>
                <a:latin typeface="IBM Plex Sans"/>
                <a:ea typeface="IBM Plex Sans"/>
                <a:cs typeface="IBM Plex Sans"/>
              </a:rPr>
              <a:t>inheritance plan for my</a:t>
            </a:r>
            <a:r>
              <a:rPr sz="1200">
                <a:solidFill/>
                <a:latin typeface="IBM Plex Sans"/>
                <a:ea typeface="IBM Plex Sans"/>
                <a:cs typeface="IBM Plex Sans"/>
              </a:rPr>
              <a:t> grand</a:t>
            </a:r>
            <a:r>
              <a:rPr lang="fr-FR" sz="1200">
                <a:solidFill/>
                <a:latin typeface="IBM Plex Sans"/>
                <a:ea typeface="IBM Plex Sans"/>
                <a:cs typeface="IBM Plex Sans"/>
              </a:rPr>
              <a:t> </a:t>
            </a:r>
            <a:r>
              <a:rPr sz="1200">
                <a:solidFill/>
                <a:latin typeface="IBM Plex Sans"/>
                <a:ea typeface="IBM Plex Sans"/>
                <a:cs typeface="IBM Plex Sans"/>
              </a:rPr>
              <a:t>children!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Source: Nakamoto, S. (2008, October 31). "Bitcoin P2P e-cash paper,"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Nakamoto, S. (2008). </a:t>
            </a: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Bitcoin: A Peer-to-Peer Electronic Cash System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 Genesis Block (Block 0), mined by Satoshi Nakamoto on January 3, 2009.</a:t>
            </a:r>
            <a:b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</a:b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See: </a:t>
            </a:r>
            <a:r>
              <a:rPr lang="en-US" sz="1000" b="0" i="1" u="sng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  <a:hlinkClick r:id="rId4" tooltip=""/>
              </a:rPr>
              <a:t>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Times. (2009, January 3). Chancellor on brink of second bailout for banks. </a:t>
            </a:r>
            <a:r>
              <a:rPr sz="8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Times</a:t>
            </a:r>
            <a:r>
              <a:rPr sz="8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(London), p.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Finney, H. [@halfin]. (2009, January 11). Running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defRPr/>
            </a:pPr>
            <a:r>
              <a:rPr lang="en-US" sz="1000" b="0" i="1" u="sng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  <a:hlinkClick r:id="rId4" tooltip=""/>
              </a:rPr>
              <a:t>https://twitter.com/halfin/status/1110302988</a:t>
            </a: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Hanyecz, L. [laszlo]. (2010, May 18). </a:t>
            </a: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Pizza for bitcoins?</a:t>
            </a: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Bitcointalk.org. </a:t>
            </a:r>
            <a:endParaRPr sz="1000" i="1">
              <a:latin typeface="IBM Plex Sans"/>
              <a:cs typeface="IBM Plex Sans"/>
            </a:endParaRPr>
          </a:p>
          <a:p>
            <a:pPr algn="ctr">
              <a:defRPr/>
            </a:pPr>
            <a:r>
              <a:rPr lang="en-US" sz="1000" b="0" i="1" u="sng" strike="noStrike" cap="none" spc="0">
                <a:solidFill>
                  <a:schemeClr val="hlink"/>
                </a:solidFill>
                <a:latin typeface="IBM Plex Sans"/>
                <a:ea typeface="IBM Plex Sans"/>
                <a:cs typeface="IBM Plex Sans"/>
                <a:hlinkClick r:id="rId4" tooltip=""/>
              </a:rPr>
              <a:t>https://bitcointalk.org/index.php?topic=137.0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Gergely, R., &amp; Gilly, T. (2021). </a:t>
            </a: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Satoshi Nakamoto statue</a:t>
            </a: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[Statue]. Graphisoft Park, Budapest, Hungary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lang="fr-FR" sz="1000" b="0" i="1">
                <a:solidFill/>
                <a:latin typeface="IBM Plex Sans"/>
                <a:ea typeface="IBM Plex Sans"/>
                <a:cs typeface="IBM Plex Sans"/>
              </a:rPr>
              <a:t>« Satoshi Nakamoto » by </a:t>
            </a: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Valentina Picozzi</a:t>
            </a:r>
            <a:r>
              <a:rPr lang="fr-FR" sz="1000" b="0" i="1">
                <a:solidFill/>
                <a:latin typeface="IBM Plex Sans"/>
                <a:ea typeface="IBM Plex Sans"/>
                <a:cs typeface="IBM Plex Sans"/>
              </a:rPr>
              <a:t> from Satoshigallery. </a:t>
            </a:r>
            <a:r>
              <a:rPr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Lugano, </a:t>
            </a:r>
            <a:r>
              <a:rPr sz="1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Switzerland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/>
                <a:latin typeface="IBM Plex Sans"/>
                <a:ea typeface="IBM Plex Sans"/>
                <a:cs typeface="IBM Plex Sans"/>
              </a:rPr>
              <a:t>Transaction: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1400" i="1">
                <a:solidFill/>
                <a:latin typeface="IBM Plex Sans"/>
                <a:ea typeface="IBM Plex Sans"/>
                <a:cs typeface="IBM Plex Sans"/>
              </a:rPr>
              <a:t>Various exemple of bitcoin node 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W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orldwide distribution of Bitcoin Nodes. </a:t>
            </a:r>
            <a:r>
              <a:rPr lang="fr-FR" sz="1200" i="1" u="none">
                <a:solidFill/>
                <a:latin typeface="IBM Plex Sans"/>
                <a:ea typeface="IBM Plex Sans"/>
                <a:cs typeface="IBM Plex Sans"/>
              </a:rPr>
              <a:t> 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more miners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more blocks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less time x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more difficulty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less blocks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10 min/block</a:t>
            </a:r>
            <a:b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again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bitmain </a:t>
            </a:r>
            <a:r>
              <a:rPr lang="fr-FR" sz="10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S9 miner by Bitman &amp; a mining facility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Total Hash Rate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Total Hash Rate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Market Price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Year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110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10 min / 1 block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7 days / 1000 blocks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time/blocks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solidFill/>
                <a:latin typeface="IBM Plex Sans"/>
                <a:ea typeface="IBM Plex Sans"/>
                <a:cs typeface="IBM Plex Sans"/>
              </a:rPr>
              <a:t>Coordinated Attack Leading to Victory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solidFill/>
                <a:latin typeface="IBM Plex Sans"/>
                <a:ea typeface="IBM Plex Sans"/>
                <a:cs typeface="IBM Plex Sans"/>
              </a:rPr>
              <a:t>Uncoordinated Attack Leading to Defeat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  <a:ea typeface="IBM Plex Sans"/>
                <a:cs typeface="IBM Plex Sans"/>
              </a:rPr>
              <a:t>Traitor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  <a:ea typeface="IBM Plex Sans"/>
                <a:cs typeface="IBM Plex Sans"/>
              </a:rPr>
              <a:t>Traitor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  <a:ea typeface="IBM Plex Sans"/>
                <a:cs typeface="IBM Plex Sans"/>
              </a:rPr>
              <a:t>Traitor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  <a:ea typeface="IBM Plex Sans"/>
                <a:cs typeface="IBM Plex Sans"/>
              </a:rPr>
              <a:t>Traitor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An S9 miner transformed as a home heater. ‘Attakaï’ project by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Free money, that’s amazing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!!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Thank you so much!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Wait! Where do you get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all that money from?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b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Slow down!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Are you kidding me?</a:t>
            </a:r>
            <a:b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This is insane!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Street art in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Standard Deviation 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of </a:t>
            </a:r>
            <a:r>
              <a:rPr sz="140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Daily returns</a:t>
            </a:r>
            <a:endParaRPr sz="16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60-Day Bitcoin Volatility Index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Year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Volatility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Gold/USD Volatility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EUR/USD Volatility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solidFill/>
                <a:latin typeface="IBM Plex Sans"/>
                <a:ea typeface="IBM Plex Sans"/>
                <a:cs typeface="IBM Plex Sans"/>
              </a:rPr>
              <a:t>IT’S A</a:t>
            </a:r>
            <a:br>
              <a:rPr sz="900" b="1">
                <a:latin typeface="IBM Plex Sans"/>
                <a:ea typeface="IBM Plex Sans"/>
                <a:cs typeface="IBM Plex Sans"/>
              </a:rPr>
            </a:br>
            <a:r>
              <a:rPr sz="900" b="1">
                <a:solidFill/>
                <a:latin typeface="IBM Plex Sans"/>
                <a:ea typeface="IBM Plex Sans"/>
                <a:cs typeface="IBM Plex Sans"/>
              </a:rPr>
              <a:t>BUBBLE.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solidFill/>
                <a:latin typeface="IBM Plex Sans"/>
                <a:ea typeface="IBM Plex Sans"/>
                <a:cs typeface="IBM Plex Sans"/>
              </a:rPr>
              <a:t>IT’S A</a:t>
            </a:r>
            <a:br>
              <a:rPr sz="900" b="1">
                <a:latin typeface="IBM Plex Sans"/>
                <a:ea typeface="IBM Plex Sans"/>
                <a:cs typeface="IBM Plex Sans"/>
              </a:rPr>
            </a:br>
            <a:r>
              <a:rPr sz="900" b="1">
                <a:solidFill/>
                <a:latin typeface="IBM Plex Sans"/>
                <a:ea typeface="IBM Plex Sans"/>
                <a:cs typeface="IBM Plex Sans"/>
              </a:rPr>
              <a:t>BUBBLE.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solidFill/>
                <a:latin typeface="IBM Plex Sans"/>
                <a:ea typeface="IBM Plex Sans"/>
                <a:cs typeface="IBM Plex Sans"/>
              </a:rPr>
              <a:t>IT’S A</a:t>
            </a:r>
            <a:br>
              <a:rPr sz="700" b="1">
                <a:latin typeface="IBM Plex Sans"/>
                <a:ea typeface="IBM Plex Sans"/>
                <a:cs typeface="IBM Plex Sans"/>
              </a:rPr>
            </a:br>
            <a:r>
              <a:rPr sz="700" b="1">
                <a:solidFill/>
                <a:latin typeface="IBM Plex Sans"/>
                <a:ea typeface="IBM Plex Sans"/>
                <a:cs typeface="IBM Plex Sans"/>
              </a:rPr>
              <a:t>BUBBLE.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solidFill/>
                <a:latin typeface="IBM Plex Sans"/>
                <a:ea typeface="IBM Plex Sans"/>
                <a:cs typeface="IBM Plex Sans"/>
              </a:rPr>
              <a:t>IT’S A</a:t>
            </a:r>
            <a:br>
              <a:rPr sz="900" b="1">
                <a:latin typeface="IBM Plex Sans"/>
                <a:ea typeface="IBM Plex Sans"/>
                <a:cs typeface="IBM Plex Sans"/>
              </a:rPr>
            </a:br>
            <a:r>
              <a:rPr sz="900" b="1">
                <a:solidFill/>
                <a:latin typeface="IBM Plex Sans"/>
                <a:ea typeface="IBM Plex Sans"/>
                <a:cs typeface="IBM Plex Sans"/>
              </a:rPr>
              <a:t>BUBBLE.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BTCmap merchant accepting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Merchants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Salaried workers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Entrepreneurs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Circular Economy</a:t>
            </a:r>
            <a:br>
              <a:rPr sz="14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</a:br>
            <a:r>
              <a:rPr sz="14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in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Donations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Takeoff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  <a:ea typeface="IBM Plex Sans"/>
                <a:cs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Innovators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Early adopters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Early</a:t>
            </a:r>
            <a:b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majority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Followers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Latecomers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Market Share Percentage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  <a:ea typeface="IBM Plex Sans"/>
                <a:cs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  <a:ea typeface="IBM Plex Sans"/>
                <a:cs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  <a:ea typeface="IBM Plex Sans"/>
                <a:cs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  <a:ea typeface="IBM Plex Sans"/>
                <a:cs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  <a:ea typeface="IBM Plex Sans"/>
                <a:cs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  <a:ea typeface="IBM Plex Sans"/>
                <a:cs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  <a:ea typeface="IBM Plex Sans"/>
                <a:cs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  <a:ea typeface="IBM Plex Sans"/>
                <a:cs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  <a:ea typeface="IBM Plex Sans"/>
                <a:cs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0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Transmission Control</a:t>
            </a:r>
            <a:br>
              <a:rPr lang="en-US" sz="10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0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Protocol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User Datagram</a:t>
            </a:r>
            <a:b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E-mail Transmission</a:t>
            </a:r>
            <a:b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Internet</a:t>
            </a:r>
            <a:b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Protocol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File Transfer</a:t>
            </a:r>
            <a:b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Web Browser</a:t>
            </a:r>
            <a:b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Protocol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Crypto-graphic</a:t>
            </a:r>
            <a:b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Security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Domain Name</a:t>
            </a:r>
            <a:b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100" b="0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System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100" b="0" i="0" u="none" strike="noStrike" cap="none" spc="0">
                <a:solidFill>
                  <a:srgbClr val="232A44"/>
                </a:solidFill>
                <a:latin typeface="IBM Plex Sans"/>
                <a:ea typeface="IBM Plex Sans"/>
                <a:cs typeface="IBM Plex Sans"/>
              </a:rPr>
              <a:t>Money</a:t>
            </a:r>
            <a:br>
              <a:rPr lang="en-US" sz="1100" b="0" i="0" u="none" strike="noStrike" cap="none" spc="0">
                <a:solidFill>
                  <a:srgbClr val="232A44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100" b="0" i="0" u="none" strike="noStrike" cap="none" spc="0">
                <a:solidFill>
                  <a:srgbClr val="232A44"/>
                </a:solidFill>
                <a:latin typeface="IBM Plex Sans"/>
                <a:ea typeface="IBM Plex Sans"/>
                <a:cs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Alice and Bob’s channel exchanges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LN Channel</a:t>
            </a:r>
            <a:br>
              <a:rPr sz="1400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sz="1400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Opening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LN Channel</a:t>
            </a:r>
            <a:br>
              <a:rPr sz="1400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</a:br>
            <a:r>
              <a:rPr sz="1400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Closure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  <a:t>Decentralization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  <a:t>Security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  <a:t>Scalability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  <a:t>Routing hops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  <a:t>Routing Node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  <a:t>Channel status</a:t>
            </a:r>
            <a:br>
              <a:rPr sz="14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</a:br>
            <a:r>
              <a:rPr sz="14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  <a:t>at the opening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  <a:t>Channel status</a:t>
            </a:r>
            <a:br>
              <a:rPr sz="14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</a:br>
            <a:r>
              <a:rPr sz="1400" b="0">
                <a:solidFill>
                  <a:srgbClr val="E49106"/>
                </a:solidFill>
                <a:latin typeface="IBM Plex Sans"/>
                <a:ea typeface="IBM Plex Sans"/>
                <a:cs typeface="IBM Plex Sans"/>
              </a:rPr>
              <a:t>at the closure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Game</a:t>
            </a:r>
            <a:br>
              <a:rPr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</a:br>
            <a:r>
              <a:rPr b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Entry: 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Consultancy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Questions!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Lightning Network also</a:t>
            </a:r>
            <a:br>
              <a:rPr lang="en-US" sz="14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4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allows us to do many things</a:t>
            </a:r>
            <a:br>
              <a:rPr lang="en-US" sz="14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4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from remote.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Send me a message</a:t>
            </a:r>
            <a:b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</a:b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for 1 sat.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No more spam!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