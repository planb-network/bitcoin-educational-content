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Hyperbitcoinisierung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Abflug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Zigeunerpunks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Innovatoren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Frühe Übernehmer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Frühe </a:t>
            </a:r>
            <a:r>
              <a:rPr sz="900">
                <a:solidFill>
                  <a:srgbClr val="FFFFFF"/>
                </a:solidFill>
                <a:latin typeface="IBM Plex Sans"/>
              </a:rPr>
              <a:t>Mehrheit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Follower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Nachzügler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Marktanteil in Prozent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Magazin. (1993, Mai/Juni).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Rebels with a Cause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(Ihre Privatsphäre).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Das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krypto-anarchistische Manifest.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Eine Erklärung der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Unabhängigkeit des Cyberspace.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(1993).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Das Manifest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eines Cypherpunks.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Bildquelle: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Ich möchte Ihre Karotten </a:t>
            </a:r>
            <a:r>
              <a:rPr sz="1600" lang="fr-FR">
                <a:latin typeface="IBM Plex Sans"/>
              </a:rPr>
              <a:t>für Gold kaufen. Dann </a:t>
            </a:r>
            <a:r>
              <a:rPr sz="1600">
                <a:latin typeface="IBM Plex Sans"/>
              </a:rPr>
              <a:t>könnten Sie das Gold </a:t>
            </a:r>
            <a:r>
              <a:rPr sz="1600" lang="fr-FR">
                <a:latin typeface="IBM Plex Sans"/>
              </a:rPr>
              <a:t>als Wertaufbewahrungsmittel für </a:t>
            </a:r>
            <a:r>
              <a:rPr sz="1600">
                <a:latin typeface="IBM Plex Sans"/>
              </a:rPr>
              <a:t>zukünftige Waren behalten.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Ich hoffe, dass jemand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meine Karotten eintauschen möchte,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bevor sie verrotten. Vielleicht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kann ich sie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gegen Gold eintauschen,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das nicht verdirbt!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Wer will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ein paar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gute Karotten?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Nur 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Goldstück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pro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Karotte!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Wertaufbewahrung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Tauschmittel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Einheit der Rechnung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Gelddrucken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Kaufkraft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Verlust von Vertrauen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Währungszusammenbruch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Höhere Inflation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Wiederaufbau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"Wir sind hungrig!"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Anzahl der im Umlauf befindlichen Bitcoins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Geldschöpfung pro Block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Blöcke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(Tausende)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Jahre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(Millionen)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mehr Bergleute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mehr Blöcke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weniger Zeit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mehr Schwierigkeiten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weniger Blöcke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wieder 10 </a:t>
            </a:r>
            <a:r>
              <a:rPr sz="1100">
                <a:solidFill>
                  <a:srgbClr val="FFFFFF"/>
                </a:solidFill>
                <a:latin typeface="IBM Plex Sans"/>
              </a:rPr>
              <a:t>min/Block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Bitcoin-Adresse: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1-von-2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Hohes Diebstahlrisiko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Geringes Diebstahlrisiko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Hohes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Diebstahlrisiko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Geringes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Diebstahlrisiko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Einzel-Sig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Verwahrte Geldbörsen/Börsen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3-von-5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2-von-3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Miniscript-Brieftasche (mit Timelocks)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2-von-2-Multisig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Einfachsignatur mit Passphrase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Ich bereite </a:t>
            </a:r>
            <a:r>
              <a:rPr sz="1200">
                <a:latin typeface="IBM Plex Sans"/>
              </a:rPr>
              <a:t>einen Erbschaftsplan </a:t>
            </a:r>
            <a:r>
              <a:rPr sz="1200">
                <a:latin typeface="IBM Plex Sans"/>
              </a:rPr>
              <a:t>für meine </a:t>
            </a:r>
            <a:r>
              <a:rPr sz="1200" lang="fr-FR">
                <a:latin typeface="IBM Plex Sans"/>
              </a:rPr>
              <a:t>Enkelkinder </a:t>
            </a:r>
            <a:r>
              <a:rPr sz="1200">
                <a:latin typeface="IBM Plex Sans"/>
              </a:rPr>
              <a:t>vor!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Quelle: Nakamoto, S. (2008, 31. Oktober). "Bitcoin P2P e-cash paper,"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Ein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Peer-to-Peer Electronic Cash System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erstellt von Satoshi Nakamoto am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3. Januar 2009, siehe: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Die Zeit. (2009, Januar 3). Kanzler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am Rande einer zweiten Rettungsaktion für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Banken. The Times (London), S.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Januar 11). Running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Mai 18).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für Bitcoins?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Satoshi Nakamoto Statue [Statue].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Graphisoft Park, Budapest, Ungarn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von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von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Schweiz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Transaktion: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Verschiedene Beispiele für Bitcoin-Knoten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Weltweite Verteilung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von </a:t>
            </a:r>
            <a:r>
              <a:rPr sz="1200" i="1" u="none" lang="fr-FR">
                <a:latin typeface="IBM Plex Sans"/>
              </a:rPr>
              <a:t>Bitcoin-Knoten.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mehr Bergleute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mehr Blöcke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weniger Zeit x 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mehr Schwierigkeiten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weniger Blöcke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wieder 10 </a:t>
            </a:r>
            <a:r>
              <a:rPr sz="1100">
                <a:solidFill>
                  <a:srgbClr val="FFFFFF"/>
                </a:solidFill>
                <a:latin typeface="IBM Plex Sans"/>
              </a:rPr>
              <a:t>min/Block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von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&amp; eine Mining-Anlage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Gesamt-Hash-Rate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Gesamt-Hash-Rate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Marktpreis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Jahr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Block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Tage / 1000 Blöcke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zeit/Blöcke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Koordinierter Angriff führt zum Sieg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Unkoordinierte Angriffe führen zur Niederlage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Verräter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Verräter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Verräter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Verräter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Ein S9-Miner, der in eine Heizung umgewandelt wurde. projekt "Attakaï" von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Kostenloses Geld,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das ist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unglaublich! Ich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danke Ihnen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so sehr!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Warte! Woher hast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du das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ganze Geld?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Nicht so schnell!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Soll das ein Witz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sein? Das ist Wahnsinn!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Straßenkunst in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Standardabweichung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der täglichen </a:t>
            </a:r>
            <a:r>
              <a:rPr sz="1400">
                <a:solidFill>
                  <a:schemeClr val="bg1"/>
                </a:solidFill>
                <a:latin typeface="IBM Plex Sans"/>
              </a:rPr>
              <a:t>Renditen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60-Tage-Bitcoin-Volatilitätsindex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Jahr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Volatilität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Gold/USD Volatilität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EUR/USD-Volatilität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 IST </a:t>
            </a:r>
            <a:r>
              <a:rPr sz="900" b="1">
                <a:latin typeface="IBM Plex Sans"/>
              </a:rPr>
              <a:t>EINE BLASE.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 IST </a:t>
            </a:r>
            <a:r>
              <a:rPr sz="900" b="1">
                <a:latin typeface="IBM Plex Sans"/>
              </a:rPr>
              <a:t>EINE BLASE.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ES IST </a:t>
            </a:r>
            <a:r>
              <a:rPr sz="700" b="1">
                <a:latin typeface="IBM Plex Sans"/>
              </a:rPr>
              <a:t>EINE BLASE.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 IST </a:t>
            </a:r>
            <a:r>
              <a:rPr sz="900" b="1">
                <a:latin typeface="IBM Plex Sans"/>
              </a:rPr>
              <a:t>EINE BLASE.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BTCmap-Händler, die Bitcoin akzeptieren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Kaufleute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Gehaltsempfänger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Unternehmer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Kreislaufwirtschaft in </a:t>
            </a:r>
            <a:r>
              <a:rPr sz="1400">
                <a:solidFill>
                  <a:srgbClr val="E39C17"/>
                </a:solidFill>
                <a:latin typeface="IBM Plex Sans"/>
              </a:rPr>
              <a:t>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Spenden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Hyperbitcoinisierung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Abflug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Zigeunerpunks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Innovatoren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Frühe Übernehmer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Frühe </a:t>
            </a:r>
            <a:r>
              <a:rPr sz="900">
                <a:solidFill>
                  <a:srgbClr val="FFFFFF"/>
                </a:solidFill>
                <a:latin typeface="IBM Plex Sans"/>
              </a:rPr>
              <a:t>Mehrheit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Follower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Nachzügler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Marktanteil in Prozent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Übertragungssteuerungsprotokoll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Benutzer-Datagramm-Protokoll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E-Mail-Übertragungsprotokoll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Internet-Protokoll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Dateiübertragungsprotokoll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Webbrowser-Protokoll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Krypto-Grafik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Sicherheit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Domänennamensystem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Geld-Protokoll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Austausch von Kanälen durch Alice und Bob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LN-Kanal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Öffnung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LN Kanal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Schließung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Dezentralisierung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Sicherheit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Skalierbarkeit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Routing-Sprünge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Routing-Knoten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Kanalstatus bei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der Eröffnung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Status des Kanals zum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Zeitpunkt der Schließung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Eintrag ins Spiel: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Beratung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Fragen!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Prämie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Mit Lightning Network können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wir auch viele Dinge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aus der Ferne erledigen.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Senden Sie mir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eine Nachricht für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1 sat. Kein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Spam mehr!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