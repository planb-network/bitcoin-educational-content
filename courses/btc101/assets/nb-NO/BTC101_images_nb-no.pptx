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Hyperbitcoinisering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Takeoff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Innovatører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Tidlige brukere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Tidlig </a:t>
            </a:r>
            <a:r>
              <a:rPr sz="900">
                <a:solidFill>
                  <a:srgbClr val="FFFFFF"/>
                </a:solidFill>
                <a:latin typeface="IBM Plex Sans"/>
              </a:rPr>
              <a:t>flertall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Følgere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Etternølere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Markedsandel i prosent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Wired Magazine. (1993, mai/juni).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Rebeller med en sak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(ditt personvern). Wired,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May, T. C.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(1988). Det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kryptoanarkistiske manifestet.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P.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(1996). En erklæring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om cyberspace' uavhengighet.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E.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Et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cypherpunk-manifest.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Bildekilde: cliffr2, Bitcoin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and the Rise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of Cypherpunks (Infographic).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Jeg vil kjøpe gulrøttene </a:t>
            </a:r>
            <a:r>
              <a:rPr sz="1600" lang="fr-FR">
                <a:latin typeface="IBM Plex Sans"/>
              </a:rPr>
              <a:t>dine for gull. Da </a:t>
            </a:r>
            <a:r>
              <a:rPr sz="1600">
                <a:latin typeface="IBM Plex Sans"/>
              </a:rPr>
              <a:t>kan du beholde gullet </a:t>
            </a:r>
            <a:r>
              <a:rPr sz="1600" lang="fr-FR">
                <a:latin typeface="IBM Plex Sans"/>
              </a:rPr>
              <a:t>som et verdioppbevaringsmiddel </a:t>
            </a:r>
            <a:r>
              <a:rPr sz="1600">
                <a:latin typeface="IBM Plex Sans"/>
              </a:rPr>
              <a:t>for fremtidige varer.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Jeg håper noen vil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bytte gulrøttene mine før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de råtner. Kanskje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jeg kan bytte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dem mot gull,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som ikke råtner!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Hvem vil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ha noen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gode gulrøtter?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Bare 1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gullstykke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per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gulrot!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Oppbevaring av verdier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Vekslemiddel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Kontoenhet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Pengetrykking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Kjøpekraft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Tap av tillit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Valutakollaps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Høyere inflasjon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Rekonstruksjon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"Vi er sultne!"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Antall bitcoins i omløp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Pengeskaping per blokk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Blokker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(tusenvis)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År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Bitcoins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(millioner)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flere gruvearbeidere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flere blokker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mindre tid x blokk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større vanskeligheter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færre blokker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min/blokk </a:t>
            </a:r>
            <a:r>
              <a:rPr sz="1100">
                <a:solidFill>
                  <a:srgbClr val="FFFFFF"/>
                </a:solidFill>
                <a:latin typeface="IBM Plex Sans"/>
              </a:rPr>
              <a:t>igjen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Bitcoin-adresse: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1-av-2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Høy risiko for tyveri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Lav risiko for tyveri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Høy risiko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for tyveri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Lav risiko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for tyveri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Single-sig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Depotlommebøker/børser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3-av-5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2-av-3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Miniscript-lommebok (med tidslås)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2-av-2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Enkel signering med passordfrase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Jeg forbereder </a:t>
            </a:r>
            <a:r>
              <a:rPr sz="1200">
                <a:latin typeface="IBM Plex Sans"/>
              </a:rPr>
              <a:t>en arveplan </a:t>
            </a:r>
            <a:r>
              <a:rPr sz="1200">
                <a:latin typeface="IBM Plex Sans"/>
              </a:rPr>
              <a:t>for </a:t>
            </a:r>
            <a:r>
              <a:rPr sz="1200" lang="fr-FR">
                <a:latin typeface="IBM Plex Sans"/>
              </a:rPr>
              <a:t>barnebarna </a:t>
            </a:r>
            <a:r>
              <a:rPr sz="1200">
                <a:latin typeface="IBM Plex Sans"/>
              </a:rPr>
              <a:t>mine!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Kilde: Nakamoto, S: Nakamoto, S. (2008, 31. oktober). "Bitcoin P2P e-cash paper", Cryptography Mailing List.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(2008). Bitcoin: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Et elektronisk peer-to-peer-kontantsystem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Bitcoin Genesis Block (Block 0),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utvunnet av Satoshi Nakamoto den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3. januar 2009. Se: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Times. (2009, 3. januar). Forbundskansler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på randen av andre redningsaksjon for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banker. The Times (London), s.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 (2009, 11. januar). Kjører bitcoin [Tweet].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[laszlo]. (2010,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18. mai). Pizza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for bitcoins?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&amp; Gilly, T.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Satoshi Nakamoto-statue [Statue].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Graphisoft Park, Budapest, Ungarn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" Satoshi Nakamoto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" av </a:t>
            </a:r>
            <a:r>
              <a:rPr sz="1000" b="0" i="1" lang="fr-FR">
                <a:latin typeface="IBM Plex Sans"/>
              </a:rPr>
              <a:t>Valentina Picozzi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fra Satoshigallery.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Lugano, Sveits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Transaksjon: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Ulike eksempler på bitcoin-node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Verdensomspennende distribusjon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av </a:t>
            </a:r>
            <a:r>
              <a:rPr sz="1200" i="1" u="none" lang="fr-FR">
                <a:latin typeface="IBM Plex Sans"/>
              </a:rPr>
              <a:t>Bitcoin-noder.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flere gruvearbeidere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flere blokker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mindre tid x blokk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større vanskeligheter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færre blokker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min/blokk </a:t>
            </a:r>
            <a:r>
              <a:rPr sz="1100">
                <a:solidFill>
                  <a:srgbClr val="FFFFFF"/>
                </a:solidFill>
                <a:latin typeface="IBM Plex Sans"/>
              </a:rPr>
              <a:t>igjen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bitmain S9 gruvearbeider av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Bitman og et gruveanlegg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Total hashrate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Total hashfrekvens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Markedspris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År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Hashrate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min / 1 kvartal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dager / 1000 blokker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tid/blokker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Koordinerte angrep fører til seier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Ukoordinerte angrep fører til nederlag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Forræder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Forræder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Forræder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Forræder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En S9-gruvearbeider forvandlet til en varmeovn. 'Attakaï' prosjekt av DecouvreBitcoin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Gratis penger,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det er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fantastisk! Tusen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takk skal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du ha!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Vent! Hvor får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du alle de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pengene fra?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Ta det rolig!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Tuller du? Dette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er galskap!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Gatekunst i Paris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Standardavvik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av daglig </a:t>
            </a:r>
            <a:r>
              <a:rPr sz="1400">
                <a:solidFill>
                  <a:schemeClr val="bg1"/>
                </a:solidFill>
                <a:latin typeface="IBM Plex Sans"/>
              </a:rPr>
              <a:t>avkastning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60-dagers volatilitetsindeks for bitcoin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År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Volatilitet i BTC/USD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Volatilitet i gull/USD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Volatilitet i EUR/USD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DET ER </a:t>
            </a:r>
            <a:r>
              <a:rPr sz="900" b="1">
                <a:latin typeface="IBM Plex Sans"/>
              </a:rPr>
              <a:t>EN BOBLE.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DET ER </a:t>
            </a:r>
            <a:r>
              <a:rPr sz="900" b="1">
                <a:latin typeface="IBM Plex Sans"/>
              </a:rPr>
              <a:t>EN BOBLE.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DET ER </a:t>
            </a:r>
            <a:r>
              <a:rPr sz="700" b="1">
                <a:latin typeface="IBM Plex Sans"/>
              </a:rPr>
              <a:t>EN BOBLE.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DET ER </a:t>
            </a:r>
            <a:r>
              <a:rPr sz="900" b="1">
                <a:latin typeface="IBM Plex Sans"/>
              </a:rPr>
              <a:t>EN BOBLE.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BTCmap-forhandler som aksepterer 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Kjøpmenn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Lønnstakere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Entreprenører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Sirkulær økonomi </a:t>
            </a:r>
            <a:r>
              <a:rPr sz="1400">
                <a:solidFill>
                  <a:srgbClr val="E39C17"/>
                </a:solidFill>
                <a:latin typeface="IBM Plex Sans"/>
              </a:rPr>
              <a:t>i BTC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Donasjoner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Hyperbitcoinisering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Takeoff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Innovatører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Tidlige brukere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Tidlig </a:t>
            </a:r>
            <a:r>
              <a:rPr sz="900">
                <a:solidFill>
                  <a:srgbClr val="FFFFFF"/>
                </a:solidFill>
                <a:latin typeface="IBM Plex Sans"/>
              </a:rPr>
              <a:t>flertall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Følgere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Etternølere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Markedsandel i prosent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Protokoll for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overføringskontroll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Brukerdatagramprotokoll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Protokoll for overføring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av e-post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Internett-protokollen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Filoverføringsprotokoll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Nettleserprotokoll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Krypto-grafisk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sikkerhet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System for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domenenavn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Pengeprotokoll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Alice og Bobs kanalutveksling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Åpning av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LN-kanalen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Stenging av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LN-kanalen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Desentralisering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Sikkerhet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Skalerbarhet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Ruting av hopp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Routing Node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Kanalstatus ved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åpningen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Kanalens status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ved stengingen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Game Entry: </a:t>
            </a:r>
            <a:r>
              <a:rPr b="0">
                <a:solidFill>
                  <a:srgbClr val="000000"/>
                </a:solidFill>
                <a:latin typeface="IBM Plex Sans"/>
              </a:rPr>
              <a:t>500 Sats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Rådgivning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Spørsmål!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Premium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Lightning Network gjør det også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mulig for oss å gjøre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mange ting på avstand.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Send meg en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melding for 1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sat. Ikke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mer spam!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