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Гипербиткоинизация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Стандарт биткойна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Взлет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Новаторы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Ранние последователи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Раннее </a:t>
            </a:r>
            <a:r>
              <a:rPr sz="900">
                <a:solidFill>
                  <a:srgbClr val="FFFFFF"/>
                </a:solidFill>
                <a:latin typeface="IBM Plex Sans"/>
              </a:rPr>
              <a:t>большинство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Последователи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Опоздавшие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Доля рынка в процентах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Журнал Wired. (1993, май/июнь). Бунтари,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у которых есть причина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(ваша конфиденциальность).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Мэй, Т.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К. (1988).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Криптоанархистский манифест.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Барлоу, Дж. П.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Декларация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независимости киберпространства.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Хьюз, Э.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Манифест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киберпанка.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Источник изображения: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Биткойн и подъем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киберпанков (инфографика).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Я хочу купить вашу </a:t>
            </a:r>
            <a:r>
              <a:rPr sz="1600" lang="fr-FR">
                <a:latin typeface="IBM Plex Sans"/>
              </a:rPr>
              <a:t>морковь за золото. Тогда </a:t>
            </a:r>
            <a:r>
              <a:rPr sz="1600">
                <a:latin typeface="IBM Plex Sans"/>
              </a:rPr>
              <a:t>вы сможете хранить золото </a:t>
            </a:r>
            <a:r>
              <a:rPr sz="1600" lang="fr-FR">
                <a:latin typeface="IBM Plex Sans"/>
              </a:rPr>
              <a:t>как запасную часть стоимости </a:t>
            </a:r>
            <a:r>
              <a:rPr sz="1600">
                <a:latin typeface="IBM Plex Sans"/>
              </a:rPr>
              <a:t>для будущих товаров.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Надеюсь, кто-нибудь захочет обменять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мою морковь, пока она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не сгнила. Возможно,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я смогу обменять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их на золото,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которое не испортится!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Кто хочет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вкусной морковки?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Всего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золотой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за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морковку!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Хранилище ценностей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Средство обмена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Единица учета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Денежная печать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Покупательная способность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Потеря доверия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Валютный коллапс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Более высокая инфляция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Реконструкция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"Мы голодны!"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Количество биткоинов в обращении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Создание денежной массы в одном блоке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Блоки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(тыс.)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Годы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Биткойны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(млн)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больше шахтёров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больше блоков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меньше времени x блок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больше трудностей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меньше блоков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снова 10 </a:t>
            </a:r>
            <a:r>
              <a:rPr sz="1100">
                <a:solidFill>
                  <a:srgbClr val="FFFFFF"/>
                </a:solidFill>
                <a:latin typeface="IBM Plex Sans"/>
              </a:rPr>
              <a:t>мин/блок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Биткойн-адрес: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1-оф-2 Мультисиг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Высокий риск кражи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Низкий риск кражи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Высокий риск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кражи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Низкий риск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кражи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Хранимые кошельки/биржи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из 5 Мультисиг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из 3 Мультисиг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Кошелек Miniscript (с таймером)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мультисигма 2-оф-2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Однозначная подпись с парольной фразой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Я готовлю </a:t>
            </a:r>
            <a:r>
              <a:rPr sz="1200">
                <a:latin typeface="IBM Plex Sans"/>
              </a:rPr>
              <a:t>план наследования </a:t>
            </a:r>
            <a:r>
              <a:rPr sz="1200">
                <a:latin typeface="IBM Plex Sans"/>
              </a:rPr>
              <a:t>для </a:t>
            </a:r>
            <a:r>
              <a:rPr sz="1200" lang="fr-FR">
                <a:latin typeface="IBM Plex Sans"/>
              </a:rPr>
              <a:t>своих </a:t>
            </a:r>
            <a:r>
              <a:rPr sz="1200">
                <a:latin typeface="IBM Plex Sans"/>
              </a:rPr>
              <a:t>внуков!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Источник: Накамото, С. (2008, 31 октября). "Документ об электронных деньгах Bitcoin P2P",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Накамото, С. (2008). Биткойн: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одноранговая система электронных денег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Блок генезиса биткоина (блок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добытый Сатоши Накамото 3 января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2009 г. См.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Таймс. (2009, 3 января). Канцлер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на грани второго спасения банков.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(Лондон),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Финни, Х. [@halfin]. (2009, 11 января). Запуск биткоина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Ханеч, Л.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мая). Пицца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за биткоины?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Статуя Сатоши Накамото [Статуя].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Парк Графисофт, Будапешт, Венгрия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Сатоши Накамото"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художника Валентины </a:t>
            </a:r>
            <a:r>
              <a:rPr sz="1000" b="0" i="1" lang="fr-FR">
                <a:latin typeface="IBM Plex Sans"/>
              </a:rPr>
              <a:t>Пикоцци из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галереи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Лугано, Швейцария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Транзакция: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Различные примеры узла биткоина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Распространение нод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биткоина по </a:t>
            </a:r>
            <a:r>
              <a:rPr sz="1200" i="1" u="none" lang="fr-FR">
                <a:latin typeface="IBM Plex Sans"/>
              </a:rPr>
              <a:t>всему миру.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больше шахтёров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больше блоков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меньше времени x блок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больше трудностей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меньше блоков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снова 10 </a:t>
            </a:r>
            <a:r>
              <a:rPr sz="1100">
                <a:solidFill>
                  <a:srgbClr val="FFFFFF"/>
                </a:solidFill>
                <a:latin typeface="IBM Plex Sans"/>
              </a:rPr>
              <a:t>мин/блок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майнер bitmain S9 от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и майнинговый комплекс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Общая скорость хэширования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Общая скорость хэширования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Рыночная цена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Год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Хэшрейт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минут / 1 квартал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дней / 1000 блоков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время/блоки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Скоординированная атака привела к победе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Несогласованная атака привела к поражению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Предатель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Предатель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Предатель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Предатель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Майнер S9, превращенный в домашний обогреватель. проект 'Attakaï' от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Бесплатные деньги,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это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потрясающе!!!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Большое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спасибо!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Подождите! Откуда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у вас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столько денег?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Притормози!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Вы шутите?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Это безумие!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Уличное искусство в Париже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Стандартное отклонение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дневная </a:t>
            </a:r>
            <a:r>
              <a:rPr sz="1400">
                <a:solidFill>
                  <a:schemeClr val="bg1"/>
                </a:solidFill>
                <a:latin typeface="IBM Plex Sans"/>
              </a:rPr>
              <a:t>доходность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60-дневный индекс волатильности биткоина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Год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Волатильность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Волатильность золота к доллару США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Волатильность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ЭТО </a:t>
            </a:r>
            <a:r>
              <a:rPr sz="900" b="1">
                <a:latin typeface="IBM Plex Sans"/>
              </a:rPr>
              <a:t>ПУЗЫРЬ.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ЭТО </a:t>
            </a:r>
            <a:r>
              <a:rPr sz="900" b="1">
                <a:latin typeface="IBM Plex Sans"/>
              </a:rPr>
              <a:t>ПУЗЫРЬ.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ЭТО </a:t>
            </a:r>
            <a:r>
              <a:rPr sz="700" b="1">
                <a:latin typeface="IBM Plex Sans"/>
              </a:rPr>
              <a:t>ПУЗЫРЬ.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ЭТО </a:t>
            </a:r>
            <a:r>
              <a:rPr sz="900" b="1">
                <a:latin typeface="IBM Plex Sans"/>
              </a:rPr>
              <a:t>ПУЗЫРЬ.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Торговец BTCmap, принимающий биткойн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Купцы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Наемные работники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Предприниматели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Циркулярная экономика </a:t>
            </a:r>
            <a:r>
              <a:rPr sz="1400">
                <a:solidFill>
                  <a:srgbClr val="E39C17"/>
                </a:solidFill>
                <a:latin typeface="IBM Plex Sans"/>
              </a:rPr>
              <a:t>в БТК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Пожертвования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Гипербиткоинизация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Стандарт биткойна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Взлет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Новаторы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Ранние последователи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Раннее </a:t>
            </a:r>
            <a:r>
              <a:rPr sz="900">
                <a:solidFill>
                  <a:srgbClr val="FFFFFF"/>
                </a:solidFill>
                <a:latin typeface="IBM Plex Sans"/>
              </a:rPr>
              <a:t>большинство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Последователи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Опоздавшие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Доля рынка в процентах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Протокол управления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передачей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Протокол пользовательских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дейтаграмм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Протокол передачи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электронной почты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Интернет-протокол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Протокол передачи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файлов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Протокол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веб-браузера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Криптографическая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безопасность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Система доменных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имен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Денежный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протокол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Обмен данными по каналам Алисы и Боба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Открытие канала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Закрытие канала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Децентрализация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Безопасность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Масштабируемость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Маршрутные переходы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Узел маршрутизации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Состояние канала на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момент открытия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Состояние канала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при закрытии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Вход в игру: </a:t>
            </a:r>
            <a:r>
              <a:rPr b="0">
                <a:solidFill>
                  <a:srgbClr val="000000"/>
                </a:solidFill>
                <a:latin typeface="IBM Plex Sans"/>
              </a:rPr>
              <a:t>500 сатов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Консультации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Вопросы!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Премиум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также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позволяет нам делать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многие вещи удаленно.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Отправьте мне сообщение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за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сб. Больше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никакого спама!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