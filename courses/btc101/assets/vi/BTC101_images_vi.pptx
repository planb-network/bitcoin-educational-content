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Siêu bitcoin hóa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Tiêu chuẩn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Cởi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đổi mới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áp dụng sớm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Đa số </a:t>
            </a:r>
            <a:r>
              <a:rPr sz="900">
                <a:solidFill>
                  <a:srgbClr val="FFFFFF"/>
                </a:solidFill>
                <a:latin typeface="IBM Plex Sans"/>
              </a:rPr>
              <a:t>sớm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Người theo dõi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đến muộn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Tỷ lệ phần trăm thị phần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Tạp chí Wired. (1993, tháng 5/tháng 6). Những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kẻ nổi loạn vì một lý tưởng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(Quyền riêng tư của bạn).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(1988). Tuyên ngôn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của những người theo chủ nghĩa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vô chính phủ tiền mã hóa.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Tuyên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ngôn về sự độc lập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của không gian mạng.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(1993). Tuyên ngôn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của một người theo chủ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nghĩa tiền mã hóa.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Nguồn hình ảnh: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và sự trỗi dậy của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Cypherpunks (Đồ họa thông tin).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Tôi muốn mua cà rốt của </a:t>
            </a:r>
            <a:r>
              <a:rPr sz="1600" lang="fr-FR">
                <a:latin typeface="IBM Plex Sans"/>
              </a:rPr>
              <a:t>anh bằng vàng. Sau đó, anh </a:t>
            </a:r>
            <a:r>
              <a:rPr sz="1600">
                <a:latin typeface="IBM Plex Sans"/>
              </a:rPr>
              <a:t>có thể giữ vàng làm vật </a:t>
            </a:r>
            <a:r>
              <a:rPr sz="1600" lang="fr-FR">
                <a:latin typeface="IBM Plex Sans"/>
              </a:rPr>
              <a:t>lưu trữ giá trị cho </a:t>
            </a:r>
            <a:r>
              <a:rPr sz="1600">
                <a:latin typeface="IBM Plex Sans"/>
              </a:rPr>
              <a:t>hàng hóa trong tương lai.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Tôi hy vọng ai đó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muốn đổi cà rốt của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tôi trước khi chúng thối.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Biết đâu tôi có thể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đổi chúng lấy vàng, thứ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sẽ không bị hỏng!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Ai muốn cà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rốt ngon nào?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Chỉ 1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đồng vàng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cho mỗi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củ cà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rốt thôi!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Lưu trữ giá trị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Phương tiện trao đổi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Đơn vị tính toán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In tiền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Sức mua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Mất lòng tin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Sự sụp đổ của tiền tệ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Lạm phát cao hơn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Tái thiết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“Chúng tôi đói quá!”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Số lượng bitcoin đang lưu hành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Tạo tiền theo khối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Khối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(nghìn)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Năm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(triệu)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nhiều thợ mỏ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nhiều khối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ít thời gian x khối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khó khăn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ít khối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phút/khối </a:t>
            </a:r>
            <a:r>
              <a:rPr sz="1100">
                <a:solidFill>
                  <a:srgbClr val="FFFFFF"/>
                </a:solidFill>
                <a:latin typeface="IBM Plex Sans"/>
              </a:rPr>
              <a:t>nữa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chênh lệch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Địa chỉ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Đa chữ ký 1 trong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Nguy cơ trộm cắp cao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Nguy cơ trộm cắp thấp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Nguy cơ trộm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cắp cao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Nguy cơ trộm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cắp thấp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Chữ ký đơn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Ví/sàn giao dịch lưu ký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Quỹ 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Đa chữ ký 3 trong 5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Đa chữ ký 2 trong 3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Ví Miniscript (có khóa thời gian)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Đa chữ ký 2 trong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Chữ ký đơn với mật khẩu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Tôi đang chuẩn </a:t>
            </a:r>
            <a:r>
              <a:rPr sz="1200">
                <a:latin typeface="IBM Plex Sans"/>
              </a:rPr>
              <a:t>bị kế hoạch </a:t>
            </a:r>
            <a:r>
              <a:rPr sz="1200">
                <a:latin typeface="IBM Plex Sans"/>
              </a:rPr>
              <a:t>thừa kế cho </a:t>
            </a:r>
            <a:r>
              <a:rPr sz="1200" lang="fr-FR">
                <a:latin typeface="IBM Plex Sans"/>
              </a:rPr>
              <a:t>các cháu </a:t>
            </a:r>
            <a:r>
              <a:rPr sz="1200">
                <a:latin typeface="IBM Plex Sans"/>
              </a:rPr>
              <a:t>của tôi!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Nguồn: Nakamoto, S. (2008, ngày 31 tháng 10). "Tài liệu về tiền điện tử Bitcoin P2P", Danh sách gửi thư mật mã.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Hệ thống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tiền mặt điện tử ngang hàng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Khối Bitcoin Genesis (Khối 0), được Satoshi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 khai thác vào ngày 3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tháng 1 năm 2009. Xem: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ngày 3 tháng 1). Bộ trưởng Tài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chính sắp tung ra gói cứu trợ thứ hai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cho các ngân hàng. The Times (London), trang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ngày 11 tháng 1). Chạy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ngày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tháng 5).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đổi lấy bitcoin?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Tượng Satoshi Nakamoto [Tượng].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Công viên Graphisoft, Budapest, Hungary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«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» của Valentina </a:t>
            </a:r>
            <a:r>
              <a:rPr sz="1000" b="0" i="1" lang="fr-FR">
                <a:latin typeface="IBM Plex Sans"/>
              </a:rPr>
              <a:t>Picozzi từ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Satoshigallery. Lugano,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Thụy Sĩ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Giao dịch: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Nhiều ví dụ về nút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Phân phối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Nodes trên toàn </a:t>
            </a:r>
            <a:r>
              <a:rPr sz="1200" i="1" u="none" lang="fr-FR">
                <a:latin typeface="IBM Plex Sans"/>
              </a:rPr>
              <a:t>thế giới.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nhiều thợ mỏ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nhiều khối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ít thời gian x khối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khó khăn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ít khối hơn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phút/khối </a:t>
            </a:r>
            <a:r>
              <a:rPr sz="1100">
                <a:solidFill>
                  <a:srgbClr val="FFFFFF"/>
                </a:solidFill>
                <a:latin typeface="IBM Plex Sans"/>
              </a:rPr>
              <a:t>nữa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chênh lệch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máy đào bitmain S9 của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&amp; một cơ sở đào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Tổng tốc độ băm (TH/giây)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Tổng tỷ lệ băm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Giá thị trường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Năm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Tỷ lệ băm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phút / 1 khối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ngày / 1000 khối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thời gian/khối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Cuộc tấn công phối hợp dẫn đến chiến thắng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Cuộc tấn công không phối hợp dẫn đến thất bại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Kẻ phản bội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Kẻ phản bội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Kẻ phản bội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Kẻ phản bội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Một máy đào S9 được biến thành lò sưởi gia đình. Dự án ‘Attakaï’ của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Tiền miễn phí,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thật tuyệt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vời!! Cảm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ơn bạn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rất nhiều!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Đợi đã! Anh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lấy đâu ra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nhiều tiền thế?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Chậm lại nào!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Bạn đùa tôi à? Chuyện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này thật điên rồ!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Nghệ thuật đường phố ở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Độ lệch chuẩn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của lợi nhuận </a:t>
            </a:r>
            <a:r>
              <a:rPr sz="1400">
                <a:solidFill>
                  <a:schemeClr val="bg1"/>
                </a:solidFill>
                <a:latin typeface="IBM Plex Sans"/>
              </a:rPr>
              <a:t>hàng ngày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Chỉ số biến động Bitcoin 60 ngày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Năm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Biến động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Biến động Vàng/USD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Biến động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ĐÓ LÀ </a:t>
            </a:r>
            <a:r>
              <a:rPr sz="900" b="1">
                <a:latin typeface="IBM Plex Sans"/>
              </a:rPr>
              <a:t>BONG BÓNG.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ĐÓ LÀ </a:t>
            </a:r>
            <a:r>
              <a:rPr sz="900" b="1">
                <a:latin typeface="IBM Plex Sans"/>
              </a:rPr>
              <a:t>BONG BÓNG.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ĐÓ LÀ </a:t>
            </a:r>
            <a:r>
              <a:rPr sz="700" b="1">
                <a:latin typeface="IBM Plex Sans"/>
              </a:rPr>
              <a:t>BONG BÓNG.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ĐÓ LÀ </a:t>
            </a:r>
            <a:r>
              <a:rPr sz="900" b="1">
                <a:latin typeface="IBM Plex Sans"/>
              </a:rPr>
              <a:t>BONG BÓNG.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Nhà cung cấp BTCmap chấp nhận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Thương gia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Người lao động hưởng lương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Doanh nhân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Nền kinh tế tuần </a:t>
            </a:r>
            <a:r>
              <a:rPr sz="1400">
                <a:solidFill>
                  <a:srgbClr val="E39C17"/>
                </a:solidFill>
                <a:latin typeface="IBM Plex Sans"/>
              </a:rPr>
              <a:t>hoàn trong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Quyên góp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Siêu bitcoin hóa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Tiêu chuẩn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Cởi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đổi mới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áp dụng sớm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Đa số </a:t>
            </a:r>
            <a:r>
              <a:rPr sz="900">
                <a:solidFill>
                  <a:srgbClr val="FFFFFF"/>
                </a:solidFill>
                <a:latin typeface="IBM Plex Sans"/>
              </a:rPr>
              <a:t>sớm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Người theo dõi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Những người đến muộn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Tỷ lệ phần trăm thị phần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Giao thức 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Giao thức điều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khiển truyền dẫn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Giao thức dữ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liệu người dùng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Giao thức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truyền email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Giao thức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Giao thức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truyền tệp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Giao thức trình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duyệt 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Bảo mật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mật mã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Hệ thống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tên miền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Giao thức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tiền tệ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Trao đổi kênh của Alice và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Khai trương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kênh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Đóng kênh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Phân quyền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Bảo vệ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Khả năng mở rộng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Các bước nhảy định tuyến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Nút định tuyến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Tình trạng kênh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khi mở cửa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Trạng thái kênh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khi đóng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Mục nhập trò </a:t>
            </a:r>
            <a:r>
              <a:rPr b="0">
                <a:solidFill>
                  <a:srgbClr val="000000"/>
                </a:solidFill>
                <a:latin typeface="IBM Plex Sans"/>
              </a:rPr>
              <a:t>chơi: 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Tư vấn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Câu hỏi!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Phần thưởng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cũng cho phép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chúng ta thực hiện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nhiều việc từ xa.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Gửi cho tôi một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tin nhắn để được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1 sat. Không còn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thư rác nữa!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