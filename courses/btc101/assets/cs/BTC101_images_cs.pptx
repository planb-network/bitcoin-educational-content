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Hyperbitcoinizace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Bitcoin Standard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Vzlet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Cypherpunkeři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Inovátoři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První osvojitelé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Předčasná </a:t>
            </a:r>
            <a:r>
              <a:rPr sz="900">
                <a:solidFill>
                  <a:srgbClr val="FFFFFF"/>
                </a:solidFill>
                <a:latin typeface="IBM Plex Sans"/>
              </a:rPr>
              <a:t>většina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Následovníci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Opozdilci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Podíl na trhu v procentech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Časopis Wired. (1993, květen/červen).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Rebelové s důvodem (Vaše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soukromí). Wired, 1(4).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May, T.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C. (1988).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Kryptoanarchistický manifest.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Barlow, J. P.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(1996). Deklarace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nezávislosti kyberprostoru.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Hughes, E.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(1993). Manifest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cypherpunku.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Zdroj obrázku: cliffr2, Bitcoin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and the Rise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of Cypherpunks (Infographic).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Chci koupit vaši mrkev </a:t>
            </a:r>
            <a:r>
              <a:rPr sz="1600" lang="fr-FR">
                <a:latin typeface="IBM Plex Sans"/>
              </a:rPr>
              <a:t>za zlato. Zlato si </a:t>
            </a:r>
            <a:r>
              <a:rPr sz="1600">
                <a:latin typeface="IBM Plex Sans"/>
              </a:rPr>
              <a:t>pak můžete ponechat </a:t>
            </a:r>
            <a:r>
              <a:rPr sz="1600" lang="fr-FR">
                <a:latin typeface="IBM Plex Sans"/>
              </a:rPr>
              <a:t>jako zásobu hodnoty </a:t>
            </a:r>
            <a:r>
              <a:rPr sz="1600">
                <a:latin typeface="IBM Plex Sans"/>
              </a:rPr>
              <a:t>pro budoucí zboží.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Doufám, že někdo bude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chtít vyměnit mou mrkev,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než shnije. Třeba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je budu moci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vyměnit za zlato,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které se nezkazí!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Kdo chce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dobrou mrkev?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Pouze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1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zlaťák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za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mrkev!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Uchovávání hodnoty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Prostředek směny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Účetní jednotka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Tisk peněz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Kupní síla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Ztráta důvěry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Kolaps měny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Vyšší inflace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Rekonstrukce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"Máme hlad!"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Počet bitcoinů v oběhu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Tvorba peněz na blok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Bloky (v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>tisících)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Roky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Bitcoiny (v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>milionech)</a:t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více horníků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další bloky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méně času x blok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větší obtížnost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méně bloků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opět 10 </a:t>
            </a:r>
            <a:r>
              <a:rPr sz="1100">
                <a:solidFill>
                  <a:srgbClr val="FFFFFF"/>
                </a:solidFill>
                <a:latin typeface="IBM Plex Sans"/>
              </a:rPr>
              <a:t>min/blok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Adresa bitcoinu: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1 z 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Vysoké riziko krádeže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Nízké riziko krádeže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Vysoké riziko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krádeže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Nízké riziko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krádeže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Single-sig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Správcovské peněženky/výměny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3 z 5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 z 3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Peněženka Miniscript (s časovými zámky)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 z 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Single-sig s přístupovou frází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Připravuji dědický </a:t>
            </a:r>
            <a:r>
              <a:rPr sz="1200">
                <a:latin typeface="IBM Plex Sans"/>
              </a:rPr>
              <a:t>plán </a:t>
            </a:r>
            <a:r>
              <a:rPr sz="1200">
                <a:latin typeface="IBM Plex Sans"/>
              </a:rPr>
              <a:t>pro </a:t>
            </a:r>
            <a:r>
              <a:rPr sz="1200" lang="fr-FR">
                <a:latin typeface="IBM Plex Sans"/>
              </a:rPr>
              <a:t>svá </a:t>
            </a:r>
            <a:r>
              <a:rPr sz="1200">
                <a:latin typeface="IBM Plex Sans"/>
              </a:rPr>
              <a:t>vnoučata!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Zdroj: Nakamoto, S. (2008, 31. října). "Bitcoin P2P e-cash paper," Cryptography Mailing List.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Nakamoto, S. (2008). Bitcoin: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elektronický peněžní systém peer-to-peer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Blok Bitcoin Genesis (blok 0),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vytěžený Satoshi Nakamotem 3.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ledna 2009. Viz: https://www.blockchain.com/explorer/blocks/btc/0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The Times. (2009, 3. ledna). Kancléřka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na pokraji druhé finanční pomoci bankám.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The Times (Londýn), s. 1.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Finney, H. [@halfin]. (2009, 11. ledna). Provozování bitcoinu [Tweet]. Twitter.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Hanyecz, L. [laszlo]. (2010,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18. května). Pizza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za bitcoiny? Bitcointalk.org.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Gergely, R., &amp; Gilly, T.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(2021). Socha Satoshiho Nakamota [Statue].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Graphisoft Park, Budapešť, Maďarsko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" Satoshi Nakamoto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" od </a:t>
            </a:r>
            <a:r>
              <a:rPr sz="1000" b="0" i="1" lang="fr-FR">
                <a:latin typeface="IBM Plex Sans"/>
              </a:rPr>
              <a:t>Valentiny Picozzi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ze Satoshigallery.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Lugano, Švýcarsko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Transakce: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Různé příklady bitcoinového uzlu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Celosvětová distribuce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uzlů </a:t>
            </a:r>
            <a:r>
              <a:rPr sz="1200" i="1" u="none" lang="fr-FR">
                <a:latin typeface="IBM Plex Sans"/>
              </a:rPr>
              <a:t>Bitcoin.</a:t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více horníků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další bloky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méně času x blok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větší obtížnost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méně bloků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opět 10 </a:t>
            </a:r>
            <a:r>
              <a:rPr sz="1100">
                <a:solidFill>
                  <a:srgbClr val="FFFFFF"/>
                </a:solidFill>
                <a:latin typeface="IBM Plex Sans"/>
              </a:rPr>
              <a:t>min/blok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bitmain S9 miner od společnosti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Bitman a těžební zařízení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Celková rychlost hašování 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Celková míra hashování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Tržní cena (USD)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Rok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Hashrate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10 minut / 1 blok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7 dní / 1000 bloků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časové bloky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Koordinovaný útok vedoucí k vítězství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Nekoordinovaný útok vedoucí k porážce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Zrádce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Zrádce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Zrádce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Zrádce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Horník S9 přeměněný na domácí topení. projekt 'Attakaï' od DecouvreBitcoin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Peníze zdarma,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to je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úžasné!!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Moc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děkuji!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Počkejte! Odkud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berete tolik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peněz?</a:t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Zpomalte!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Děláte si srandu?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To je šílenství!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Pouliční umění v Paříži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Směrodatná odchylka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>denních </a:t>
            </a:r>
            <a:r>
              <a:rPr sz="1400">
                <a:solidFill>
                  <a:schemeClr val="bg1"/>
                </a:solidFill>
                <a:latin typeface="IBM Plex Sans"/>
              </a:rPr>
              <a:t>výnosů</a:t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60denní index volatility bitcoinu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Rok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Volatilita BTC/USD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Volatilita zlata/USD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Volatilita EUR/USD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JE TO </a:t>
            </a:r>
            <a:r>
              <a:rPr sz="900" b="1">
                <a:latin typeface="IBM Plex Sans"/>
              </a:rPr>
              <a:t>BUBLINA.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JE TO </a:t>
            </a:r>
            <a:r>
              <a:rPr sz="900" b="1">
                <a:latin typeface="IBM Plex Sans"/>
              </a:rPr>
              <a:t>BUBLINA.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JE TO </a:t>
            </a:r>
            <a:r>
              <a:rPr sz="700" b="1">
                <a:latin typeface="IBM Plex Sans"/>
              </a:rPr>
              <a:t>BUBLINA.</a:t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JE TO </a:t>
            </a:r>
            <a:r>
              <a:rPr sz="900" b="1">
                <a:latin typeface="IBM Plex Sans"/>
              </a:rPr>
              <a:t>BUBLINA.</a:t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Obchodník BTCmap přijímající 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Obchodníci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Zaměstnanci pobírající plat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Podnikatelé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Oběhové hospodářství </a:t>
            </a:r>
            <a:r>
              <a:rPr sz="1400">
                <a:solidFill>
                  <a:srgbClr val="E39C17"/>
                </a:solidFill>
                <a:latin typeface="IBM Plex Sans"/>
              </a:rPr>
              <a:t>v BTC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Dary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Hyperbitcoinizace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Bitcoin Standard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Vzlet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Cypherpunkeři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Inovátoři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První osvojitelé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Předčasná </a:t>
            </a:r>
            <a:r>
              <a:rPr sz="900">
                <a:solidFill>
                  <a:srgbClr val="FFFFFF"/>
                </a:solidFill>
                <a:latin typeface="IBM Plex Sans"/>
              </a:rPr>
              <a:t>většina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Následovníci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Opozdilci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Podíl na trhu v procentech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IP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FTP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HTTP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Protokol řízení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přenosu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 User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Datagram Protocol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 pro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přenos e-mailů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Internetový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 pro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přenos souborů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 webového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prohlížeče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Kryptografické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zabezpečení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Systém doménových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jmen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Protokol o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penězích</a:t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Výměna kanálů Alice a Boba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Otevření kanálu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LN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Uzavření kanálu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LN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Decentralizace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Zabezpečení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Škálovatelnost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Přeskoky směrování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Směrovací uzel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Stav kanálu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při otevření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Stav kanálu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při uzavření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Vstup do hry: </a:t>
            </a:r>
            <a:r>
              <a:rPr b="0">
                <a:solidFill>
                  <a:srgbClr val="000000"/>
                </a:solidFill>
                <a:latin typeface="IBM Plex Sans"/>
              </a:rPr>
              <a:t>500 Sats</a:t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Poradenství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Otázky!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Premium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Síť Lightning Network nám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také umožňuje dělat mnoho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věcí na dálku.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Pošlete mi zprávu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pro 1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sat. Už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žádný spam!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