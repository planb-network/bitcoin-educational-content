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Standard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Décollage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Innovateurs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Adopteurs précoces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Majorité </a:t>
            </a:r>
            <a:r>
              <a:rPr sz="900">
                <a:solidFill>
                  <a:srgbClr val="FFFFFF"/>
                </a:solidFill>
                <a:latin typeface="IBM Plex Sans"/>
              </a:rPr>
              <a:t>précoce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Suiveurs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Les retardataires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Part de marché Pourcentage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Wired Magazine. (1993, mai/juin).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Rebels with 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The Crypto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Anarchist Manifesto.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Déclaration d'indépendance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du cyberespace.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Cypherpunk's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Source de l'image :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cliffr2, Bitcoin and the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Rise 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Je veux acheter vos carottes </a:t>
            </a:r>
            <a:r>
              <a:rPr sz="1600" lang="fr-FR">
                <a:latin typeface="IBM Plex Sans"/>
              </a:rPr>
              <a:t>contre de l'or. Vous </a:t>
            </a:r>
            <a:r>
              <a:rPr sz="1600">
                <a:latin typeface="IBM Plex Sans"/>
              </a:rPr>
              <a:t>pourriez alors conserver l'or </a:t>
            </a:r>
            <a:r>
              <a:rPr sz="1600" lang="fr-FR">
                <a:latin typeface="IBM Plex Sans"/>
              </a:rPr>
              <a:t>comme réserve de valeur </a:t>
            </a:r>
            <a:r>
              <a:rPr sz="1600">
                <a:latin typeface="IBM Plex Sans"/>
              </a:rPr>
              <a:t>pour des biens futurs.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J'espère que quelqu'un voudra troquer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mes carottes avant qu'elles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ne pourrissent. Je pourrai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peut-être les échanger contre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 l'or, qui ne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se gâtera pas 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Qui veut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de bonnes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carottes 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Seulement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pièce d'or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par carotte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Réserve de valeur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Moyen d'échange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Unité de compte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La planche à billets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Pouvoir d'achat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Perte de confiance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Effondrement de la monnaie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Hausse de l'inflation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Reconstruction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"Nous avons faim !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Nombre de bitcoins en circulation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Création monétaire par bloc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Blocs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(milliers)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Années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Bitcoins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(millions)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mineurs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blocs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moins de temps x bloc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difficultés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moins de blocs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 </a:t>
            </a:r>
            <a:r>
              <a:rPr sz="1100">
                <a:solidFill>
                  <a:srgbClr val="FFFFFF"/>
                </a:solidFill>
                <a:latin typeface="IBM Plex Sans"/>
              </a:rPr>
              <a:t>à nouveau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Adresse Bitcoin 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 sur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Risque élevé de vol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Faible risque de vol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Risque élevé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vol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Faible risque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vol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Signature unique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Portefeuilles/échanges en dépôt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 de 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de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Portefeuille Miniscript (avec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de 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Signature unique avec phrase d'authentification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Je prépare </a:t>
            </a:r>
            <a:r>
              <a:rPr sz="1200">
                <a:latin typeface="IBM Plex Sans"/>
              </a:rPr>
              <a:t>un plan </a:t>
            </a:r>
            <a:r>
              <a:rPr sz="1200">
                <a:latin typeface="IBM Plex Sans"/>
              </a:rPr>
              <a:t>d'héritage pour </a:t>
            </a:r>
            <a:r>
              <a:rPr sz="1200" lang="fr-FR">
                <a:latin typeface="IBM Plex Sans"/>
              </a:rPr>
              <a:t>mes petits-enfants </a:t>
            </a:r>
            <a:r>
              <a:rPr sz="1200">
                <a:latin typeface="IBM Plex Sans"/>
              </a:rPr>
              <a:t>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Source : Nakamoto, S. (2008, 31 octobre).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 : un système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de paiement électronique de pair à pair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Bloc Genesis de Bitcoin (Bloc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miné par Satoshi Nakamoto le 3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janvier 2009. Voir 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Le Times. (2009, 3 janvier). Chancellor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on brink of second bailout for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banks. The Times (Londres),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janvier). Exécuter le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mai). Pizza contre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bitcoins 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 et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Statue de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[Statue]. Graphisoft Park, Budapest, Hongrie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par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de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Suisse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Transaction 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Différents exemples de nœuds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Distribution mondiale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de nœuds </a:t>
            </a:r>
            <a:r>
              <a:rPr sz="1200" i="1" u="none" lang="fr-FR">
                <a:latin typeface="IBM Plex Sans"/>
              </a:rPr>
              <a:t>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mineurs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blocs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moins de temps x bloc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plus de difficultés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moins de blocs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 </a:t>
            </a:r>
            <a:r>
              <a:rPr sz="1100">
                <a:solidFill>
                  <a:srgbClr val="FFFFFF"/>
                </a:solidFill>
                <a:latin typeface="IBM Plex Sans"/>
              </a:rPr>
              <a:t>à nouveau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par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&amp; une installation minière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Taux de hachage total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Taux de hachage total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Prix du marché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Année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bloc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jours / 1000 blocs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temps/blocs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Une attaque coordonnée menant à la victoire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Une attaque non coordonnée mène à la défaite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Traître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Traître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Traître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Traître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Un mineur S9 transformé en chauffage domestique. projet 'Attakaï' par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De l'argent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gratuit, c'est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génial 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Merci beaucoup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Attendez ! D'où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vient tout cet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argent 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Ralentissez 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C'est de la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folie 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Art de la rue à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Écart-type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des rendements </a:t>
            </a:r>
            <a:r>
              <a:rPr sz="1400">
                <a:solidFill>
                  <a:schemeClr val="bg1"/>
                </a:solidFill>
                <a:latin typeface="IBM Plex Sans"/>
              </a:rPr>
              <a:t>quotidiens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indice de volatilité du bitcoin à 60 jours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Année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Volatilité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Volatilité de l'or/USD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Volatilité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C'EST UNE </a:t>
            </a:r>
            <a:r>
              <a:rPr sz="900" b="1">
                <a:latin typeface="IBM Plex Sans"/>
              </a:rPr>
              <a:t>BULLE.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C'EST UNE </a:t>
            </a:r>
            <a:r>
              <a:rPr sz="900" b="1">
                <a:latin typeface="IBM Plex Sans"/>
              </a:rPr>
              <a:t>BULLE.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C'EST UNE </a:t>
            </a:r>
            <a:r>
              <a:rPr sz="700" b="1">
                <a:latin typeface="IBM Plex Sans"/>
              </a:rPr>
              <a:t>BULLE.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C'EST UNE </a:t>
            </a:r>
            <a:r>
              <a:rPr sz="900" b="1">
                <a:latin typeface="IBM Plex Sans"/>
              </a:rPr>
              <a:t>BULLE.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Marchand BTCmap acceptant les bitcoins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Marchands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Travailleurs salariés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Entrepreneurs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L'économie circulaire à </a:t>
            </a:r>
            <a:r>
              <a:rPr sz="1400">
                <a:solidFill>
                  <a:srgbClr val="E39C17"/>
                </a:solidFill>
                <a:latin typeface="IBM Plex Sans"/>
              </a:rPr>
              <a:t>la CTB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Dons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Hyperbitcoinisation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Standard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Décollage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Innovateurs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Adopteurs précoces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Majorité </a:t>
            </a:r>
            <a:r>
              <a:rPr sz="900">
                <a:solidFill>
                  <a:srgbClr val="FFFFFF"/>
                </a:solidFill>
                <a:latin typeface="IBM Plex Sans"/>
              </a:rPr>
              <a:t>précoce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Suiveurs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Les retardataires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Part de marché Pourcentage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Protocole de contrôle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de transmission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Protocole de datagramme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l'utilisateur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Protocole de transmission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du courrier électronique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Protocole de transfert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fichiers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Protocole du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navigateur 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Sécurité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crypto-graphique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Système de noms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domaine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Protocole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monétaire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Échanges de canaux entre Alice et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Ouverture du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Fermeture du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canal 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Décentralisation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Sécurité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Évolutivité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Sauts d'acheminement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Nœud de routage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Statut du canal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à l'ouverture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Statut du canal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à la fermeture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Entrée du jeu </a:t>
            </a:r>
            <a:r>
              <a:rPr b="0">
                <a:solidFill>
                  <a:srgbClr val="000000"/>
                </a:solidFill>
                <a:latin typeface="IBM Plex Sans"/>
              </a:rPr>
              <a:t>: 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Conseil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Questions 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Prime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Le réseau Lightning nous permet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également de faire beaucoup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de choses à distance.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Envoyez-moi un message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pour 1 sat.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Plus de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spam 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