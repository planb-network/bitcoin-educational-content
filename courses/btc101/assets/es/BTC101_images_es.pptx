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tableStyles" Target="tableStyles.xml"/><Relationship Id="rId9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7130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59139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369526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413851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70657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7360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0977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662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4951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201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540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05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D4144-C266-43B9-58DC-8C07F97009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1076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4809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5182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FF8647-763C-8A19-55A2-01CA5AC7F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697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93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07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540D18-8BDF-3DC5-2D7C-717D38F1D5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527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281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264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E9DE5-8C7B-BA22-E19A-3AABA3C312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778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598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53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72486-B68E-BBD8-3075-8B54C699A9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25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700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19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D959CE-9A45-C1A8-F026-2F42C74AA7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71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123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41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7B4CB3-F39B-8435-92FE-840F4CC30F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85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1909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927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802EB1-BBDE-B7C5-8B4F-708892E439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09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166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321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AF8F6-8082-DE08-BC7F-5399825CA1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111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344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369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1649B4-5ECC-F0F5-8CB5-1EFE643AF3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076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34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11EFB-F69E-DB59-589F-C1642EFA8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8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3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36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E9C290-690C-A7C5-6EB1-E9152A2F19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4D1BC-2592-8866-9F5E-F714087822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08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867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019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3241B6-08AC-4D85-37CB-6B07BC5E0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489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7974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45741C-EDCD-E7E2-91F4-DBD95F22CB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0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630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00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9236B-675F-2ABF-9A00-6FDB692D96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17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163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074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615537-0CC8-0B13-531C-43128C1DC8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178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381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027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AE8425-A632-A3C4-39D6-2BC9317918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402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363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359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F219-BCCA-8E17-A658-999BBC0ECD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541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474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697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A027B9-FC32-9A51-4E59-D63AAA2A72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337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950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91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9FB24-3C6F-BB2E-C9DC-4CFF654FF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13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15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518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0ADB9-2DE3-12D0-0B7E-D02486F1C9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61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489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230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66628-51D2-B212-1B9A-CF82DCD671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559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102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406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D4CCA6-0AEB-E4CB-F0E7-D1C98B315B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138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171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4501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A1120B-72BF-CA76-8D02-8FCA6C8BDE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141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97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187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7C66C3-2C66-E680-6EE0-B6BD6B7EA0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452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032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9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22923C-F4A1-26F0-6979-ADC2ABE058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531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217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953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AC52E7-8001-8987-2A3E-9E4A620CF0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911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792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066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C379FA-E719-4662-8DC0-A520A5C426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564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903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249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3AB305-8866-087D-F725-17FA83252B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CD13A-5DB1-4251-F8EF-EA9BD2F007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735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990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511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20595A-33F0-852D-5BFA-2A521109D8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310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05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712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7C4EE3-EDE4-BAEC-9043-37C87C1AFC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92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67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2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97FACD-14D4-92AC-81F5-13BA626800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964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693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435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261EB-B78F-AB61-D559-7B554E1B22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634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876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3BB6AD-D58D-D044-4FB2-8B3DA0A43E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623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657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397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197C5-50B9-9DAC-AE27-40D1A1D604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415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503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769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000D48-C7B6-69BE-6827-1FC93FFA5B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248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462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48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688B6-F4AB-762F-964F-28EBAB21BE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485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102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302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0E4B9-2943-92C2-FE57-5E33F5070D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23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330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841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749213-CCAC-101F-FA13-673B22804E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4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971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460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397434-A6EA-0595-5872-9090AE9AFB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82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713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48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0F999D-B31E-A790-6ADE-D4362C0638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801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0671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879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F7646A-EC6D-0C3E-FA7F-D3A07FB2FE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1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15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861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B412A8-13ED-D211-12A0-2EB0CE09F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461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4681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563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AF950A-1173-8E9A-E471-726BC687EB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36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123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765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C5C6E-C10D-C5F8-7D43-A80D92AE64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729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245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437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CC5A1A-8AA0-5F52-275E-2B5F58572F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20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000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35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1FFED-262B-67F1-5636-E49E2082ED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23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294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254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656746-90EC-4D75-81A9-032225C55E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47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14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597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34C898-9227-42D9-F53A-EA83450B05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81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500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885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2CDF96-0613-8EB6-177E-F76FDDB43E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36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048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74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CD5AD3-94DE-008C-EF4D-ED27E59C7A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910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607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201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692313-7254-D26D-9C06-3EB302B6A2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80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817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656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0A64F2-AE1E-DBF7-F6A6-5139616868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345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565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92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530A30-DCAE-4109-42AA-B543755994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221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13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38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86FD74-7E7A-D9ED-9731-EEE0915880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993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376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63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4158A8-1380-5282-9321-862C1B5900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607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17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41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19BFCA-685C-4544-87F6-4118EB0CD9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423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127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56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6C08F6-9DBB-E1A3-AB32-2CF04995F3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06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433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680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68F1-99C1-9D55-52DC-0FCDF99E48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3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306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30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D8D31C-C187-8B40-61E1-18FD5097B3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01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775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4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7B257F-C4BC-CE7C-5ED2-09F1DF6C80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763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621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123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974C71-7F41-A77B-00AD-82EF04AB2C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36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918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772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F64A63-A0EC-A2EA-0291-362679AD98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33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4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172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BBCD98-A935-F91C-3001-2C2EAB8339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35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046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69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16AB48-0AD6-F143-6523-F7C5DA3926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396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146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388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C9E983-EB08-715D-0ACB-7AF51CA1C8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84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155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27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A43553-D8B8-C6F8-93E3-FA57D8722F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8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7343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720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F90C1-7CB2-D93C-E71B-68540D6723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465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916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69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A3731-22DB-F4AC-13BC-213C6496A1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645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816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93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E5E8EE-5755-32F4-8327-CCE59B50D5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278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21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293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BC3C1-9DD7-F226-3AAB-B289B829E3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122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814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501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B7A1D-9A8B-70F3-64FE-C576168199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417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7053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99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486F6-B971-8B3B-CDC1-1C968F3B5E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93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446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485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F62CB0-C6A1-24B2-387A-CAFD7868B4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26561-FD28-F182-BA12-F409E13FC9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053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874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646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7EE04-6B6C-2D9D-576D-468DBF4532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365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311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5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8430A-66D6-E7B3-FC5C-8D12BD8247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92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547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8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94751-F49D-8675-2AA7-BD31132A93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116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097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65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7FC7F4-DC3D-55B8-B7C4-0242388BD9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29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071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220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4E78FB-C1BC-6122-DDAE-E9D444739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600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938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EE666-9EA7-8530-9135-AF2713F592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074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291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225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9CCF7A-949C-B6AF-FAAA-9DE198389F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03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118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977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ACD984-3349-9166-9353-59A2F9B1E5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86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259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080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5A95B-956D-8B50-9564-89DBA232FD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310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804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769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FD6545-CFE8-DCF2-6E87-B2D37ABA8C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4436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55791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3356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59923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6582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7476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796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2664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3132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69038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98199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16505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40926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2391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104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836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96938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46049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78110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40260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9640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88297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7363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48587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66931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4279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21127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3846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1483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5053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14684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0067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9300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6130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511762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2425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7929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653568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63670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80328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55355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05504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9688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892958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581869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18568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99115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4601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393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56192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95725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68165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6482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2540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09032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7043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84624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73671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4511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2700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2673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143018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60996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jpg"/><Relationship Id="rId4" Type="http://schemas.openxmlformats.org/officeDocument/2006/relationships/hyperlink" Target="https://www.blockchain.com/explorer/blocks/btc/0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jpg"/><Relationship Id="rId4" Type="http://schemas.openxmlformats.org/officeDocument/2006/relationships/hyperlink" Target="https://twitter.com/halfin/status/1110302988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Relationship Id="rId4" Type="http://schemas.openxmlformats.org/officeDocument/2006/relationships/hyperlink" Target="https://bitcointalk.org/index.php?topic=137.0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8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9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0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2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3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4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816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741" y="510647"/>
            <a:ext cx="5485974" cy="5485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5529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8" y="179183"/>
            <a:ext cx="9076677" cy="6499631"/>
          </a:xfrm>
          <a:prstGeom prst="rect">
            <a:avLst/>
          </a:prstGeom>
        </p:spPr>
      </p:pic>
      <p:sp>
        <p:nvSpPr>
          <p:cNvPr id="269977176" name=""/>
          <p:cNvSpPr/>
          <p:nvPr/>
        </p:nvSpPr>
        <p:spPr bwMode="auto">
          <a:xfrm flipH="0" flipV="0">
            <a:off x="7375767" y="528118"/>
            <a:ext cx="2197351" cy="37722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8073237" name=""/>
          <p:cNvSpPr/>
          <p:nvPr/>
        </p:nvSpPr>
        <p:spPr bwMode="auto">
          <a:xfrm flipH="0" flipV="0">
            <a:off x="4857770" y="1689601"/>
            <a:ext cx="2462918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5501530" name=""/>
          <p:cNvSpPr/>
          <p:nvPr/>
        </p:nvSpPr>
        <p:spPr bwMode="auto">
          <a:xfrm flipH="0" flipV="0">
            <a:off x="3065940" y="3322620"/>
            <a:ext cx="119128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4450383" name=""/>
          <p:cNvSpPr/>
          <p:nvPr/>
        </p:nvSpPr>
        <p:spPr bwMode="auto">
          <a:xfrm flipH="0" flipV="0">
            <a:off x="1643414" y="5559203"/>
            <a:ext cx="1497971" cy="59903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07292868" name=""/>
          <p:cNvSpPr/>
          <p:nvPr/>
        </p:nvSpPr>
        <p:spPr bwMode="auto">
          <a:xfrm flipH="0" flipV="0">
            <a:off x="9827747" y="2433118"/>
            <a:ext cx="358366" cy="347992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75890654" name=""/>
          <p:cNvSpPr/>
          <p:nvPr/>
        </p:nvSpPr>
        <p:spPr bwMode="auto">
          <a:xfrm flipH="0" flipV="0">
            <a:off x="3254553" y="5931904"/>
            <a:ext cx="5856460" cy="1980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59318210" name=""/>
          <p:cNvSpPr/>
          <p:nvPr/>
        </p:nvSpPr>
        <p:spPr bwMode="auto">
          <a:xfrm flipH="0" flipV="0">
            <a:off x="5484981" y="6158241"/>
            <a:ext cx="914776" cy="26405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9150870" name=""/>
          <p:cNvSpPr txBox="1"/>
          <p:nvPr/>
        </p:nvSpPr>
        <p:spPr bwMode="auto">
          <a:xfrm flipH="0" flipV="0">
            <a:off x="2974959" y="1689599"/>
            <a:ext cx="367892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Hiperbitcoinización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90320542" name=""/>
          <p:cNvSpPr txBox="1"/>
          <p:nvPr/>
        </p:nvSpPr>
        <p:spPr bwMode="auto">
          <a:xfrm flipH="0" flipV="0">
            <a:off x="5332461" y="528117"/>
            <a:ext cx="364676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Estándar Bitcoin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6542390" name=""/>
          <p:cNvSpPr txBox="1"/>
          <p:nvPr/>
        </p:nvSpPr>
        <p:spPr bwMode="auto">
          <a:xfrm flipH="0" flipV="0">
            <a:off x="2176763" y="3333726"/>
            <a:ext cx="208189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Despegue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565560838" name=""/>
          <p:cNvSpPr txBox="1"/>
          <p:nvPr/>
        </p:nvSpPr>
        <p:spPr bwMode="auto">
          <a:xfrm flipH="0" flipV="0">
            <a:off x="1678466" y="4953180"/>
            <a:ext cx="257875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221705172" name=""/>
          <p:cNvSpPr txBox="1"/>
          <p:nvPr/>
        </p:nvSpPr>
        <p:spPr bwMode="auto">
          <a:xfrm rot="0" flipH="0" flipV="0">
            <a:off x="3141384" y="5883561"/>
            <a:ext cx="116558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Innovadores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685680622" name=""/>
          <p:cNvSpPr txBox="1"/>
          <p:nvPr/>
        </p:nvSpPr>
        <p:spPr bwMode="auto">
          <a:xfrm rot="0" flipH="0" flipV="0">
            <a:off x="4030785" y="5903016"/>
            <a:ext cx="1454198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Primeros adoptantes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24772676" name=""/>
          <p:cNvSpPr txBox="1"/>
          <p:nvPr/>
        </p:nvSpPr>
        <p:spPr bwMode="auto">
          <a:xfrm rot="0" flipH="0" flipV="0">
            <a:off x="5554737" y="5910599"/>
            <a:ext cx="950177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Mayoría </a:t>
            </a:r>
            <a:r>
              <a:rPr sz="900">
                <a:solidFill>
                  <a:srgbClr val="FFFFFF"/>
                </a:solidFill>
                <a:latin typeface="IBM Plex Sans"/>
              </a:rPr>
              <a:t>temprana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82281748" name=""/>
          <p:cNvSpPr txBox="1"/>
          <p:nvPr/>
        </p:nvSpPr>
        <p:spPr bwMode="auto">
          <a:xfrm rot="0" flipH="0" flipV="0">
            <a:off x="6461398" y="5883561"/>
            <a:ext cx="107731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Seguidores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556524840" name=""/>
          <p:cNvSpPr txBox="1"/>
          <p:nvPr/>
        </p:nvSpPr>
        <p:spPr bwMode="auto">
          <a:xfrm rot="0" flipH="0" flipV="0">
            <a:off x="7915127" y="5883561"/>
            <a:ext cx="123487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Los rezagados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93333403" name=""/>
          <p:cNvSpPr/>
          <p:nvPr/>
        </p:nvSpPr>
        <p:spPr bwMode="auto">
          <a:xfrm rot="0" flipH="0" flipV="0">
            <a:off x="10245749" y="179182"/>
            <a:ext cx="1100666" cy="6509482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6280174" name=""/>
          <p:cNvSpPr txBox="1"/>
          <p:nvPr/>
        </p:nvSpPr>
        <p:spPr bwMode="auto">
          <a:xfrm rot="0" flipH="0" flipV="0">
            <a:off x="9930183" y="3379626"/>
            <a:ext cx="1194703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Porcentaje de cuota de mercado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017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87327" y="522895"/>
            <a:ext cx="6900677" cy="5376777"/>
          </a:xfrm>
          <a:prstGeom prst="rect">
            <a:avLst/>
          </a:prstGeom>
        </p:spPr>
      </p:pic>
      <p:sp>
        <p:nvSpPr>
          <p:cNvPr id="277132508" name=""/>
          <p:cNvSpPr txBox="1"/>
          <p:nvPr/>
        </p:nvSpPr>
        <p:spPr bwMode="auto">
          <a:xfrm rot="0" flipH="0" flipV="0">
            <a:off x="2532320" y="5999480"/>
            <a:ext cx="685640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Revista Wired. (1993, mayo/junio).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Rebeldes con causa (Su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intimidad). Wired, 1(4).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18988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9280" y="334654"/>
            <a:ext cx="11153435" cy="5481116"/>
          </a:xfrm>
          <a:prstGeom prst="rect">
            <a:avLst/>
          </a:prstGeom>
        </p:spPr>
      </p:pic>
      <p:sp>
        <p:nvSpPr>
          <p:cNvPr id="25121641" name=""/>
          <p:cNvSpPr txBox="1"/>
          <p:nvPr/>
        </p:nvSpPr>
        <p:spPr bwMode="auto">
          <a:xfrm rot="0" flipH="0" flipV="0">
            <a:off x="2882730" y="5835726"/>
            <a:ext cx="6973694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1" u="none">
                <a:solidFill>
                  <a:srgbClr val="000000"/>
                </a:solidFill>
                <a:latin typeface="IBM Plex Sans"/>
              </a:rPr>
              <a:t>May, T. C.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(1988). El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manifiesto criptoanarquista.</a:t>
            </a:r>
            <a:endParaRPr sz="1600" i="1">
              <a:latin typeface="IBM Plex Sans"/>
              <a:cs typeface="IBM Plex Sans"/>
            </a:endParaRP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Barlow, J. P.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(1996). Declaración de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independencia del ciberespacio.</a:t>
            </a: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Hughes, E.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(1993). A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Cypherpunk's Manifesto.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47980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84579" y="189769"/>
            <a:ext cx="7822841" cy="5865408"/>
          </a:xfrm>
          <a:prstGeom prst="rect">
            <a:avLst/>
          </a:prstGeom>
        </p:spPr>
      </p:pic>
      <p:sp>
        <p:nvSpPr>
          <p:cNvPr id="1700911983" name=""/>
          <p:cNvSpPr/>
          <p:nvPr/>
        </p:nvSpPr>
        <p:spPr bwMode="auto">
          <a:xfrm flipH="0" flipV="0">
            <a:off x="2184579" y="6071325"/>
            <a:ext cx="7823560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Fuente de la imagen: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cliffr2, Bitcoin and the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Rise of Cypherpunks (Infographic).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3586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19600" y="2140767"/>
            <a:ext cx="10152795" cy="2576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6505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99920" y="509433"/>
            <a:ext cx="7392157" cy="5228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165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729" y="1017324"/>
            <a:ext cx="8274537" cy="4823347"/>
          </a:xfrm>
          <a:prstGeom prst="rect">
            <a:avLst/>
          </a:prstGeom>
        </p:spPr>
      </p:pic>
      <p:sp>
        <p:nvSpPr>
          <p:cNvPr id="624446623" name=""/>
          <p:cNvSpPr/>
          <p:nvPr/>
        </p:nvSpPr>
        <p:spPr bwMode="auto">
          <a:xfrm flipH="0" flipV="0">
            <a:off x="2764158" y="1697524"/>
            <a:ext cx="4394702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10313754" name=""/>
          <p:cNvSpPr txBox="1"/>
          <p:nvPr/>
        </p:nvSpPr>
        <p:spPr bwMode="auto">
          <a:xfrm flipH="0" flipV="0">
            <a:off x="2695601" y="1535598"/>
            <a:ext cx="4533971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Quiero comprar tus zanahorias </a:t>
            </a:r>
            <a:r>
              <a:rPr sz="1600" lang="fr-FR">
                <a:latin typeface="IBM Plex Sans"/>
              </a:rPr>
              <a:t>por oro. Entonces, podrías </a:t>
            </a:r>
            <a:r>
              <a:rPr sz="1600">
                <a:latin typeface="IBM Plex Sans"/>
              </a:rPr>
              <a:t>guardar el oro como </a:t>
            </a:r>
            <a:r>
              <a:rPr sz="1600" lang="fr-FR">
                <a:latin typeface="IBM Plex Sans"/>
              </a:rPr>
              <a:t>reserva de valor </a:t>
            </a:r>
            <a:r>
              <a:rPr sz="1600">
                <a:latin typeface="IBM Plex Sans"/>
              </a:rPr>
              <a:t>para futuros bienes.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58563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30437" y="357158"/>
            <a:ext cx="8331121" cy="6143677"/>
          </a:xfrm>
          <a:prstGeom prst="rect">
            <a:avLst/>
          </a:prstGeom>
        </p:spPr>
      </p:pic>
      <p:sp>
        <p:nvSpPr>
          <p:cNvPr id="975423813" name=""/>
          <p:cNvSpPr/>
          <p:nvPr/>
        </p:nvSpPr>
        <p:spPr bwMode="auto">
          <a:xfrm flipH="0" flipV="0">
            <a:off x="2754726" y="1782399"/>
            <a:ext cx="4479579" cy="122598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6784530" name=""/>
          <p:cNvSpPr txBox="1"/>
          <p:nvPr/>
        </p:nvSpPr>
        <p:spPr bwMode="auto">
          <a:xfrm rot="0" flipH="0" flipV="0">
            <a:off x="2763224" y="1600200"/>
            <a:ext cx="439390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Espero que alguien quiera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intercambiar mis zanahorias antes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de que se pudran.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Quizá pueda cambiarlas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por oro, ¡que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no se estropeará!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47660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63392" y="622424"/>
            <a:ext cx="8865209" cy="5613147"/>
          </a:xfrm>
          <a:prstGeom prst="rect">
            <a:avLst/>
          </a:prstGeom>
        </p:spPr>
      </p:pic>
      <p:sp>
        <p:nvSpPr>
          <p:cNvPr id="1147654360" name=""/>
          <p:cNvSpPr/>
          <p:nvPr/>
        </p:nvSpPr>
        <p:spPr bwMode="auto">
          <a:xfrm flipH="0" flipV="0">
            <a:off x="2311484" y="1386310"/>
            <a:ext cx="3357325" cy="11033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91620140" name=""/>
          <p:cNvSpPr txBox="1"/>
          <p:nvPr/>
        </p:nvSpPr>
        <p:spPr bwMode="auto">
          <a:xfrm flipH="0" flipV="0">
            <a:off x="2311484" y="1480626"/>
            <a:ext cx="183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1805837161" name=""/>
          <p:cNvSpPr txBox="1"/>
          <p:nvPr/>
        </p:nvSpPr>
        <p:spPr bwMode="auto">
          <a:xfrm rot="0" flipH="0" flipV="0">
            <a:off x="2311484" y="1400174"/>
            <a:ext cx="341509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¿Quién quiere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unas buenas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zanahorias? ¡Sólo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1 pieza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de oro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por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zanahoria!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82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59815" y="1442895"/>
            <a:ext cx="9272364" cy="3972205"/>
          </a:xfrm>
          <a:prstGeom prst="rect">
            <a:avLst/>
          </a:prstGeom>
        </p:spPr>
      </p:pic>
      <p:sp>
        <p:nvSpPr>
          <p:cNvPr id="1335431249" name=""/>
          <p:cNvSpPr/>
          <p:nvPr/>
        </p:nvSpPr>
        <p:spPr bwMode="auto">
          <a:xfrm flipH="0" flipV="0">
            <a:off x="2113440" y="3121559"/>
            <a:ext cx="2018168" cy="215962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70047931" name=""/>
          <p:cNvSpPr txBox="1"/>
          <p:nvPr/>
        </p:nvSpPr>
        <p:spPr bwMode="auto">
          <a:xfrm flipH="0" flipV="0">
            <a:off x="1469064" y="3261177"/>
            <a:ext cx="266477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Almacén de valor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6450314" name=""/>
          <p:cNvSpPr txBox="1"/>
          <p:nvPr/>
        </p:nvSpPr>
        <p:spPr bwMode="auto">
          <a:xfrm flipH="0" flipV="0">
            <a:off x="1468276" y="3865730"/>
            <a:ext cx="266555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Medio de cambio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6332493" name=""/>
          <p:cNvSpPr txBox="1"/>
          <p:nvPr/>
        </p:nvSpPr>
        <p:spPr bwMode="auto">
          <a:xfrm flipH="0" flipV="0">
            <a:off x="1579821" y="4470804"/>
            <a:ext cx="255473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Unidad de cuenta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41265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628180615" name=""/>
          <p:cNvSpPr/>
          <p:nvPr/>
        </p:nvSpPr>
        <p:spPr bwMode="auto">
          <a:xfrm flipH="0" flipV="0">
            <a:off x="3207400" y="782747"/>
            <a:ext cx="2423687" cy="565841"/>
          </a:xfrm>
          <a:prstGeom prst="rect">
            <a:avLst/>
          </a:prstGeom>
          <a:solidFill>
            <a:srgbClr val="1719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00961295" name=""/>
          <p:cNvSpPr txBox="1"/>
          <p:nvPr/>
        </p:nvSpPr>
        <p:spPr bwMode="auto">
          <a:xfrm rot="0" flipH="0" flipV="0">
            <a:off x="3207399" y="782745"/>
            <a:ext cx="255668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Impresión monetaria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0060675" name=""/>
          <p:cNvSpPr txBox="1"/>
          <p:nvPr/>
        </p:nvSpPr>
        <p:spPr bwMode="auto">
          <a:xfrm rot="0" flipH="0" flipV="0">
            <a:off x="3208674" y="1043426"/>
            <a:ext cx="258547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Poder adquisitivo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66048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85736" y="858191"/>
            <a:ext cx="8820522" cy="5141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7515" name=""/>
          <p:cNvSpPr/>
          <p:nvPr/>
        </p:nvSpPr>
        <p:spPr bwMode="auto">
          <a:xfrm rot="0" flipH="0" flipV="0">
            <a:off x="2430093" y="809624"/>
            <a:ext cx="7870030" cy="5274468"/>
          </a:xfrm>
          <a:prstGeom prst="rect">
            <a:avLst/>
          </a:prstGeom>
          <a:solidFill>
            <a:srgbClr val="232A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62014092" name=""/>
          <p:cNvPicPr>
            <a:picLocks noChangeAspect="1"/>
          </p:cNvPicPr>
          <p:nvPr/>
        </p:nvPicPr>
        <p:blipFill>
          <a:blip r:embed="rId3"/>
          <a:srcRect l="5884" t="4405" r="7697" b="2001"/>
          <a:stretch/>
        </p:blipFill>
        <p:spPr bwMode="auto">
          <a:xfrm rot="0" flipH="0" flipV="0">
            <a:off x="2656312" y="952499"/>
            <a:ext cx="7036593" cy="5131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80920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8189" y="1111249"/>
            <a:ext cx="8166116" cy="4749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707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47548" y="784411"/>
            <a:ext cx="6105575" cy="5522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224256" name=""/>
          <p:cNvPicPr>
            <a:picLocks noChangeAspect="1"/>
          </p:cNvPicPr>
          <p:nvPr/>
        </p:nvPicPr>
        <p:blipFill>
          <a:blip r:embed="rId3"/>
          <a:srcRect l="0" t="0" r="0" b="53018"/>
          <a:stretch/>
        </p:blipFill>
        <p:spPr bwMode="auto">
          <a:xfrm flipH="0" flipV="0">
            <a:off x="508698" y="81058"/>
            <a:ext cx="11174603" cy="6018909"/>
          </a:xfrm>
          <a:prstGeom prst="rect">
            <a:avLst/>
          </a:prstGeom>
        </p:spPr>
      </p:pic>
      <p:pic>
        <p:nvPicPr>
          <p:cNvPr id="288011325" name=""/>
          <p:cNvPicPr>
            <a:picLocks noChangeAspect="1"/>
          </p:cNvPicPr>
          <p:nvPr/>
        </p:nvPicPr>
        <p:blipFill>
          <a:blip r:embed="rId3"/>
          <a:srcRect l="0" t="96005" r="0" b="0"/>
          <a:stretch/>
        </p:blipFill>
        <p:spPr bwMode="auto">
          <a:xfrm flipH="0" flipV="0">
            <a:off x="508698" y="6148916"/>
            <a:ext cx="11174603" cy="511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81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1543" y="1678662"/>
            <a:ext cx="10397515" cy="3500670"/>
          </a:xfrm>
          <a:prstGeom prst="rect">
            <a:avLst/>
          </a:prstGeom>
        </p:spPr>
      </p:pic>
      <p:sp>
        <p:nvSpPr>
          <p:cNvPr id="1814313262" name=""/>
          <p:cNvSpPr/>
          <p:nvPr/>
        </p:nvSpPr>
        <p:spPr bwMode="auto">
          <a:xfrm flipH="0" flipV="0">
            <a:off x="1274107" y="4074058"/>
            <a:ext cx="9872690" cy="36779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89590539" name=""/>
          <p:cNvSpPr txBox="1"/>
          <p:nvPr/>
        </p:nvSpPr>
        <p:spPr bwMode="auto">
          <a:xfrm flipH="0" flipV="0">
            <a:off x="1263708" y="4644387"/>
            <a:ext cx="2272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Pérdida de confianza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42150648" name=""/>
          <p:cNvSpPr txBox="1"/>
          <p:nvPr/>
        </p:nvSpPr>
        <p:spPr bwMode="auto">
          <a:xfrm flipH="0" flipV="0">
            <a:off x="3588926" y="4642713"/>
            <a:ext cx="2907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Colapso monetario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667710189" name=""/>
          <p:cNvSpPr txBox="1"/>
          <p:nvPr/>
        </p:nvSpPr>
        <p:spPr bwMode="auto">
          <a:xfrm flipH="0" flipV="0">
            <a:off x="6399735" y="4644387"/>
            <a:ext cx="233779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Mayor inflación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88032132" name=""/>
          <p:cNvSpPr txBox="1"/>
          <p:nvPr/>
        </p:nvSpPr>
        <p:spPr bwMode="auto">
          <a:xfrm flipH="0" flipV="0">
            <a:off x="8735374" y="4642713"/>
            <a:ext cx="24114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Reconstrucción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27109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41551" y="0"/>
            <a:ext cx="7508896" cy="6858000"/>
          </a:xfrm>
          <a:prstGeom prst="rect">
            <a:avLst/>
          </a:prstGeom>
        </p:spPr>
      </p:pic>
      <p:sp>
        <p:nvSpPr>
          <p:cNvPr id="2031955134" name=""/>
          <p:cNvSpPr/>
          <p:nvPr/>
        </p:nvSpPr>
        <p:spPr bwMode="auto">
          <a:xfrm flipH="0" flipV="0">
            <a:off x="2919763" y="2683625"/>
            <a:ext cx="1857846" cy="39608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44327981" name=""/>
          <p:cNvSpPr txBox="1"/>
          <p:nvPr/>
        </p:nvSpPr>
        <p:spPr bwMode="auto">
          <a:xfrm rot="0" flipH="0" flipV="0">
            <a:off x="2423464" y="2683623"/>
            <a:ext cx="261329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"¡Tenemos hambre!"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99878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6868" y="1615514"/>
            <a:ext cx="7826673" cy="3933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71814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55367" y="1123316"/>
            <a:ext cx="7910880" cy="4611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8961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674"/>
            <a:ext cx="7581899" cy="6724649"/>
          </a:xfrm>
          <a:prstGeom prst="rect">
            <a:avLst/>
          </a:prstGeom>
        </p:spPr>
      </p:pic>
      <p:sp>
        <p:nvSpPr>
          <p:cNvPr id="595661764" name=""/>
          <p:cNvSpPr/>
          <p:nvPr/>
        </p:nvSpPr>
        <p:spPr bwMode="auto">
          <a:xfrm rot="0" flipH="0" flipV="0">
            <a:off x="1528268" y="74083"/>
            <a:ext cx="1153583" cy="6720416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7979400" name=""/>
          <p:cNvSpPr/>
          <p:nvPr/>
        </p:nvSpPr>
        <p:spPr bwMode="auto">
          <a:xfrm flipH="0" flipV="0">
            <a:off x="3584626" y="528117"/>
            <a:ext cx="4456549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614198" name=""/>
          <p:cNvSpPr/>
          <p:nvPr/>
        </p:nvSpPr>
        <p:spPr bwMode="auto">
          <a:xfrm flipH="0" flipV="0">
            <a:off x="5847994" y="1395742"/>
            <a:ext cx="839331" cy="30178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48866228" name=""/>
          <p:cNvSpPr/>
          <p:nvPr/>
        </p:nvSpPr>
        <p:spPr bwMode="auto">
          <a:xfrm flipH="0" flipV="0">
            <a:off x="4573392" y="6261979"/>
            <a:ext cx="3585120" cy="4338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32614565" name=""/>
          <p:cNvSpPr/>
          <p:nvPr/>
        </p:nvSpPr>
        <p:spPr bwMode="auto">
          <a:xfrm flipH="0" flipV="0">
            <a:off x="2358638" y="2593440"/>
            <a:ext cx="339504" cy="285750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9395316" name=""/>
          <p:cNvSpPr txBox="1"/>
          <p:nvPr/>
        </p:nvSpPr>
        <p:spPr bwMode="auto">
          <a:xfrm rot="0" flipH="0" flipV="0">
            <a:off x="3542175" y="528115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Número de bitcoins en circulación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05109931" name=""/>
          <p:cNvSpPr txBox="1"/>
          <p:nvPr/>
        </p:nvSpPr>
        <p:spPr bwMode="auto">
          <a:xfrm rot="0" flipH="0" flipV="0">
            <a:off x="3542175" y="787459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Creación monetaria por bloque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16390941" name=""/>
          <p:cNvSpPr txBox="1"/>
          <p:nvPr/>
        </p:nvSpPr>
        <p:spPr bwMode="auto">
          <a:xfrm rot="0" flipH="0" flipV="0">
            <a:off x="4791470" y="6341545"/>
            <a:ext cx="33068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Bloques </a:t>
            </a:r>
            <a:r>
              <a:rPr sz="1200" b="0">
                <a:solidFill>
                  <a:schemeClr val="bg1">
                    <a:lumMod val="95000"/>
                  </a:schemeClr>
                </a:solidFill>
                <a:latin typeface="IBM Plex Sans"/>
              </a:rPr>
              <a:t>(miles)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1548559066" name=""/>
          <p:cNvSpPr txBox="1"/>
          <p:nvPr/>
        </p:nvSpPr>
        <p:spPr bwMode="auto">
          <a:xfrm rot="0" flipH="0" flipV="0">
            <a:off x="6018768" y="1422841"/>
            <a:ext cx="59324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Años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2145381910" name=""/>
          <p:cNvSpPr txBox="1"/>
          <p:nvPr/>
        </p:nvSpPr>
        <p:spPr bwMode="auto">
          <a:xfrm rot="0" flipH="0" flipV="0">
            <a:off x="1658062" y="3370292"/>
            <a:ext cx="129397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Bitcoins </a:t>
            </a:r>
            <a:r>
              <a:rPr sz="1400" b="0">
                <a:solidFill>
                  <a:srgbClr val="E39C17"/>
                </a:solidFill>
                <a:latin typeface="IBM Plex Sans"/>
              </a:rPr>
              <a:t>(millones)</a:t>
            </a:r>
            <a:endParaRPr sz="1400" b="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0052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27720" y="1414366"/>
            <a:ext cx="6132020" cy="42985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702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9" cy="5886449"/>
          </a:xfrm>
          <a:prstGeom prst="rect">
            <a:avLst/>
          </a:prstGeom>
        </p:spPr>
      </p:pic>
      <p:sp>
        <p:nvSpPr>
          <p:cNvPr id="1583702012" name=""/>
          <p:cNvSpPr/>
          <p:nvPr/>
        </p:nvSpPr>
        <p:spPr bwMode="auto">
          <a:xfrm flipH="0" flipV="0">
            <a:off x="2849034" y="3083836"/>
            <a:ext cx="1009083" cy="490395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93326351" name=""/>
          <p:cNvSpPr/>
          <p:nvPr/>
        </p:nvSpPr>
        <p:spPr bwMode="auto">
          <a:xfrm flipH="0" flipV="0">
            <a:off x="4527697" y="1367450"/>
            <a:ext cx="1112821" cy="43381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45396011" name=""/>
          <p:cNvSpPr/>
          <p:nvPr/>
        </p:nvSpPr>
        <p:spPr bwMode="auto">
          <a:xfrm flipH="0" flipV="0">
            <a:off x="6555296" y="1339158"/>
            <a:ext cx="1169405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854880124" name=""/>
          <p:cNvSpPr/>
          <p:nvPr/>
        </p:nvSpPr>
        <p:spPr bwMode="auto">
          <a:xfrm flipH="0" flipV="0">
            <a:off x="4527696" y="4907309"/>
            <a:ext cx="1150544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31063123" name=""/>
          <p:cNvSpPr/>
          <p:nvPr/>
        </p:nvSpPr>
        <p:spPr bwMode="auto">
          <a:xfrm flipH="0" flipV="0">
            <a:off x="6593018" y="4945032"/>
            <a:ext cx="1150544" cy="37722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22536043" name=""/>
          <p:cNvSpPr/>
          <p:nvPr/>
        </p:nvSpPr>
        <p:spPr bwMode="auto">
          <a:xfrm flipH="0" flipV="0">
            <a:off x="8233959" y="3212825"/>
            <a:ext cx="1235420" cy="29235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47288895" name=""/>
          <p:cNvSpPr/>
          <p:nvPr/>
        </p:nvSpPr>
        <p:spPr bwMode="auto">
          <a:xfrm flipH="0" flipV="0">
            <a:off x="5329306" y="3093267"/>
            <a:ext cx="1622079" cy="66957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112329" name=""/>
          <p:cNvSpPr txBox="1"/>
          <p:nvPr/>
        </p:nvSpPr>
        <p:spPr bwMode="auto">
          <a:xfrm rot="0" flipH="0" flipV="0">
            <a:off x="4527695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más mineros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89923035" name=""/>
          <p:cNvSpPr txBox="1"/>
          <p:nvPr/>
        </p:nvSpPr>
        <p:spPr bwMode="auto">
          <a:xfrm rot="0" flipH="0" flipV="0">
            <a:off x="6593017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más bloques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86462529" name=""/>
          <p:cNvSpPr txBox="1"/>
          <p:nvPr/>
        </p:nvSpPr>
        <p:spPr bwMode="auto">
          <a:xfrm rot="0" flipH="0" flipV="0">
            <a:off x="8190283" y="3268215"/>
            <a:ext cx="128089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menos tiempo x bloque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0644115" name=""/>
          <p:cNvSpPr txBox="1"/>
          <p:nvPr/>
        </p:nvSpPr>
        <p:spPr bwMode="auto">
          <a:xfrm rot="0" flipH="0" flipV="0">
            <a:off x="6555294" y="5028713"/>
            <a:ext cx="1189346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más dificultad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89918053" name=""/>
          <p:cNvSpPr txBox="1"/>
          <p:nvPr/>
        </p:nvSpPr>
        <p:spPr bwMode="auto">
          <a:xfrm rot="0" flipH="0" flipV="0">
            <a:off x="4578435" y="4996303"/>
            <a:ext cx="1063161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menos bloques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54979968" name=""/>
          <p:cNvSpPr txBox="1"/>
          <p:nvPr/>
        </p:nvSpPr>
        <p:spPr bwMode="auto">
          <a:xfrm rot="0" flipH="0" flipV="0">
            <a:off x="2849032" y="3100251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 min/bloque </a:t>
            </a:r>
            <a:r>
              <a:rPr sz="1100">
                <a:solidFill>
                  <a:srgbClr val="FFFFFF"/>
                </a:solidFill>
                <a:latin typeface="IBM Plex Sans"/>
              </a:rPr>
              <a:t>de nuevo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297304203" name=""/>
          <p:cNvSpPr txBox="1"/>
          <p:nvPr/>
        </p:nvSpPr>
        <p:spPr bwMode="auto">
          <a:xfrm flipH="0" flipV="0">
            <a:off x="5476205" y="3244158"/>
            <a:ext cx="1328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24089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08332" y="1195293"/>
            <a:ext cx="7971625" cy="4646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3164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68333" y="731465"/>
            <a:ext cx="9255329" cy="5395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6914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82416" y="0"/>
            <a:ext cx="7427167" cy="6858000"/>
          </a:xfrm>
          <a:prstGeom prst="rect">
            <a:avLst/>
          </a:prstGeom>
        </p:spPr>
      </p:pic>
      <p:sp>
        <p:nvSpPr>
          <p:cNvPr id="480882687" name=""/>
          <p:cNvSpPr/>
          <p:nvPr/>
        </p:nvSpPr>
        <p:spPr bwMode="auto">
          <a:xfrm flipH="0" flipV="0">
            <a:off x="5018094" y="5667845"/>
            <a:ext cx="2367103" cy="245196"/>
          </a:xfrm>
          <a:prstGeom prst="rect">
            <a:avLst/>
          </a:prstGeom>
          <a:solidFill>
            <a:srgbClr val="EA91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71097938" name=""/>
          <p:cNvSpPr txBox="1"/>
          <p:nvPr/>
        </p:nvSpPr>
        <p:spPr bwMode="auto">
          <a:xfrm flipH="0" flipV="0">
            <a:off x="5018094" y="5653104"/>
            <a:ext cx="1377640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/>
              <a:t>Dirección Bitcoin:</a:t>
            </a:r>
            <a:endParaRPr sz="12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84102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48517" y="1419411"/>
            <a:ext cx="8181311" cy="4769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51421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43779" y="380842"/>
            <a:ext cx="9104438" cy="6096313"/>
          </a:xfrm>
          <a:prstGeom prst="rect">
            <a:avLst/>
          </a:prstGeom>
        </p:spPr>
      </p:pic>
      <p:sp>
        <p:nvSpPr>
          <p:cNvPr id="309690624" name=""/>
          <p:cNvSpPr/>
          <p:nvPr/>
        </p:nvSpPr>
        <p:spPr bwMode="auto">
          <a:xfrm flipH="0" flipV="0">
            <a:off x="5593366" y="2857500"/>
            <a:ext cx="1263712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107214" name=""/>
          <p:cNvSpPr txBox="1"/>
          <p:nvPr/>
        </p:nvSpPr>
        <p:spPr bwMode="auto">
          <a:xfrm flipH="0" flipV="0">
            <a:off x="5593365" y="3010068"/>
            <a:ext cx="109774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~10^-78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270636" name="AutoShape 18"/>
          <p:cNvSpPr/>
          <p:nvPr/>
        </p:nvSpPr>
        <p:spPr bwMode="auto">
          <a:xfrm flipH="1" flipV="0">
            <a:off x="2787149" y="3301165"/>
            <a:ext cx="6295428" cy="0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7944504" name="AutoShape 19"/>
          <p:cNvSpPr/>
          <p:nvPr/>
        </p:nvSpPr>
        <p:spPr bwMode="auto">
          <a:xfrm flipH="0" flipV="1">
            <a:off x="5938787" y="720895"/>
            <a:ext cx="0" cy="5537214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7067039" name="TextBox 30"/>
          <p:cNvSpPr txBox="1"/>
          <p:nvPr/>
        </p:nvSpPr>
        <p:spPr bwMode="auto">
          <a:xfrm>
            <a:off x="3501496" y="1731505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1 de 2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20364459" name="TextBox 26"/>
          <p:cNvSpPr txBox="1"/>
          <p:nvPr/>
        </p:nvSpPr>
        <p:spPr bwMode="auto">
          <a:xfrm rot="0" flipH="0" flipV="0">
            <a:off x="4791538" y="157529"/>
            <a:ext cx="2304432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Alto riesgo de robo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612980" name="TextBox 26"/>
          <p:cNvSpPr txBox="1"/>
          <p:nvPr/>
        </p:nvSpPr>
        <p:spPr bwMode="auto">
          <a:xfrm rot="0" flipH="0" flipV="0">
            <a:off x="4720695" y="6332523"/>
            <a:ext cx="3146345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Bajo riesgo de robo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657046" name="TextBox 26"/>
          <p:cNvSpPr txBox="1"/>
          <p:nvPr/>
        </p:nvSpPr>
        <p:spPr bwMode="auto">
          <a:xfrm rot="0" flipH="0" flipV="0">
            <a:off x="9144461" y="3024196"/>
            <a:ext cx="2655403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Alto riesgo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de robo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4505771" name="TextBox 26"/>
          <p:cNvSpPr txBox="1"/>
          <p:nvPr/>
        </p:nvSpPr>
        <p:spPr bwMode="auto">
          <a:xfrm rot="0" flipH="0" flipV="0">
            <a:off x="382392" y="3027766"/>
            <a:ext cx="2324428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Bajo riesgo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de robo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80791419" name="TextBox 30"/>
          <p:cNvSpPr txBox="1"/>
          <p:nvPr/>
        </p:nvSpPr>
        <p:spPr bwMode="auto">
          <a:xfrm flipH="0" flipV="0">
            <a:off x="6109561" y="2324548"/>
            <a:ext cx="1107859" cy="6967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Código único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8551278" name="TextBox 30"/>
          <p:cNvSpPr txBox="1"/>
          <p:nvPr/>
        </p:nvSpPr>
        <p:spPr bwMode="auto">
          <a:xfrm flipH="0" flipV="0">
            <a:off x="7303756" y="1366578"/>
            <a:ext cx="1401943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Monederos/intercambios custodiados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2490228" name="TextBox 30"/>
          <p:cNvSpPr txBox="1"/>
          <p:nvPr/>
        </p:nvSpPr>
        <p:spPr bwMode="auto">
          <a:xfrm flipH="0" flipV="0">
            <a:off x="7297251" y="700131"/>
            <a:ext cx="728646" cy="541404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ETF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1168186" name="TextBox 30"/>
          <p:cNvSpPr txBox="1"/>
          <p:nvPr/>
        </p:nvSpPr>
        <p:spPr bwMode="auto">
          <a:xfrm>
            <a:off x="3122922" y="3557882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3 de 5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8587732" name="TextBox 30"/>
          <p:cNvSpPr txBox="1"/>
          <p:nvPr/>
        </p:nvSpPr>
        <p:spPr bwMode="auto">
          <a:xfrm>
            <a:off x="4540361" y="3971070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 de 3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5820952" name="TextBox 30"/>
          <p:cNvSpPr txBox="1"/>
          <p:nvPr/>
        </p:nvSpPr>
        <p:spPr bwMode="auto">
          <a:xfrm>
            <a:off x="3130065" y="5032386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Monedero Miniscript (con cronómetros)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26509270" name="TextBox 30"/>
          <p:cNvSpPr txBox="1"/>
          <p:nvPr/>
        </p:nvSpPr>
        <p:spPr bwMode="auto">
          <a:xfrm>
            <a:off x="6106627" y="345374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multisig 2 de 2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52438157" name="TextBox 30"/>
          <p:cNvSpPr txBox="1"/>
          <p:nvPr/>
        </p:nvSpPr>
        <p:spPr bwMode="auto">
          <a:xfrm>
            <a:off x="6556682" y="472235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Contraseña única con frase de contraseña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1474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75241" y="622787"/>
            <a:ext cx="4867265" cy="4561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2693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161" y="1490049"/>
            <a:ext cx="9989669" cy="3877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8633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4521" y="1464179"/>
            <a:ext cx="10122953" cy="3929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2291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2575" y="1471187"/>
            <a:ext cx="10086846" cy="3915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5618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6015" y="0"/>
            <a:ext cx="529996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2049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3379" y="839331"/>
            <a:ext cx="8885236" cy="5179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755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453" y="1546633"/>
            <a:ext cx="9989089" cy="3764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91082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07806" y="435582"/>
            <a:ext cx="5776386" cy="5986833"/>
          </a:xfrm>
          <a:prstGeom prst="rect">
            <a:avLst/>
          </a:prstGeom>
        </p:spPr>
      </p:pic>
      <p:sp>
        <p:nvSpPr>
          <p:cNvPr id="2088956892" name=""/>
          <p:cNvSpPr/>
          <p:nvPr/>
        </p:nvSpPr>
        <p:spPr bwMode="auto">
          <a:xfrm flipH="0" flipV="0">
            <a:off x="4600607" y="1385094"/>
            <a:ext cx="1897392" cy="867622"/>
          </a:xfrm>
          <a:prstGeom prst="rect">
            <a:avLst/>
          </a:prstGeom>
          <a:solidFill>
            <a:srgbClr val="EFEE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55880683" name=""/>
          <p:cNvSpPr txBox="1"/>
          <p:nvPr/>
        </p:nvSpPr>
        <p:spPr bwMode="auto">
          <a:xfrm flipH="0" flipV="0">
            <a:off x="4600605" y="1385092"/>
            <a:ext cx="199419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latin typeface="IBM Plex Sans"/>
              </a:rPr>
              <a:t>Estoy preparando </a:t>
            </a:r>
            <a:r>
              <a:rPr sz="1200">
                <a:latin typeface="IBM Plex Sans"/>
              </a:rPr>
              <a:t>un plan </a:t>
            </a:r>
            <a:r>
              <a:rPr sz="1200">
                <a:latin typeface="IBM Plex Sans"/>
              </a:rPr>
              <a:t>de sucesión </a:t>
            </a:r>
            <a:r>
              <a:rPr sz="1200" lang="fr-FR">
                <a:latin typeface="IBM Plex Sans"/>
              </a:rPr>
              <a:t>para mis </a:t>
            </a:r>
            <a:r>
              <a:rPr sz="1200">
                <a:latin typeface="IBM Plex Sans"/>
              </a:rPr>
              <a:t>nietos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0403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06211" y="600807"/>
            <a:ext cx="6467474" cy="5553074"/>
          </a:xfrm>
          <a:prstGeom prst="rect">
            <a:avLst/>
          </a:prstGeom>
          <a:ln w="12699">
            <a:solidFill>
              <a:schemeClr val="tx1"/>
            </a:solidFill>
            <a:prstDash val="solid"/>
          </a:ln>
        </p:spPr>
      </p:pic>
      <p:sp>
        <p:nvSpPr>
          <p:cNvPr id="744211901" name=""/>
          <p:cNvSpPr/>
          <p:nvPr/>
        </p:nvSpPr>
        <p:spPr bwMode="auto">
          <a:xfrm flipH="0" flipV="0">
            <a:off x="2806209" y="6207064"/>
            <a:ext cx="6468193" cy="228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900" b="0" i="1" u="none">
                <a:solidFill>
                  <a:srgbClr val="000000"/>
                </a:solidFill>
                <a:latin typeface="IBM Plex Sans"/>
              </a:rPr>
              <a:t>Fuente: Nakamoto, S. (2008, 31 de octubre). "Bitcoin P2P e-cash paper", Cryptography Mailing List.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9299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82510" y="387374"/>
            <a:ext cx="3826978" cy="566780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45751536" name=""/>
          <p:cNvSpPr/>
          <p:nvPr/>
        </p:nvSpPr>
        <p:spPr bwMode="auto">
          <a:xfrm flipH="0" flipV="0">
            <a:off x="4182509" y="6147534"/>
            <a:ext cx="3827697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Nakamoto, S. (2008). Bitcoin: un sistema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de dinero electrónico entre iguales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1846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75076" y="1112020"/>
            <a:ext cx="7078921" cy="4633957"/>
          </a:xfrm>
          <a:prstGeom prst="rect">
            <a:avLst/>
          </a:prstGeom>
        </p:spPr>
      </p:pic>
      <p:sp>
        <p:nvSpPr>
          <p:cNvPr id="1915622298" name=""/>
          <p:cNvSpPr/>
          <p:nvPr/>
        </p:nvSpPr>
        <p:spPr bwMode="auto">
          <a:xfrm flipH="0" flipV="0">
            <a:off x="2675074" y="5830386"/>
            <a:ext cx="7080359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Bloque Génesis de Bitcoin (Bloque 0),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acuñado por Satoshi Nakamoto el 3 </a:t>
            </a:r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de enero de 2009. Véase: https://www.blockchain.com/explorer/blocks/btc/0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24720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87301" y="550955"/>
            <a:ext cx="4186751" cy="5508882"/>
          </a:xfrm>
          <a:prstGeom prst="rect">
            <a:avLst/>
          </a:prstGeom>
        </p:spPr>
      </p:pic>
      <p:sp>
        <p:nvSpPr>
          <p:cNvPr id="993971940" name=""/>
          <p:cNvSpPr/>
          <p:nvPr/>
        </p:nvSpPr>
        <p:spPr bwMode="auto">
          <a:xfrm flipH="0" flipV="0">
            <a:off x="3887300" y="6197053"/>
            <a:ext cx="4187470" cy="335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800" b="0" i="1" u="none">
                <a:solidFill>
                  <a:srgbClr val="000000"/>
                </a:solidFill>
                <a:latin typeface="IBM Plex Sans"/>
              </a:rPr>
              <a:t>The Times. (2009, 3 de enero). Chancellor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on brink of second bailout for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banks. The Times (Londres), p. 1.</a:t>
            </a:r>
            <a:endParaRPr sz="11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33759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77968" y="2044267"/>
            <a:ext cx="9836060" cy="337083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32017592" name=""/>
          <p:cNvSpPr/>
          <p:nvPr/>
        </p:nvSpPr>
        <p:spPr bwMode="auto">
          <a:xfrm flipH="0" flipV="0">
            <a:off x="1579820" y="5510350"/>
            <a:ext cx="9444795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Finney, H. [@halfin]. (2009, 11 de enero). Ejecutando bitcoin [Tweet]. Twitter.</a:t>
            </a:r>
            <a:endParaRPr sz="1000" b="0" i="1" u="none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https://twitter.com/halfin/status/1110302988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/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3052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3272" y="996461"/>
            <a:ext cx="9127369" cy="4462095"/>
          </a:xfrm>
          <a:prstGeom prst="rect">
            <a:avLst/>
          </a:prstGeom>
        </p:spPr>
      </p:pic>
      <p:sp>
        <p:nvSpPr>
          <p:cNvPr id="735876042" name=""/>
          <p:cNvSpPr/>
          <p:nvPr/>
        </p:nvSpPr>
        <p:spPr bwMode="auto">
          <a:xfrm flipH="0" flipV="0">
            <a:off x="2988037" y="5510166"/>
            <a:ext cx="7084318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Hanyecz, L. [laszlo]. (2010,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18 de mayo). ¿Pizza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por bitcoins? Bitcointalk.org.</a:t>
            </a:r>
            <a:endParaRPr sz="1000" i="1"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hlink"/>
                </a:solidFill>
                <a:latin typeface="IBM Plex Sans"/>
              </a:rPr>
              <a:t>https://bitcointalk.org/index.php?topic=137.0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0943486" name=""/>
          <p:cNvPicPr>
            <a:picLocks noChangeAspect="1"/>
          </p:cNvPicPr>
          <p:nvPr/>
        </p:nvPicPr>
        <p:blipFill>
          <a:blip r:embed="rId3"/>
          <a:srcRect l="10528" t="0" r="14787" b="0"/>
          <a:stretch/>
        </p:blipFill>
        <p:spPr bwMode="auto">
          <a:xfrm flipH="0" flipV="0">
            <a:off x="477642" y="1047749"/>
            <a:ext cx="5456464" cy="4870679"/>
          </a:xfrm>
          <a:prstGeom prst="rect">
            <a:avLst/>
          </a:prstGeom>
        </p:spPr>
      </p:pic>
      <p:pic>
        <p:nvPicPr>
          <p:cNvPr id="1285740742" name=""/>
          <p:cNvPicPr>
            <a:picLocks noChangeAspect="1"/>
          </p:cNvPicPr>
          <p:nvPr/>
        </p:nvPicPr>
        <p:blipFill>
          <a:blip r:embed="rId4"/>
          <a:srcRect l="14974" t="0" r="14438" b="0"/>
          <a:stretch/>
        </p:blipFill>
        <p:spPr bwMode="auto">
          <a:xfrm flipH="0" flipV="0">
            <a:off x="6095999" y="1047749"/>
            <a:ext cx="5734832" cy="4870679"/>
          </a:xfrm>
          <a:prstGeom prst="rect">
            <a:avLst/>
          </a:prstGeom>
        </p:spPr>
      </p:pic>
      <p:sp>
        <p:nvSpPr>
          <p:cNvPr id="866889182" name=""/>
          <p:cNvSpPr/>
          <p:nvPr/>
        </p:nvSpPr>
        <p:spPr bwMode="auto">
          <a:xfrm flipH="0" flipV="0">
            <a:off x="477641" y="6045379"/>
            <a:ext cx="5459343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Gergely, R., y Gilly, T.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(2021). Satoshi Nakamoto statue [Estatua].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Graphisoft Park, Budapest, Hungría</a:t>
            </a:r>
            <a:endParaRPr sz="1000" i="1">
              <a:latin typeface="IBM Plex Sans"/>
              <a:cs typeface="IBM Plex Sans"/>
            </a:endParaRPr>
          </a:p>
        </p:txBody>
      </p:sp>
      <p:sp>
        <p:nvSpPr>
          <p:cNvPr id="1671174733" name=""/>
          <p:cNvSpPr/>
          <p:nvPr/>
        </p:nvSpPr>
        <p:spPr bwMode="auto">
          <a:xfrm flipH="0" flipV="0">
            <a:off x="6234282" y="6045379"/>
            <a:ext cx="5482022" cy="24777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lang="fr-FR">
                <a:latin typeface="IBM Plex Sans"/>
              </a:rPr>
              <a:t>" Satoshi Nakamoto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" por </a:t>
            </a:r>
            <a:r>
              <a:rPr sz="1000" b="0" i="1" lang="fr-FR">
                <a:latin typeface="IBM Plex Sans"/>
              </a:rPr>
              <a:t>Valentina Picozzi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de Satoshigallery. </a:t>
            </a:r>
            <a:r>
              <a:rPr sz="1000" b="0" i="0" u="none">
                <a:solidFill>
                  <a:srgbClr val="000000"/>
                </a:solidFill>
                <a:latin typeface="Times New Roman"/>
              </a:rPr>
              <a:t>Lugano, Suiza</a:t>
            </a:r>
            <a:endParaRPr sz="1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3807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28637"/>
            <a:ext cx="7581899" cy="5800725"/>
          </a:xfrm>
          <a:prstGeom prst="rect">
            <a:avLst/>
          </a:prstGeom>
        </p:spPr>
      </p:pic>
      <p:sp>
        <p:nvSpPr>
          <p:cNvPr id="1239284303" name=""/>
          <p:cNvSpPr/>
          <p:nvPr/>
        </p:nvSpPr>
        <p:spPr bwMode="auto">
          <a:xfrm flipH="0" flipV="0">
            <a:off x="5404752" y="4300395"/>
            <a:ext cx="1556063" cy="320643"/>
          </a:xfrm>
          <a:prstGeom prst="rect">
            <a:avLst/>
          </a:prstGeom>
          <a:solidFill>
            <a:srgbClr val="F8F5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5371701" name=""/>
          <p:cNvSpPr txBox="1"/>
          <p:nvPr/>
        </p:nvSpPr>
        <p:spPr bwMode="auto">
          <a:xfrm flipH="0" flipV="0">
            <a:off x="5090464" y="4277656"/>
            <a:ext cx="223265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Transacción: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7340020" name=""/>
          <p:cNvSpPr txBox="1"/>
          <p:nvPr/>
        </p:nvSpPr>
        <p:spPr bwMode="auto">
          <a:xfrm flipH="0" flipV="0">
            <a:off x="5932871" y="848762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01708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6229" y="1645022"/>
            <a:ext cx="10179537" cy="3567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7824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79545" y="500753"/>
            <a:ext cx="8632903" cy="5856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24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3828" y="1273143"/>
            <a:ext cx="10184339" cy="431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6681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1526" y="1433465"/>
            <a:ext cx="9568943" cy="3991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9319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2246" y="1095374"/>
            <a:ext cx="5390096" cy="5024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6075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6670" y="463260"/>
            <a:ext cx="6815481" cy="5736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86696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72330" y="477608"/>
            <a:ext cx="9191624" cy="5467349"/>
          </a:xfrm>
          <a:prstGeom prst="rect">
            <a:avLst/>
          </a:prstGeom>
        </p:spPr>
      </p:pic>
      <p:sp>
        <p:nvSpPr>
          <p:cNvPr id="1066535298" name=""/>
          <p:cNvSpPr txBox="1"/>
          <p:nvPr/>
        </p:nvSpPr>
        <p:spPr bwMode="auto">
          <a:xfrm rot="0" flipH="0" flipV="0">
            <a:off x="2680066" y="6011820"/>
            <a:ext cx="683186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 lang="fr-FR">
                <a:latin typeface="IBM Plex Sans"/>
              </a:rPr>
              <a:t>Varios ejemplos de nodos bitcoin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3645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4856" y="244928"/>
            <a:ext cx="11323151" cy="5862549"/>
          </a:xfrm>
          <a:prstGeom prst="rect">
            <a:avLst/>
          </a:prstGeom>
        </p:spPr>
      </p:pic>
      <p:sp>
        <p:nvSpPr>
          <p:cNvPr id="668222386" name=""/>
          <p:cNvSpPr txBox="1"/>
          <p:nvPr/>
        </p:nvSpPr>
        <p:spPr bwMode="auto">
          <a:xfrm rot="0" flipH="0" flipV="0">
            <a:off x="1933605" y="6107477"/>
            <a:ext cx="899648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fr-FR">
                <a:solidFill>
                  <a:srgbClr val="000000"/>
                </a:solidFill>
                <a:latin typeface="IBM Plex Sans"/>
              </a:rPr>
              <a:t>Distribución mundial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de nodos </a:t>
            </a:r>
            <a:r>
              <a:rPr sz="1200" i="1" u="none" lang="fr-FR">
                <a:latin typeface="IBM Plex Sans"/>
              </a:rPr>
              <a:t>Bitcoin.</a:t>
            </a:r>
            <a:endParaRPr sz="1200" i="1" u="none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95298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6330" y="649431"/>
            <a:ext cx="5436206" cy="5559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82621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8" cy="5886448"/>
          </a:xfrm>
          <a:prstGeom prst="rect">
            <a:avLst/>
          </a:prstGeom>
        </p:spPr>
      </p:pic>
      <p:sp>
        <p:nvSpPr>
          <p:cNvPr id="719590843" name=""/>
          <p:cNvSpPr/>
          <p:nvPr/>
        </p:nvSpPr>
        <p:spPr bwMode="auto">
          <a:xfrm flipH="0" flipV="0">
            <a:off x="2849033" y="3083835"/>
            <a:ext cx="1009082" cy="490394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162065181" name=""/>
          <p:cNvSpPr/>
          <p:nvPr/>
        </p:nvSpPr>
        <p:spPr bwMode="auto">
          <a:xfrm flipH="0" flipV="0">
            <a:off x="4527696" y="1367449"/>
            <a:ext cx="1112820" cy="43381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452568788" name=""/>
          <p:cNvSpPr/>
          <p:nvPr/>
        </p:nvSpPr>
        <p:spPr bwMode="auto">
          <a:xfrm flipH="0" flipV="0">
            <a:off x="6555295" y="1339157"/>
            <a:ext cx="1169404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87333593" name=""/>
          <p:cNvSpPr/>
          <p:nvPr/>
        </p:nvSpPr>
        <p:spPr bwMode="auto">
          <a:xfrm flipH="0" flipV="0">
            <a:off x="4527695" y="4907308"/>
            <a:ext cx="1150543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7594958" name=""/>
          <p:cNvSpPr/>
          <p:nvPr/>
        </p:nvSpPr>
        <p:spPr bwMode="auto">
          <a:xfrm flipH="0" flipV="0">
            <a:off x="6593018" y="4945032"/>
            <a:ext cx="1150543" cy="377226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50475743" name=""/>
          <p:cNvSpPr/>
          <p:nvPr/>
        </p:nvSpPr>
        <p:spPr bwMode="auto">
          <a:xfrm flipH="0" flipV="0">
            <a:off x="8233958" y="3212824"/>
            <a:ext cx="1235419" cy="29235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006704743" name=""/>
          <p:cNvSpPr/>
          <p:nvPr/>
        </p:nvSpPr>
        <p:spPr bwMode="auto">
          <a:xfrm flipH="0" flipV="0">
            <a:off x="5329306" y="3093266"/>
            <a:ext cx="1622079" cy="66957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791951322" name=""/>
          <p:cNvSpPr txBox="1"/>
          <p:nvPr/>
        </p:nvSpPr>
        <p:spPr bwMode="auto">
          <a:xfrm rot="0" flipH="0" flipV="0">
            <a:off x="4527694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más mineros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32888156" name=""/>
          <p:cNvSpPr txBox="1"/>
          <p:nvPr/>
        </p:nvSpPr>
        <p:spPr bwMode="auto">
          <a:xfrm rot="0" flipH="0" flipV="0">
            <a:off x="6593016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más bloques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51823331" name=""/>
          <p:cNvSpPr txBox="1"/>
          <p:nvPr/>
        </p:nvSpPr>
        <p:spPr bwMode="auto">
          <a:xfrm rot="0" flipH="0" flipV="0">
            <a:off x="8190282" y="3268215"/>
            <a:ext cx="128089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menos tiempo x bloque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94722915" name=""/>
          <p:cNvSpPr txBox="1"/>
          <p:nvPr/>
        </p:nvSpPr>
        <p:spPr bwMode="auto">
          <a:xfrm rot="0" flipH="0" flipV="0">
            <a:off x="6555294" y="5028712"/>
            <a:ext cx="1189345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más dificultad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82744332" name=""/>
          <p:cNvSpPr txBox="1"/>
          <p:nvPr/>
        </p:nvSpPr>
        <p:spPr bwMode="auto">
          <a:xfrm rot="0" flipH="0" flipV="0">
            <a:off x="4578435" y="4996302"/>
            <a:ext cx="106316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menos bloques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12889485" name=""/>
          <p:cNvSpPr txBox="1"/>
          <p:nvPr/>
        </p:nvSpPr>
        <p:spPr bwMode="auto">
          <a:xfrm rot="0" flipH="0" flipV="0">
            <a:off x="2849031" y="3100250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 min/bloque </a:t>
            </a:r>
            <a:r>
              <a:rPr sz="1100">
                <a:solidFill>
                  <a:srgbClr val="FFFFFF"/>
                </a:solidFill>
                <a:latin typeface="IBM Plex Sans"/>
              </a:rPr>
              <a:t>de nuevo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38550867" name=""/>
          <p:cNvSpPr txBox="1"/>
          <p:nvPr/>
        </p:nvSpPr>
        <p:spPr bwMode="auto">
          <a:xfrm flipH="0" flipV="0">
            <a:off x="5476204" y="3244158"/>
            <a:ext cx="132863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75897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73909" y="2016154"/>
            <a:ext cx="8044180" cy="3371300"/>
          </a:xfrm>
          <a:prstGeom prst="rect">
            <a:avLst/>
          </a:prstGeom>
        </p:spPr>
      </p:pic>
      <p:sp>
        <p:nvSpPr>
          <p:cNvPr id="1956095220" name=""/>
          <p:cNvSpPr txBox="1"/>
          <p:nvPr/>
        </p:nvSpPr>
        <p:spPr bwMode="auto">
          <a:xfrm rot="0" flipH="0" flipV="0">
            <a:off x="2073908" y="5455062"/>
            <a:ext cx="8099197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bitmain S9 minero por Bitman </a:t>
            </a: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y una instalación minera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075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57174"/>
            <a:ext cx="7581899" cy="6343650"/>
          </a:xfrm>
          <a:prstGeom prst="rect">
            <a:avLst/>
          </a:prstGeom>
        </p:spPr>
      </p:pic>
      <p:sp>
        <p:nvSpPr>
          <p:cNvPr id="955156035" name=""/>
          <p:cNvSpPr/>
          <p:nvPr/>
        </p:nvSpPr>
        <p:spPr bwMode="auto">
          <a:xfrm flipH="0" flipV="0">
            <a:off x="5263291" y="377227"/>
            <a:ext cx="2301089" cy="53754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2315555" name=""/>
          <p:cNvSpPr/>
          <p:nvPr/>
        </p:nvSpPr>
        <p:spPr bwMode="auto">
          <a:xfrm flipH="0" flipV="0">
            <a:off x="3251206" y="1062288"/>
            <a:ext cx="1482848" cy="56584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200"/>
          </a:p>
        </p:txBody>
      </p:sp>
      <p:sp>
        <p:nvSpPr>
          <p:cNvPr id="1433021182" name=""/>
          <p:cNvSpPr txBox="1"/>
          <p:nvPr/>
        </p:nvSpPr>
        <p:spPr bwMode="auto">
          <a:xfrm rot="0" flipH="0" flipV="0">
            <a:off x="3698318" y="441369"/>
            <a:ext cx="455576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Hash Rate total (TH/s)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325292" name=""/>
          <p:cNvSpPr/>
          <p:nvPr/>
        </p:nvSpPr>
        <p:spPr bwMode="auto">
          <a:xfrm rot="0" flipH="0" flipV="0">
            <a:off x="3251205" y="962024"/>
            <a:ext cx="2579551" cy="766081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64047585" name=""/>
          <p:cNvSpPr txBox="1"/>
          <p:nvPr/>
        </p:nvSpPr>
        <p:spPr bwMode="auto">
          <a:xfrm rot="0" flipH="0" flipV="0">
            <a:off x="3232751" y="1063526"/>
            <a:ext cx="2598005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Hash Rate total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72764791" name=""/>
          <p:cNvSpPr txBox="1"/>
          <p:nvPr/>
        </p:nvSpPr>
        <p:spPr bwMode="auto">
          <a:xfrm rot="0" flipH="0" flipV="0">
            <a:off x="3232751" y="1324207"/>
            <a:ext cx="3015038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Precio de mercado (USD)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84503055" name=""/>
          <p:cNvSpPr/>
          <p:nvPr/>
        </p:nvSpPr>
        <p:spPr bwMode="auto">
          <a:xfrm flipH="0" flipV="0">
            <a:off x="4609281" y="6124572"/>
            <a:ext cx="3537855" cy="335637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73147984" name=""/>
          <p:cNvSpPr txBox="1"/>
          <p:nvPr/>
        </p:nvSpPr>
        <p:spPr bwMode="auto">
          <a:xfrm flipH="0" flipV="0">
            <a:off x="4718137" y="6124572"/>
            <a:ext cx="275608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  <a:latin typeface="IBM Plex Sans"/>
              </a:rPr>
              <a:t>Año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2015536" name=""/>
          <p:cNvSpPr txBox="1"/>
          <p:nvPr/>
        </p:nvSpPr>
        <p:spPr bwMode="auto">
          <a:xfrm rot="0" flipH="0" flipV="0">
            <a:off x="2391750" y="1964234"/>
            <a:ext cx="1705694" cy="259439"/>
          </a:xfrm>
          <a:prstGeom prst="rect">
            <a:avLst/>
          </a:prstGeom>
          <a:solidFill>
            <a:srgbClr val="232A4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lang="fr-FR">
                <a:solidFill>
                  <a:schemeClr val="bg1"/>
                </a:solidFill>
                <a:latin typeface="IBM Plex Sans"/>
              </a:rPr>
              <a:t>Hashrate</a:t>
            </a:r>
            <a:endParaRPr sz="11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62021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66687"/>
            <a:ext cx="7581899" cy="6524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65923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146765280" name=""/>
          <p:cNvSpPr/>
          <p:nvPr/>
        </p:nvSpPr>
        <p:spPr bwMode="auto">
          <a:xfrm flipH="0" flipV="0">
            <a:off x="4301361" y="5931904"/>
            <a:ext cx="1376880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39415435" name=""/>
          <p:cNvSpPr/>
          <p:nvPr/>
        </p:nvSpPr>
        <p:spPr bwMode="auto">
          <a:xfrm flipH="0" flipV="0">
            <a:off x="7055123" y="5922475"/>
            <a:ext cx="1603217" cy="29235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71878574" name=""/>
          <p:cNvSpPr/>
          <p:nvPr/>
        </p:nvSpPr>
        <p:spPr bwMode="auto">
          <a:xfrm flipH="0" flipV="0">
            <a:off x="8592326" y="6101658"/>
            <a:ext cx="1018514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97626745" name=""/>
          <p:cNvSpPr txBox="1"/>
          <p:nvPr/>
        </p:nvSpPr>
        <p:spPr bwMode="auto">
          <a:xfrm rot="0" flipH="0" flipV="0">
            <a:off x="3741613" y="5931308"/>
            <a:ext cx="2139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10 min / 1 manzana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7818531" name=""/>
          <p:cNvSpPr txBox="1"/>
          <p:nvPr/>
        </p:nvSpPr>
        <p:spPr bwMode="auto">
          <a:xfrm rot="0" flipH="0" flipV="0">
            <a:off x="6677045" y="5902420"/>
            <a:ext cx="215555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7 días / 1000 bloques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25150760" name=""/>
          <p:cNvSpPr txBox="1"/>
          <p:nvPr/>
        </p:nvSpPr>
        <p:spPr bwMode="auto">
          <a:xfrm rot="0" flipH="0" flipV="0">
            <a:off x="8614200" y="6086916"/>
            <a:ext cx="996638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tiempo/bloques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0814359" name=""/>
          <p:cNvPicPr>
            <a:picLocks noChangeAspect="1"/>
          </p:cNvPicPr>
          <p:nvPr/>
        </p:nvPicPr>
        <p:blipFill>
          <a:blip r:embed="rId3"/>
          <a:srcRect l="0" t="0" r="0" b="10379"/>
          <a:stretch/>
        </p:blipFill>
        <p:spPr bwMode="auto">
          <a:xfrm flipH="0" flipV="0">
            <a:off x="878254" y="1133187"/>
            <a:ext cx="10429875" cy="4131538"/>
          </a:xfrm>
          <a:prstGeom prst="rect">
            <a:avLst/>
          </a:prstGeom>
        </p:spPr>
      </p:pic>
      <p:sp>
        <p:nvSpPr>
          <p:cNvPr id="481511748" name=""/>
          <p:cNvSpPr/>
          <p:nvPr/>
        </p:nvSpPr>
        <p:spPr bwMode="auto">
          <a:xfrm flipH="0" flipV="0">
            <a:off x="6828787" y="2414257"/>
            <a:ext cx="584702" cy="245197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1581896" name=""/>
          <p:cNvSpPr/>
          <p:nvPr/>
        </p:nvSpPr>
        <p:spPr bwMode="auto">
          <a:xfrm flipH="0" flipV="0">
            <a:off x="6479851" y="4243811"/>
            <a:ext cx="631856" cy="254628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79952741" name=""/>
          <p:cNvSpPr/>
          <p:nvPr/>
        </p:nvSpPr>
        <p:spPr bwMode="auto">
          <a:xfrm flipH="0" flipV="0">
            <a:off x="9167598" y="4837945"/>
            <a:ext cx="528118" cy="179183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5720406" name=""/>
          <p:cNvSpPr/>
          <p:nvPr/>
        </p:nvSpPr>
        <p:spPr bwMode="auto">
          <a:xfrm flipH="0" flipV="0">
            <a:off x="10469034" y="2989529"/>
            <a:ext cx="546980" cy="169752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70396375" name=""/>
          <p:cNvSpPr txBox="1"/>
          <p:nvPr/>
        </p:nvSpPr>
        <p:spPr bwMode="auto">
          <a:xfrm flipH="0" flipV="0">
            <a:off x="926678" y="5392585"/>
            <a:ext cx="4967326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Un ataque coordinado conduce a la victoria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109667382" name=""/>
          <p:cNvSpPr txBox="1"/>
          <p:nvPr/>
        </p:nvSpPr>
        <p:spPr bwMode="auto">
          <a:xfrm flipH="0" flipV="0">
            <a:off x="6192642" y="5346686"/>
            <a:ext cx="506329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Ataque descoordinado que conduce a la derrota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358487392" name=""/>
          <p:cNvSpPr txBox="1"/>
          <p:nvPr/>
        </p:nvSpPr>
        <p:spPr bwMode="auto">
          <a:xfrm flipH="0" flipV="0">
            <a:off x="6344624" y="2384274"/>
            <a:ext cx="160127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Traidor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295995904" name=""/>
          <p:cNvSpPr txBox="1"/>
          <p:nvPr/>
        </p:nvSpPr>
        <p:spPr bwMode="auto">
          <a:xfrm flipH="0" flipV="0">
            <a:off x="6394543" y="4218543"/>
            <a:ext cx="10938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Traidor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1205062968" name=""/>
          <p:cNvSpPr txBox="1"/>
          <p:nvPr/>
        </p:nvSpPr>
        <p:spPr bwMode="auto">
          <a:xfrm flipH="0" flipV="0">
            <a:off x="8849700" y="4774955"/>
            <a:ext cx="8653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Traidor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354516280" name=""/>
          <p:cNvSpPr txBox="1"/>
          <p:nvPr/>
        </p:nvSpPr>
        <p:spPr bwMode="auto">
          <a:xfrm flipH="0" flipV="0">
            <a:off x="10164149" y="2921823"/>
            <a:ext cx="96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Traidor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44611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83111" y="760178"/>
            <a:ext cx="7425774" cy="5337641"/>
          </a:xfrm>
          <a:prstGeom prst="rect">
            <a:avLst/>
          </a:prstGeom>
        </p:spPr>
      </p:pic>
      <p:sp>
        <p:nvSpPr>
          <p:cNvPr id="748036984" name=""/>
          <p:cNvSpPr txBox="1"/>
          <p:nvPr/>
        </p:nvSpPr>
        <p:spPr bwMode="auto">
          <a:xfrm rot="0" flipH="0" flipV="0">
            <a:off x="2383110" y="6216332"/>
            <a:ext cx="742649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Un minero S9 transformado en calefactor doméstico. proyecto Attakaï de DecouvreBitcoin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3929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641411683" name=""/>
          <p:cNvSpPr/>
          <p:nvPr/>
        </p:nvSpPr>
        <p:spPr bwMode="auto">
          <a:xfrm flipH="0" flipV="0">
            <a:off x="5574504" y="3979752"/>
            <a:ext cx="2206782" cy="801608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4553302" name=""/>
          <p:cNvSpPr txBox="1"/>
          <p:nvPr/>
        </p:nvSpPr>
        <p:spPr bwMode="auto">
          <a:xfrm flipH="0" flipV="0">
            <a:off x="5518247" y="3790949"/>
            <a:ext cx="22659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2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7670245" name=""/>
          <p:cNvSpPr txBox="1"/>
          <p:nvPr/>
        </p:nvSpPr>
        <p:spPr bwMode="auto">
          <a:xfrm rot="0" flipH="0" flipV="0">
            <a:off x="5676509" y="3848099"/>
            <a:ext cx="200276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Dinero gratis,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¡¡eso es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increíble!!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¡Muchas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gracias!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8107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280828631" name=""/>
          <p:cNvSpPr/>
          <p:nvPr/>
        </p:nvSpPr>
        <p:spPr bwMode="auto">
          <a:xfrm flipH="0" flipV="0">
            <a:off x="5319875" y="2989529"/>
            <a:ext cx="2121905" cy="9807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3871860" name=""/>
          <p:cNvSpPr txBox="1"/>
          <p:nvPr/>
        </p:nvSpPr>
        <p:spPr bwMode="auto">
          <a:xfrm flipH="0" flipV="0">
            <a:off x="5319874" y="2989527"/>
            <a:ext cx="2235504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2110868679" name=""/>
          <p:cNvSpPr txBox="1"/>
          <p:nvPr/>
        </p:nvSpPr>
        <p:spPr bwMode="auto">
          <a:xfrm rot="0" flipH="0" flipV="0">
            <a:off x="5319874" y="2913507"/>
            <a:ext cx="2287260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¡Espera! ¿De dónde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sacas todo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ese dinero?</a:t>
            </a:r>
            <a:endParaRPr lang="en-US" sz="1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¡Despacio!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11878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204147822" name=""/>
          <p:cNvSpPr/>
          <p:nvPr/>
        </p:nvSpPr>
        <p:spPr bwMode="auto">
          <a:xfrm flipH="0" flipV="0">
            <a:off x="5678242" y="3027252"/>
            <a:ext cx="1999306" cy="81103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6642418" name=""/>
          <p:cNvSpPr txBox="1"/>
          <p:nvPr/>
        </p:nvSpPr>
        <p:spPr bwMode="auto">
          <a:xfrm flipH="0" flipV="0">
            <a:off x="5838855" y="3027250"/>
            <a:ext cx="1892471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787260018" name=""/>
          <p:cNvSpPr txBox="1"/>
          <p:nvPr/>
        </p:nvSpPr>
        <p:spPr bwMode="auto">
          <a:xfrm rot="0" flipH="0" flipV="0">
            <a:off x="6645677" y="3122498"/>
            <a:ext cx="18363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51092097" name=""/>
          <p:cNvSpPr txBox="1"/>
          <p:nvPr/>
        </p:nvSpPr>
        <p:spPr bwMode="auto">
          <a:xfrm rot="0" flipH="0" flipV="0">
            <a:off x="5678042" y="2893718"/>
            <a:ext cx="218288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¿Estás bromeando? ¡Esto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es una locura!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4648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5562" y="597152"/>
            <a:ext cx="8500872" cy="5663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2528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9255" y="219073"/>
            <a:ext cx="3988841" cy="5781675"/>
          </a:xfrm>
          <a:prstGeom prst="rect">
            <a:avLst/>
          </a:prstGeom>
        </p:spPr>
      </p:pic>
      <p:sp>
        <p:nvSpPr>
          <p:cNvPr id="1760271308" name=""/>
          <p:cNvSpPr txBox="1"/>
          <p:nvPr/>
        </p:nvSpPr>
        <p:spPr bwMode="auto">
          <a:xfrm rot="0" flipH="0" flipV="0">
            <a:off x="4199254" y="6063752"/>
            <a:ext cx="398956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Arte callejero en París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21465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25684" y="2112474"/>
            <a:ext cx="11140627" cy="2633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4353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76249"/>
            <a:ext cx="7581899" cy="590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34234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1511" y="734891"/>
            <a:ext cx="8788977" cy="5388216"/>
          </a:xfrm>
          <a:prstGeom prst="roundRect">
            <a:avLst>
              <a:gd name="adj" fmla="val 3549"/>
            </a:avLst>
          </a:prstGeom>
        </p:spPr>
      </p:pic>
      <p:sp>
        <p:nvSpPr>
          <p:cNvPr id="856247105" name=""/>
          <p:cNvSpPr/>
          <p:nvPr/>
        </p:nvSpPr>
        <p:spPr bwMode="auto">
          <a:xfrm flipH="0" flipV="0">
            <a:off x="1887899" y="1962149"/>
            <a:ext cx="17716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675591535" name=""/>
          <p:cNvSpPr txBox="1"/>
          <p:nvPr/>
        </p:nvSpPr>
        <p:spPr bwMode="auto">
          <a:xfrm flipH="0" flipV="0">
            <a:off x="1887897" y="1745749"/>
            <a:ext cx="268749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chemeClr val="bg1"/>
                </a:solidFill>
                <a:latin typeface="IBM Plex Sans"/>
              </a:rPr>
              <a:t>Desviación estándar</a:t>
            </a:r>
            <a:endParaRPr sz="1400">
              <a:solidFill>
                <a:schemeClr val="bg1"/>
              </a:solidFill>
              <a:latin typeface="IBM Plex Sans"/>
              <a:cs typeface="IBM Plex Sans"/>
            </a:endParaRPr>
          </a:p>
          <a:p>
            <a:pPr algn="ctr"/>
            <a:r>
              <a:rPr sz="1400">
                <a:solidFill>
                  <a:schemeClr val="bg1"/>
                </a:solidFill>
                <a:latin typeface="IBM Plex Sans"/>
              </a:rPr>
              <a:t>de los </a:t>
            </a:r>
            <a:r>
              <a:rPr sz="1400">
                <a:solidFill>
                  <a:schemeClr val="bg1"/>
                </a:solidFill>
                <a:latin typeface="IBM Plex Sans"/>
              </a:rPr>
              <a:t>rendimientos diarios</a:t>
            </a:r>
          </a:p>
        </p:txBody>
      </p:sp>
      <p:sp>
        <p:nvSpPr>
          <p:cNvPr id="53237795" name=""/>
          <p:cNvSpPr/>
          <p:nvPr/>
        </p:nvSpPr>
        <p:spPr bwMode="auto">
          <a:xfrm flipH="0" flipV="0">
            <a:off x="4573949" y="895349"/>
            <a:ext cx="32575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76910728" name=""/>
          <p:cNvSpPr txBox="1"/>
          <p:nvPr/>
        </p:nvSpPr>
        <p:spPr bwMode="auto">
          <a:xfrm flipH="0" flipV="0">
            <a:off x="3512035" y="1085850"/>
            <a:ext cx="58109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índice de volatilidad de Bitcoin a 60 días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187716031" name=""/>
          <p:cNvSpPr/>
          <p:nvPr/>
        </p:nvSpPr>
        <p:spPr bwMode="auto">
          <a:xfrm flipH="0" flipV="0">
            <a:off x="8136298" y="2107109"/>
            <a:ext cx="2208825" cy="959937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15912685" name=""/>
          <p:cNvSpPr/>
          <p:nvPr/>
        </p:nvSpPr>
        <p:spPr bwMode="auto">
          <a:xfrm flipH="0" flipV="0">
            <a:off x="4968000" y="5695948"/>
            <a:ext cx="3537856" cy="33563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79312142" name=""/>
          <p:cNvSpPr txBox="1"/>
          <p:nvPr/>
        </p:nvSpPr>
        <p:spPr bwMode="auto">
          <a:xfrm flipH="0" flipV="0">
            <a:off x="5076856" y="5695948"/>
            <a:ext cx="2755361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Año</a:t>
            </a:r>
            <a:endParaRPr/>
          </a:p>
        </p:txBody>
      </p:sp>
      <p:sp>
        <p:nvSpPr>
          <p:cNvPr id="927557662" name=""/>
          <p:cNvSpPr/>
          <p:nvPr/>
        </p:nvSpPr>
        <p:spPr bwMode="auto">
          <a:xfrm rot="0" flipH="0" flipV="0">
            <a:off x="8897324" y="2005010"/>
            <a:ext cx="1514474" cy="1095374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21022099" name=""/>
          <p:cNvSpPr txBox="1"/>
          <p:nvPr/>
        </p:nvSpPr>
        <p:spPr bwMode="auto">
          <a:xfrm flipH="0" flipV="0">
            <a:off x="8136297" y="2220867"/>
            <a:ext cx="2276219" cy="8461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sz="1100">
                <a:solidFill>
                  <a:schemeClr val="bg1"/>
                </a:solidFill>
              </a:rPr>
              <a:t>Volatilidad del BTC/USD</a:t>
            </a:r>
            <a:endParaRPr sz="11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Volatilidad oro/USD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Volatilidad EUR/USD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31587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12485" y="0"/>
            <a:ext cx="7367028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80612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19437" y="547687"/>
            <a:ext cx="5953124" cy="5762624"/>
          </a:xfrm>
          <a:prstGeom prst="rect">
            <a:avLst/>
          </a:prstGeom>
        </p:spPr>
      </p:pic>
      <p:sp>
        <p:nvSpPr>
          <p:cNvPr id="1719695569" name=""/>
          <p:cNvSpPr/>
          <p:nvPr/>
        </p:nvSpPr>
        <p:spPr bwMode="auto">
          <a:xfrm flipH="0" flipV="0">
            <a:off x="3922423" y="914774"/>
            <a:ext cx="1010790" cy="471533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57460" name=""/>
          <p:cNvSpPr/>
          <p:nvPr/>
        </p:nvSpPr>
        <p:spPr bwMode="auto">
          <a:xfrm flipH="0" flipV="0">
            <a:off x="6706186" y="914775"/>
            <a:ext cx="1084529" cy="49982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9436772" name=""/>
          <p:cNvSpPr/>
          <p:nvPr/>
        </p:nvSpPr>
        <p:spPr bwMode="auto">
          <a:xfrm flipH="0" flipV="0">
            <a:off x="6743908" y="3740726"/>
            <a:ext cx="693666" cy="333330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68381721" name=""/>
          <p:cNvSpPr txBox="1"/>
          <p:nvPr/>
        </p:nvSpPr>
        <p:spPr bwMode="auto">
          <a:xfrm flipH="0" flipV="0">
            <a:off x="6593112" y="884569"/>
            <a:ext cx="13131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ES UNA </a:t>
            </a:r>
            <a:r>
              <a:rPr sz="900" b="1">
                <a:latin typeface="IBM Plex Sans"/>
              </a:rPr>
              <a:t>BURBUJA.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496615837" name=""/>
          <p:cNvSpPr/>
          <p:nvPr/>
        </p:nvSpPr>
        <p:spPr bwMode="auto">
          <a:xfrm flipH="0" flipV="0">
            <a:off x="4141216" y="844466"/>
            <a:ext cx="333657" cy="541841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76024331" name=""/>
          <p:cNvSpPr txBox="1"/>
          <p:nvPr/>
        </p:nvSpPr>
        <p:spPr bwMode="auto">
          <a:xfrm flipH="0" flipV="0">
            <a:off x="3788339" y="938462"/>
            <a:ext cx="12141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ES UNA </a:t>
            </a:r>
            <a:r>
              <a:rPr sz="900" b="1">
                <a:latin typeface="IBM Plex Sans"/>
              </a:rPr>
              <a:t>BURBUJA.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853897426" name=""/>
          <p:cNvSpPr/>
          <p:nvPr/>
        </p:nvSpPr>
        <p:spPr bwMode="auto">
          <a:xfrm flipH="0" flipV="0">
            <a:off x="6868011" y="3692282"/>
            <a:ext cx="438149" cy="13676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21560360" name=""/>
          <p:cNvSpPr/>
          <p:nvPr/>
        </p:nvSpPr>
        <p:spPr bwMode="auto">
          <a:xfrm flipH="0" flipV="0">
            <a:off x="6805959" y="3716505"/>
            <a:ext cx="124103" cy="88322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7445441" name=""/>
          <p:cNvSpPr txBox="1"/>
          <p:nvPr/>
        </p:nvSpPr>
        <p:spPr bwMode="auto">
          <a:xfrm flipH="0" flipV="0">
            <a:off x="6520413" y="3742127"/>
            <a:ext cx="112507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00" b="1">
                <a:latin typeface="IBM Plex Sans"/>
              </a:rPr>
              <a:t>ES UNA </a:t>
            </a:r>
            <a:r>
              <a:rPr sz="700" b="1">
                <a:latin typeface="IBM Plex Sans"/>
              </a:rPr>
              <a:t>BURBUJA.</a:t>
            </a:r>
            <a:endParaRPr sz="700" b="1">
              <a:latin typeface="IBM Plex Sans"/>
              <a:cs typeface="IBM Plex Sans"/>
            </a:endParaRPr>
          </a:p>
        </p:txBody>
      </p:sp>
      <p:sp>
        <p:nvSpPr>
          <p:cNvPr id="1887453194" name=""/>
          <p:cNvSpPr/>
          <p:nvPr/>
        </p:nvSpPr>
        <p:spPr bwMode="auto">
          <a:xfrm rot="0" flipH="0" flipV="0">
            <a:off x="3487455" y="3907391"/>
            <a:ext cx="1278354" cy="604449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870630" name=""/>
          <p:cNvSpPr/>
          <p:nvPr/>
        </p:nvSpPr>
        <p:spPr bwMode="auto">
          <a:xfrm rot="0" flipH="0" flipV="0">
            <a:off x="4427820" y="4363952"/>
            <a:ext cx="237727" cy="72690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27849" name=""/>
          <p:cNvSpPr txBox="1"/>
          <p:nvPr/>
        </p:nvSpPr>
        <p:spPr bwMode="auto">
          <a:xfrm flipH="0" flipV="0">
            <a:off x="3483870" y="3965396"/>
            <a:ext cx="126735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ES UNA </a:t>
            </a:r>
            <a:r>
              <a:rPr sz="900" b="1">
                <a:latin typeface="IBM Plex Sans"/>
              </a:rPr>
              <a:t>BURBUJA.</a:t>
            </a:r>
            <a:endParaRPr sz="9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5739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5008" y="980791"/>
            <a:ext cx="10601979" cy="4896412"/>
          </a:xfrm>
          <a:prstGeom prst="rect">
            <a:avLst/>
          </a:prstGeom>
        </p:spPr>
      </p:pic>
      <p:sp>
        <p:nvSpPr>
          <p:cNvPr id="1351788469" name=""/>
          <p:cNvSpPr txBox="1"/>
          <p:nvPr/>
        </p:nvSpPr>
        <p:spPr bwMode="auto">
          <a:xfrm rot="0" flipH="0" flipV="0">
            <a:off x="3852212" y="5911172"/>
            <a:ext cx="479446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Comerciante de BTCmap que acepta 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071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5048" y="138111"/>
            <a:ext cx="7581898" cy="6581773"/>
          </a:xfrm>
          <a:prstGeom prst="rect">
            <a:avLst/>
          </a:prstGeom>
        </p:spPr>
      </p:pic>
      <p:sp>
        <p:nvSpPr>
          <p:cNvPr id="942296557" name=""/>
          <p:cNvSpPr/>
          <p:nvPr/>
        </p:nvSpPr>
        <p:spPr bwMode="auto">
          <a:xfrm flipH="0" flipV="0">
            <a:off x="5678241" y="575271"/>
            <a:ext cx="1056236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3056331" name=""/>
          <p:cNvSpPr/>
          <p:nvPr/>
        </p:nvSpPr>
        <p:spPr bwMode="auto">
          <a:xfrm flipH="0" flipV="0">
            <a:off x="5404752" y="3442201"/>
            <a:ext cx="1574924" cy="6035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51538242" name=""/>
          <p:cNvSpPr/>
          <p:nvPr/>
        </p:nvSpPr>
        <p:spPr bwMode="auto">
          <a:xfrm flipH="0" flipV="0">
            <a:off x="3113092" y="4441855"/>
            <a:ext cx="1376879" cy="34893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4049275" name=""/>
          <p:cNvSpPr/>
          <p:nvPr/>
        </p:nvSpPr>
        <p:spPr bwMode="auto">
          <a:xfrm flipH="0" flipV="0">
            <a:off x="7941607" y="4366409"/>
            <a:ext cx="140517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84714251" name=""/>
          <p:cNvSpPr/>
          <p:nvPr/>
        </p:nvSpPr>
        <p:spPr bwMode="auto">
          <a:xfrm flipH="0" flipV="0">
            <a:off x="5376458" y="6172557"/>
            <a:ext cx="1593784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9717112" name=""/>
          <p:cNvSpPr txBox="1"/>
          <p:nvPr/>
        </p:nvSpPr>
        <p:spPr bwMode="auto">
          <a:xfrm flipH="0" flipV="0">
            <a:off x="2763136" y="4366408"/>
            <a:ext cx="188010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Comerciantes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02761286" name=""/>
          <p:cNvSpPr txBox="1"/>
          <p:nvPr/>
        </p:nvSpPr>
        <p:spPr bwMode="auto">
          <a:xfrm flipH="0" flipV="0">
            <a:off x="4585245" y="6284036"/>
            <a:ext cx="32139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Asalariados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132266515" name=""/>
          <p:cNvSpPr txBox="1"/>
          <p:nvPr/>
        </p:nvSpPr>
        <p:spPr bwMode="auto">
          <a:xfrm flipH="0" flipV="0">
            <a:off x="7525636" y="4366408"/>
            <a:ext cx="225280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Empresarios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180853288" name=""/>
          <p:cNvSpPr txBox="1"/>
          <p:nvPr/>
        </p:nvSpPr>
        <p:spPr bwMode="auto">
          <a:xfrm flipH="0" flipV="0">
            <a:off x="5404752" y="3527245"/>
            <a:ext cx="15825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Economía circular </a:t>
            </a:r>
            <a:r>
              <a:rPr sz="1400">
                <a:solidFill>
                  <a:srgbClr val="E39C17"/>
                </a:solidFill>
                <a:latin typeface="IBM Plex Sans"/>
              </a:rPr>
              <a:t>en BTC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433565240" name=""/>
          <p:cNvSpPr txBox="1"/>
          <p:nvPr/>
        </p:nvSpPr>
        <p:spPr bwMode="auto">
          <a:xfrm flipH="0" flipV="0">
            <a:off x="4841317" y="554720"/>
            <a:ext cx="250319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Donaciones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70307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1334" y="744681"/>
            <a:ext cx="6539976" cy="5644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35981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71462"/>
            <a:ext cx="7581899" cy="631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7587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9178" y="1103391"/>
            <a:ext cx="8433640" cy="4651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423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7" y="179182"/>
            <a:ext cx="9076676" cy="6499630"/>
          </a:xfrm>
          <a:prstGeom prst="rect">
            <a:avLst/>
          </a:prstGeom>
        </p:spPr>
      </p:pic>
      <p:sp>
        <p:nvSpPr>
          <p:cNvPr id="828107870" name=""/>
          <p:cNvSpPr/>
          <p:nvPr/>
        </p:nvSpPr>
        <p:spPr bwMode="auto">
          <a:xfrm flipH="0" flipV="0">
            <a:off x="7375766" y="528117"/>
            <a:ext cx="2197350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16395394" name=""/>
          <p:cNvSpPr/>
          <p:nvPr/>
        </p:nvSpPr>
        <p:spPr bwMode="auto">
          <a:xfrm flipH="0" flipV="0">
            <a:off x="4857769" y="1689600"/>
            <a:ext cx="2462917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12804674" name=""/>
          <p:cNvSpPr/>
          <p:nvPr/>
        </p:nvSpPr>
        <p:spPr bwMode="auto">
          <a:xfrm flipH="0" flipV="0">
            <a:off x="3065940" y="3322620"/>
            <a:ext cx="1191281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4832461" name=""/>
          <p:cNvSpPr/>
          <p:nvPr/>
        </p:nvSpPr>
        <p:spPr bwMode="auto">
          <a:xfrm flipH="0" flipV="0">
            <a:off x="1643413" y="5559202"/>
            <a:ext cx="1497970" cy="59903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6720906" name=""/>
          <p:cNvSpPr/>
          <p:nvPr/>
        </p:nvSpPr>
        <p:spPr bwMode="auto">
          <a:xfrm flipH="0" flipV="0">
            <a:off x="9827746" y="2433117"/>
            <a:ext cx="358365" cy="347992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477626" name=""/>
          <p:cNvSpPr/>
          <p:nvPr/>
        </p:nvSpPr>
        <p:spPr bwMode="auto">
          <a:xfrm flipH="0" flipV="0">
            <a:off x="3254553" y="5931903"/>
            <a:ext cx="5856459" cy="19804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07395612" name=""/>
          <p:cNvSpPr/>
          <p:nvPr/>
        </p:nvSpPr>
        <p:spPr bwMode="auto">
          <a:xfrm flipH="0" flipV="0">
            <a:off x="5484980" y="6158241"/>
            <a:ext cx="914775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81578975" name=""/>
          <p:cNvSpPr txBox="1"/>
          <p:nvPr/>
        </p:nvSpPr>
        <p:spPr bwMode="auto">
          <a:xfrm flipH="0" flipV="0">
            <a:off x="2974959" y="1689598"/>
            <a:ext cx="367928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Hiperbitcoinización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007922012" name=""/>
          <p:cNvSpPr txBox="1"/>
          <p:nvPr/>
        </p:nvSpPr>
        <p:spPr bwMode="auto">
          <a:xfrm flipH="0" flipV="0">
            <a:off x="5332460" y="528116"/>
            <a:ext cx="364712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Estándar Bitcoin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9966266" name=""/>
          <p:cNvSpPr txBox="1"/>
          <p:nvPr/>
        </p:nvSpPr>
        <p:spPr bwMode="auto">
          <a:xfrm flipH="0" flipV="0">
            <a:off x="2176762" y="3333726"/>
            <a:ext cx="208225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Despegue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17870445" name=""/>
          <p:cNvSpPr txBox="1"/>
          <p:nvPr/>
        </p:nvSpPr>
        <p:spPr bwMode="auto">
          <a:xfrm flipH="0" flipV="0">
            <a:off x="1678465" y="4953179"/>
            <a:ext cx="257911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0346437" name=""/>
          <p:cNvSpPr txBox="1"/>
          <p:nvPr/>
        </p:nvSpPr>
        <p:spPr bwMode="auto">
          <a:xfrm rot="0" flipH="0" flipV="0">
            <a:off x="3141383" y="5883561"/>
            <a:ext cx="116594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Innovadores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7084821" name=""/>
          <p:cNvSpPr txBox="1"/>
          <p:nvPr/>
        </p:nvSpPr>
        <p:spPr bwMode="auto">
          <a:xfrm rot="0" flipH="0" flipV="0">
            <a:off x="4030785" y="5903015"/>
            <a:ext cx="1454557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Primeros adoptantes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5301017" name=""/>
          <p:cNvSpPr txBox="1"/>
          <p:nvPr/>
        </p:nvSpPr>
        <p:spPr bwMode="auto">
          <a:xfrm rot="0" flipH="0" flipV="0">
            <a:off x="5554737" y="5910598"/>
            <a:ext cx="9505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Mayoría </a:t>
            </a:r>
            <a:r>
              <a:rPr sz="900">
                <a:solidFill>
                  <a:srgbClr val="FFFFFF"/>
                </a:solidFill>
                <a:latin typeface="IBM Plex Sans"/>
              </a:rPr>
              <a:t>temprana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30213238" name=""/>
          <p:cNvSpPr txBox="1"/>
          <p:nvPr/>
        </p:nvSpPr>
        <p:spPr bwMode="auto">
          <a:xfrm rot="0" flipH="0" flipV="0">
            <a:off x="6461397" y="5883561"/>
            <a:ext cx="107767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Seguidores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4256849" name=""/>
          <p:cNvSpPr txBox="1"/>
          <p:nvPr/>
        </p:nvSpPr>
        <p:spPr bwMode="auto">
          <a:xfrm rot="0" flipH="0" flipV="0">
            <a:off x="7915126" y="5883561"/>
            <a:ext cx="123523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Los rezagados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6938170" name=""/>
          <p:cNvSpPr/>
          <p:nvPr/>
        </p:nvSpPr>
        <p:spPr bwMode="auto">
          <a:xfrm rot="0" flipH="0" flipV="0">
            <a:off x="10245748" y="179182"/>
            <a:ext cx="1100665" cy="6509481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61362304" name=""/>
          <p:cNvSpPr txBox="1"/>
          <p:nvPr/>
        </p:nvSpPr>
        <p:spPr bwMode="auto">
          <a:xfrm rot="0" flipH="0" flipV="0">
            <a:off x="9930182" y="3379626"/>
            <a:ext cx="1195062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Porcentaje de cuota de mercado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8277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57605" y="894488"/>
            <a:ext cx="5135893" cy="5135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1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6999" y="0"/>
            <a:ext cx="6858000" cy="6858000"/>
          </a:xfrm>
          <a:prstGeom prst="rect">
            <a:avLst/>
          </a:prstGeom>
        </p:spPr>
      </p:pic>
      <p:sp>
        <p:nvSpPr>
          <p:cNvPr id="1812355195" name=""/>
          <p:cNvSpPr/>
          <p:nvPr/>
        </p:nvSpPr>
        <p:spPr bwMode="auto">
          <a:xfrm flipH="0" flipV="0">
            <a:off x="3396014" y="792178"/>
            <a:ext cx="1442895" cy="103737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91635503" name=""/>
          <p:cNvSpPr/>
          <p:nvPr/>
        </p:nvSpPr>
        <p:spPr bwMode="auto">
          <a:xfrm flipH="0" flipV="0">
            <a:off x="5649950" y="914776"/>
            <a:ext cx="858191" cy="109396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549922" name=""/>
          <p:cNvSpPr/>
          <p:nvPr/>
        </p:nvSpPr>
        <p:spPr bwMode="auto">
          <a:xfrm flipH="0" flipV="0">
            <a:off x="7451212" y="811039"/>
            <a:ext cx="1348588" cy="104680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7950368" name=""/>
          <p:cNvSpPr/>
          <p:nvPr/>
        </p:nvSpPr>
        <p:spPr bwMode="auto">
          <a:xfrm flipH="0" flipV="0">
            <a:off x="3348861" y="2800915"/>
            <a:ext cx="1537202" cy="10279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57951127" name=""/>
          <p:cNvSpPr/>
          <p:nvPr/>
        </p:nvSpPr>
        <p:spPr bwMode="auto">
          <a:xfrm flipH="0" flipV="0">
            <a:off x="5565074" y="2895222"/>
            <a:ext cx="1169405" cy="111282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01293833" name=""/>
          <p:cNvSpPr/>
          <p:nvPr/>
        </p:nvSpPr>
        <p:spPr bwMode="auto">
          <a:xfrm flipH="0" flipV="0">
            <a:off x="7498366" y="2942375"/>
            <a:ext cx="1292004" cy="98079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7654577" name=""/>
          <p:cNvSpPr/>
          <p:nvPr/>
        </p:nvSpPr>
        <p:spPr bwMode="auto">
          <a:xfrm flipH="0" flipV="0">
            <a:off x="7583242" y="4856806"/>
            <a:ext cx="1046806" cy="1169405"/>
          </a:xfrm>
          <a:prstGeom prst="rect">
            <a:avLst/>
          </a:prstGeom>
          <a:solidFill>
            <a:srgbClr val="F3932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0892487" name=""/>
          <p:cNvSpPr/>
          <p:nvPr/>
        </p:nvSpPr>
        <p:spPr bwMode="auto">
          <a:xfrm flipH="0" flipV="0">
            <a:off x="5508489" y="4866237"/>
            <a:ext cx="1225990" cy="113168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53655460" name=""/>
          <p:cNvSpPr/>
          <p:nvPr/>
        </p:nvSpPr>
        <p:spPr bwMode="auto">
          <a:xfrm flipH="0" flipV="0">
            <a:off x="3546905" y="4875668"/>
            <a:ext cx="1084529" cy="118826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3706037" name=""/>
          <p:cNvSpPr txBox="1"/>
          <p:nvPr/>
        </p:nvSpPr>
        <p:spPr bwMode="auto">
          <a:xfrm flipH="0" flipV="0">
            <a:off x="3997710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73204811" name=""/>
          <p:cNvSpPr txBox="1"/>
          <p:nvPr/>
        </p:nvSpPr>
        <p:spPr bwMode="auto">
          <a:xfrm flipH="0" flipV="0">
            <a:off x="5716239" y="133444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49386109" name=""/>
          <p:cNvSpPr txBox="1"/>
          <p:nvPr/>
        </p:nvSpPr>
        <p:spPr bwMode="auto">
          <a:xfrm flipH="0" flipV="0">
            <a:off x="8033866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43858853" name=""/>
          <p:cNvSpPr txBox="1"/>
          <p:nvPr/>
        </p:nvSpPr>
        <p:spPr bwMode="auto">
          <a:xfrm flipH="0" flipV="0">
            <a:off x="4025821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6438475" name=""/>
          <p:cNvSpPr txBox="1"/>
          <p:nvPr/>
        </p:nvSpPr>
        <p:spPr bwMode="auto">
          <a:xfrm flipH="0" flipV="0">
            <a:off x="5571955" y="3314884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221073195" name=""/>
          <p:cNvSpPr txBox="1"/>
          <p:nvPr/>
        </p:nvSpPr>
        <p:spPr bwMode="auto">
          <a:xfrm flipH="0" flipV="0">
            <a:off x="8052728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03765496" name=""/>
          <p:cNvSpPr txBox="1"/>
          <p:nvPr/>
        </p:nvSpPr>
        <p:spPr bwMode="auto">
          <a:xfrm flipH="0" flipV="0">
            <a:off x="3997708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82571676" name=""/>
          <p:cNvSpPr txBox="1"/>
          <p:nvPr/>
        </p:nvSpPr>
        <p:spPr bwMode="auto">
          <a:xfrm flipH="0" flipV="0">
            <a:off x="6004359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9183385" name=""/>
          <p:cNvSpPr txBox="1"/>
          <p:nvPr/>
        </p:nvSpPr>
        <p:spPr bwMode="auto">
          <a:xfrm flipH="0" flipV="0">
            <a:off x="8015005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642644478" name=""/>
          <p:cNvSpPr txBox="1"/>
          <p:nvPr/>
        </p:nvSpPr>
        <p:spPr bwMode="auto">
          <a:xfrm flipH="0" flipV="0">
            <a:off x="7845758" y="5015429"/>
            <a:ext cx="52177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232A44"/>
                </a:solidFill>
                <a:latin typeface="IBM Plex Sans"/>
              </a:rPr>
              <a:t>BTC</a:t>
            </a:r>
            <a:endParaRPr sz="1400" b="1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342403635" name=""/>
          <p:cNvSpPr txBox="1"/>
          <p:nvPr/>
        </p:nvSpPr>
        <p:spPr bwMode="auto">
          <a:xfrm flipH="0" flipV="0">
            <a:off x="3916543" y="1005705"/>
            <a:ext cx="51981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TCP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362702196" name=""/>
          <p:cNvSpPr txBox="1"/>
          <p:nvPr/>
        </p:nvSpPr>
        <p:spPr bwMode="auto">
          <a:xfrm flipH="0" flipV="0">
            <a:off x="5890522" y="1005705"/>
            <a:ext cx="37704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IP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628848648" name=""/>
          <p:cNvSpPr txBox="1"/>
          <p:nvPr/>
        </p:nvSpPr>
        <p:spPr bwMode="auto">
          <a:xfrm flipH="0" flipV="0">
            <a:off x="7859447" y="1005705"/>
            <a:ext cx="50808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FTP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28158498" name=""/>
          <p:cNvSpPr txBox="1"/>
          <p:nvPr/>
        </p:nvSpPr>
        <p:spPr bwMode="auto">
          <a:xfrm flipH="0" flipV="0">
            <a:off x="3846133" y="3009726"/>
            <a:ext cx="660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SMTP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794895542" name=""/>
          <p:cNvSpPr txBox="1"/>
          <p:nvPr/>
        </p:nvSpPr>
        <p:spPr bwMode="auto">
          <a:xfrm flipH="0" flipV="0">
            <a:off x="5831456" y="3009726"/>
            <a:ext cx="636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HTTP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66094029" name=""/>
          <p:cNvSpPr txBox="1"/>
          <p:nvPr/>
        </p:nvSpPr>
        <p:spPr bwMode="auto">
          <a:xfrm flipH="0" flipV="0">
            <a:off x="7851728" y="3009726"/>
            <a:ext cx="54755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UDP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2094815176" name=""/>
          <p:cNvSpPr txBox="1"/>
          <p:nvPr/>
        </p:nvSpPr>
        <p:spPr bwMode="auto">
          <a:xfrm flipH="0" flipV="0">
            <a:off x="5676219" y="5015429"/>
            <a:ext cx="8905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TLS/SSL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224763936" name=""/>
          <p:cNvSpPr txBox="1"/>
          <p:nvPr/>
        </p:nvSpPr>
        <p:spPr bwMode="auto">
          <a:xfrm flipH="0" flipV="0">
            <a:off x="3815569" y="5015429"/>
            <a:ext cx="54719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DNS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626604353" name=""/>
          <p:cNvSpPr txBox="1"/>
          <p:nvPr/>
        </p:nvSpPr>
        <p:spPr bwMode="auto">
          <a:xfrm rot="0" flipH="0" flipV="0">
            <a:off x="3334725" y="1343025"/>
            <a:ext cx="156497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Protocolo de control </a:t>
            </a: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de transmisión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2565028" name=""/>
          <p:cNvSpPr txBox="1"/>
          <p:nvPr/>
        </p:nvSpPr>
        <p:spPr bwMode="auto">
          <a:xfrm rot="0" flipH="0" flipV="0">
            <a:off x="7407582" y="3352549"/>
            <a:ext cx="1456335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Protocolo de datagramas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de usuario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18002362" name=""/>
          <p:cNvSpPr txBox="1"/>
          <p:nvPr/>
        </p:nvSpPr>
        <p:spPr bwMode="auto">
          <a:xfrm rot="0" flipH="0" flipV="0">
            <a:off x="3334391" y="3289884"/>
            <a:ext cx="159419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Protocolo de transmisión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de correo electrónico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244489597" name=""/>
          <p:cNvSpPr txBox="1"/>
          <p:nvPr/>
        </p:nvSpPr>
        <p:spPr bwMode="auto">
          <a:xfrm rot="0" flipH="0" flipV="0">
            <a:off x="5527647" y="1315953"/>
            <a:ext cx="122447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Protocolo de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Internet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68596351" name=""/>
          <p:cNvSpPr txBox="1"/>
          <p:nvPr/>
        </p:nvSpPr>
        <p:spPr bwMode="auto">
          <a:xfrm rot="0" flipH="0" flipV="0">
            <a:off x="7294785" y="1303960"/>
            <a:ext cx="162552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Protocolo de transferencia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de archivos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672939636" name=""/>
          <p:cNvSpPr txBox="1"/>
          <p:nvPr/>
        </p:nvSpPr>
        <p:spPr bwMode="auto">
          <a:xfrm rot="0" flipH="0" flipV="0">
            <a:off x="5468333" y="3314886"/>
            <a:ext cx="130630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Protocolo del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navegador web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4821293" name=""/>
          <p:cNvSpPr txBox="1"/>
          <p:nvPr/>
        </p:nvSpPr>
        <p:spPr bwMode="auto">
          <a:xfrm rot="0" flipH="0" flipV="0">
            <a:off x="5352187" y="5320213"/>
            <a:ext cx="1531532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Seguridad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criptográfica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24139217" name=""/>
          <p:cNvSpPr txBox="1"/>
          <p:nvPr/>
        </p:nvSpPr>
        <p:spPr bwMode="auto">
          <a:xfrm rot="0" flipH="0" flipV="0">
            <a:off x="3315592" y="5307680"/>
            <a:ext cx="143753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Sistema de nombres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de dominio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751099255" name=""/>
          <p:cNvSpPr txBox="1"/>
          <p:nvPr/>
        </p:nvSpPr>
        <p:spPr bwMode="auto">
          <a:xfrm rot="0" flipH="0" flipV="0">
            <a:off x="7457713" y="5320213"/>
            <a:ext cx="142500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Protocolo </a:t>
            </a: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monetario</a:t>
            </a:r>
            <a:endParaRPr sz="11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2551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09291" y="0"/>
            <a:ext cx="7173413" cy="6857999"/>
          </a:xfrm>
          <a:prstGeom prst="rect">
            <a:avLst/>
          </a:prstGeom>
        </p:spPr>
      </p:pic>
      <p:sp>
        <p:nvSpPr>
          <p:cNvPr id="1813727545" name=""/>
          <p:cNvSpPr/>
          <p:nvPr/>
        </p:nvSpPr>
        <p:spPr bwMode="auto">
          <a:xfrm flipH="0" flipV="0">
            <a:off x="4697450" y="631856"/>
            <a:ext cx="2650024" cy="311212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36798566" name=""/>
          <p:cNvSpPr/>
          <p:nvPr/>
        </p:nvSpPr>
        <p:spPr bwMode="auto">
          <a:xfrm flipH="0" flipV="0">
            <a:off x="3179108" y="3630816"/>
            <a:ext cx="1207128" cy="105623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4524276" name=""/>
          <p:cNvSpPr/>
          <p:nvPr/>
        </p:nvSpPr>
        <p:spPr bwMode="auto">
          <a:xfrm flipH="0" flipV="0">
            <a:off x="8139653" y="3876014"/>
            <a:ext cx="1207128" cy="716732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42607555" name=""/>
          <p:cNvSpPr txBox="1"/>
          <p:nvPr/>
        </p:nvSpPr>
        <p:spPr bwMode="auto">
          <a:xfrm flipH="0" flipV="0">
            <a:off x="4111430" y="512782"/>
            <a:ext cx="40859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IBM Plex Sans"/>
              </a:rPr>
              <a:t>Intercambio de canales entre Alice y Bob</a:t>
            </a:r>
            <a:endParaRPr sz="12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4090734" name=""/>
          <p:cNvSpPr txBox="1"/>
          <p:nvPr/>
        </p:nvSpPr>
        <p:spPr bwMode="auto">
          <a:xfrm flipH="0" flipV="0">
            <a:off x="2975480" y="3975118"/>
            <a:ext cx="13554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Apertura del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canal LN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29129591" name=""/>
          <p:cNvSpPr txBox="1"/>
          <p:nvPr/>
        </p:nvSpPr>
        <p:spPr bwMode="auto">
          <a:xfrm flipH="0" flipV="0">
            <a:off x="8195897" y="3975118"/>
            <a:ext cx="138918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Cierre del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canal LN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55627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1437"/>
            <a:ext cx="7581899" cy="6715125"/>
          </a:xfrm>
          <a:prstGeom prst="rect">
            <a:avLst/>
          </a:prstGeom>
        </p:spPr>
      </p:pic>
      <p:sp>
        <p:nvSpPr>
          <p:cNvPr id="2024563825" name=""/>
          <p:cNvSpPr/>
          <p:nvPr/>
        </p:nvSpPr>
        <p:spPr bwMode="auto">
          <a:xfrm flipH="0" flipV="0">
            <a:off x="5046386" y="273489"/>
            <a:ext cx="2197351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0706361" name=""/>
          <p:cNvSpPr/>
          <p:nvPr/>
        </p:nvSpPr>
        <p:spPr bwMode="auto">
          <a:xfrm flipH="0" flipV="0">
            <a:off x="3876980" y="6082796"/>
            <a:ext cx="1546633" cy="35836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9031046" name=""/>
          <p:cNvSpPr/>
          <p:nvPr/>
        </p:nvSpPr>
        <p:spPr bwMode="auto">
          <a:xfrm flipH="0" flipV="0">
            <a:off x="6998538" y="6092227"/>
            <a:ext cx="1499479" cy="34893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32091634" name=""/>
          <p:cNvSpPr txBox="1"/>
          <p:nvPr/>
        </p:nvSpPr>
        <p:spPr bwMode="auto">
          <a:xfrm flipH="0" flipV="0">
            <a:off x="5165314" y="365013"/>
            <a:ext cx="1861730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Descentralización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2103435331" name=""/>
          <p:cNvSpPr txBox="1"/>
          <p:nvPr/>
        </p:nvSpPr>
        <p:spPr bwMode="auto">
          <a:xfrm flipH="0" flipV="0">
            <a:off x="4024291" y="6075041"/>
            <a:ext cx="102209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Seguridad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18788893" name=""/>
          <p:cNvSpPr txBox="1"/>
          <p:nvPr/>
        </p:nvSpPr>
        <p:spPr bwMode="auto">
          <a:xfrm flipH="0" flipV="0">
            <a:off x="7039193" y="6075040"/>
            <a:ext cx="124108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Escalabilidad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211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4287"/>
            <a:ext cx="7581899" cy="6829425"/>
          </a:xfrm>
          <a:prstGeom prst="rect">
            <a:avLst/>
          </a:prstGeom>
        </p:spPr>
      </p:pic>
      <p:sp>
        <p:nvSpPr>
          <p:cNvPr id="1294331473" name=""/>
          <p:cNvSpPr/>
          <p:nvPr/>
        </p:nvSpPr>
        <p:spPr bwMode="auto">
          <a:xfrm flipH="0" flipV="0">
            <a:off x="5857425" y="1490049"/>
            <a:ext cx="1433465" cy="5564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93257299" name=""/>
          <p:cNvSpPr/>
          <p:nvPr/>
        </p:nvSpPr>
        <p:spPr bwMode="auto">
          <a:xfrm flipH="0" flipV="0">
            <a:off x="7573811" y="3357326"/>
            <a:ext cx="1631509" cy="52811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74203574" name=""/>
          <p:cNvSpPr txBox="1"/>
          <p:nvPr/>
        </p:nvSpPr>
        <p:spPr bwMode="auto">
          <a:xfrm flipH="0" flipV="0">
            <a:off x="5883866" y="1538876"/>
            <a:ext cx="1381658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Saltos de enrutamiento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72064434" name=""/>
          <p:cNvSpPr txBox="1"/>
          <p:nvPr/>
        </p:nvSpPr>
        <p:spPr bwMode="auto">
          <a:xfrm flipH="0" flipV="0">
            <a:off x="7678855" y="3357324"/>
            <a:ext cx="1422497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Nodo de enrutamiento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065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61974"/>
            <a:ext cx="7581899" cy="5734049"/>
          </a:xfrm>
          <a:prstGeom prst="rect">
            <a:avLst/>
          </a:prstGeom>
        </p:spPr>
      </p:pic>
      <p:sp>
        <p:nvSpPr>
          <p:cNvPr id="1766805438" name=""/>
          <p:cNvSpPr/>
          <p:nvPr/>
        </p:nvSpPr>
        <p:spPr bwMode="auto">
          <a:xfrm flipH="0" flipV="0">
            <a:off x="2650989" y="2942375"/>
            <a:ext cx="1556063" cy="69787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2656368" name=""/>
          <p:cNvSpPr/>
          <p:nvPr/>
        </p:nvSpPr>
        <p:spPr bwMode="auto">
          <a:xfrm flipH="0" flipV="0">
            <a:off x="7969900" y="2885792"/>
            <a:ext cx="1688094" cy="7261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1442546" name=""/>
          <p:cNvSpPr txBox="1"/>
          <p:nvPr/>
        </p:nvSpPr>
        <p:spPr bwMode="auto">
          <a:xfrm flipH="0" flipV="0">
            <a:off x="2475887" y="2863191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Estado del canal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en la apertura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919361066" name=""/>
          <p:cNvSpPr txBox="1"/>
          <p:nvPr/>
        </p:nvSpPr>
        <p:spPr bwMode="auto">
          <a:xfrm flipH="0" flipV="0">
            <a:off x="8047822" y="2910480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Estado del canal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al cierre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005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1987"/>
            <a:ext cx="7581899" cy="5534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07417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91900" y="603564"/>
            <a:ext cx="8208195" cy="5650868"/>
          </a:xfrm>
          <a:prstGeom prst="rect">
            <a:avLst/>
          </a:prstGeom>
        </p:spPr>
      </p:pic>
      <p:sp>
        <p:nvSpPr>
          <p:cNvPr id="793187739" name=""/>
          <p:cNvSpPr/>
          <p:nvPr/>
        </p:nvSpPr>
        <p:spPr bwMode="auto">
          <a:xfrm flipH="0" flipV="0">
            <a:off x="4818355" y="1494970"/>
            <a:ext cx="2172445" cy="612581"/>
          </a:xfrm>
          <a:prstGeom prst="rect">
            <a:avLst/>
          </a:prstGeom>
          <a:solidFill>
            <a:srgbClr val="BB85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91080642" name=""/>
          <p:cNvSpPr txBox="1"/>
          <p:nvPr/>
        </p:nvSpPr>
        <p:spPr bwMode="auto">
          <a:xfrm flipH="0" flipV="0">
            <a:off x="4149029" y="1494969"/>
            <a:ext cx="34726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80343566" name=""/>
          <p:cNvSpPr txBox="1"/>
          <p:nvPr/>
        </p:nvSpPr>
        <p:spPr bwMode="auto">
          <a:xfrm rot="0" flipH="0" flipV="0">
            <a:off x="4211694" y="1467470"/>
            <a:ext cx="323420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>
                <a:solidFill>
                  <a:srgbClr val="000000"/>
                </a:solidFill>
                <a:latin typeface="IBM Plex Sans"/>
              </a:rPr>
              <a:t>Entrada del juego: </a:t>
            </a:r>
            <a:r>
              <a:rPr b="0">
                <a:solidFill>
                  <a:srgbClr val="000000"/>
                </a:solidFill>
                <a:latin typeface="IBM Plex Sans"/>
              </a:rPr>
              <a:t>500 Sats</a:t>
            </a:r>
            <a:endParaRPr sz="18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8188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61999"/>
            <a:ext cx="7581899" cy="5333999"/>
          </a:xfrm>
          <a:prstGeom prst="rect">
            <a:avLst/>
          </a:prstGeom>
        </p:spPr>
      </p:pic>
      <p:sp>
        <p:nvSpPr>
          <p:cNvPr id="122130579" name=""/>
          <p:cNvSpPr/>
          <p:nvPr/>
        </p:nvSpPr>
        <p:spPr bwMode="auto">
          <a:xfrm flipH="0" flipV="0">
            <a:off x="4273068" y="1565494"/>
            <a:ext cx="1056237" cy="226336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020999" name=""/>
          <p:cNvSpPr/>
          <p:nvPr/>
        </p:nvSpPr>
        <p:spPr bwMode="auto">
          <a:xfrm flipH="0" flipV="0">
            <a:off x="7460643" y="2131336"/>
            <a:ext cx="877054" cy="207475"/>
          </a:xfrm>
          <a:prstGeom prst="rect">
            <a:avLst/>
          </a:prstGeom>
          <a:solidFill>
            <a:srgbClr val="B786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5600183" name=""/>
          <p:cNvSpPr/>
          <p:nvPr/>
        </p:nvSpPr>
        <p:spPr bwMode="auto">
          <a:xfrm flipH="0" flipV="0">
            <a:off x="5857425" y="2716039"/>
            <a:ext cx="971361" cy="207475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00833853" name=""/>
          <p:cNvSpPr txBox="1"/>
          <p:nvPr/>
        </p:nvSpPr>
        <p:spPr bwMode="auto">
          <a:xfrm flipH="0" flipV="0">
            <a:off x="4277870" y="1495602"/>
            <a:ext cx="116700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Consultoría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53849528" name=""/>
          <p:cNvSpPr txBox="1"/>
          <p:nvPr/>
        </p:nvSpPr>
        <p:spPr bwMode="auto">
          <a:xfrm flipH="0" flipV="0">
            <a:off x="5823524" y="2667196"/>
            <a:ext cx="103916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¡Preguntas!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067415176" name=""/>
          <p:cNvSpPr txBox="1"/>
          <p:nvPr/>
        </p:nvSpPr>
        <p:spPr bwMode="auto">
          <a:xfrm flipH="0" flipV="0">
            <a:off x="7427617" y="2082493"/>
            <a:ext cx="910079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Premium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8895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71447" y="1084529"/>
            <a:ext cx="9449102" cy="4688938"/>
          </a:xfrm>
          <a:prstGeom prst="rect">
            <a:avLst/>
          </a:prstGeom>
        </p:spPr>
      </p:pic>
      <p:sp>
        <p:nvSpPr>
          <p:cNvPr id="1749147780" name=""/>
          <p:cNvSpPr/>
          <p:nvPr/>
        </p:nvSpPr>
        <p:spPr bwMode="auto">
          <a:xfrm flipH="0" flipV="0">
            <a:off x="2999925" y="2008737"/>
            <a:ext cx="2253935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34789" name=""/>
          <p:cNvSpPr/>
          <p:nvPr/>
        </p:nvSpPr>
        <p:spPr bwMode="auto">
          <a:xfrm flipH="0" flipV="0">
            <a:off x="6970247" y="1546633"/>
            <a:ext cx="2923514" cy="1320296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40260390" name=""/>
          <p:cNvSpPr txBox="1"/>
          <p:nvPr/>
        </p:nvSpPr>
        <p:spPr bwMode="auto">
          <a:xfrm flipH="0" flipV="0">
            <a:off x="2999922" y="2055888"/>
            <a:ext cx="213724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706605886" name=""/>
          <p:cNvSpPr txBox="1"/>
          <p:nvPr/>
        </p:nvSpPr>
        <p:spPr bwMode="auto">
          <a:xfrm rot="0" flipH="0" flipV="0">
            <a:off x="7001633" y="1741647"/>
            <a:ext cx="2860740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Lightning Network también nos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permite hacer muchas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cosas a distancia.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8484435" name=""/>
          <p:cNvSpPr txBox="1"/>
          <p:nvPr/>
        </p:nvSpPr>
        <p:spPr bwMode="auto">
          <a:xfrm rot="0" flipH="0" flipV="0">
            <a:off x="3072869" y="2107587"/>
            <a:ext cx="210804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Envíame un mensaje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por 1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sat. ¡No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más spam!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88</Slides>
  <Notes>88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modified xsi:type="dcterms:W3CDTF">2025-09-19T17:10:45Z</dcterms:modified>
</cp:coreProperties>
</file>