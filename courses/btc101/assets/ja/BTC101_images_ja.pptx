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ハイパービットコイン化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ビットコイン・スタンダード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離陸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サイファーパンクス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イノベーター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アーリー・アダプター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アーリーマジョリティー </a:t>
            </a:r>
            <a:r>
              <a:rPr sz="900">
                <a:solidFill>
                  <a:srgbClr val="FFFFFF"/>
                </a:solidFill>
                <a:latin typeface="IBM Plex Sans"/>
              </a:rPr>
              <a:t/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フォロワー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後発組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市場シェア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ワイアード・マガジン(1993年、5月／6月号）。理由ある反逆者たち（あなたのプライバシー）.Wired,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1(4).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/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(1988).暗号アナキスト宣言。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P.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(1996).サイバースペースの独立宣言。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(1993).サイファーパンク宣言。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画像出典：Cliffr2「Bitcoin and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the Rise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of Cypherpunks」（インフォグラフィック）。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あなたのニンジンを金で買いたい。そうすれば、その金を将来の商品のための蓄えとして持っておくことができる。 </a:t>
            </a:r>
            <a:r>
              <a:rPr sz="1600"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私のニンジンが腐る前に、誰か物々交換してくれないかな。腐らない金と交換できるかもしれない！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おいしいニンジンが欲しい人は？ニンジン1本につき金貨1枚！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価値の保存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交換媒体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アカウント単位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貨幣印刷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購買力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信頼の喪失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通貨崩壊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インフレ率の上昇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復興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「腹が減った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流通ビットコイン数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ブロックごとの通貨創出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ブロック数（千）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/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年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ビットコイン（百万）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/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鉱夫増員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ブロック数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少ない時間×ブロック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より困難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少ないブロック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再び10分/ブロック </a:t>
            </a:r>
            <a:r>
              <a:rPr sz="1100">
                <a:solidFill>
                  <a:srgbClr val="FFFFFF"/>
                </a:solidFill>
                <a:latin typeface="IBM Plex Sans"/>
              </a:rPr>
              <a:t/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ビットコインアドレス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1対2のマルチシグ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盗難の危険性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盗難リスクの低さ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盗難の危険性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盗難リスクの低さ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シングル・シグ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カストディアル・ウォレット／取引所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3/5マルチシグ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2対3のマルチシグ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ミニスクリプト・ウォレット（タイムロック付き）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2-of-2 マルチシグ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パスフレーズ付きシングル・シグ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孫のために相続対策をしています！ </a:t>
            </a:r>
            <a:r>
              <a:rPr sz="1200"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出典Nakamoto, S. (2008, October 31).「Bitcoin P2P e-cash paper," 暗号メーリングリスト.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(2008).ビットコイン：ピアツーピアの電子キャッシュシステム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ビットコイン創世記ブロック（ブロック0）、2009年1月3日にサトシ・ナカモトによって採掘された。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参照：https://www.blockchain.com/explorer/blocks/btc/0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/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タイムズ紙(2009年1月3日）.首相、銀行救済第二弾の瀬戸際。The Times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(London), p.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[@halfin].(2009, 1月 11).ビットコインの運営 [ツイート]。ツイッター.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[laszlo].(2010, 5月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18).ビットコインでピザ？Bitcointalk.org.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&amp; Gilly,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T. (2021).サトシ・ナカモト像[Statue]。グラフィソフトパーク、ブダペスト、ハンガリー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"サトシギャラリーのヴァレンティーナ・ピコッツィによる「サトシ・ナカモト」。スイス、ルガーノ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/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取引：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ビットコインノードの様々な例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ビットコインノードの世界的な分布。 </a:t>
            </a:r>
            <a:r>
              <a:rPr sz="1200" i="1" u="none" lang="fr-FR">
                <a:latin typeface="IBM Plex Sans"/>
              </a:rPr>
              <a:t/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鉱夫増員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ブロック数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少ない時間×ブロック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より困難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少ないブロック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再び10分/ブロック </a:t>
            </a:r>
            <a:r>
              <a:rPr sz="1100">
                <a:solidFill>
                  <a:srgbClr val="FFFFFF"/>
                </a:solidFill>
                <a:latin typeface="IBM Plex Sans"/>
              </a:rPr>
              <a:t/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ビットマンのビットメインS9マイナーとマイニング施設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/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トータル・ハッシュ・レート（TH/s）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トータル・ハッシュ・レート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市場価格（米ドル）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年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ハッシュレート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10分／1ブロック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7日間／1000ブロック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時間／ブロック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勝利に導く連携攻撃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無秩序な攻撃が敗北を招く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裏切り者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裏切り者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裏切り者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裏切り者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S9採掘機が家庭用ヒーターに変身。DecouvreBitcoinによる「Attakaï」プロジェクト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タダとは驚きだ！本当にありがとう！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待てよ、その金はどこから？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落ち着け！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冗談じゃない！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パリのストリートアート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標準偏差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日次リターンの </a:t>
            </a:r>
            <a:r>
              <a:rPr sz="1400">
                <a:solidFill>
                  <a:schemeClr val="bg1"/>
                </a:solidFill>
                <a:latin typeface="IBM Plex Sans"/>
              </a:rPr>
              <a:t/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60日ビットコイン・ボラティリティ指数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年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BTC/USD のボラティリティ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金/米ドルのボラティリティ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EUR/USD のボラティリティ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バブルだ。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バブルだ。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バブルだ。 </a:t>
            </a:r>
            <a:r>
              <a:rPr sz="700" b="1">
                <a:latin typeface="IBM Plex Sans"/>
              </a:rPr>
              <a:t/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バブルだ。 </a:t>
            </a:r>
            <a:r>
              <a:rPr sz="900" b="1">
                <a:latin typeface="IBM Plex Sans"/>
              </a:rPr>
              <a:t/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ビットコインを受け入れるBTCmap加盟店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マーチャント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給与所得者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起業家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BTCにおける循環型経済 </a:t>
            </a:r>
            <a:r>
              <a:rPr sz="1400">
                <a:solidFill>
                  <a:srgbClr val="E39C17"/>
                </a:solidFill>
                <a:latin typeface="IBM Plex Sans"/>
              </a:rPr>
              <a:t/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寄付金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超ビットコイン化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ビットコイン・スタンダード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離陸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サイファーパンクス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イノベーター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アーリー・アダプター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アーリーマジョリティー </a:t>
            </a:r>
            <a:r>
              <a:rPr sz="900">
                <a:solidFill>
                  <a:srgbClr val="FFFFFF"/>
                </a:solidFill>
                <a:latin typeface="IBM Plex Sans"/>
              </a:rPr>
              <a:t/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フォロワー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後発組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市場シェア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ファイル転送プロトコル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伝送制御プロトコル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ユーザーデータグラムプロトコル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電子メール送信プロトコル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インターネットプロトコル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ファイル転送プロトコル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ウェブ・ブラウザ・プロトコル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暗号画像のセキュリティ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ドメインネームシステム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マネー・プロトコル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アリスとボブのチャンネル交換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LNチャンネル開設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/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LNチャンネル閉鎖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/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地方分権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セキュリティ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スケーラビリティ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ルーティングホップ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ルーティング・ノード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開幕時のチャンネル状況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/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閉鎖時のチャンネル状況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/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ゲームエントリー500サッツ </a:t>
            </a:r>
            <a:r>
              <a:rPr b="0">
                <a:solidFill>
                  <a:srgbClr val="000000"/>
                </a:solidFill>
                <a:latin typeface="IBM Plex Sans"/>
              </a:rPr>
              <a:t/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コンサルタント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質問は？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プレミアム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ライトニング・ネットワークのおかげで、遠隔地からいろいろなことができるようになった。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1サットのメッセージを送ってください。スパムはもういらない！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