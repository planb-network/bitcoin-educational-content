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Takeoff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Innovators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Early adopters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Early </a:t>
            </a:r>
            <a:r>
              <a:rPr sz="900">
                <a:solidFill>
                  <a:srgbClr val="FFFFFF"/>
                </a:solidFill>
                <a:latin typeface="IBM Plex Sans"/>
              </a:rPr>
              <a:t>majority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Followers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Latecomers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Market Share Percentage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May/June).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Rebels with a Cause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(Your Privacy).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The Crypto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Anarchist Manifesto.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 Declaration of the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Independence of Cyberspace.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Cypherpunk’s Manifesto.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Image source: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I want to buy your </a:t>
            </a:r>
            <a:r>
              <a:rPr sz="1600" lang="fr-FR">
                <a:latin typeface="IBM Plex Sans"/>
              </a:rPr>
              <a:t>carrots for gold. Then, you </a:t>
            </a:r>
            <a:r>
              <a:rPr sz="1600">
                <a:latin typeface="IBM Plex Sans"/>
              </a:rPr>
              <a:t>could keep the gold </a:t>
            </a:r>
            <a:r>
              <a:rPr sz="1600" lang="fr-FR">
                <a:latin typeface="IBM Plex Sans"/>
              </a:rPr>
              <a:t>as a store of </a:t>
            </a:r>
            <a:r>
              <a:rPr sz="1600">
                <a:latin typeface="IBM Plex Sans"/>
              </a:rPr>
              <a:t>value for future goods.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I hope someone wants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to barter my carrots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before they rot. Perhaps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I can exchange them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for gold, which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will not spoil!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Who wants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some good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carrots? Only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gold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piece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carrot!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Store of value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Medium of exchange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Unit of account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Monetary printing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Purchasing power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Loss of trust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Currency collapse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Higher inflation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Reconstruction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“We are hungry!”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Number of bitcoins in circulation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Monetary creation per block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Blocks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(thousands)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Years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(millions)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more miners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more blocks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less time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more difficulty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less blocks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min/block </a:t>
            </a:r>
            <a:r>
              <a:rPr sz="1100">
                <a:solidFill>
                  <a:srgbClr val="FFFFFF"/>
                </a:solidFill>
                <a:latin typeface="IBM Plex Sans"/>
              </a:rPr>
              <a:t>again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 address: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High Risk of Theft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Low Risk of Theft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High Risk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of Theft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Low Risk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of Theft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Custodial wallets/exchanges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3-of-5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 wallet (with timelocks)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Single-sig with passphrase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I am </a:t>
            </a:r>
            <a:r>
              <a:rPr sz="1200">
                <a:latin typeface="IBM Plex Sans"/>
              </a:rPr>
              <a:t>preparing an </a:t>
            </a:r>
            <a:r>
              <a:rPr sz="1200">
                <a:latin typeface="IBM Plex Sans"/>
              </a:rPr>
              <a:t>inheritance plan </a:t>
            </a:r>
            <a:r>
              <a:rPr sz="1200" lang="fr-FR">
                <a:latin typeface="IBM Plex Sans"/>
              </a:rPr>
              <a:t>for my </a:t>
            </a:r>
            <a:r>
              <a:rPr sz="1200">
                <a:latin typeface="IBM Plex Sans"/>
              </a:rPr>
              <a:t>grand children!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Source: Nakamoto, S. (2008, October 31). 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Peer-to-Peer Electronic Cash System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mined by Satoshi Nakamoto on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January 3, 2009. See: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January 3). Chancellor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on brink of second bailout for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banks. The Times (London),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January 11). Running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May 18).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for bitcoins?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 statue [Statue].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Budapest, Hungary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» by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from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Switzerland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Transaction: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Various exemple of bitcoin node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Worldwide distribution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Bitcoin </a:t>
            </a:r>
            <a:r>
              <a:rPr sz="1200" i="1" u="none" lang="fr-FR">
                <a:latin typeface="IBM Plex Sans"/>
              </a:rPr>
              <a:t>Nodes.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more miners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more blocks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less time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more difficulty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less blocks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min/block </a:t>
            </a:r>
            <a:r>
              <a:rPr sz="1100">
                <a:solidFill>
                  <a:srgbClr val="FFFFFF"/>
                </a:solidFill>
                <a:latin typeface="IBM Plex Sans"/>
              </a:rPr>
              <a:t>again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 by Bitman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&amp; a mining facility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Total Hash Rate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Total Hash Rate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Market Price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Year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block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days / 1000 blocks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time/blocks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Coordinated Attack Leading to Victory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Uncoordinated Attack Leading to Defeat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Traitor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Traitor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Traitor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Traitor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An S9 miner transformed as a home heater. ‘Attakaï’ project by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Free money,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that’s amazing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!! Thank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you so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much!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Wait! Where do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you get all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that money from?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Slow down!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Are you kidding me?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This is insane!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Street art in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Standard Deviation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of Daily </a:t>
            </a:r>
            <a:r>
              <a:rPr sz="1400">
                <a:solidFill>
                  <a:schemeClr val="bg1"/>
                </a:solidFill>
                <a:latin typeface="IBM Plex Sans"/>
              </a:rPr>
              <a:t>returns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60-Day Bitcoin Volatility Index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Year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Volatility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Gold/USD Volatility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Volatility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IT’S A </a:t>
            </a:r>
            <a:r>
              <a:rPr sz="900" b="1">
                <a:latin typeface="IBM Plex Sans"/>
              </a:rPr>
              <a:t>BUBBLE.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IT’S A </a:t>
            </a:r>
            <a:r>
              <a:rPr sz="900" b="1">
                <a:latin typeface="IBM Plex Sans"/>
              </a:rPr>
              <a:t>BUBBLE.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IT’S A </a:t>
            </a:r>
            <a:r>
              <a:rPr sz="700" b="1">
                <a:latin typeface="IBM Plex Sans"/>
              </a:rPr>
              <a:t>BUBBLE.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IT’S A </a:t>
            </a:r>
            <a:r>
              <a:rPr sz="900" b="1">
                <a:latin typeface="IBM Plex Sans"/>
              </a:rPr>
              <a:t>BUBBLE.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 merchant accepting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Merchants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Salaried workers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Entrepreneurs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Circular Economy </a:t>
            </a:r>
            <a:r>
              <a:rPr sz="1400">
                <a:solidFill>
                  <a:srgbClr val="E39C17"/>
                </a:solidFill>
                <a:latin typeface="IBM Plex Sans"/>
              </a:rPr>
              <a:t>in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Donations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Takeoff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Innovators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Early adopters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Early </a:t>
            </a:r>
            <a:r>
              <a:rPr sz="900">
                <a:solidFill>
                  <a:srgbClr val="FFFFFF"/>
                </a:solidFill>
                <a:latin typeface="IBM Plex Sans"/>
              </a:rPr>
              <a:t>majority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Followers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Latecomers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Market Share Percentage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Transmission Control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User Datagram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E-mail Transmission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File Transfer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 Browser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Crypto-graphic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Security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Domain Name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System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Money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 and Bob’s channel exchanges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Channel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Opening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Channel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Closure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Decentralization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Security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Scalability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 hops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 Node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Channel status at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the opening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Channel status at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the closure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Game Entry: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Consultancy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Questions!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also allows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us to do many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things from remote.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Send me 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message for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 No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more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