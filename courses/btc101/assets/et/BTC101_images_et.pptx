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Bitcoini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Start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Uuendajad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Varajased kasutuselevõtjad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Varajane </a:t>
            </a:r>
            <a:r>
              <a:rPr sz="900">
                <a:solidFill>
                  <a:srgbClr val="FFFFFF"/>
                </a:solidFill>
                <a:latin typeface="IBM Plex Sans"/>
              </a:rPr>
              <a:t>enamus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Jälgijad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Hilinejad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Turuosa protsent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mai/juuni). Rebels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with a Cause (Teie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eraelu puutumatus).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C. (1988).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Krüptoanarhistlik manifest.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P.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Küberruumi iseseisvusdeklaratsioon.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Cypherpunki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Pildi allikas: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ja Cypherpunks'i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tõus (Infograafik).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Ma tahan osta </a:t>
            </a:r>
            <a:r>
              <a:rPr sz="1600" lang="fr-FR">
                <a:latin typeface="IBM Plex Sans"/>
              </a:rPr>
              <a:t>teie porgandid kulla </a:t>
            </a:r>
            <a:r>
              <a:rPr sz="1600">
                <a:latin typeface="IBM Plex Sans"/>
              </a:rPr>
              <a:t>eest. Siis võiksite </a:t>
            </a:r>
            <a:r>
              <a:rPr sz="1600" lang="fr-FR">
                <a:latin typeface="IBM Plex Sans"/>
              </a:rPr>
              <a:t>hoida kulda tulevaste </a:t>
            </a:r>
            <a:r>
              <a:rPr sz="1600">
                <a:latin typeface="IBM Plex Sans"/>
              </a:rPr>
              <a:t>kaupade väärtuse varuks.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Ma loodan, et keegi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tahab mu porgandeid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enne mädanemist vahetada.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Võib-olla saan neid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vahetada kulla vastu,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mis ei rikne!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Kes tahab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häid porgandeid?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Ainult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kullatükk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porgandi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kohta!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Väärtuse säilitamine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Vahetusvahend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Arvestusüksus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Rahaprintimine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Ostujõud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Usalduse kaotamine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Valuuta kokkuvarisemine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Kõrgem inflatsioon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Rekonstrueerimine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"Me oleme näljased!"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Ringluses olevate bitcoinide arv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Rahaline loomine ploki kohta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Plokid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(tuhandetes)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Aastad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Bitcoine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(miljonites)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rohkem kaevureid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rohkem plokke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vähem aega x plokk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rohkem raskusi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vähem plokke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min/plokk </a:t>
            </a:r>
            <a:r>
              <a:rPr sz="1100">
                <a:solidFill>
                  <a:srgbClr val="FFFFFF"/>
                </a:solidFill>
                <a:latin typeface="IBM Plex Sans"/>
              </a:rPr>
              <a:t>uuesti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Bitcoini aadress: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Kõrge varguse oht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Väike varguse oht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Kõrge varguse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oht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Väike varguse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oht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Üksik-sig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Halduskontod/vahetuskohad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3-of-5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Miniskriptide rahakott (koos ajamärkidega)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Ühe signeeringuga koos parooliga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Ma valmistan </a:t>
            </a:r>
            <a:r>
              <a:rPr sz="1200">
                <a:latin typeface="IBM Plex Sans"/>
              </a:rPr>
              <a:t>oma </a:t>
            </a:r>
            <a:r>
              <a:rPr sz="1200">
                <a:latin typeface="IBM Plex Sans"/>
              </a:rPr>
              <a:t>lapselastele </a:t>
            </a:r>
            <a:r>
              <a:rPr sz="1200" lang="fr-FR">
                <a:latin typeface="IBM Plex Sans"/>
              </a:rPr>
              <a:t>pärimisplaani </a:t>
            </a:r>
            <a:r>
              <a:rPr sz="1200">
                <a:latin typeface="IBM Plex Sans"/>
              </a:rPr>
              <a:t>ette!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Allikas: Nakamoto, S. (2008, oktoober 31). "Bitcoin P2P e-raha paber,"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vastastikune elektrooniline rahasüsteem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mille kaevandas Satoshi Nakamoto 3.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jaanuaril 2009. Vt: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3. jaanuar). Kantsler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on pankade teise päästepaketi äärel.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(London), lk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jaanuar 11). Bitcoini käivitamine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18. mai).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bitcoinide eest?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 kuju [Statue].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Budapest, Ungari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by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from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Šveits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Tehing: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Erinevad näide Bitcoin sõlme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Bitcoini sõlmede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ülemaailmne </a:t>
            </a:r>
            <a:r>
              <a:rPr sz="1200" i="1" u="none" lang="fr-FR">
                <a:latin typeface="IBM Plex Sans"/>
              </a:rPr>
              <a:t>levitamine.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rohkem kaevureid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rohkem plokke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vähem aega x plokk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rohkem raskusi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vähem plokke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min/plokk </a:t>
            </a:r>
            <a:r>
              <a:rPr sz="1100">
                <a:solidFill>
                  <a:srgbClr val="FFFFFF"/>
                </a:solidFill>
                <a:latin typeface="IBM Plex Sans"/>
              </a:rPr>
              <a:t>uuesti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bitmani bitmain S9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kaevandaja ja kaevandamisrajatis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Kogu sahtlisagedus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Kokku Hash määr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Turuhind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Aasta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plokk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päeva / 1000 plokki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aeg/plokid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Kooskõlastatud rünnak, mis viib võiduni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Koordineerimata rünnak, mis viib lüüasaamisele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Reetur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Reetur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Reetur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Reetur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S9 kaevur, mis on ümber ehitatud kodukütteks. 'Attakaï' projekt DecouvreBitcoini poolt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Tasuta raha,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see on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hämmastav! Tänan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teid nii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palju!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Oot! Kust sa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kogu selle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raha võtad?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Aeglaselt!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Kas sa teed nalja?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See on hullumeelne!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Tänavakunst Pariisis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Standardhälve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päevase tootluse </a:t>
            </a:r>
            <a:r>
              <a:rPr sz="1400">
                <a:solidFill>
                  <a:schemeClr val="bg1"/>
                </a:solidFill>
                <a:latin typeface="IBM Plex Sans"/>
              </a:rPr>
              <a:t>kohta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60-päevane Bitcoini volatiilsuse indeks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Aasta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volatiilsus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Kuld/USD volatiilsus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volatiilsus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SEE ON </a:t>
            </a:r>
            <a:r>
              <a:rPr sz="900" b="1">
                <a:latin typeface="IBM Plex Sans"/>
              </a:rPr>
              <a:t>MULL.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SEE ON </a:t>
            </a:r>
            <a:r>
              <a:rPr sz="900" b="1">
                <a:latin typeface="IBM Plex Sans"/>
              </a:rPr>
              <a:t>MULL.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SEE ON </a:t>
            </a:r>
            <a:r>
              <a:rPr sz="700" b="1">
                <a:latin typeface="IBM Plex Sans"/>
              </a:rPr>
              <a:t>MULL.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SEE ON </a:t>
            </a:r>
            <a:r>
              <a:rPr sz="900" b="1">
                <a:latin typeface="IBM Plex Sans"/>
              </a:rPr>
              <a:t>MULL.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 kaupmees, kes aktsepteerib Bitcoini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Kaupmehed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Palgatöötajad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Ettevõtjad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Ringmajandus </a:t>
            </a:r>
            <a:r>
              <a:rPr sz="1400">
                <a:solidFill>
                  <a:srgbClr val="E39C17"/>
                </a:solidFill>
                <a:latin typeface="IBM Plex Sans"/>
              </a:rPr>
              <a:t>BTC-s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Annetused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Bitcoini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Start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Uuendajad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Varajased kasutuselevõtjad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Varajane </a:t>
            </a:r>
            <a:r>
              <a:rPr sz="900">
                <a:solidFill>
                  <a:srgbClr val="FFFFFF"/>
                </a:solidFill>
                <a:latin typeface="IBM Plex Sans"/>
              </a:rPr>
              <a:t>enamus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Jälgijad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Hilinejad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Turuosa protsent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Edastuse kontrolli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protokoll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Kasutaja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andmeprotokoll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E-posti edastamise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Interneti-protokoll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Failiülekande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Veebilehitseja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Krüptograafiline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turvalisus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Domeeninimede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süsteem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Rahaprotokoll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Alice'i ja Bobi kanalivahetused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kanali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avamine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kanali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sulgemine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Detsentraliseerimine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Turvalisus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Skaleeritavus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Marsruutimise hüpped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Marsruudi sõlme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Kanali staatus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avamisel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Kanali staatus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sulgemisel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Mängu sisenemine: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Konsultatsioonid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Küsimused!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võimaldab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meil teha paljusid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asju ka eemalt.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Saada mulle sõnum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1 sat.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Rohkem rämpsposti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ei ole!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