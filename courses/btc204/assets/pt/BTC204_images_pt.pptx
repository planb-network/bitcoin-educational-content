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Banking system confidentiality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 privacy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Identity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200" b="1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Common property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 sz="1200">
                <a:solidFill/>
                <a:latin typeface="IBM Plex Sans"/>
                <a:ea typeface="IBM Plex Sans"/>
                <a:cs typeface="IBM Plex Sans"/>
              </a:rPr>
              <a:t>International word 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Customer’s bank account:</a:t>
            </a:r>
            <a:endParaRPr sz="1400"/>
          </a:p>
          <a:p>
            <a:pPr algn="ctr">
              <a:lnSpc>
                <a:spcPts val="4898"/>
              </a:lnSpc>
              <a:defRPr/>
            </a:pPr>
            <a:endParaRPr sz="1400"/>
          </a:p>
          <a:p>
            <a:pPr algn="ctr">
              <a:lnSpc>
                <a:spcPts val="4898"/>
              </a:lnSpc>
              <a:defRPr/>
            </a:pPr>
            <a:r>
              <a:rPr lang="en-US"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1 245 €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Baker’s bank account: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  <a:defRPr/>
            </a:pPr>
            <a:endParaRPr sz="1400"/>
          </a:p>
          <a:p>
            <a:pPr algn="ctr">
              <a:lnSpc>
                <a:spcPts val="4898"/>
              </a:lnSpc>
              <a:defRPr/>
            </a:pPr>
            <a:r>
              <a:rPr lang="en-US"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47 412 €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lang="en-US" sz="225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</a:t>
            </a:r>
            <a:r>
              <a:rPr>
                <a:solidFill/>
                <a:latin typeface="IBM Plex Sans"/>
                <a:ea typeface="IBM Plex Sans"/>
                <a:cs typeface="IBM Plex Sans"/>
              </a:rPr>
              <a:t> </a:t>
            </a:r>
            <a:r>
              <a:rPr lang="en-US" sz="225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Transaction 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UTXOs used for spending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UTXOs created for the  recipients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It allows you to sign to satisfy the script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 script is created to lock 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  <a:ea typeface="IBM Plex Sans"/>
                <a:cs typeface="IBM Plex Sans"/>
              </a:rPr>
              <a:t>Public Key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  <a:ea typeface="IBM Plex Sans"/>
                <a:cs typeface="IBM Plex Sans"/>
              </a:rPr>
              <a:t>Private Key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lang="en-US" sz="3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Bitcoin Wallet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lang="en-US" sz="245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</a:t>
            </a:r>
            <a:r>
              <a:rPr lang="en-US" sz="245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 Transaction 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script is satisfied to spend the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New UTXOs created and locked with 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new scripts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Alice's UTXO is spent to satisfy the payment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An UTXO is created to pay the baker for bread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 change UTXO returns to Alice's wallet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 merges 2 UTXOs into inputs to meet payment needs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An UTXO is created to pay the baker for bread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 change UTXO returns to Alice's wallet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Alice's UTXO is spent to satisfy the payment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An UTXO is created to pay the baker for bread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 change UTXO returns to Alice's wallet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Transaction fee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lang="en-US" sz="35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lang="en-US" sz="35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lang="en-US" sz="35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Banking system confidentiality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Customer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Neighbor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lang="en-US" sz="24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Banker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Banking system confidentiality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 privacy model: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Public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Public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Transactions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Identities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Neighbor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Customer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Baker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lang="en-US" sz="22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Blockchain monitoring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lang="en-US" sz="160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inputs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lang="en-US" sz="160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outputs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lang="en-US" sz="22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Features identification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lang="en-US" sz="22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Hypothesis deduction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lang="en-US" sz="22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lang="en-US" sz="22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Bitcoin: A Peer-to-Peer Electronic Cash System</a:t>
            </a: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, Section 10: Privacy.</a:t>
            </a:r>
            <a:b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</a:b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Available at: </a:t>
            </a:r>
            <a:r>
              <a:rPr lang="en-US" sz="1200" b="0" i="1" u="sng" strike="noStrike" cap="none" spc="0">
                <a:solidFill>
                  <a:schemeClr val="hlink"/>
                </a:solidFill>
                <a:latin typeface="IBM Plex Sans"/>
                <a:ea typeface="IBM Plex Sans"/>
                <a:cs typeface="IBM Plex Sans"/>
                <a:hlinkClick r:id="rId4" tooltip=""/>
              </a:rPr>
              <a:t>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Simple payment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Sweeping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Consolidation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lang="en-US" sz="22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fr-FR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Batched paiement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Collaborative 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UTXO belonging to the tracked user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Which output </a:t>
            </a: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represents </a:t>
            </a: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change? 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Internal address reuse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Reuse of versioning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Round number payments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Round number payments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fr-FR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L</a:t>
            </a: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argest output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2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Common owner of all the UTXOs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Bitcoin: A Peer-to-Peer Electronic Cash System</a:t>
            </a: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, Section 10: Privacy.</a:t>
            </a:r>
            <a:b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</a:b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Available at: </a:t>
            </a:r>
            <a:r>
              <a:rPr lang="en-US" sz="1200" b="0" i="1" u="sng" strike="noStrike" cap="none" spc="0">
                <a:solidFill>
                  <a:schemeClr val="hlink"/>
                </a:solidFill>
                <a:latin typeface="IBM Plex Sans"/>
                <a:ea typeface="IBM Plex Sans"/>
                <a:cs typeface="IBM Plex Sans"/>
                <a:hlinkClick r:id="rId4" tooltip=""/>
              </a:rPr>
              <a:t>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2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Common sender for all transactions?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Bitcoin: A Peer-to-Peer Electronic Cash System</a:t>
            </a: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, Section 10: Privacy.</a:t>
            </a:r>
            <a:b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</a:b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Available at: </a:t>
            </a:r>
            <a:r>
              <a:rPr lang="en-US" sz="1200" b="0" i="1" u="sng" strike="noStrike" cap="none" spc="0">
                <a:solidFill>
                  <a:schemeClr val="hlink"/>
                </a:solidFill>
                <a:latin typeface="IBM Plex Sans"/>
                <a:ea typeface="IBM Plex Sans"/>
                <a:cs typeface="IBM Plex Sans"/>
                <a:hlinkClick r:id="rId4" tooltip=""/>
              </a:rPr>
              <a:t>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Transaction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lang="en-US" sz="1600" b="1" i="0" u="none" strike="noStrike" cap="none" spc="0">
                <a:solidFill>
                  <a:schemeClr val="bg1"/>
                </a:solidFill>
                <a:latin typeface="IBM Plex Sans"/>
                <a:ea typeface="IBM Plex Sans"/>
                <a:cs typeface="IBM Plex Sans"/>
              </a:rPr>
              <a:t>Classic spending public key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Bitcoin: A Peer-to-Peer Electronic Cash System</a:t>
            </a: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, Section 10: Privacy.</a:t>
            </a:r>
            <a:b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</a:br>
            <a:r>
              <a:rPr sz="1200" b="0" i="1" u="non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Available at: </a:t>
            </a:r>
            <a:r>
              <a:rPr lang="en-US" sz="1200" b="0" i="1" u="sng" strike="noStrike" cap="none" spc="0">
                <a:solidFill>
                  <a:schemeClr val="hlink"/>
                </a:solidFill>
                <a:latin typeface="IBM Plex Sans"/>
                <a:ea typeface="IBM Plex Sans"/>
                <a:cs typeface="IBM Plex Sans"/>
                <a:hlinkClick r:id="rId4" tooltip=""/>
              </a:rPr>
              <a:t>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2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Common owner of all the UTXOs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Internal address reuse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8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rabbit satoshi pizza math smile valley egg piano holiday autumn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Change for </a:t>
            </a: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sofa purchase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Exchange.com withdrawal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Client David </a:t>
            </a: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payment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</a:t>
            </a: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omputer purchase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P2P Purchase from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Wallet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lang="en-US" sz="2200" b="1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Labels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lang="en-US" sz="2200" b="1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P2P Purchase from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Payment to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NO KYC - </a:t>
            </a: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Change for sofa purchase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KYC - </a:t>
            </a: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Exchange.com withdrawal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KYC - </a:t>
            </a: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Client David payment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NO KYC - </a:t>
            </a: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Computer purchase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NO KYC - </a:t>
            </a: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P2P Purchase from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Wallet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lang="en-US" sz="2200" b="1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Labels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lang="en-US" sz="2200" b="1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NO KYC -</a:t>
            </a:r>
            <a:r>
              <a:rPr lang="en-US" sz="14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P2P Purchase from 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lang="en-US" sz="14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KYC - Payment to client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lang="en-US"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 i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lang="en-US" sz="2600" b="1" i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lang="en-US" sz="2600" b="1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lang="en-US" sz="2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fr-FR" sz="2000">
                <a:solidFill/>
                <a:latin typeface="IBM Plex Sans"/>
                <a:ea typeface="IBM Plex Sans"/>
                <a:cs typeface="IBM Plex Sans"/>
              </a:rPr>
              <a:t>Averagerage expenses in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lang="en-US" sz="1400" b="1" i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lang="en-US" sz="1400" b="1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Banking system confidentiality model: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 privacy model: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Counterpart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Public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Identities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Public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Transactions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Identities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lang="en-US" sz="16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UTXO used for 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  <a:defRPr/>
            </a:pPr>
            <a:r>
              <a:rPr lang="en-US" sz="16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coinjoin cycles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lang="en-US" sz="16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Mining costs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lang="en-US" sz="16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Equalized UTXOs ready for mixing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lang="en-US" sz="16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Doxxic change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lang="en-US" sz="16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Service fees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lang="en-US" sz="18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analyst knows 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  <a:defRPr/>
            </a:pPr>
            <a:r>
              <a:rPr lang="en-US" sz="18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this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lang="en-US" sz="18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analyst wants 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  <a:defRPr/>
            </a:pPr>
            <a:r>
              <a:rPr lang="en-US" sz="18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to find this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analyst knows 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this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analyst wants 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to find this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000" i="1" u="none" strike="noStrik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analyst knows 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000" i="1" u="none" strike="noStrike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this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analyst faces a group of UTXOs 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that may match the search</a:t>
            </a:r>
            <a:endParaRPr sz="2000" i="1" u="none" strike="noStrike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lang="en-US" sz="16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lang="en-US" sz="16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analyst faces a group </a:t>
            </a:r>
            <a:r>
              <a:rPr lang="en-US" sz="16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of UTXOs </a:t>
            </a:r>
            <a:r>
              <a:rPr lang="en-US" sz="16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that may be the source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lang="en-US" sz="1600" b="1" u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lang="en-US" sz="160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analyst knows</a:t>
            </a:r>
            <a:r>
              <a:rPr lang="fr-FR" sz="160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 </a:t>
            </a:r>
            <a:r>
              <a:rPr lang="en-US" sz="160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this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lang="en-US" sz="16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Probable source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lang="en-US" sz="16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42 185 sources...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Payment amount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lang="en-US" sz="24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Actual payment of 4,000 sats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issuer carries out 4 transactions towards </a:t>
            </a:r>
            <a:r>
              <a:rPr lang="fr-FR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himself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lang="en-US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issuer carries out 4 transactions towards </a:t>
            </a:r>
            <a:r>
              <a:rPr lang="fr-FR" sz="2000" b="0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himself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last transaction is used to pay the final recipient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It's not them anymore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They are my customer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It's probably them again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Are they still my customer?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lang="en-US" sz="20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The coinjoin is not from my customer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lang="en-US" sz="315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lang="en-US" sz="315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lang="en-US" sz="315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lang="en-US" sz="315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lang="en-US" sz="315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lang="en-US" sz="315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lang="en-US" sz="2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lang="en-US" sz="2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lang="en-US" sz="2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lang="en-US" sz="2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lang="en-US" sz="1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lang="en-US" sz="1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400" i="1">
                <a:solidFill/>
                <a:latin typeface="IBM Plex Sans"/>
                <a:ea typeface="IBM Plex Sans"/>
                <a:cs typeface="IBM Plex Sans"/>
              </a:rPr>
              <a:t>Exchanged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lang="en-US" sz="1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lang="en-US" sz="1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400" i="1">
                <a:solidFill/>
                <a:latin typeface="IBM Plex Sans"/>
                <a:ea typeface="IBM Plex Sans"/>
                <a:cs typeface="IBM Plex Sans"/>
              </a:rPr>
              <a:t>Exchanged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400" i="1">
                <a:solidFill/>
                <a:latin typeface="IBM Plex Sans"/>
                <a:ea typeface="IBM Plex Sans"/>
                <a:cs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>
                <a:solidFill/>
                <a:latin typeface="IBM Plex Sans"/>
                <a:ea typeface="IBM Plex Sans"/>
                <a:cs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>
                <a:solidFill/>
                <a:latin typeface="IBM Plex Sans"/>
                <a:ea typeface="IBM Plex Sans"/>
                <a:cs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>
                <a:solidFill/>
                <a:latin typeface="IBM Plex Sans"/>
                <a:ea typeface="IBM Plex Sans"/>
                <a:cs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>
                <a:solidFill/>
                <a:latin typeface="IBM Plex Sans"/>
                <a:ea typeface="IBM Plex Sans"/>
                <a:cs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600">
                <a:solidFill/>
                <a:latin typeface="IBM Plex Sans"/>
                <a:ea typeface="IBM Plex Sans"/>
                <a:cs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0x</a:t>
            </a:r>
            <a:r>
              <a:rPr lang="en-US" sz="20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01</a:t>
            </a: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00</a:t>
            </a:r>
            <a:r>
              <a:rPr lang="en-US" sz="20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02</a:t>
            </a: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a0716529bae6b36c5c9aa518a52f9c828b46ad8d907747f</a:t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0d09dcd4d9a39e97c</a:t>
            </a:r>
            <a:r>
              <a:rPr lang="en-US" sz="20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3c5f37c470c390d842f364086362f6122f412e</a:t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lang="en-US" sz="20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2b0c7e7fc6e32287e364a7a36a</a:t>
            </a:r>
            <a:r>
              <a:rPr lang="en-US" sz="20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00000000000000000000000000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lang="en-US" sz="18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Reserved for future use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lang="en-US" sz="1800" i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Chain code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lang="en-US" sz="18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Public key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lang="en-US" sz="18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 field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lang="en-US" sz="1800" i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Y Parity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lang="en-US" sz="1800" i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Version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0x47</a:t>
            </a:r>
            <a:r>
              <a:rPr lang="en-US" sz="24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01</a:t>
            </a: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00</a:t>
            </a:r>
            <a:r>
              <a:rPr lang="en-US" sz="24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02</a:t>
            </a: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a0716529bae6b36c5c9aa518a52f9c828b46ad8d90774</a:t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endParaRPr/>
          </a:p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7f0d09dcd4d9a39e97c</a:t>
            </a:r>
            <a:r>
              <a:rPr lang="en-US" sz="24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3c5f37c470c390d842f364086362f6122f412</a:t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endParaRPr/>
          </a:p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lang="en-US" sz="24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e2b0c7e7fc6e32287e364a7a36a</a:t>
            </a:r>
            <a:r>
              <a:rPr lang="en-US" sz="2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00000000000000000000000000</a:t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endParaRPr/>
          </a:p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lang="en-US" sz="2400" b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567080c4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200" i="1">
                <a:solidFill>
                  <a:srgbClr val="FF5C00"/>
                </a:solidFill>
                <a:latin typeface="IBM Plex Sans"/>
                <a:ea typeface="IBM Plex Sans"/>
                <a:cs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lang="en-US" sz="22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Prefix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lang="en-US" sz="60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lang="en-US" sz="60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lang="en-US" sz="22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2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Exchange over an unsecured network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lang="en-US" sz="22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Shared secret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lang="en-US" sz="33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lang="en-US" sz="33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lang="en-US" sz="35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lang="en-US" sz="35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Common color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Secret colors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Public exchange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Secret colors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Notification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Transaction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lang="en-US" sz="60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lang="en-US" sz="60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lang="en-US" sz="16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“</a:t>
            </a:r>
            <a:r>
              <a:rPr lang="en-US" sz="1600" b="1" i="1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Hello! Here is my payment code. I will send you payments using BIP47.</a:t>
            </a:r>
            <a:r>
              <a:rPr lang="en-US" sz="1600" b="1" i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lang="en-US" sz="28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lang="en-US" sz="28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Bitcoin's classic privacy model: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Confidentiality model of the BIP47 payment codes: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lang="en-US" sz="28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lang="en-US" sz="28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lang="en-US" sz="20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lang="en-US" sz="20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Point G on the elliptic curve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lang="en-US" sz="16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Bob’s</a:t>
            </a: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 public key 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lang="en-US" sz="16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lang="en-US" sz="16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</a:t>
            </a: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’s private key 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lang="en-US" sz="16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Bob’s private key 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lang="en-US" sz="14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Unsecured public transmission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Bob’s public key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lang="en-US" sz="20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lang="en-US" sz="20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000000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lang="en-US" sz="180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Point G on the elliptic curve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Public key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lang="en-US" sz="16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</a:t>
            </a: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’s private key 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Bob’s private key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lang="en-US" sz="1400" i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Unsecured public transmission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Shared secret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lvl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lang="en-US" sz="1600" b="1" i="0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Alice’s public key</a:t>
            </a:r>
            <a:endParaRPr sz="1600">
              <a:latin typeface="IBM Plex Sans"/>
              <a:cs typeface="IBM Plex Sans"/>
            </a:endParaRPr>
          </a:p>
          <a:p>
            <a:pPr algn="r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FFFFFF">
                    <a:alpha val="74902"/>
                  </a:srgbClr>
                </a:solidFill>
                <a:latin typeface="IBM Plex Sans"/>
                <a:ea typeface="IBM Plex Sans"/>
                <a:cs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FFFFFF">
                    <a:alpha val="74902"/>
                  </a:srgbClr>
                </a:solidFill>
                <a:latin typeface="IBM Plex Sans"/>
                <a:ea typeface="IBM Plex Sans"/>
                <a:cs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lang="en-US" sz="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lang="en-US" sz="8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lang="en-US" sz="16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lang="en-US" sz="1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lang="en-US" sz="1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lang="en-US" sz="1850" b="1">
                <a:solidFill>
                  <a:srgbClr val="FFFFFF"/>
                </a:solidFill>
                <a:latin typeface="Rubik Bold"/>
                <a:ea typeface="Rubik Bold"/>
                <a:cs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Abscissa of the secret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Secret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Point G on the curve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Bob’s public key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rPr>
              <a:t>Bob’s private key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lang="en-US" sz="1400" b="1" i="0" u="none" strike="noStrike" cap="none" spc="0">
                <a:solidFill>
                  <a:schemeClr val="bg1"/>
                </a:solidFill>
                <a:latin typeface="IBM Plex Sans"/>
                <a:ea typeface="IBM Plex Sans"/>
                <a:cs typeface="IBM Plex Sans"/>
              </a:rPr>
              <a:t>Classic payment </a:t>
            </a:r>
            <a:r>
              <a:rPr lang="en-US" sz="1400" b="1" i="0" u="none" strike="noStrike" cap="none" spc="0">
                <a:solidFill>
                  <a:schemeClr val="bg1"/>
                </a:solidFill>
                <a:latin typeface="IBM Plex Sans"/>
                <a:ea typeface="IBM Plex Sans"/>
                <a:cs typeface="IBM Plex Sans"/>
              </a:rPr>
              <a:t>public key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