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privacy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property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/>
              </a:rPr>
              <a:t>International word 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>
                <a:solidFill/>
              </a:rPr>
              <a:t>Sat</a:t>
            </a:r>
            <a:r>
              <a:rPr lang="en-US">
                <a:solidFill/>
              </a:rPr>
              <a:t>s</a:t>
            </a:r>
            <a:r>
              <a:rPr lang="fr-FR">
                <a:solidFill/>
              </a:rPr>
              <a:t> or 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 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 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David’s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Emma’s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Customer’s bank account:</a:t>
            </a:r>
            <a:endParaRPr sz="1400"/>
          </a:p>
          <a:p>
            <a:pPr algn="ctr">
              <a:lnSpc>
                <a:spcPts val="4898"/>
              </a:lnSpc>
              <a:defRPr/>
            </a:pPr>
            <a:endParaRPr sz="1400"/>
          </a:p>
          <a:p>
            <a:pPr algn="ctr">
              <a:lnSpc>
                <a:spcPts val="4898"/>
              </a:lnSpc>
              <a:defRPr/>
            </a:pPr>
            <a:r>
              <a:rPr lang="en-US"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1 245 €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Baker’s bank account: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  <a:defRPr/>
            </a:pPr>
            <a:endParaRPr sz="1400"/>
          </a:p>
          <a:p>
            <a:pPr algn="ctr">
              <a:lnSpc>
                <a:spcPts val="4898"/>
              </a:lnSpc>
              <a:defRPr/>
            </a:pPr>
            <a:r>
              <a:rPr lang="en-US"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47 412 €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lang="en-US" sz="225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</a:t>
            </a:r>
            <a:r>
              <a:rPr>
                <a:solidFill/>
                <a:latin typeface="IBM Plex Sans"/>
                <a:ea typeface="IBM Plex Sans"/>
                <a:cs typeface="IBM Plex Sans"/>
              </a:rPr>
              <a:t> </a:t>
            </a:r>
            <a:r>
              <a:rPr lang="en-US" sz="225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UTXOs used for spending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UTXOs created for the  recipients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It allows you to sign to satisfy the script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script is created to lock 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Public Key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Private Key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Bitcoin Wallet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45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</a:t>
            </a:r>
            <a:r>
              <a:rPr lang="en-US" sz="245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Transaction 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4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4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100 000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script is satisfied to spend the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New UTXOs created and locked with 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new scripts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lang="en-US" sz="225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Alice's UTXO is spent to satisfy the payment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 UTXO is created to pay the baker for bread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change UTXO returns to Alice's wallet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 merges 2 UTXOs into inputs to meet payment needs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 UTXO is created to pay the baker for bread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change UTXO returns to Alice's wallet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Alice's UTXO is spent to satisfy the payment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 UTXO is created to pay the baker for bread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change UTXO returns to Alice's wallet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fee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Block Reward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  <a:defRPr/>
            </a:pPr>
            <a:endParaRPr sz="1200"/>
          </a:p>
          <a:p>
            <a:pPr algn="ctr">
              <a:lnSpc>
                <a:spcPts val="4071"/>
              </a:lnSpc>
              <a:defRPr/>
            </a:pP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  <a:defRPr/>
            </a:pP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  <a:defRPr/>
            </a:pPr>
            <a:endParaRPr sz="1200"/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45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Block subsidy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Transaction fees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Customer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Neighbor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Banker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Banking system confidentiality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privacy 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Neighbor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Customer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Baker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Blockchain monitoring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Features identification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Hypothesis deduction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Bitcoin: A Peer-to-Peer Electronic Cash System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Section 10: Privacy.</a:t>
            </a:r>
            <a:b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Available at: </a:t>
            </a:r>
            <a:r>
              <a:rPr lang="en-US" sz="1200" b="0" i="1" u="sng" strike="noStrike" cap="none" spc="0">
                <a:solidFill>
                  <a:schemeClr val="hlink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Simple payment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Sweeping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Consolidation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Grouped expenditure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Collaborative 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 belonging to the tracked user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Which output 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represents 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change?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Internal address reuse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Reuse of versioning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Round number payments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200 000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Round number payments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3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largest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owner of all the 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Bitcoin: A Peer-to-Peer Electronic Cash System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Section 10: Privacy.</a:t>
            </a:r>
            <a:b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Available at: </a:t>
            </a:r>
            <a:r>
              <a:rPr lang="en-US" sz="1200" b="0" i="1" u="sng" strike="noStrike" cap="none" spc="0">
                <a:solidFill>
                  <a:schemeClr val="hlink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sender for all transactions?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“sequence”: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“sequence”: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“sequence”: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Input Ownership Heuristic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Bitcoin: A Peer-to-Peer Electronic Cash System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Section 10: Privacy.</a:t>
            </a:r>
            <a:b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Available at: </a:t>
            </a:r>
            <a:r>
              <a:rPr lang="en-US" sz="1200" b="0" i="1" u="sng" strike="noStrike" cap="none" spc="0">
                <a:solidFill>
                  <a:schemeClr val="hlink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lang="en-US" sz="22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lang="en-US" sz="18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Tweaked public key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Classic spending public key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Merkle Root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Bitcoin: A Peer-to-Peer Electronic Cash System</a:t>
            </a: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Section 10: Privacy.</a:t>
            </a:r>
            <a:b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</a:br>
            <a:r>
              <a:rPr sz="12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Available at: </a:t>
            </a:r>
            <a:r>
              <a:rPr lang="en-US" sz="1200" b="0" i="1" u="sng" strike="noStrike" cap="none" spc="0">
                <a:solidFill>
                  <a:schemeClr val="hlink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owner of all the 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Internal address reuse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rabbit satoshi pizza math smile valley egg piano holiday autumn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lang="en-US" sz="18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Change for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sofa purchase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Exchange.com withdrawal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Client David </a:t>
            </a: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omputer purchase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P2P Purchase from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Labels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P2P Purchase from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to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 KYC -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Change for sofa purchase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 -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Exchange.com withdrawal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 -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Client David payment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 KYC -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Computer purchase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 KYC - 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P2P Purchase from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Labels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 KYC -</a:t>
            </a:r>
            <a:r>
              <a:rPr lang="en-US" sz="14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P2P Purchase from 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lang="en-US" sz="14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 - Payment to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Transaction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Transaction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Transaction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Transaction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lang="en-US" sz="2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lang="en-US" sz="2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000">
                <a:solidFill/>
                <a:latin typeface="IBM Plex Sans"/>
                <a:ea typeface="IBM Plex Sans"/>
                <a:cs typeface="IBM Plex Sans"/>
              </a:rPr>
              <a:t>Averagerage expenses in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lang="en-US" sz="14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lang="en-US" sz="14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Banking system confidentiality model: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privacy model: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Counterpart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Public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Identities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David’s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Emma’s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David’s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Emma’s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David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Frank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 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David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Frank</a:t>
            </a: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???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Eve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Mallory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Grace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 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Oscar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Victor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Mallory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Grace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Oscar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Victor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Mallory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Grace‘s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Oscar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Victor</a:t>
            </a: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blind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blind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blind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unblinded output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blind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unblinded output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unsigned 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 + blinded output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blind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unblinded output +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unsigned 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signature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pre-mix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lang="en-US" sz="20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CIOH</a:t>
            </a:r>
            <a:r>
              <a:rPr lang="en-US" sz="1950" b="1" i="1">
                <a:solidFill>
                  <a:srgbClr val="FF5C00"/>
                </a:solidFill>
                <a:latin typeface="Rubik Bold Italics"/>
                <a:ea typeface="Rubik Bold Italics"/>
                <a:cs typeface="Rubik Bold Italics"/>
              </a:rPr>
              <a:t>!</a:t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Incoming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Incoming </a:t>
            </a: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Purpose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 type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Accounts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Chains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 used for 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 cycles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Mining costs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Equalized UTXOs ready for mixing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Doxxic change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Service fees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premix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lang="en-US" sz="18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CIOH </a:t>
            </a:r>
            <a:r>
              <a:rPr lang="en-US" sz="1750" b="1" i="1">
                <a:solidFill>
                  <a:srgbClr val="FF5C00"/>
                </a:solidFill>
                <a:latin typeface="Rubik Bold Italics"/>
                <a:ea typeface="Rubik Bold Italics"/>
                <a:cs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i="1">
                <a:solidFill/>
                <a:latin typeface="IBM Plex Sans"/>
                <a:ea typeface="IBM Plex Sans"/>
                <a:cs typeface="IBM Plex Sans"/>
              </a:rPr>
              <a:t>Sparrow &amp; </a:t>
            </a:r>
            <a:r>
              <a:rPr lang="fr-FR" sz="1600" i="1">
                <a:solidFill/>
                <a:latin typeface="IBM Plex Sans"/>
                <a:ea typeface="IBM Plex Sans"/>
                <a:cs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before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after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knows 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this UTXO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wants 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to find this UTXO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before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after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  <a:defRPr/>
            </a:pPr>
            <a:r>
              <a:rPr lang="en-US" sz="2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knows 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this UTXO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wants 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to find this UTXO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before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2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marL="0" lvl="0" indent="0" algn="ctr">
              <a:lnSpc>
                <a:spcPts val="3781"/>
              </a:lnSpc>
              <a:spcBef>
                <a:spcPts val="0"/>
              </a:spcBef>
              <a:defRPr/>
            </a:pPr>
            <a:r>
              <a:rPr lang="en-US" sz="22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lang="en-US" sz="2400" i="1" u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knows 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marL="0" lv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lang="en-US" sz="2400" i="1" u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this UTXO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lang="en-US" sz="2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faces a group of UTXOs 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marL="0" lv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lang="en-US" sz="2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that may match the search</a:t>
            </a:r>
            <a:endParaRPr sz="2400" i="1" u="none" strike="noStrike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Rubik Medium"/>
                <a:ea typeface="Rubik Medium"/>
                <a:cs typeface="Rubik Medium"/>
              </a:rPr>
              <a:t>Mix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Rubik Medium"/>
                <a:ea typeface="Rubik Medium"/>
                <a:cs typeface="Rubik Medium"/>
              </a:rPr>
              <a:t>Mix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Rubik Medium"/>
                <a:ea typeface="Rubik Medium"/>
                <a:cs typeface="Rubik Medium"/>
              </a:rPr>
              <a:t>Mix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Forward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before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18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marL="0" lvl="0" indent="0" algn="ctr">
              <a:lnSpc>
                <a:spcPts val="3781"/>
              </a:lnSpc>
              <a:spcBef>
                <a:spcPts val="0"/>
              </a:spcBef>
              <a:defRPr/>
            </a:pPr>
            <a:r>
              <a:rPr lang="en-US" sz="18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lang="en-US" sz="16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faces a group 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of UTXOs 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that may be the source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u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lang="en-US" sz="2200" b="1" u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after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4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marL="0" lvl="0" indent="0" algn="ctr">
              <a:lnSpc>
                <a:spcPts val="3781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analyst knows</a:t>
            </a:r>
            <a:r>
              <a:rPr lang="fr-FR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this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Mix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lang="en-US" sz="1600" b="1" u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lang="en-US" sz="1600" b="1" u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Probable source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UTXO after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marL="0" lvl="0" indent="0" algn="ctr">
              <a:lnSpc>
                <a:spcPts val="3781"/>
              </a:lnSpc>
              <a:spcBef>
                <a:spcPts val="0"/>
              </a:spcBef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Cycles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lang="en-US" sz="16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42 185 sources...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lang="en-US" sz="22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Rubik"/>
                <a:ea typeface="Rubik"/>
                <a:cs typeface="Rubik"/>
              </a:rPr>
              <a:t>inputs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Rubik"/>
                <a:ea typeface="Rubik"/>
                <a:cs typeface="Rubik"/>
              </a:rPr>
              <a:t>outputs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lang="en-US" sz="2600" b="1" i="1">
                <a:solidFill>
                  <a:srgbClr val="FF5C00"/>
                </a:solidFill>
                <a:latin typeface="Rubik Bold Italics"/>
                <a:ea typeface="Rubik Bold Italics"/>
                <a:cs typeface="Rubik Bold Italics"/>
              </a:rPr>
              <a:t>Wrong!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Payment amount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lang="en-US" sz="2600" b="1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Wrong</a:t>
            </a:r>
            <a:r>
              <a:rPr lang="en-US" sz="2600" b="1" i="1">
                <a:solidFill>
                  <a:srgbClr val="FF5C00"/>
                </a:solidFill>
                <a:latin typeface="Rubik Bold Italics"/>
                <a:ea typeface="Rubik Bold Italics"/>
                <a:cs typeface="Rubik Bold Italics"/>
              </a:rPr>
              <a:t>!</a:t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lang="en-US" sz="2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Actual payment of 4,000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>
                <a:solidFill/>
                <a:latin typeface="IBM Plex Sans"/>
                <a:cs typeface="IBM Plex Sans"/>
              </a:rPr>
              <a:t>’ </a:t>
            </a:r>
            <a:r>
              <a:rPr lang="en-US" sz="18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’ 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’ </a:t>
            </a: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UTXO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2000">
              <a:latin typeface="IBM Plex Sans"/>
              <a:cs typeface="IBM Plex Sans"/>
            </a:endParaRPr>
          </a:p>
          <a:p>
            <a:pPr>
              <a:defRPr/>
            </a:pPr>
            <a:endParaR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lang="en-US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lang="en-US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lang="en-US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lang="en-US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Charles’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lang="en-US" sz="1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lang="en-US" sz="2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issuer carries out 4 transactions towards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lang="en-US" sz="20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issuer carries out 4 transactions towards oneself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last transaction is used to pay the final recipient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It's not them anymore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They are my customer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It's probably them again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Are they still my customer?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coinjoin is not from my customer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lang="en-US" sz="315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lang="en-US" sz="2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lang="en-US" sz="2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lang="en-US" sz="2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lang="en-US" sz="2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/>
                <a:latin typeface="IBM Plex Sans"/>
                <a:ea typeface="IBM Plex Sans"/>
                <a:cs typeface="IBM Plex Sans"/>
              </a:rPr>
              <a:t>Exchanged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/>
                <a:latin typeface="IBM Plex Sans"/>
                <a:ea typeface="IBM Plex Sans"/>
                <a:cs typeface="IBM Plex Sans"/>
              </a:rPr>
              <a:t>Exchanged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/>
                <a:latin typeface="IBM Plex Sans"/>
                <a:ea typeface="IBM Plex Sans"/>
                <a:cs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>
                <a:solidFill/>
                <a:latin typeface="IBM Plex Sans"/>
                <a:ea typeface="IBM Plex Sans"/>
                <a:cs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WALLET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Purpose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Coin type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Accounts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Channels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external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internal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external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lang="en-US" sz="9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internal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lang="en-US" sz="7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0x</a:t>
            </a:r>
            <a:r>
              <a:rPr lang="en-US" sz="20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01</a:t>
            </a: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</a:t>
            </a:r>
            <a:r>
              <a:rPr lang="en-US" sz="20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02</a:t>
            </a: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a0716529bae6b36c5c9aa518a52f9c828b46ad8d907747f</a:t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0d09dcd4d9a39e97c</a:t>
            </a:r>
            <a:r>
              <a:rPr lang="en-US" sz="20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3c5f37c470c390d842f364086362f6122f412e</a:t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lang="en-US" sz="20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2b0c7e7fc6e32287e364a7a36a</a:t>
            </a: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00000000000000000000000000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Reserved for future use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lang="en-US" sz="1800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Chain code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 field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lang="en-US" sz="1800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Y Parity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lang="en-US" sz="1800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0x47</a:t>
            </a:r>
            <a:r>
              <a:rPr lang="en-US" sz="24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01</a:t>
            </a: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</a:t>
            </a:r>
            <a:r>
              <a:rPr lang="en-US" sz="24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02</a:t>
            </a: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a0716529bae6b36c5c9aa518a52f9c828b46ad8d90774</a:t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endParaRPr/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7f0d09dcd4d9a39e97c</a:t>
            </a:r>
            <a:r>
              <a:rPr lang="en-US" sz="24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3c5f37c470c390d842f364086362f6122f412</a:t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endParaRPr/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e2b0c7e7fc6e32287e364a7a36a</a:t>
            </a:r>
            <a:r>
              <a:rPr lang="en-US" sz="2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00000000000000000000000000</a:t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endParaRPr/>
          </a:p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lang="en-US" sz="2400" b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567080c4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FF5C00"/>
                </a:solidFill>
                <a:latin typeface="IBM Plex Sans"/>
                <a:ea typeface="IBM Plex Sans"/>
                <a:cs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Prefix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lang="en-US" sz="6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lang="en-US" sz="6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Exchange over an unsecured network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lang="en-US" sz="22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lang="en-US" sz="33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lang="en-US" sz="33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lang="en-US" sz="35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lang="en-US" sz="35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Common color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Secret colors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exchange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Secret colors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lang="en-US" sz="49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lang="en-US" sz="49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Notification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lang="en-US" sz="6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lang="en-US" sz="6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“</a:t>
            </a:r>
            <a:r>
              <a:rPr lang="en-US" sz="1600" b="1" i="1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Hello! Here is my payment code. I will send you payments using BIP47.</a:t>
            </a:r>
            <a:r>
              <a:rPr lang="en-US" sz="1600" b="1" i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Bitcoin's classic privacy model: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Confidentiality model of the BIP47 payment codes: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Public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Private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Child public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Notification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Notification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transaction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Encrypted 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Child keys derivation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</a:t>
            </a:r>
            <a:r>
              <a:rPr lang="en-US" sz="1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 derivation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G on the elliptic curve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</a:t>
            </a: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public key 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private key 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private key 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Unsecured public transmission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public key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2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Address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  <a:p>
            <a:pPr algn="ctr">
              <a:lnSpc>
                <a:spcPts val="2236"/>
              </a:lnSpc>
              <a:defRPr/>
            </a:pPr>
            <a:endParaRPr/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Notification address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Notification transaction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2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Encrypted payment code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100" b="0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Public key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lang="en-US" sz="12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lang="en-US" sz="12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lang="en-US" sz="1200" b="1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Child public key 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Child private key 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lang="en-US" sz="20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</a:t>
            </a:r>
            <a:r>
              <a:rPr sz="2000" b="1" i="1">
                <a:solidFill/>
                <a:latin typeface="IBM Plex Sans"/>
                <a:cs typeface="IBM Plex Sans"/>
              </a:rPr>
              <a:t>otification identifier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lang="en-US" sz="20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 identifier of the first</a:t>
            </a:r>
            <a:r>
              <a:rPr sz="2000" b="1" i="1">
                <a:solidFill/>
                <a:latin typeface="IBM Plex Sans"/>
                <a:cs typeface="IBM Plex Sans"/>
              </a:rPr>
              <a:t> input 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lang="en-US" sz="20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lang="en-US" sz="20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</a:t>
            </a:r>
            <a:r>
              <a:rPr sz="2000" b="1" i="1">
                <a:solidFill/>
                <a:latin typeface="IBM Plex Sans"/>
                <a:cs typeface="IBM Plex Sans"/>
              </a:rPr>
              <a:t>OP</a:t>
            </a:r>
            <a:r>
              <a:rPr sz="2000" b="1" i="1">
                <a:solidFill/>
                <a:latin typeface="IBM Plex Sans"/>
                <a:cs typeface="IBM Plex Sans"/>
              </a:rPr>
              <a:t>_RETURN’  </a:t>
            </a:r>
            <a:r>
              <a:rPr lang="en-US" sz="20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Identifier</a:t>
            </a:r>
            <a:r>
              <a:rPr lang="en-US" sz="2000" b="1" i="1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lang="en-US" sz="20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public key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private key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Other address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address  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First </a:t>
            </a:r>
            <a:r>
              <a:rPr lang="en-US" sz="12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BIP47</a:t>
            </a: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 payment 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Child key derivation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</a:t>
            </a:r>
            <a:r>
              <a:rPr lang="en-US" sz="18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addition on elliptic curves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 derivation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Rubik Medium"/>
                <a:ea typeface="Rubik Medium"/>
                <a:cs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2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Notification address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Payment address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Child key derivation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</a:t>
            </a:r>
            <a:r>
              <a:rPr lang="en-US" sz="1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addition on elliptic curves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 derivation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Notification address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public key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private key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Other address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address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Second payment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  <a:p>
            <a:pPr algn="ctr">
              <a:lnSpc>
                <a:spcPts val="2097"/>
              </a:lnSpc>
              <a:defRPr/>
            </a:pPr>
            <a:endParaRPr/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Payment 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address 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Child key derivation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 derivation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Notification 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address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addition on elliptic curves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 derivation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G on the elliptic curve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’s private key 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private key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lang="en-US" sz="14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Unsecured public transmission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Alice’s public key</a:t>
            </a:r>
            <a:endParaRPr sz="1600">
              <a:latin typeface="IBM Plex Sans"/>
              <a:cs typeface="IBM Plex Sans"/>
            </a:endParaRPr>
          </a:p>
          <a:p>
            <a:pPr algn="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FFFFFF">
                    <a:alpha val="74902"/>
                  </a:srgbClr>
                </a:solidFill>
                <a:latin typeface="IBM Plex Sans"/>
                <a:ea typeface="IBM Plex Sans"/>
                <a:cs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FFFFFF">
                    <a:alpha val="74902"/>
                  </a:srgbClr>
                </a:solidFill>
                <a:latin typeface="IBM Plex Sans"/>
                <a:ea typeface="IBM Plex Sans"/>
                <a:cs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lang="en-US"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lang="en-US"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Abscissa of the 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Secret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G on the curve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public key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BIP47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public 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payment key 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Bob’s private key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BIP47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private 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payment key 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Address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  <a:p>
            <a:pPr algn="ctr">
              <a:lnSpc>
                <a:spcPts val="2237"/>
              </a:lnSpc>
              <a:defRPr/>
            </a:pPr>
            <a:endParaRPr/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Payment code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Public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Private keys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public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Other 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First 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reimbursement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Shared secrets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Child key derivation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Bitcoin </a:t>
            </a:r>
            <a:r>
              <a:rPr lang="en-US" sz="1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 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Point addition on elliptic curves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Address derivation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Notification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Address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Master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rPr>
              <a:t>Other private key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0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Tweaked public 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Classic payment </a:t>
            </a: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public key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Merkle Root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script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Transaction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outputs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Change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lang="en-US" sz="2650" b="1">
                <a:solidFill>
                  <a:srgbClr val="FFFFFF"/>
                </a:solidFill>
                <a:latin typeface="Rubik Bold"/>
                <a:ea typeface="Rubik Bold"/>
                <a:cs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