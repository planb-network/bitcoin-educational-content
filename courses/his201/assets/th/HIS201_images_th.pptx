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tableStyles" Target="tableStyles.xml"/><Relationship Id="rId77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8905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9948130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96333161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9422974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305234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50771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9788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1754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89157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07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566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8707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E55648-ADE2-965E-0F87-0ABB71C754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987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659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6705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473744-944F-EBDB-D1E6-8F1CC5CEBD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82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8231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947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8696C0-5062-29DC-8A0D-0B5FE66196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146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666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653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BD0134-888A-C41F-C6A9-E9CB0DCD8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5381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852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591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27A960-E66B-BEB9-512F-51F73B38A5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259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594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4797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3624B9-90B4-A423-2B5E-5454F908F4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5945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3954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2112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5C4064-3EE6-A2BF-51F2-AEF85998A4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6131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3603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58843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C163AE-044F-883A-A57C-12F3E3EFBF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1360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31638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745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92455D-49EB-FB3F-3A5D-A54B84B95E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0080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0960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91445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631968-6248-63BE-F4DC-BD5ECB85DA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4479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2107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183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812B2-1B68-B1DC-1870-D4D85F9024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2720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50779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816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745C4F-2678-59E7-2ECA-A500A97CE2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330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45284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4893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7134FC-422C-A81C-D2A9-89C9D8EAEF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6969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74402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877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14A156-7A59-A123-F75C-E447D5D478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7363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48551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22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74181E-3D75-015A-BF9A-A1811885A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133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9355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5033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62975-0B87-124D-F4CF-CC0D059DED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461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0807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38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710F28-E052-173C-41D9-DD6C9335DF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187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3043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1774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9DB6D7-1DAB-B1E0-82BB-0703661D71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223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868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007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9B5EB9-CEEA-9BBB-ADE0-7D8A93C8FC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279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58494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0480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258580-6B33-FA3E-7D01-D92051217F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358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1028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06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F64CBA-39A3-330E-222D-8DFBAC3EAE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6946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82456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978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E4D4C-FF23-C312-3909-D43C203448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8575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309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900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9D0093-CEF7-4F7C-3917-F404DA844F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3649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303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131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E2612B-5475-F079-D6D8-D27530AECA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1124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1400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170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3A8570-D5E3-A3DA-E9BE-4E59B47DCD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3011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1559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7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2157EF-C9F3-24D9-B1A1-FB4AB34082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212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11183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53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73EC8-14A0-3A00-0EAE-6D6F91E856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324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2047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808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797A96-85C7-DC3D-4197-A7799D4D93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006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79474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48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2A5D2C-5EB6-3EFE-448A-6E5A57BBB5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733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14847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931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8107A1-9B68-E9FB-7790-E654E75FDF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5240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1038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0258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FF372D-B465-F965-BBAE-99202805F6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9860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99093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16318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7F4C2D-6E5E-C875-C976-C6D55F6BE6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6668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94284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384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46F0F7-F334-E342-5F02-944A3495C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5639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6348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719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37FDAD-1320-454A-0438-600C450795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7520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82250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295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1E0814-FA3A-798F-7BCC-928878DD25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798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5772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0757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47F0D3-1DEA-F745-1E09-B7FA6BF8E5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5032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7191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9243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F4C0AE-E38D-DC6B-C68A-AA49F3CF55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7955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7586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801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887B64-E028-2AA4-2F68-CBA8265516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1228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4117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40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0CF1FC-3401-5F66-1687-747F5BB6F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02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2528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331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20E706-D256-E63B-0C75-706309155F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680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115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7965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B1688A-4A24-A9DE-E8D5-11EF282097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8663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7903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2316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F96F47-3D75-628A-7225-3D6D257E19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13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4584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758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5ABE1E-764B-F425-3391-598B8B461F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2635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47495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460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8DE568-97B0-9929-DEC1-7CBD6BC5D2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354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112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8006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D6FF70-89BB-82B1-17DA-D1DCA74758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254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6889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904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D1B874-9CC0-4429-5FF7-FC67A3C3FD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6426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1396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031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5434F9-E3D3-DB90-E93A-1D223BF901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9397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73604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774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6F7208-4509-16B4-8EF9-ADC2C49B49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8344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9965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781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A26031-1666-FFA0-1343-10117A0A8A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955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548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794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F023A4-E3E3-6195-88ED-53EC821D29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6221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024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391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C3DA3E-F2DA-2C64-8E0F-319E878795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422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64644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6232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466F95-1D03-2B53-5C37-61A2864787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479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32953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42257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0A40C7-AB34-D7E9-E511-577CCB0FD3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7668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805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529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9237B5-1CB3-7EDD-7250-D1A1602C7E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448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9057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67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382380-19A7-A1A0-EEAC-E3B9E43D5E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902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311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6176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702FD-7905-BDC6-4203-F59B61CEB9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9081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099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910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29BA4D-F7B8-24AB-4D7A-E413A5FFAA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2815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98703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0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4927C6-D97B-436B-C8A7-AFE8CEC3A6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243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9627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63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4E0709-468D-4CCD-4EDF-4432F5A849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6772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0619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37490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58AC18-380E-66F2-7AE2-BD7F602DEC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5379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8966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241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934705-0AD6-963A-C353-5FAF7821E4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5979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5233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180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2C122E-C38D-8339-6097-2ED6C91C05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5527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0203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5097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BB0AA0-5CF8-9B70-D3B9-41D7892350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780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9466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675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42AC1A-8DA1-B652-2027-74938292C6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027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1464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49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BFD0CD-9953-DAB9-1629-83C76D32C9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58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3589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08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3E527E-84B9-F204-CCC6-BF4670AEB2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2886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153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55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EC451A-0168-5998-FE7E-6B0633410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97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0859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487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FCCCA1-04DB-E6CE-E5C4-4256E1EC3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072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6868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356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A229DD-D5FF-254B-DF64-C5EA347728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01223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91456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074957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0640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87451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0252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45275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25240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292520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64946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84830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26828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092911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66771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79306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052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030170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4833298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839929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49274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73467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49479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819632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82293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682687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8062944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796075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7277760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613409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9962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8311741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0639957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051399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01401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9008958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911834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19754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191776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56296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49558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885444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610378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7346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568406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6980617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8464421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91883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749154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0364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854561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515683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28488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18484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68260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235866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21292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1702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14999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00015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846336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326057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5257325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82678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9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0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2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3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5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7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9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0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2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3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4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5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6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7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8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9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0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2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3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4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6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7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8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9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70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117410" name="Rectangle 7"/>
          <p:cNvSpPr/>
          <p:nvPr/>
        </p:nvSpPr>
        <p:spPr bwMode="auto">
          <a:xfrm>
            <a:off x="2595339" y="198443"/>
            <a:ext cx="1396890" cy="3813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1387892" name="TextBox 5"/>
          <p:cNvSpPr txBox="1"/>
          <p:nvPr/>
        </p:nvSpPr>
        <p:spPr bwMode="auto">
          <a:xfrm>
            <a:off x="2591523" y="188417"/>
            <a:ext cx="2347353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ข้อความที่ชัดเจน</a:t>
            </a:r>
            <a:endParaRPr lang="en-US" sz="2300"/>
          </a:p>
        </p:txBody>
      </p:sp>
      <p:sp>
        <p:nvSpPr>
          <p:cNvPr id="542659239" name="Rectangle 13"/>
          <p:cNvSpPr/>
          <p:nvPr/>
        </p:nvSpPr>
        <p:spPr bwMode="auto">
          <a:xfrm>
            <a:off x="7747107" y="158272"/>
            <a:ext cx="1739305" cy="4616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06029660" name="TextBox 11"/>
          <p:cNvSpPr txBox="1"/>
          <p:nvPr/>
        </p:nvSpPr>
        <p:spPr bwMode="auto">
          <a:xfrm>
            <a:off x="7764696" y="178324"/>
            <a:ext cx="2593914" cy="4423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ข้อความเข้ารหัส</a:t>
            </a:r>
            <a:endParaRPr/>
          </a:p>
        </p:txBody>
      </p:sp>
      <p:sp>
        <p:nvSpPr>
          <p:cNvPr id="515311746" name="Rectangle 17"/>
          <p:cNvSpPr/>
          <p:nvPr/>
        </p:nvSpPr>
        <p:spPr bwMode="auto">
          <a:xfrm>
            <a:off x="8766243" y="2968881"/>
            <a:ext cx="1257075" cy="4305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87331779" name="Rectangle 18"/>
          <p:cNvSpPr/>
          <p:nvPr/>
        </p:nvSpPr>
        <p:spPr bwMode="auto">
          <a:xfrm>
            <a:off x="4918718" y="1681878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035916910" name="TextBox 14"/>
          <p:cNvSpPr txBox="1"/>
          <p:nvPr/>
        </p:nvSpPr>
        <p:spPr bwMode="auto">
          <a:xfrm>
            <a:off x="8766243" y="2957805"/>
            <a:ext cx="1954436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lang="en-US">
                <a:latin typeface="Roboto"/>
              </a:rPr>
              <a:t>การส่ง</a:t>
            </a:r>
            <a:endParaRPr/>
          </a:p>
        </p:txBody>
      </p:sp>
      <p:sp>
        <p:nvSpPr>
          <p:cNvPr id="1682539440" name="TextBox 19"/>
          <p:cNvSpPr txBox="1"/>
          <p:nvPr/>
        </p:nvSpPr>
        <p:spPr bwMode="auto">
          <a:xfrm>
            <a:off x="4410180" y="1713858"/>
            <a:ext cx="2628336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การเข้ารหัส</a:t>
            </a:r>
            <a:endParaRPr/>
          </a:p>
          <a:p>
            <a:pPr algn="ctr"/>
            <a:r>
              <a:rPr sz="2300" lang="en-US">
                <a:latin typeface="Roboto"/>
              </a:rPr>
              <a:t>ด้วยกุญแจ</a:t>
            </a:r>
          </a:p>
          <a:p>
            <a:pPr algn="ctr"/>
            <a:r>
              <a:rPr sz="2300" lang="en-US">
                <a:latin typeface="Roboto"/>
              </a:rPr>
              <a:t>สาธารณะ</a:t>
            </a:r>
          </a:p>
        </p:txBody>
      </p:sp>
      <p:sp>
        <p:nvSpPr>
          <p:cNvPr id="698934102" name="Rectangle 21"/>
          <p:cNvSpPr/>
          <p:nvPr/>
        </p:nvSpPr>
        <p:spPr bwMode="auto">
          <a:xfrm>
            <a:off x="4918718" y="5620284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898941771" name="TextBox 22"/>
          <p:cNvSpPr txBox="1"/>
          <p:nvPr/>
        </p:nvSpPr>
        <p:spPr bwMode="auto">
          <a:xfrm>
            <a:off x="4520468" y="5592105"/>
            <a:ext cx="2407757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การถอดรหัส</a:t>
            </a:r>
            <a:endParaRPr/>
          </a:p>
          <a:p>
            <a:pPr algn="ctr"/>
            <a:r>
              <a:rPr sz="2300" lang="en-US">
                <a:latin typeface="Roboto"/>
              </a:rPr>
              <a:t>ด้วยกุญแจส่วนตัว</a:t>
            </a:r>
          </a:p>
        </p:txBody>
      </p:sp>
      <p:pic>
        <p:nvPicPr>
          <p:cNvPr id="5024384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999" y="21166"/>
            <a:ext cx="8392871" cy="6714297"/>
          </a:xfrm>
          <a:prstGeom prst="rect">
            <a:avLst/>
          </a:prstGeom>
        </p:spPr>
      </p:pic>
      <p:sp>
        <p:nvSpPr>
          <p:cNvPr id="1429071587" name=""/>
          <p:cNvSpPr/>
          <p:nvPr/>
        </p:nvSpPr>
        <p:spPr bwMode="auto">
          <a:xfrm flipH="0" flipV="0">
            <a:off x="2722070" y="203655"/>
            <a:ext cx="1398607" cy="44610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61093492" name=""/>
          <p:cNvSpPr txBox="1"/>
          <p:nvPr/>
        </p:nvSpPr>
        <p:spPr bwMode="auto">
          <a:xfrm flipH="0" flipV="0">
            <a:off x="1535541" y="203654"/>
            <a:ext cx="343178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ข้อความที่ชัดเจน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969521309" name=""/>
          <p:cNvSpPr/>
          <p:nvPr/>
        </p:nvSpPr>
        <p:spPr bwMode="auto">
          <a:xfrm flipH="0" flipV="0">
            <a:off x="7827161" y="198442"/>
            <a:ext cx="2037394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1385861" name=""/>
          <p:cNvSpPr/>
          <p:nvPr/>
        </p:nvSpPr>
        <p:spPr bwMode="auto">
          <a:xfrm flipH="0" flipV="0">
            <a:off x="8721165" y="2325560"/>
            <a:ext cx="1999512" cy="136537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3531871" name=""/>
          <p:cNvSpPr/>
          <p:nvPr/>
        </p:nvSpPr>
        <p:spPr bwMode="auto">
          <a:xfrm flipH="0" flipV="0">
            <a:off x="4938876" y="1490804"/>
            <a:ext cx="1645997" cy="16695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25520898" name=""/>
          <p:cNvSpPr/>
          <p:nvPr/>
        </p:nvSpPr>
        <p:spPr bwMode="auto">
          <a:xfrm flipH="0" flipV="0">
            <a:off x="4966245" y="5441911"/>
            <a:ext cx="1645996" cy="129355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756478981" name=""/>
          <p:cNvSpPr/>
          <p:nvPr/>
        </p:nvSpPr>
        <p:spPr bwMode="auto">
          <a:xfrm flipH="0" flipV="0">
            <a:off x="2722070" y="1044697"/>
            <a:ext cx="1688109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921611" name=""/>
          <p:cNvSpPr txBox="1"/>
          <p:nvPr/>
        </p:nvSpPr>
        <p:spPr bwMode="auto">
          <a:xfrm flipH="0" flipV="0">
            <a:off x="2853086" y="1033244"/>
            <a:ext cx="1139142" cy="4575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>
                <a:latin typeface="IBM Plex Sans"/>
              </a:rPr>
              <a:t>บิตคอยน์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76313897" name=""/>
          <p:cNvSpPr txBox="1"/>
          <p:nvPr/>
        </p:nvSpPr>
        <p:spPr bwMode="auto">
          <a:xfrm flipH="0" flipV="0">
            <a:off x="7187931" y="203654"/>
            <a:ext cx="3239579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ข้อความที่เข้ารหัส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415171345" name=""/>
          <p:cNvSpPr txBox="1"/>
          <p:nvPr/>
        </p:nvSpPr>
        <p:spPr bwMode="auto">
          <a:xfrm flipH="0" flipV="0">
            <a:off x="8807720" y="2794709"/>
            <a:ext cx="319356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 b="0">
                <a:latin typeface="IBM Plex Sans"/>
              </a:rPr>
              <a:t>การส่ง</a:t>
            </a:r>
            <a:endParaRPr sz="2200" b="0">
              <a:latin typeface="IBM Plex Sans"/>
              <a:cs typeface="IBM Plex Sans"/>
            </a:endParaRPr>
          </a:p>
        </p:txBody>
      </p:sp>
      <p:sp>
        <p:nvSpPr>
          <p:cNvPr id="2060365003" name=""/>
          <p:cNvSpPr txBox="1"/>
          <p:nvPr/>
        </p:nvSpPr>
        <p:spPr bwMode="auto">
          <a:xfrm flipH="0" flipV="0">
            <a:off x="4938875" y="1639891"/>
            <a:ext cx="1592180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latin typeface="IBM Plex Sans"/>
              </a:rPr>
              <a:t>การเข้ารหัสด้วยกุญแจสาธารณะ </a:t>
            </a:r>
            <a:r>
              <a:rPr sz="1400" b="0">
                <a:latin typeface="IBM Plex Sans"/>
              </a:rPr>
              <a:t/>
            </a:r>
            <a:endParaRPr sz="14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64805446" name=""/>
          <p:cNvSpPr txBox="1"/>
          <p:nvPr/>
        </p:nvSpPr>
        <p:spPr bwMode="auto">
          <a:xfrm flipH="0" flipV="0">
            <a:off x="3765199" y="5680215"/>
            <a:ext cx="504324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การถอดรหัสด้วยกุญแจส่วนตัว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17423457" name=""/>
          <p:cNvSpPr/>
          <p:nvPr/>
        </p:nvSpPr>
        <p:spPr bwMode="auto">
          <a:xfrm flipH="0" flipV="0">
            <a:off x="2720786" y="1056150"/>
            <a:ext cx="1688108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1861164775" name=""/>
          <p:cNvSpPr txBox="1"/>
          <p:nvPr/>
        </p:nvSpPr>
        <p:spPr bwMode="auto">
          <a:xfrm flipH="0" flipV="0">
            <a:off x="1853931" y="1044696"/>
            <a:ext cx="2138452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บิตคอยน์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86006633" name=""/>
          <p:cNvSpPr txBox="1"/>
          <p:nvPr/>
        </p:nvSpPr>
        <p:spPr bwMode="auto">
          <a:xfrm flipH="0" flipV="0">
            <a:off x="2006330" y="4863123"/>
            <a:ext cx="2138812" cy="457560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บิตคอยน์</a:t>
            </a:r>
            <a:endParaRPr sz="2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8095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64651" y="15362"/>
            <a:ext cx="7062695" cy="6827270"/>
          </a:xfrm>
          <a:prstGeom prst="rect">
            <a:avLst/>
          </a:prstGeom>
        </p:spPr>
      </p:pic>
      <p:sp>
        <p:nvSpPr>
          <p:cNvPr id="618278120" name=""/>
          <p:cNvSpPr/>
          <p:nvPr/>
        </p:nvSpPr>
        <p:spPr bwMode="auto">
          <a:xfrm flipH="0" flipV="0">
            <a:off x="6940687" y="215079"/>
            <a:ext cx="2186448" cy="43015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77510310" name=""/>
          <p:cNvSpPr/>
          <p:nvPr/>
        </p:nvSpPr>
        <p:spPr bwMode="auto">
          <a:xfrm flipH="0" flipV="0">
            <a:off x="8154516" y="2881839"/>
            <a:ext cx="2444482" cy="5010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24416130" name=""/>
          <p:cNvSpPr/>
          <p:nvPr/>
        </p:nvSpPr>
        <p:spPr bwMode="auto">
          <a:xfrm flipH="0" flipV="0">
            <a:off x="4486317" y="5688146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3204435" name=""/>
          <p:cNvSpPr/>
          <p:nvPr/>
        </p:nvSpPr>
        <p:spPr bwMode="auto">
          <a:xfrm flipH="0" flipV="0">
            <a:off x="4533302" y="1541392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7404936" name=""/>
          <p:cNvSpPr/>
          <p:nvPr/>
        </p:nvSpPr>
        <p:spPr bwMode="auto">
          <a:xfrm flipH="0" flipV="0">
            <a:off x="2751531" y="5082559"/>
            <a:ext cx="1614461" cy="40279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74341121" name=""/>
          <p:cNvSpPr/>
          <p:nvPr/>
        </p:nvSpPr>
        <p:spPr bwMode="auto">
          <a:xfrm flipH="0" flipV="0">
            <a:off x="2736169" y="215079"/>
            <a:ext cx="1321209" cy="430161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28966252" name=""/>
          <p:cNvSpPr txBox="1"/>
          <p:nvPr/>
        </p:nvSpPr>
        <p:spPr bwMode="auto">
          <a:xfrm flipH="0" flipV="0">
            <a:off x="1784658" y="215078"/>
            <a:ext cx="310969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ข้อความ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1134818737" name=""/>
          <p:cNvSpPr txBox="1"/>
          <p:nvPr/>
        </p:nvSpPr>
        <p:spPr bwMode="auto">
          <a:xfrm flipH="0" flipV="0">
            <a:off x="6893522" y="215078"/>
            <a:ext cx="273490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ลายเซ็น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021760122" name=""/>
          <p:cNvSpPr txBox="1"/>
          <p:nvPr/>
        </p:nvSpPr>
        <p:spPr bwMode="auto">
          <a:xfrm flipH="0" flipV="0">
            <a:off x="8202903" y="2986308"/>
            <a:ext cx="3194065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b="0">
                <a:latin typeface="IBM Plex Sans"/>
              </a:rPr>
              <a:t>การส่ง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091897644" name=""/>
          <p:cNvSpPr txBox="1"/>
          <p:nvPr/>
        </p:nvSpPr>
        <p:spPr bwMode="auto">
          <a:xfrm flipH="0" flipV="0">
            <a:off x="2113704" y="5088755"/>
            <a:ext cx="195609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000" b="0">
                <a:latin typeface="IBM Plex Sans"/>
              </a:rPr>
              <a:t>ตกลง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632395688" name=""/>
          <p:cNvSpPr txBox="1"/>
          <p:nvPr/>
        </p:nvSpPr>
        <p:spPr bwMode="auto">
          <a:xfrm flipH="0" flipV="0">
            <a:off x="3896720" y="1539360"/>
            <a:ext cx="266233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การลงนามด้วยกุญแจส่วนตัว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cs typeface="IBM Plex Sans"/>
            </a:endParaRPr>
          </a:p>
        </p:txBody>
      </p:sp>
      <p:sp>
        <p:nvSpPr>
          <p:cNvPr id="1469490840" name=""/>
          <p:cNvSpPr txBox="1"/>
          <p:nvPr/>
        </p:nvSpPr>
        <p:spPr bwMode="auto">
          <a:xfrm flipH="0" flipV="0">
            <a:off x="3621937" y="5686113"/>
            <a:ext cx="3015771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ตรวจสอบด้วยกุญแจสาธารณะ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526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8499" y="666749"/>
            <a:ext cx="5715000" cy="5524499"/>
          </a:xfrm>
          <a:prstGeom prst="rect">
            <a:avLst/>
          </a:prstGeom>
        </p:spPr>
      </p:pic>
      <p:pic>
        <p:nvPicPr>
          <p:cNvPr id="177536630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352799" y="0"/>
            <a:ext cx="5486399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95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757237"/>
            <a:ext cx="7619999" cy="534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9355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2283" y="280392"/>
            <a:ext cx="6047431" cy="5745059"/>
          </a:xfrm>
          <a:prstGeom prst="rect">
            <a:avLst/>
          </a:prstGeom>
        </p:spPr>
      </p:pic>
      <p:sp>
        <p:nvSpPr>
          <p:cNvPr id="958143399" name=""/>
          <p:cNvSpPr/>
          <p:nvPr/>
        </p:nvSpPr>
        <p:spPr bwMode="auto">
          <a:xfrm flipH="0" flipV="0">
            <a:off x="5929808" y="864541"/>
            <a:ext cx="1149753" cy="30094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0051190" name=""/>
          <p:cNvSpPr txBox="1"/>
          <p:nvPr/>
        </p:nvSpPr>
        <p:spPr bwMode="auto">
          <a:xfrm flipH="0" flipV="0">
            <a:off x="6796666" y="2878666"/>
            <a:ext cx="682858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2791010" name=""/>
          <p:cNvSpPr txBox="1"/>
          <p:nvPr/>
        </p:nvSpPr>
        <p:spPr bwMode="auto">
          <a:xfrm flipH="0" flipV="0">
            <a:off x="6183477" y="2710450"/>
            <a:ext cx="1257937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latin typeface="IBM Plex Sans"/>
              </a:rPr>
              <a:t>ส่ง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709900016" name=""/>
          <p:cNvSpPr txBox="1"/>
          <p:nvPr/>
        </p:nvSpPr>
        <p:spPr bwMode="auto">
          <a:xfrm flipH="0" flipV="0">
            <a:off x="5812687" y="877671"/>
            <a:ext cx="1035944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ส่ง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6557778" name=""/>
          <p:cNvSpPr txBox="1"/>
          <p:nvPr/>
        </p:nvSpPr>
        <p:spPr bwMode="auto">
          <a:xfrm flipH="0" flipV="0">
            <a:off x="8510588" y="2710090"/>
            <a:ext cx="2124381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>
                <a:latin typeface="IBM Plex Sans"/>
              </a:rPr>
              <a:t>เครดิต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66308975" name=""/>
          <p:cNvSpPr txBox="1"/>
          <p:nvPr/>
        </p:nvSpPr>
        <p:spPr bwMode="auto">
          <a:xfrm flipH="0" flipV="0">
            <a:off x="2629117" y="5192732"/>
            <a:ext cx="2642102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ธนาคาร 1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466514468" name=""/>
          <p:cNvSpPr txBox="1"/>
          <p:nvPr/>
        </p:nvSpPr>
        <p:spPr bwMode="auto">
          <a:xfrm flipH="0" flipV="0">
            <a:off x="7185916" y="5192732"/>
            <a:ext cx="2326650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ธนาคาร 2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355621069" name=""/>
          <p:cNvSpPr/>
          <p:nvPr/>
        </p:nvSpPr>
        <p:spPr bwMode="auto">
          <a:xfrm rot="0" flipH="0" flipV="0">
            <a:off x="5097499" y="5572125"/>
            <a:ext cx="2524124" cy="746124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40523157" name=""/>
          <p:cNvSpPr txBox="1"/>
          <p:nvPr/>
        </p:nvSpPr>
        <p:spPr bwMode="auto">
          <a:xfrm flipH="0" flipV="0">
            <a:off x="4651612" y="5680770"/>
            <a:ext cx="3216127" cy="9452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บันทึกของธนบัตรที่ใช้ไป </a:t>
            </a:r>
            <a:r>
              <a:rPr sz="1400">
                <a:latin typeface="IBM Plex Sans"/>
              </a:rPr>
              <a:t/>
            </a:r>
            <a:endParaRPr sz="1400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5315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4739" y="970372"/>
            <a:ext cx="4802518" cy="4917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9884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571625" y="581024"/>
            <a:ext cx="9048749" cy="569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4157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4845" y="733421"/>
            <a:ext cx="10782307" cy="539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2637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4474" y="33756"/>
            <a:ext cx="9523045" cy="67904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19912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0246" y="2390769"/>
            <a:ext cx="6431504" cy="20764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4118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41416" y="620661"/>
            <a:ext cx="7709163" cy="5616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9992560" name=""/>
          <p:cNvPicPr>
            <a:picLocks noChangeAspect="1"/>
          </p:cNvPicPr>
          <p:nvPr/>
        </p:nvPicPr>
        <p:blipFill>
          <a:blip r:embed="rId3"/>
          <a:srcRect l="0" t="0" r="0" b="16973"/>
          <a:stretch/>
        </p:blipFill>
        <p:spPr bwMode="auto">
          <a:xfrm flipH="0" flipV="0">
            <a:off x="1563274" y="159770"/>
            <a:ext cx="9065446" cy="5428633"/>
          </a:xfrm>
          <a:prstGeom prst="rect">
            <a:avLst/>
          </a:prstGeom>
        </p:spPr>
      </p:pic>
      <p:sp>
        <p:nvSpPr>
          <p:cNvPr id="1056831080" name=""/>
          <p:cNvSpPr/>
          <p:nvPr/>
        </p:nvSpPr>
        <p:spPr bwMode="auto">
          <a:xfrm flipH="0" flipV="0">
            <a:off x="2991824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61749794" name=""/>
          <p:cNvSpPr/>
          <p:nvPr/>
        </p:nvSpPr>
        <p:spPr bwMode="auto">
          <a:xfrm flipH="0" flipV="0">
            <a:off x="5698727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0698139" name=""/>
          <p:cNvSpPr/>
          <p:nvPr/>
        </p:nvSpPr>
        <p:spPr bwMode="auto">
          <a:xfrm flipH="0" flipV="0">
            <a:off x="8424329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97094744" name=""/>
          <p:cNvSpPr/>
          <p:nvPr/>
        </p:nvSpPr>
        <p:spPr bwMode="auto">
          <a:xfrm flipH="0" flipV="0">
            <a:off x="2962949" y="5357154"/>
            <a:ext cx="762300" cy="28539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3823412" name=""/>
          <p:cNvSpPr/>
          <p:nvPr/>
        </p:nvSpPr>
        <p:spPr bwMode="auto">
          <a:xfrm flipH="0" flipV="0">
            <a:off x="3677625" y="4867453"/>
            <a:ext cx="647698" cy="228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2108527031" name=""/>
          <p:cNvSpPr txBox="1"/>
          <p:nvPr/>
        </p:nvSpPr>
        <p:spPr bwMode="auto">
          <a:xfrm flipH="0" flipV="0">
            <a:off x="7346907" y="5801943"/>
            <a:ext cx="408383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>
                <a:latin typeface="IBM Plex Sans"/>
              </a:rPr>
              <a:t>เครือข่ายแบบกระจาย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94602628" name=""/>
          <p:cNvSpPr txBox="1"/>
          <p:nvPr/>
        </p:nvSpPr>
        <p:spPr bwMode="auto">
          <a:xfrm flipH="0" flipV="0">
            <a:off x="2925666" y="5337383"/>
            <a:ext cx="144844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สถานี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33248220" name=""/>
          <p:cNvSpPr txBox="1"/>
          <p:nvPr/>
        </p:nvSpPr>
        <p:spPr bwMode="auto">
          <a:xfrm flipH="0" flipV="0">
            <a:off x="3677625" y="4829175"/>
            <a:ext cx="118328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ลิงก์</a:t>
            </a:r>
            <a:endParaRPr sz="14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083863093" name=""/>
          <p:cNvSpPr/>
          <p:nvPr/>
        </p:nvSpPr>
        <p:spPr bwMode="auto">
          <a:xfrm flipH="0" flipV="0">
            <a:off x="3458550" y="4867453"/>
            <a:ext cx="266699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80293751" name=""/>
          <p:cNvSpPr/>
          <p:nvPr/>
        </p:nvSpPr>
        <p:spPr bwMode="auto">
          <a:xfrm rot="2286170" flipH="0" flipV="0">
            <a:off x="2724120" y="5303120"/>
            <a:ext cx="266698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827644842" name=""/>
          <p:cNvSpPr txBox="1"/>
          <p:nvPr/>
        </p:nvSpPr>
        <p:spPr bwMode="auto">
          <a:xfrm rot="0" flipH="0" flipV="0">
            <a:off x="1533582" y="5801943"/>
            <a:ext cx="276348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การรวมศูนย์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14344841" name=""/>
          <p:cNvSpPr txBox="1"/>
          <p:nvPr/>
        </p:nvSpPr>
        <p:spPr bwMode="auto">
          <a:xfrm rot="0" flipH="0" flipV="0">
            <a:off x="4494953" y="5801943"/>
            <a:ext cx="285195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กระจายอำนาจ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6692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72880" y="323847"/>
            <a:ext cx="10646236" cy="6210302"/>
          </a:xfrm>
          <a:prstGeom prst="rect">
            <a:avLst/>
          </a:prstGeom>
        </p:spPr>
      </p:pic>
      <p:sp>
        <p:nvSpPr>
          <p:cNvPr id="1604701722" name=""/>
          <p:cNvSpPr/>
          <p:nvPr/>
        </p:nvSpPr>
        <p:spPr bwMode="auto">
          <a:xfrm flipH="0" flipV="0">
            <a:off x="1651400" y="495479"/>
            <a:ext cx="2266949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85018793" name=""/>
          <p:cNvSpPr/>
          <p:nvPr/>
        </p:nvSpPr>
        <p:spPr bwMode="auto">
          <a:xfrm flipH="0" flipV="0">
            <a:off x="4562474" y="495479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78221400" name=""/>
          <p:cNvSpPr/>
          <p:nvPr/>
        </p:nvSpPr>
        <p:spPr bwMode="auto">
          <a:xfrm flipH="0" flipV="0">
            <a:off x="2784875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7931922" name=""/>
          <p:cNvSpPr/>
          <p:nvPr/>
        </p:nvSpPr>
        <p:spPr bwMode="auto">
          <a:xfrm flipH="0" flipV="0">
            <a:off x="7886698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47620786" name=""/>
          <p:cNvSpPr txBox="1"/>
          <p:nvPr/>
        </p:nvSpPr>
        <p:spPr bwMode="auto">
          <a:xfrm flipH="0" flipV="0">
            <a:off x="1651399" y="571500"/>
            <a:ext cx="158626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latin typeface="IBM Plex Sans"/>
              </a:rPr>
              <a:t>นายพลผู้ซื่อสัตย์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51448218" name=""/>
          <p:cNvSpPr txBox="1"/>
          <p:nvPr/>
        </p:nvSpPr>
        <p:spPr bwMode="auto">
          <a:xfrm flipH="0" flipV="0">
            <a:off x="4562473" y="571500"/>
            <a:ext cx="2021121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8A8A8A"/>
                </a:solidFill>
                <a:latin typeface="IBM Plex Sans"/>
              </a:rPr>
              <a:t>คนทรยศ</a:t>
            </a:r>
            <a:endParaRPr sz="1800">
              <a:solidFill>
                <a:srgbClr val="8A8A8A"/>
              </a:solidFill>
              <a:latin typeface="IBM Plex Sans"/>
              <a:cs typeface="IBM Plex Sans"/>
            </a:endParaRPr>
          </a:p>
        </p:txBody>
      </p:sp>
      <p:sp>
        <p:nvSpPr>
          <p:cNvPr id="1415045215" name=""/>
          <p:cNvSpPr txBox="1"/>
          <p:nvPr/>
        </p:nvSpPr>
        <p:spPr bwMode="auto">
          <a:xfrm flipH="0" flipV="0">
            <a:off x="2131022" y="5857513"/>
            <a:ext cx="3378125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ความพ่ายแพ้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155593188" name=""/>
          <p:cNvSpPr txBox="1"/>
          <p:nvPr/>
        </p:nvSpPr>
        <p:spPr bwMode="auto">
          <a:xfrm flipH="0" flipV="0">
            <a:off x="6780954" y="5857513"/>
            <a:ext cx="3785102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ชัยชนะ</a:t>
            </a:r>
            <a:endParaRPr sz="26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6845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38262" y="538162"/>
            <a:ext cx="9515475" cy="5781674"/>
          </a:xfrm>
          <a:prstGeom prst="rect">
            <a:avLst/>
          </a:prstGeom>
        </p:spPr>
      </p:pic>
      <p:sp>
        <p:nvSpPr>
          <p:cNvPr id="1435555748" name=""/>
          <p:cNvSpPr/>
          <p:nvPr/>
        </p:nvSpPr>
        <p:spPr bwMode="auto">
          <a:xfrm flipH="0" flipV="0">
            <a:off x="7200124" y="1254124"/>
            <a:ext cx="3017836" cy="317498"/>
          </a:xfrm>
          <a:prstGeom prst="rect">
            <a:avLst/>
          </a:prstGeom>
          <a:solidFill>
            <a:srgbClr val="FDE9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654714" name=""/>
          <p:cNvSpPr/>
          <p:nvPr/>
        </p:nvSpPr>
        <p:spPr bwMode="auto">
          <a:xfrm flipH="0" flipV="0">
            <a:off x="4048937" y="436562"/>
            <a:ext cx="4476749" cy="571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9019711" name=""/>
          <p:cNvSpPr/>
          <p:nvPr/>
        </p:nvSpPr>
        <p:spPr bwMode="auto">
          <a:xfrm flipH="0" flipV="0">
            <a:off x="1620062" y="2016124"/>
            <a:ext cx="571500" cy="515937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2170388" name=""/>
          <p:cNvSpPr/>
          <p:nvPr/>
        </p:nvSpPr>
        <p:spPr bwMode="auto">
          <a:xfrm flipH="0" flipV="0">
            <a:off x="1486711" y="5200650"/>
            <a:ext cx="571500" cy="515936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1166664" name=""/>
          <p:cNvSpPr/>
          <p:nvPr/>
        </p:nvSpPr>
        <p:spPr bwMode="auto">
          <a:xfrm flipH="0" flipV="0">
            <a:off x="2366187" y="1738312"/>
            <a:ext cx="1627187" cy="2222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375027" name=""/>
          <p:cNvSpPr/>
          <p:nvPr/>
        </p:nvSpPr>
        <p:spPr bwMode="auto">
          <a:xfrm flipH="0" flipV="0">
            <a:off x="4255312" y="3833812"/>
            <a:ext cx="1817687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2142" name=""/>
          <p:cNvSpPr/>
          <p:nvPr/>
        </p:nvSpPr>
        <p:spPr bwMode="auto">
          <a:xfrm flipH="0" flipV="0">
            <a:off x="9406749" y="3040062"/>
            <a:ext cx="1904999" cy="89693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45983159" name=""/>
          <p:cNvSpPr/>
          <p:nvPr/>
        </p:nvSpPr>
        <p:spPr bwMode="auto">
          <a:xfrm flipH="0" flipV="0">
            <a:off x="6446062" y="3603624"/>
            <a:ext cx="1690687" cy="4921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11734" name=""/>
          <p:cNvSpPr/>
          <p:nvPr/>
        </p:nvSpPr>
        <p:spPr bwMode="auto">
          <a:xfrm flipH="0" flipV="0">
            <a:off x="2866249" y="6095999"/>
            <a:ext cx="1674812" cy="37306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2067337" name=""/>
          <p:cNvSpPr txBox="1"/>
          <p:nvPr/>
        </p:nvSpPr>
        <p:spPr bwMode="auto">
          <a:xfrm flipH="0" flipV="0">
            <a:off x="2366185" y="436560"/>
            <a:ext cx="74272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solidFill>
                  <a:srgbClr val="850009"/>
                </a:solidFill>
                <a:latin typeface="IBM Plex Sans"/>
              </a:rPr>
              <a:t>การประทับเวลาอย่างเชื่อถือได้</a:t>
            </a:r>
            <a:endParaRPr sz="2800" b="1">
              <a:solidFill>
                <a:srgbClr val="850009"/>
              </a:solidFill>
              <a:latin typeface="IBM Plex Sans"/>
              <a:cs typeface="IBM Plex Sans"/>
            </a:endParaRPr>
          </a:p>
        </p:txBody>
      </p:sp>
      <p:sp>
        <p:nvSpPr>
          <p:cNvPr id="666728493" name=""/>
          <p:cNvSpPr txBox="1"/>
          <p:nvPr/>
        </p:nvSpPr>
        <p:spPr bwMode="auto">
          <a:xfrm flipH="0" flipV="0">
            <a:off x="2267924" y="1640939"/>
            <a:ext cx="1726168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คำนวณแฮช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86261133" name=""/>
          <p:cNvSpPr txBox="1"/>
          <p:nvPr/>
        </p:nvSpPr>
        <p:spPr bwMode="auto">
          <a:xfrm flipH="0" flipV="0">
            <a:off x="4998760" y="1701120"/>
            <a:ext cx="2052513" cy="2594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ส่งแฮชไปยัง TSA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826628945" name=""/>
          <p:cNvSpPr txBox="1"/>
          <p:nvPr/>
        </p:nvSpPr>
        <p:spPr bwMode="auto">
          <a:xfrm flipH="0" flipV="0">
            <a:off x="1486710" y="1254123"/>
            <a:ext cx="2973763" cy="30515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ภายในบริษัท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13745464" name=""/>
          <p:cNvSpPr txBox="1"/>
          <p:nvPr/>
        </p:nvSpPr>
        <p:spPr bwMode="auto">
          <a:xfrm flipH="0" flipV="0">
            <a:off x="1486710" y="2179838"/>
            <a:ext cx="706650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ข้อมูล</a:t>
            </a:r>
            <a:endParaRPr sz="10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1887285" name=""/>
          <p:cNvSpPr txBox="1"/>
          <p:nvPr/>
        </p:nvSpPr>
        <p:spPr bwMode="auto">
          <a:xfrm flipH="0" flipV="0">
            <a:off x="1411649" y="5311773"/>
            <a:ext cx="644081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ข้อมูล</a:t>
            </a:r>
            <a:endParaRPr sz="10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458164772" name=""/>
          <p:cNvSpPr txBox="1"/>
          <p:nvPr/>
        </p:nvSpPr>
        <p:spPr bwMode="auto">
          <a:xfrm flipH="0" flipV="0">
            <a:off x="1486710" y="6129950"/>
            <a:ext cx="421129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เก็บไว้ด้วยกัน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3664644" name=""/>
          <p:cNvSpPr txBox="1"/>
          <p:nvPr/>
        </p:nvSpPr>
        <p:spPr bwMode="auto">
          <a:xfrm flipH="0" flipV="0">
            <a:off x="3756939" y="4095747"/>
            <a:ext cx="2268077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ส่งคืนเวลาเซ็นและแฮชให้กับผู้ขอ </a:t>
            </a:r>
            <a:r>
              <a:rPr sz="1100"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988364204" name=""/>
          <p:cNvSpPr txBox="1"/>
          <p:nvPr/>
        </p:nvSpPr>
        <p:spPr bwMode="auto">
          <a:xfrm flipH="0" flipV="0">
            <a:off x="8468534" y="2027259"/>
            <a:ext cx="1968051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ประทับเวลา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7755538" name=""/>
          <p:cNvSpPr txBox="1"/>
          <p:nvPr/>
        </p:nvSpPr>
        <p:spPr bwMode="auto">
          <a:xfrm flipH="0" flipV="0">
            <a:off x="7051275" y="1254123"/>
            <a:ext cx="3384592" cy="27467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หน่วยงานการประทับเวลา (TSA)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86659638" name=""/>
          <p:cNvSpPr txBox="1"/>
          <p:nvPr/>
        </p:nvSpPr>
        <p:spPr bwMode="auto">
          <a:xfrm flipH="0" flipV="0">
            <a:off x="7051272" y="2568211"/>
            <a:ext cx="2171596" cy="2594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คำนวณแฮช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042183151" name=""/>
          <p:cNvSpPr txBox="1"/>
          <p:nvPr/>
        </p:nvSpPr>
        <p:spPr bwMode="auto">
          <a:xfrm flipH="0" flipV="0">
            <a:off x="9406748" y="3131637"/>
            <a:ext cx="2334618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นี่คือลายเซ็นดิจิทัลของแฮชที่ถูกเชื่อมต่อกับเวลาประทับ </a:t>
            </a:r>
            <a:r>
              <a:rPr sz="1100"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856247728" name=""/>
          <p:cNvSpPr txBox="1"/>
          <p:nvPr/>
        </p:nvSpPr>
        <p:spPr bwMode="auto">
          <a:xfrm flipH="0" flipV="0">
            <a:off x="6446061" y="3699144"/>
            <a:ext cx="1616558" cy="39659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000">
                <a:latin typeface="IBM Plex Sans"/>
              </a:rPr>
              <a:t>ใช้กุญแจส่วนตัวของ </a:t>
            </a:r>
            <a:r>
              <a:rPr sz="1000">
                <a:latin typeface="IBM Plex Sans"/>
              </a:rPr>
              <a:t>TSA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31696941" name=""/>
          <p:cNvSpPr txBox="1"/>
          <p:nvPr/>
        </p:nvSpPr>
        <p:spPr bwMode="auto">
          <a:xfrm flipH="0" flipV="0">
            <a:off x="9743962" y="4516295"/>
            <a:ext cx="1996686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ประทับเวลา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33654291" name=""/>
          <p:cNvSpPr txBox="1"/>
          <p:nvPr/>
        </p:nvSpPr>
        <p:spPr bwMode="auto">
          <a:xfrm flipH="0" flipV="0">
            <a:off x="4814896" y="5306036"/>
            <a:ext cx="2069344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ประทับเวลา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50129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61473" y="1099778"/>
            <a:ext cx="3469050" cy="4658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94779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42998" y="2438399"/>
            <a:ext cx="9905999" cy="1981199"/>
          </a:xfrm>
          <a:prstGeom prst="rect">
            <a:avLst/>
          </a:prstGeom>
        </p:spPr>
      </p:pic>
      <p:sp>
        <p:nvSpPr>
          <p:cNvPr id="659609761" name=""/>
          <p:cNvSpPr/>
          <p:nvPr/>
        </p:nvSpPr>
        <p:spPr bwMode="auto">
          <a:xfrm flipH="0" flipV="0">
            <a:off x="1437994" y="2703967"/>
            <a:ext cx="2628900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04420992" name=""/>
          <p:cNvSpPr txBox="1"/>
          <p:nvPr/>
        </p:nvSpPr>
        <p:spPr bwMode="auto">
          <a:xfrm flipH="0" flipV="0">
            <a:off x="1458298" y="2788560"/>
            <a:ext cx="540139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>
                <a:latin typeface="IBM Plex Sans"/>
              </a:rPr>
              <a:t>เอกสารอ้างอิง</a:t>
            </a:r>
            <a:endParaRPr sz="100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658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6823" y="1009648"/>
            <a:ext cx="8878350" cy="4838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777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96474" y="282956"/>
            <a:ext cx="7999047" cy="6292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2650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8497" y="751498"/>
            <a:ext cx="5355001" cy="5355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34225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7647" y="956958"/>
            <a:ext cx="3716701" cy="49440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28131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96424" y="90192"/>
            <a:ext cx="8782049" cy="66646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40215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56621" y="989621"/>
            <a:ext cx="4878752" cy="48787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04645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1399" y="914399"/>
            <a:ext cx="5029196" cy="50291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72483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3906" y="0"/>
            <a:ext cx="5304184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31697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1049" y="619124"/>
            <a:ext cx="7369898" cy="56197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53778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69060" y="609600"/>
            <a:ext cx="9925305" cy="52006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12837255" name=""/>
          <p:cNvSpPr txBox="1"/>
          <p:nvPr/>
        </p:nvSpPr>
        <p:spPr bwMode="auto">
          <a:xfrm rot="0" flipH="0" flipV="0">
            <a:off x="2755485" y="5941694"/>
            <a:ext cx="726830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>
                <a:latin typeface="IBM Plex Sans"/>
              </a:rPr>
              <a:t>หน้าของซาโตชิ นากาโมโตะ - </a:t>
            </a:r>
            <a:r>
              <a:rPr sz="1400" b="0" i="1" lang="fr-FR">
                <a:latin typeface="IBM Plex Sans"/>
              </a:rPr>
              <a:t>ไม่เคยได้รับของขวัญใด ๆ</a:t>
            </a:r>
            <a:endParaRPr sz="28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90356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3" y="1313473"/>
            <a:ext cx="4231050" cy="4231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67435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70771" y="786831"/>
            <a:ext cx="7050451" cy="52843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64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41575" y="1009649"/>
            <a:ext cx="9308848" cy="4838697"/>
          </a:xfrm>
          <a:prstGeom prst="rect">
            <a:avLst/>
          </a:prstGeom>
        </p:spPr>
      </p:pic>
      <p:sp>
        <p:nvSpPr>
          <p:cNvPr id="342911670" name=""/>
          <p:cNvSpPr txBox="1"/>
          <p:nvPr/>
        </p:nvSpPr>
        <p:spPr bwMode="auto">
          <a:xfrm flipH="0" flipV="0">
            <a:off x="1933203" y="5985901"/>
            <a:ext cx="7863998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latin typeface="IBM Plex Sans"/>
              </a:rPr>
              <a:t>ฟอรัมบิตคอยน์</a:t>
            </a:r>
            <a:endParaRPr sz="14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90693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1" y="399071"/>
            <a:ext cx="6059853" cy="605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25404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47172" y="302892"/>
            <a:ext cx="3697651" cy="62522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728638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28577" y="1277935"/>
            <a:ext cx="4334842" cy="43021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78648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088" y="457199"/>
            <a:ext cx="11701821" cy="59435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22988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4301" y="2631219"/>
            <a:ext cx="4483395" cy="15955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82738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0521" y="445294"/>
            <a:ext cx="3430952" cy="59674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5595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598" y="471305"/>
            <a:ext cx="6040800" cy="59153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72145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797" y="1431598"/>
            <a:ext cx="11984401" cy="3994799"/>
          </a:xfrm>
          <a:prstGeom prst="rect">
            <a:avLst/>
          </a:prstGeom>
        </p:spPr>
      </p:pic>
      <p:sp>
        <p:nvSpPr>
          <p:cNvPr id="136547751" name=""/>
          <p:cNvSpPr/>
          <p:nvPr/>
        </p:nvSpPr>
        <p:spPr bwMode="auto">
          <a:xfrm flipH="0" flipV="0">
            <a:off x="3420449" y="1381124"/>
            <a:ext cx="6781799" cy="40957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0372163" name=""/>
          <p:cNvSpPr txBox="1"/>
          <p:nvPr/>
        </p:nvSpPr>
        <p:spPr bwMode="auto">
          <a:xfrm flipH="0" flipV="0">
            <a:off x="572474" y="1155371"/>
            <a:ext cx="111830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Patoshi บล็อก &amp; เวลาประทับย้อนกลับ (หมายเลขบล็อก/ExtraNonce)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88497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61999" y="228600"/>
            <a:ext cx="10667998" cy="6400800"/>
          </a:xfrm>
          <a:prstGeom prst="rect">
            <a:avLst/>
          </a:prstGeom>
        </p:spPr>
      </p:pic>
      <p:sp>
        <p:nvSpPr>
          <p:cNvPr id="1446829500" name=""/>
          <p:cNvSpPr/>
          <p:nvPr/>
        </p:nvSpPr>
        <p:spPr bwMode="auto">
          <a:xfrm flipH="0" flipV="0">
            <a:off x="3963375" y="419099"/>
            <a:ext cx="6353174" cy="2762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9163990" name=""/>
          <p:cNvSpPr/>
          <p:nvPr/>
        </p:nvSpPr>
        <p:spPr bwMode="auto">
          <a:xfrm flipH="0" flipV="0">
            <a:off x="848699" y="1847849"/>
            <a:ext cx="276224" cy="254317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67220978" name=""/>
          <p:cNvSpPr txBox="1"/>
          <p:nvPr/>
        </p:nvSpPr>
        <p:spPr bwMode="auto">
          <a:xfrm flipH="0" flipV="0">
            <a:off x="1439249" y="228599"/>
            <a:ext cx="1058299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ประมาณเปอร์เซ็นต์ของซาโตชิในเครือข่าย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6166462" name=""/>
          <p:cNvSpPr txBox="1"/>
          <p:nvPr/>
        </p:nvSpPr>
        <p:spPr bwMode="auto">
          <a:xfrm rot="16199969" flipH="0" flipV="0">
            <a:off x="-21773" y="2867636"/>
            <a:ext cx="198823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เปอร์เซ็นต์ของเครือข่าย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88740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65771" y="170863"/>
            <a:ext cx="10860453" cy="6516272"/>
          </a:xfrm>
          <a:prstGeom prst="rect">
            <a:avLst/>
          </a:prstGeom>
        </p:spPr>
      </p:pic>
      <p:sp>
        <p:nvSpPr>
          <p:cNvPr id="1513896667" name=""/>
          <p:cNvSpPr/>
          <p:nvPr/>
        </p:nvSpPr>
        <p:spPr bwMode="auto">
          <a:xfrm flipH="0" flipV="0">
            <a:off x="745567" y="2441863"/>
            <a:ext cx="329045" cy="12036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90721780" name=""/>
          <p:cNvSpPr/>
          <p:nvPr/>
        </p:nvSpPr>
        <p:spPr bwMode="auto">
          <a:xfrm flipH="0" flipV="0">
            <a:off x="4877775" y="333374"/>
            <a:ext cx="4610099" cy="3047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6389776" name=""/>
          <p:cNvSpPr/>
          <p:nvPr/>
        </p:nvSpPr>
        <p:spPr bwMode="auto">
          <a:xfrm flipH="0" flipV="0">
            <a:off x="4925399" y="6095999"/>
            <a:ext cx="1571625" cy="4381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54449911" name=""/>
          <p:cNvSpPr/>
          <p:nvPr/>
        </p:nvSpPr>
        <p:spPr bwMode="auto">
          <a:xfrm flipH="0" flipV="0">
            <a:off x="6811349" y="6095999"/>
            <a:ext cx="1571625" cy="43814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70840435" name=""/>
          <p:cNvSpPr txBox="1"/>
          <p:nvPr/>
        </p:nvSpPr>
        <p:spPr bwMode="auto">
          <a:xfrm flipH="0" flipV="0">
            <a:off x="1639274" y="170862"/>
            <a:ext cx="9582868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การประเมินแฮชเรตของซาโทชิ </a:t>
            </a:r>
            <a:r>
              <a:rPr sz="1800"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92520675" name=""/>
          <p:cNvSpPr txBox="1"/>
          <p:nvPr/>
        </p:nvSpPr>
        <p:spPr bwMode="auto">
          <a:xfrm rot="16199969" flipH="0" flipV="0">
            <a:off x="433819" y="2876295"/>
            <a:ext cx="9120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แฮชเรต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0757163" name=""/>
          <p:cNvSpPr txBox="1"/>
          <p:nvPr/>
        </p:nvSpPr>
        <p:spPr bwMode="auto">
          <a:xfrm flipH="0" flipV="0">
            <a:off x="4925398" y="6095998"/>
            <a:ext cx="1351535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อัตราแฮชเฉลี่ยรายวัน</a:t>
            </a:r>
            <a:endParaRPr sz="900">
              <a:latin typeface="IBM Plex Sans"/>
              <a:cs typeface="IBM Plex Sans"/>
            </a:endParaRPr>
          </a:p>
        </p:txBody>
      </p:sp>
      <p:sp>
        <p:nvSpPr>
          <p:cNvPr id="641046973" name=""/>
          <p:cNvSpPr txBox="1"/>
          <p:nvPr/>
        </p:nvSpPr>
        <p:spPr bwMode="auto">
          <a:xfrm flipH="0" flipV="0">
            <a:off x="6932529" y="6095997"/>
            <a:ext cx="2127800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โมเดลแฮชเรตเชิงเส้น</a:t>
            </a:r>
            <a:endParaRPr sz="9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407277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9396" y="804024"/>
            <a:ext cx="6193201" cy="524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92180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39299" y="591199"/>
            <a:ext cx="8513397" cy="56755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07658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20499" y="388166"/>
            <a:ext cx="4550995" cy="6081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5999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03550" y="2314574"/>
            <a:ext cx="6984897" cy="22288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69982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2" y="971013"/>
            <a:ext cx="6059851" cy="49159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13441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251" y="1543043"/>
            <a:ext cx="11395487" cy="37719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10973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30498" y="904874"/>
            <a:ext cx="6730999" cy="5048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9710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608" y="1971674"/>
            <a:ext cx="10820781" cy="2914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39844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3441" y="1504949"/>
            <a:ext cx="11245114" cy="38480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5484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29" y="38099"/>
            <a:ext cx="12165738" cy="6781798"/>
          </a:xfrm>
          <a:prstGeom prst="rect">
            <a:avLst/>
          </a:prstGeom>
        </p:spPr>
      </p:pic>
      <p:sp>
        <p:nvSpPr>
          <p:cNvPr id="323316966" name=""/>
          <p:cNvSpPr/>
          <p:nvPr/>
        </p:nvSpPr>
        <p:spPr bwMode="auto">
          <a:xfrm flipH="0" flipV="0">
            <a:off x="20024" y="2952749"/>
            <a:ext cx="209549" cy="15620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88304490" name=""/>
          <p:cNvSpPr/>
          <p:nvPr/>
        </p:nvSpPr>
        <p:spPr bwMode="auto">
          <a:xfrm flipH="0" flipV="0">
            <a:off x="6039824" y="6610349"/>
            <a:ext cx="1514474" cy="1904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37384418" name=""/>
          <p:cNvSpPr txBox="1"/>
          <p:nvPr/>
        </p:nvSpPr>
        <p:spPr bwMode="auto">
          <a:xfrm rot="16199969" flipH="0" flipV="0">
            <a:off x="-275045" y="3247818"/>
            <a:ext cx="834339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ExtraNonce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453161468" name=""/>
          <p:cNvSpPr txBox="1"/>
          <p:nvPr/>
        </p:nvSpPr>
        <p:spPr bwMode="auto">
          <a:xfrm flipH="0" flipV="0">
            <a:off x="6039822" y="6583498"/>
            <a:ext cx="445977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วันที่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30085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376657" y="866774"/>
            <a:ext cx="5438683" cy="51244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66029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5321" y="2457449"/>
            <a:ext cx="7361353" cy="1943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37150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7379" y="1543048"/>
            <a:ext cx="10897241" cy="25717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41417221" name=""/>
          <p:cNvSpPr txBox="1"/>
          <p:nvPr/>
        </p:nvSpPr>
        <p:spPr bwMode="auto">
          <a:xfrm rot="0" flipH="0" flipV="0">
            <a:off x="782023" y="4581703"/>
            <a:ext cx="2861100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rgbClr val="2D2593"/>
                </a:solidFill>
                <a:latin typeface="IBM Plex Sans"/>
              </a:rPr>
              <a:t>"บทความ: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คุณรู้เกี่ยวกับบิตคอยน์ไหม?"</a:t>
            </a:r>
            <a:endParaRPr sz="1600" b="0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755272410" name=""/>
          <p:cNvSpPr txBox="1"/>
          <p:nvPr/>
        </p:nvSpPr>
        <p:spPr bwMode="auto">
          <a:xfrm rot="0" flipH="0" flipV="0">
            <a:off x="3640603" y="4515029"/>
            <a:ext cx="7907255" cy="94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บิตคอยน์เป็นสกุลเงินอิเล็กทรอนิกส์ที่ออกแบบในปี 2009 โดยบุคคลที่ชื่อ ซาโตชิ นากาโมโตะ สกุลเงินนี้โดดเด่นจากสกุลเงินอิเล็กทรอนิกส์อื่น ๆ เนื่องจากมีลักษณะการทำงานแบบเพียร์ทูเพียร์ที่กระจายอำนาจอย่างเต็มที่ และการใช้แนวคิดการเข้ารหัสพื้นฐานอย่างชาญฉลาด มันพึ่งพาซอฟต์แวร์ที่เขียนด้วย C++ และเผยแพร่ภายใต้ใบอนุญาตโอเพนซอร์ส MIT</a:t>
            </a:r>
            <a:endParaRPr sz="1000" b="0" i="0" u="none" strike="noStrike" cap="none" spc="0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3144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4596" y="1174051"/>
            <a:ext cx="6802802" cy="4509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83458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59" y="1162049"/>
            <a:ext cx="11421678" cy="4533898"/>
          </a:xfrm>
          <a:prstGeom prst="rect">
            <a:avLst/>
          </a:prstGeom>
        </p:spPr>
      </p:pic>
      <p:sp>
        <p:nvSpPr>
          <p:cNvPr id="564352030" name=""/>
          <p:cNvSpPr txBox="1"/>
          <p:nvPr/>
        </p:nvSpPr>
        <p:spPr bwMode="auto">
          <a:xfrm rot="0" flipH="0" flipV="0">
            <a:off x="2896574" y="5886449"/>
            <a:ext cx="697409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1" u="none" lang="en-US">
                <a:solidFill>
                  <a:schemeClr val="tx1"/>
                </a:solidFill>
                <a:latin typeface="IBM Plex Sans"/>
              </a:rPr>
              <a:t>บิตคอยน์ การเพิ่มขึ้นของเครื่องจักร</a:t>
            </a:r>
            <a:endParaRPr sz="16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85434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190999" y="1523999"/>
            <a:ext cx="3809999" cy="3809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68177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876799" y="2209799"/>
            <a:ext cx="2438399" cy="2438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89266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9641" y="514350"/>
            <a:ext cx="8592714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08455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4819" y="2943224"/>
            <a:ext cx="8102357" cy="9715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22938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18698" y="932560"/>
            <a:ext cx="2154600" cy="49928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35962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06353" y="1133474"/>
            <a:ext cx="4779291" cy="4591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63211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8438" y="771524"/>
            <a:ext cx="11495120" cy="53149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59389808" name=""/>
          <p:cNvSpPr/>
          <p:nvPr/>
        </p:nvSpPr>
        <p:spPr bwMode="auto">
          <a:xfrm flipH="0" flipV="0">
            <a:off x="439123" y="5567948"/>
            <a:ext cx="11363323" cy="51851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24143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58827" y="485774"/>
            <a:ext cx="9674340" cy="58864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72137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25144" y="66674"/>
            <a:ext cx="9741706" cy="67246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7074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98724" y="400049"/>
            <a:ext cx="10394548" cy="605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95027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529" y="628650"/>
            <a:ext cx="12008937" cy="56006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63872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4822" y="389722"/>
            <a:ext cx="10822351" cy="60785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00275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2065" y="514349"/>
            <a:ext cx="10347867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31948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32748" y="771007"/>
            <a:ext cx="5926500" cy="53159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96011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2" y="608297"/>
            <a:ext cx="4231051" cy="5641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27259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28698" y="895349"/>
            <a:ext cx="10134599" cy="5067299"/>
          </a:xfrm>
          <a:prstGeom prst="rect">
            <a:avLst/>
          </a:prstGeom>
        </p:spPr>
      </p:pic>
      <p:sp>
        <p:nvSpPr>
          <p:cNvPr id="493737358" name=""/>
          <p:cNvSpPr/>
          <p:nvPr/>
        </p:nvSpPr>
        <p:spPr bwMode="auto">
          <a:xfrm flipH="0" flipV="0">
            <a:off x="1229699" y="1790699"/>
            <a:ext cx="371475" cy="31241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0085475" name=""/>
          <p:cNvSpPr txBox="1"/>
          <p:nvPr/>
        </p:nvSpPr>
        <p:spPr bwMode="auto">
          <a:xfrm rot="16199969" flipH="0" flipV="0">
            <a:off x="-1385529" y="3289162"/>
            <a:ext cx="48298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ราคา Bitcoin ในสกุลเงินดอลลาร์สหรัฐ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70</Slides>
  <Notes>70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31</cp:revision>
  <dcterms:modified xsi:type="dcterms:W3CDTF">2025-10-15T15:09:23Z</dcterms:modified>
</cp:coreProperties>
</file>