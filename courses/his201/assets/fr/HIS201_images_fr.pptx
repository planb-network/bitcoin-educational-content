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En clair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Texte chiffré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Envoi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Chiffrement</a:t>
            </a:r>
            <a:endParaRPr/>
          </a:p>
          <a:p>
            <a:pPr algn="ctr"/>
            <a:r>
              <a:rPr sz="2300" lang="en-US">
                <a:latin typeface="Roboto"/>
              </a:rPr>
              <a:t>avec clé</a:t>
            </a:r>
          </a:p>
          <a:p>
            <a:pPr algn="ctr"/>
            <a:r>
              <a:rPr sz="2300" lang="en-US">
                <a:latin typeface="Roboto"/>
              </a:rPr>
              <a:t>publique</a:t>
            </a:r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Décryptage</a:t>
            </a:r>
            <a:endParaRPr/>
          </a:p>
          <a:p>
            <a:pPr algn="ctr"/>
            <a:r>
              <a:rPr sz="2300" lang="en-US">
                <a:latin typeface="Roboto"/>
              </a:rPr>
              <a:t>avec la clé</a:t>
            </a:r>
          </a:p>
          <a:p>
            <a:pPr algn="ctr"/>
            <a:r>
              <a:rPr sz="2300" lang="en-US">
                <a:latin typeface="Roboto"/>
              </a:rPr>
              <a:t>privée</a:t>
            </a:r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En clair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Texte chiffré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Envoi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Chiffrement </a:t>
            </a:r>
            <a:r>
              <a:rPr sz="1400" b="0" lang="fr-FR">
                <a:latin typeface="IBM Plex Sans"/>
              </a:rPr>
              <a:t>avec </a:t>
            </a:r>
            <a:r>
              <a:rPr sz="1400" b="0">
                <a:latin typeface="IBM Plex Sans"/>
              </a:rPr>
              <a:t>clé </a:t>
            </a:r>
            <a:r>
              <a:rPr sz="1400" b="0" lang="fr-FR">
                <a:latin typeface="IBM Plex Sans"/>
              </a:rPr>
              <a:t>publique </a:t>
            </a:r>
            <a:r>
              <a:rPr sz="1400" b="0">
                <a:latin typeface="IBM Plex Sans"/>
              </a:rPr>
              <a:t/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Décryptage </a:t>
            </a:r>
            <a:r>
              <a:rPr sz="1600" b="0" lang="fr-FR">
                <a:latin typeface="IBM Plex Sans"/>
              </a:rPr>
              <a:t>avec </a:t>
            </a:r>
            <a:r>
              <a:rPr sz="1600" b="0">
                <a:latin typeface="IBM Plex Sans"/>
              </a:rPr>
              <a:t>la </a:t>
            </a:r>
            <a:r>
              <a:rPr sz="1600" b="0" lang="fr-FR">
                <a:latin typeface="IBM Plex Sans"/>
              </a:rPr>
              <a:t>clé </a:t>
            </a:r>
            <a:r>
              <a:rPr sz="1600" b="0">
                <a:latin typeface="IBM Plex Sans"/>
              </a:rPr>
              <a:t>privée</a:t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Message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Signature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Envoi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OK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Signature </a:t>
            </a:r>
            <a:r>
              <a:rPr sz="1600" b="0" lang="fr-FR">
                <a:latin typeface="IBM Plex Sans"/>
              </a:rPr>
              <a:t>avec </a:t>
            </a:r>
            <a:r>
              <a:rPr sz="1600" b="0">
                <a:latin typeface="IBM Plex Sans"/>
              </a:rPr>
              <a:t>clé </a:t>
            </a:r>
            <a:r>
              <a:rPr sz="1600" b="0" lang="fr-FR">
                <a:latin typeface="IBM Plex Sans"/>
              </a:rPr>
              <a:t>privée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Vérification </a:t>
            </a:r>
            <a:r>
              <a:rPr sz="1600" b="0" lang="fr-FR">
                <a:latin typeface="IBM Plex Sans"/>
              </a:rPr>
              <a:t>avec </a:t>
            </a:r>
            <a:r>
              <a:rPr sz="1600" b="0">
                <a:latin typeface="IBM Plex Sans"/>
              </a:rPr>
              <a:t>la </a:t>
            </a:r>
            <a:r>
              <a:rPr sz="1600" b="0" lang="fr-FR">
                <a:latin typeface="IBM Plex Sans"/>
              </a:rPr>
              <a:t>clé </a:t>
            </a:r>
            <a:r>
              <a:rPr sz="1600" b="0">
                <a:latin typeface="IBM Plex Sans"/>
              </a:rPr>
              <a:t>publique</a:t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envoyer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envoyer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crédits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Banque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Banque 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registre des </a:t>
            </a:r>
            <a:r>
              <a:rPr sz="1400">
                <a:latin typeface="IBM Plex Sans"/>
              </a:rPr>
              <a:t>billets dépensés</a:t>
            </a:r>
            <a:endParaRPr sz="1400">
              <a:latin typeface="IBM Plex Sans"/>
              <a:ea typeface="IBM Plex Sans"/>
              <a:cs typeface="IBM Plex Sans"/>
            </a:endParaRPr>
          </a:p>
          <a:p>
            <a:pPr algn="ctr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Réseaux distribués.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Station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Lien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Centralisation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Décentralisé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Général loyal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Traître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Défaite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Victoire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Horodatage fiable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Calculer le hachage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Envoyer le hachage à la TSA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Au sein d'une entreprise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Données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/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Données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Stocker ensemble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L'horodatage et le </a:t>
            </a:r>
            <a:r>
              <a:rPr sz="1100">
                <a:latin typeface="IBM Plex Sans"/>
              </a:rPr>
              <a:t>hachage signés sont </a:t>
            </a:r>
            <a:r>
              <a:rPr sz="1100">
                <a:latin typeface="IBM Plex Sans"/>
              </a:rPr>
              <a:t>renvoyés au demandeur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Horodatage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Autorité d'horodatage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Calculer le hachage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Il s'agit </a:t>
            </a:r>
            <a:r>
              <a:rPr sz="1100" lang="fr-FR">
                <a:latin typeface="IBM Plex Sans"/>
              </a:rPr>
              <a:t>d'une signature </a:t>
            </a:r>
            <a:r>
              <a:rPr sz="1100">
                <a:latin typeface="IBM Plex Sans"/>
              </a:rPr>
              <a:t>numérique du </a:t>
            </a:r>
            <a:r>
              <a:rPr sz="1100" lang="fr-FR">
                <a:latin typeface="IBM Plex Sans"/>
              </a:rPr>
              <a:t>hachage </a:t>
            </a:r>
            <a:r>
              <a:rPr sz="1100">
                <a:latin typeface="IBM Plex Sans"/>
              </a:rPr>
              <a:t>concaténé </a:t>
            </a:r>
            <a:r>
              <a:rPr sz="1100" lang="fr-FR">
                <a:latin typeface="IBM Plex Sans"/>
              </a:rPr>
              <a:t>à </a:t>
            </a:r>
            <a:r>
              <a:rPr sz="1100">
                <a:latin typeface="IBM Plex Sans"/>
              </a:rPr>
              <a:t>l'horodatage</a:t>
            </a:r>
            <a:endParaRPr sz="110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Appliquer la clé </a:t>
            </a:r>
            <a:r>
              <a:rPr sz="1000">
                <a:latin typeface="IBM Plex Sans"/>
              </a:rPr>
              <a:t>privée de l'AH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Horodatage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Horodatage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Références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Satoshi Nakamoto's Page - Je </a:t>
            </a:r>
            <a:r>
              <a:rPr sz="1400" b="0" i="1" lang="fr-FR">
                <a:latin typeface="IBM Plex Sans"/>
              </a:rPr>
              <a:t>n'ai jamais reçu de cadeau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Forum Bitcoin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Blocs de Patoshi et horodatage inversé (numéro de bloc/ExtraNonce)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Estimation du pourcentage de Satoshi dans le réseau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Pourcentage du réseau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Estimation du hashrate </a:t>
            </a:r>
            <a:r>
              <a:rPr sz="1800">
                <a:latin typeface="IBM Plex Sans"/>
              </a:rPr>
              <a:t>de Satoshi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Hashrate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Débit journalier moyen (hashrate)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Modèle linéaire de hashrate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ExtraNonce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Date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"Article : Connaissez-vous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les bitcoins ?"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Le bitcoin est une monnaie électronique créée en 2009 par un certain Satoshi Nakamoto. Cette monnaie se distingue des autres monnaies électroniques par sa nature entièrement décentralisée, de pair à pair, et par l'utilisation intelligente de concepts cryptographiques de base. Elle repose sur un logiciel écrit en C++ et publié sous la licence open-source MIT.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/>
          </a:p>
          <a:p>
            <a:pPr algn="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Bitcoin : l'essor des machines.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Prix du bitcoin en dollars américains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