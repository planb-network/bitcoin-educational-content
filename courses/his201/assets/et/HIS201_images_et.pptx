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880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226898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5023909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807898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77878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073566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7924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8815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145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731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8881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692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7079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96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3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436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249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885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186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8121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6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520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6091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612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2606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062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54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307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750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707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751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831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1973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905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8177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34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09114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4735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1364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56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43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562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887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7341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5303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679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648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4788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46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91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583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811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56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9749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277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709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23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219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3548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6765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322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46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12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413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1187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180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644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4312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183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029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368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769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242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5644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94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96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99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12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212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012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044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113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655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414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052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9933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02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6456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2532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670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990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1904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679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049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764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350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1166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970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764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045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67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964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3369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5973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699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9128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693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462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5226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054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871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5374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077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85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7997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878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269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1974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880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4930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5576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08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575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333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0390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512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7123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043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776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1362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859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084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59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5054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77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21048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64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90545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2082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0579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1067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0065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189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461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1013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193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911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477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047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150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0005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349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518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507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2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742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9839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503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836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403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64363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859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4637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447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676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82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607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48505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947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652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262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792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21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329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642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780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243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663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8245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11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7580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424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324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475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598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641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585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26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573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901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8306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092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4091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841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202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055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08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591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4864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1194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054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05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88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9035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7108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662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902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1379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0616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685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4161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7551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141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0485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121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45204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184898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638093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143880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583022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118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622683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18762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219817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18024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74685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91535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24685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190664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15145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5030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499346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85778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93759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87756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10878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66468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478355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6471055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12532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7218483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6758251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96675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963807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1975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641573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9190693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855161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234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135705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023062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8521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592811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951743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12088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74121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18037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03096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375896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001333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78868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724172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8982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626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70459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81615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84858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24922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380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018816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985887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7222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18542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30567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886158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234639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4725226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60816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839992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31477049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42476665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77383184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Krüptograafiline tekst</a:t>
            </a:r>
            <a:endParaRPr/>
          </a:p>
        </p:txBody>
      </p:sp>
      <p:sp>
        <p:nvSpPr>
          <p:cNvPr id="1986959803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65291173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147203032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Saatmine</a:t>
            </a:r>
            <a:endParaRPr/>
          </a:p>
        </p:txBody>
      </p:sp>
      <p:sp>
        <p:nvSpPr>
          <p:cNvPr id="138156008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Krüpteerimine</a:t>
            </a:r>
            <a:endParaRPr/>
          </a:p>
          <a:p>
            <a:pPr algn="ctr"/>
            <a:r>
              <a:rPr sz="2300" lang="en-US">
                <a:latin typeface="Roboto"/>
              </a:rPr>
              <a:t>avaliku</a:t>
            </a:r>
          </a:p>
          <a:p>
            <a:pPr algn="ctr"/>
            <a:r>
              <a:rPr sz="2300" lang="en-US">
                <a:latin typeface="Roboto"/>
              </a:rPr>
              <a:t>võtmega</a:t>
            </a:r>
          </a:p>
        </p:txBody>
      </p:sp>
      <p:sp>
        <p:nvSpPr>
          <p:cNvPr id="33333835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6749830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Dekrüpteerimine</a:t>
            </a:r>
            <a:endParaRPr/>
          </a:p>
          <a:p>
            <a:pPr algn="ctr"/>
            <a:r>
              <a:rPr sz="2300" lang="en-US">
                <a:latin typeface="Roboto"/>
              </a:rPr>
              <a:t>koos privaatse</a:t>
            </a:r>
          </a:p>
          <a:p>
            <a:pPr algn="ctr"/>
            <a:r>
              <a:rPr sz="2300" lang="en-US">
                <a:latin typeface="Roboto"/>
              </a:rPr>
              <a:t>võti</a:t>
            </a:r>
          </a:p>
        </p:txBody>
      </p:sp>
      <p:pic>
        <p:nvPicPr>
          <p:cNvPr id="3220401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212328641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30770631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714230122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72060092" name=""/>
          <p:cNvSpPr/>
          <p:nvPr/>
        </p:nvSpPr>
        <p:spPr bwMode="auto">
          <a:xfrm flipH="0" flipV="0">
            <a:off x="8721166" y="2905444"/>
            <a:ext cx="1398606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26640473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245901574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8776786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363739165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56175528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Krüptograafiline tekst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565263702" name=""/>
          <p:cNvSpPr txBox="1"/>
          <p:nvPr/>
        </p:nvSpPr>
        <p:spPr bwMode="auto">
          <a:xfrm flipH="0" flipV="0">
            <a:off x="8766243" y="2905443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Saatmine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397819169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Krüpteerimine </a:t>
            </a:r>
            <a:r>
              <a:rPr sz="1400" b="0" lang="fr-FR">
                <a:latin typeface="IBM Plex Sans"/>
              </a:rPr>
              <a:t>avaliku </a:t>
            </a:r>
            <a:r>
              <a:rPr sz="1400" b="0">
                <a:latin typeface="IBM Plex Sans"/>
              </a:rPr>
              <a:t>võtmega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96100930" name=""/>
          <p:cNvSpPr txBox="1"/>
          <p:nvPr/>
        </p:nvSpPr>
        <p:spPr bwMode="auto">
          <a:xfrm flipH="0" flipV="0">
            <a:off x="5101090" y="5512395"/>
            <a:ext cx="1828573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Dekrüpteerimine </a:t>
            </a:r>
            <a:r>
              <a:rPr sz="1600" b="0" lang="fr-FR">
                <a:latin typeface="IBM Plex Sans"/>
              </a:rPr>
              <a:t>privaatvõtmega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474109020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702251658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036716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29097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990828214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04878812" name=""/>
          <p:cNvSpPr/>
          <p:nvPr/>
        </p:nvSpPr>
        <p:spPr bwMode="auto">
          <a:xfrm flipH="0" flipV="0">
            <a:off x="8154517" y="2881840"/>
            <a:ext cx="1786853" cy="50106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5447252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9202984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9032675" name=""/>
          <p:cNvSpPr/>
          <p:nvPr/>
        </p:nvSpPr>
        <p:spPr bwMode="auto">
          <a:xfrm flipH="0" flipV="0">
            <a:off x="7347286" y="4592175"/>
            <a:ext cx="1614461" cy="40279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4742072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0115840" name=""/>
          <p:cNvSpPr/>
          <p:nvPr/>
        </p:nvSpPr>
        <p:spPr bwMode="auto">
          <a:xfrm flipH="0" flipV="0">
            <a:off x="2751531" y="989319"/>
            <a:ext cx="132120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6676289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1067695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Sõnum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902521319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Allkiri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75628053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Saatmine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467308570" name=""/>
          <p:cNvSpPr txBox="1"/>
          <p:nvPr/>
        </p:nvSpPr>
        <p:spPr bwMode="auto">
          <a:xfrm flipH="0" flipV="0">
            <a:off x="2916835" y="989319"/>
            <a:ext cx="979886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Bitcoin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185353400" name=""/>
          <p:cNvSpPr txBox="1"/>
          <p:nvPr/>
        </p:nvSpPr>
        <p:spPr bwMode="auto">
          <a:xfrm flipH="0" flipV="0">
            <a:off x="6940686" y="4598371"/>
            <a:ext cx="241309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0">
                <a:latin typeface="IBM Plex Sans"/>
              </a:rPr>
              <a:t>Bitcoin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435411939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573119703" name=""/>
          <p:cNvSpPr txBox="1"/>
          <p:nvPr/>
        </p:nvSpPr>
        <p:spPr bwMode="auto">
          <a:xfrm flipH="0" flipV="0">
            <a:off x="4694891" y="1539360"/>
            <a:ext cx="1862366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Allkirjastamine </a:t>
            </a:r>
            <a:r>
              <a:rPr sz="1600" b="0" lang="fr-FR">
                <a:latin typeface="IBM Plex Sans"/>
              </a:rPr>
              <a:t>privaatvõtmega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  <p:sp>
        <p:nvSpPr>
          <p:cNvPr id="1154982489" name=""/>
          <p:cNvSpPr txBox="1"/>
          <p:nvPr/>
        </p:nvSpPr>
        <p:spPr bwMode="auto">
          <a:xfrm flipH="0" flipV="0">
            <a:off x="4694891" y="5686114"/>
            <a:ext cx="1941018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Kontrollimine </a:t>
            </a:r>
            <a:r>
              <a:rPr sz="1600" b="0" lang="fr-FR">
                <a:latin typeface="IBM Plex Sans"/>
              </a:rPr>
              <a:t>avaliku </a:t>
            </a:r>
            <a:r>
              <a:rPr sz="1600" b="0">
                <a:latin typeface="IBM Plex Sans"/>
              </a:rPr>
              <a:t>võtmega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80395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62759543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71081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7268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112220958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4572347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93142742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saatke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7969362" name=""/>
          <p:cNvSpPr txBox="1"/>
          <p:nvPr/>
        </p:nvSpPr>
        <p:spPr bwMode="auto">
          <a:xfrm flipH="0" flipV="0">
            <a:off x="6161815" y="877671"/>
            <a:ext cx="6857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saatke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1596980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krediit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99638638" name=""/>
          <p:cNvSpPr txBox="1"/>
          <p:nvPr/>
        </p:nvSpPr>
        <p:spPr bwMode="auto">
          <a:xfrm flipH="0" flipV="0">
            <a:off x="5169888" y="5618479"/>
            <a:ext cx="2143333" cy="51851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kasutatud pangatähtede </a:t>
            </a:r>
            <a:r>
              <a:rPr sz="1400">
                <a:latin typeface="IBM Plex Sans"/>
              </a:rPr>
              <a:t>arvestus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22555550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Pank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613550283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Pank 2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4637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2696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69930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9315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51092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82736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4767096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5562393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5567940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18749698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9337553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0686754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26948479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Hajutatud võrgud.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88270526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Jaam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089050" name=""/>
          <p:cNvSpPr txBox="1"/>
          <p:nvPr/>
        </p:nvSpPr>
        <p:spPr bwMode="auto">
          <a:xfrm flipH="0" flipV="0">
            <a:off x="3677625" y="4829175"/>
            <a:ext cx="92195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Link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28143566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126003888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61662547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Tsentraliseerimine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44906937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Detsentraliseeritud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12698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37224326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2924095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88979133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98074691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82975670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Lojaalne kindral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2386839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Reetur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418977542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Võita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84603552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Victory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8611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014307950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75289320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95138574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347419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979155908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4058829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61988050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73589665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848483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5674113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Usaldusväärne ajatempeldus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1414899732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Arvuta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5646690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Saatke hash TSA-le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63940130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Ettevõttesiseselt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22823709" name=""/>
          <p:cNvSpPr txBox="1"/>
          <p:nvPr/>
        </p:nvSpPr>
        <p:spPr bwMode="auto">
          <a:xfrm flipH="0" flipV="0">
            <a:off x="1604187" y="2179839"/>
            <a:ext cx="449025" cy="2441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latin typeface="IBM Plex Sans"/>
              </a:rPr>
              <a:t>Andmed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3056804" name=""/>
          <p:cNvSpPr txBox="1"/>
          <p:nvPr/>
        </p:nvSpPr>
        <p:spPr bwMode="auto">
          <a:xfrm flipH="0" flipV="0">
            <a:off x="1478989" y="5311773"/>
            <a:ext cx="449025" cy="2441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000">
                <a:latin typeface="IBM Plex Sans"/>
              </a:rPr>
              <a:t>Andmed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2484745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Salvesta koos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2038417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Taotlejale tagastatakse </a:t>
            </a:r>
            <a:r>
              <a:rPr sz="1100">
                <a:latin typeface="IBM Plex Sans"/>
              </a:rPr>
              <a:t>allkirjastatud ajatempel </a:t>
            </a:r>
            <a:r>
              <a:rPr sz="1100">
                <a:latin typeface="IBM Plex Sans"/>
              </a:rPr>
              <a:t>ja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71621498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Ajatempel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58230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Ajatempliasutus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98392674" name=""/>
          <p:cNvSpPr txBox="1"/>
          <p:nvPr/>
        </p:nvSpPr>
        <p:spPr bwMode="auto">
          <a:xfrm flipH="0" flipV="0">
            <a:off x="7291405" y="2568212"/>
            <a:ext cx="1644739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Arvuta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583859284" name=""/>
          <p:cNvSpPr txBox="1"/>
          <p:nvPr/>
        </p:nvSpPr>
        <p:spPr bwMode="auto">
          <a:xfrm flipH="0" flipV="0">
            <a:off x="9476700" y="3131638"/>
            <a:ext cx="1945468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See </a:t>
            </a:r>
            <a:r>
              <a:rPr sz="1100" lang="fr-FR">
                <a:latin typeface="IBM Plex Sans"/>
              </a:rPr>
              <a:t>on </a:t>
            </a:r>
            <a:r>
              <a:rPr sz="1100">
                <a:latin typeface="IBM Plex Sans"/>
              </a:rPr>
              <a:t>digitaalallkiri, </a:t>
            </a:r>
            <a:r>
              <a:rPr sz="1100" lang="fr-FR">
                <a:latin typeface="IBM Plex Sans"/>
              </a:rPr>
              <a:t>mis </a:t>
            </a:r>
            <a:r>
              <a:rPr sz="1100">
                <a:latin typeface="IBM Plex Sans"/>
              </a:rPr>
              <a:t>on </a:t>
            </a:r>
            <a:r>
              <a:rPr sz="1100" lang="fr-FR">
                <a:latin typeface="IBM Plex Sans"/>
              </a:rPr>
              <a:t>liidetud </a:t>
            </a:r>
            <a:r>
              <a:rPr sz="1100">
                <a:latin typeface="IBM Plex Sans"/>
              </a:rPr>
              <a:t>ajatempliga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67753971" name=""/>
          <p:cNvSpPr txBox="1"/>
          <p:nvPr/>
        </p:nvSpPr>
        <p:spPr bwMode="auto">
          <a:xfrm flipH="0" flipV="0">
            <a:off x="6446061" y="3699145"/>
            <a:ext cx="1615839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Rakendada TSA </a:t>
            </a:r>
            <a:r>
              <a:rPr sz="1000">
                <a:latin typeface="IBM Plex Sans"/>
              </a:rPr>
              <a:t>eravõti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5734416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Ajatempel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40763826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Ajatempel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61781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08657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23110345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89329475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Viited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5621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7916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50408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29086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61618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65995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061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5224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01369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4847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7695063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Satoshi Nakamoto lehekülg - Ei </a:t>
            </a:r>
            <a:r>
              <a:rPr sz="1400" b="0" i="1" lang="fr-FR">
                <a:latin typeface="IBM Plex Sans"/>
              </a:rPr>
              <a:t>ole kunagi saanud ühtegi kingitust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7322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60083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15791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62283011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Bitcoini foorum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35618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1163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13824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19855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60463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8016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1434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22385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533254009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49370728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plokid ja ümberpööratud ajatemplid (plokkide number/ExtraNonce)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0389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761908837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48867924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53270366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Satoshi hinnanguline osakaal võrgustikus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7157287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Protsentuaalne osakaal võrgustikust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0662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842001291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21945882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2902062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36664265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70289379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Satoshi hashrate'i </a:t>
            </a:r>
            <a:r>
              <a:rPr sz="1800">
                <a:latin typeface="IBM Plex Sans"/>
              </a:rPr>
              <a:t>hinnanguline väärtus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69544549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02347195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Päevane keskmine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1773325469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Lineaarne hashrate mudel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1612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424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005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03985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3239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17055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80650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40862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96105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46960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1976754327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36734279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276930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88693064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Kuupäev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3799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69180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94873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441313416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"Artikkel: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513642772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on elektrooniline valuuta, mille kujundas 2009. aastal keegi Satoshi Nakamoto. See valuuta eristub teistest elektroonilistest valuutadest täielikult detsentraliseeritud võrdõiguslikkusega ja põhiliste krüptograafiliste mõistete nutika kasutamise poolest. See tugineb C++ keeles kirjutatud tarkvarale, mis on avaldatud avatud lähtekoodiga MIT-litsentsi alusel.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65806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62360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1469401565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masinate tõus.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6547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6794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54876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79103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1595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46374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53752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3111126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289084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3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26005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18915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9971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9088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8913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97276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34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1842819862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43665303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Bitcoini hind USA dollarites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30</cp:revision>
  <dcterms:modified xsi:type="dcterms:W3CDTF">2025-10-15T13:52:46Z</dcterms:modified>
</cp:coreProperties>
</file>