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74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</p:sldIdLst>
  <p:sldSz cx="12192000" cy="6858000"/>
  <p:notesSz cx="6858000" cy="9144000"/>
  <p:defaultTextStyle>
    <a:defPPr>
      <a:defRPr lang="en-US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slide" Target="slides/slide61.xml"/><Relationship Id="rId65" Type="http://schemas.openxmlformats.org/officeDocument/2006/relationships/slide" Target="slides/slide62.xml"/><Relationship Id="rId66" Type="http://schemas.openxmlformats.org/officeDocument/2006/relationships/slide" Target="slides/slide63.xml"/><Relationship Id="rId67" Type="http://schemas.openxmlformats.org/officeDocument/2006/relationships/slide" Target="slides/slide64.xml"/><Relationship Id="rId68" Type="http://schemas.openxmlformats.org/officeDocument/2006/relationships/slide" Target="slides/slide65.xml"/><Relationship Id="rId69" Type="http://schemas.openxmlformats.org/officeDocument/2006/relationships/slide" Target="slides/slide66.xml"/><Relationship Id="rId70" Type="http://schemas.openxmlformats.org/officeDocument/2006/relationships/slide" Target="slides/slide67.xml"/><Relationship Id="rId71" Type="http://schemas.openxmlformats.org/officeDocument/2006/relationships/slide" Target="slides/slide68.xml"/><Relationship Id="rId72" Type="http://schemas.openxmlformats.org/officeDocument/2006/relationships/slide" Target="slides/slide69.xml"/><Relationship Id="rId73" Type="http://schemas.openxmlformats.org/officeDocument/2006/relationships/slide" Target="slides/slide70.xml"/><Relationship Id="rId74" Type="http://schemas.openxmlformats.org/officeDocument/2006/relationships/notesMaster" Target="notesMasters/notesMaster1.xml"/><Relationship Id="rId75" Type="http://schemas.openxmlformats.org/officeDocument/2006/relationships/presProps" Target="presProps.xml"/><Relationship Id="rId76" Type="http://schemas.openxmlformats.org/officeDocument/2006/relationships/tableStyles" Target="tableStyles.xml"/><Relationship Id="rId77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089058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99481301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963331614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994229746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1305234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5077115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097887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417540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489157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4070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45669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18707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E55648-ADE2-965E-0F87-0ABB71C754B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89878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186592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96705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2473744-944F-EBDB-D1E6-8F1CC5CEBD9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97824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982314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79473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78696C0-5062-29DC-8A0D-0B5FE66196A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41463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966668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46539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EBD0134-888A-C41F-C6A9-E9CB0DCD8F7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753819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28520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35913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727A960-E66B-BEB9-512F-51F73B38A5C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52599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959479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04797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C3624B9-90B4-A423-2B5E-5454F908F41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25945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639546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42112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55C4064-3EE6-A2BF-51F2-AEF85998A4A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26131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736038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58843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C163AE-044F-883A-A57C-12F3E3EFBFF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61360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531638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47454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792455D-49EB-FB3F-3A5D-A54B84B95EC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50080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209609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91445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8631968-6248-63BE-F4DC-BD5ECB85DA3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44479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262107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41831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8E812B2-1B68-B1DC-1870-D4D85F9024B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92720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350779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68161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745C4F-2678-59E7-2ECA-A500A97CE2C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73307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045284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34893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37134FC-422C-A81C-D2A9-89C9D8EAEF6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569698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474402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18773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414A156-7A59-A123-F75C-E447D5D4785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17363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948551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52244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74181E-3D75-015A-BF9A-A1811885AE1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11334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893553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55033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162975-0B87-124D-F4CF-CC0D059DED3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246105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108073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16387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F710F28-E052-173C-41D9-DD6C9335DF6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91873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430434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11774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9DB6D7-1DAB-B1E0-82BB-0703661D710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02230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68687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50072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99B5EB9-CEEA-9BBB-ADE0-7D8A93C8FCB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42798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858494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30480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E258580-6B33-FA3E-7D01-D92051217F8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94358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310289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25060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AF64CBA-39A3-330E-222D-8DFBAC3EAED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16946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282456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09784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45E4D4C-FF23-C312-3909-D43C2034481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085752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453097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49005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E9D0093-CEF7-4F7C-3917-F404DA844F2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93649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13034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01319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FE2612B-5475-F079-D6D8-D27530AECA9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41124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14009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31708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D3A8570-D5E3-A3DA-E9BE-4E59B47DCD3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83011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415591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5786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02157EF-C9F3-24D9-B1A1-FB4AB340823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42120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311183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95386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8873EC8-14A0-3A00-0EAE-6D6F91E8567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053249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920476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48084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1797A96-85C7-DC3D-4197-A7799D4D93E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30061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079474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90481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C2A5D2C-5EB6-3EFE-448A-6E5A57BBB57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7733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514847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39316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B8107A1-9B68-E9FB-7790-E654E75FDF5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352406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611038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20258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5FF372D-B465-F965-BBAE-99202805F67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89860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399093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16318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27F4C2D-6E5E-C875-C976-C6D55F6BE67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96668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494284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13840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346F0F7-F334-E342-5F02-944A3495C4A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35639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363484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8719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E37FDAD-1320-454A-0438-600C450795B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17520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582250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52958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D1E0814-FA3A-798F-7BCC-928878DD25B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47989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915772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07579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447F0D3-1DEA-F745-1E09-B7FA6BF8E5C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55032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871915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99243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F4C0AE-E38D-DC6B-C68A-AA49F3CF55A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37955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375869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08012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C887B64-E028-2AA4-2F68-CBA8265516E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81228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041179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5402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F0CF1FC-3401-5F66-1687-747F5BB6F5D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6020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125282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93314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820E706-D256-E63B-0C75-706309155F9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8680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391154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47965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1B1688A-4A24-A9DE-E8D5-11EF2820979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986630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79038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23162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AF96F47-3D75-628A-7225-3D6D257E195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01398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045846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57581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5ABE1E-764B-F425-3391-598B8B461FD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52635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347495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64608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A8DE568-97B0-9929-DEC1-7CBD6BC5D27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73545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611279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18006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7D6FF70-89BB-82B1-17DA-D1DCA74758D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02542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568896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69041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3D1B874-9CC0-4429-5FF7-FC67A3C3FD7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76426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113965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90316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65434F9-E3D3-DB90-E93A-1D223BF901B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79397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573604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87740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6F7208-4509-16B4-8EF9-ADC2C49B49E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68344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099652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67817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1A26031-1666-FFA0-1343-10117A0A8A1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579552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254805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87942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7F023A4-E3E3-6195-88ED-53EC821D299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96221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402472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83917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4C3DA3E-F2DA-2C64-8E0F-319E878795B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54220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564644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62321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466F95-1D03-2B53-5C37-61A28647872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44795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832953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42257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C0A40C7-AB34-D7E9-E511-577CCB0FD39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17668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158057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55290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89237B5-1CB3-7EDD-7250-D1A1602C7E9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54484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390574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9675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A382380-19A7-A1A0-EEAC-E3B9E43D5E6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99027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93118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96176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A7702FD-7905-BDC6-4203-F59B61CEB9B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090810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70995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09105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729BA4D-F7B8-24AB-4D7A-E413A5FFAA8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92815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298703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78077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4927C6-D97B-436B-C8A7-AFE8CEC3A68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63243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996277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46349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54E0709-468D-4CCD-4EDF-4432F5A849A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46772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06192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37490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D58AC18-380E-66F2-7AE2-BD7F602DECD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75379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438966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71241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4934705-0AD6-963A-C353-5FAF7821E48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759795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052338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61806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2C122E-C38D-8339-6097-2ED6C91C054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35527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802033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45097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3BB0AA0-5CF8-9B70-D3B9-41D78923508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77803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794666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86750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042AC1A-8DA1-B652-2027-74938292C62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10277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14640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44949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DBFD0CD-9953-DAB9-1629-83C76D32C9C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6588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63589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24087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3E527E-84B9-F204-CCC6-BF4670AEB24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828862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401538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25554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2EC451A-0168-5998-FE7E-6B0633410CB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7974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208591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84875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5FCCCA1-04DB-E6CE-E5C4-4256E1EC3F7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70725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968683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93563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0A229DD-D5FF-254B-DF64-C5EA347728A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4012231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1914569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50749570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906408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4874517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802523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75452756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7252403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2925207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1649468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0848304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6268289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0929119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1667712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4793061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205227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80301703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4833298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1839929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4492744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4734671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9494795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8196326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8229385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56826878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80629443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87960751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072777601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26134090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699621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83117413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406399579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30513999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3014016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90089583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19118340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2197542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71917766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05629683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3495580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8854440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5610378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3073462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65684061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16980617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8464421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31918839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3749154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603646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08545615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5156830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1284888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7184847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4682609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12358660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2212925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7017028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9149997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4000150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846336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13260570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952573259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47826785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Relationship Id="rId4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8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9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0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1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2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3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4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5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6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7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8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9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0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1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2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3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4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5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6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7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8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9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40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41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2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3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4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5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6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7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48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49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50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51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52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53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54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55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56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57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58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59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60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61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62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63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64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65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66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67.jp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68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69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70.jp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7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9117410" name="Rectangle 7"/>
          <p:cNvSpPr/>
          <p:nvPr/>
        </p:nvSpPr>
        <p:spPr bwMode="auto">
          <a:xfrm>
            <a:off x="2595339" y="198443"/>
            <a:ext cx="1396890" cy="38132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01387892" name="TextBox 5"/>
          <p:cNvSpPr txBox="1"/>
          <p:nvPr/>
        </p:nvSpPr>
        <p:spPr bwMode="auto">
          <a:xfrm>
            <a:off x="2591523" y="188417"/>
            <a:ext cx="2347353" cy="44231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sz="2300" b="1" lang="en-US">
                <a:latin typeface="Roboto"/>
              </a:rPr>
              <a:t>متن واضح</a:t>
            </a:r>
            <a:endParaRPr lang="en-US" sz="2300"/>
          </a:p>
        </p:txBody>
      </p:sp>
      <p:sp>
        <p:nvSpPr>
          <p:cNvPr id="542659239" name="Rectangle 13"/>
          <p:cNvSpPr/>
          <p:nvPr/>
        </p:nvSpPr>
        <p:spPr bwMode="auto">
          <a:xfrm>
            <a:off x="7747107" y="158272"/>
            <a:ext cx="1739305" cy="4616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506029660" name="TextBox 11"/>
          <p:cNvSpPr txBox="1"/>
          <p:nvPr/>
        </p:nvSpPr>
        <p:spPr bwMode="auto">
          <a:xfrm>
            <a:off x="7764696" y="178324"/>
            <a:ext cx="2593914" cy="44231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/>
            </a:pPr>
            <a:r>
              <a:rPr sz="2300" b="1" lang="en-US">
                <a:latin typeface="Roboto"/>
              </a:rPr>
              <a:t>متن رمزنگاری شده</a:t>
            </a:r>
            <a:endParaRPr/>
          </a:p>
        </p:txBody>
      </p:sp>
      <p:sp>
        <p:nvSpPr>
          <p:cNvPr id="515311746" name="Rectangle 17"/>
          <p:cNvSpPr/>
          <p:nvPr/>
        </p:nvSpPr>
        <p:spPr bwMode="auto">
          <a:xfrm>
            <a:off x="8766243" y="2968881"/>
            <a:ext cx="1257075" cy="43053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87331779" name="Rectangle 18"/>
          <p:cNvSpPr/>
          <p:nvPr/>
        </p:nvSpPr>
        <p:spPr bwMode="auto">
          <a:xfrm>
            <a:off x="4918718" y="1681878"/>
            <a:ext cx="1610899" cy="11439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2035916910" name="TextBox 14"/>
          <p:cNvSpPr txBox="1"/>
          <p:nvPr/>
        </p:nvSpPr>
        <p:spPr bwMode="auto">
          <a:xfrm>
            <a:off x="8766243" y="2957805"/>
            <a:ext cx="1954436" cy="44231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sz="2300" lang="en-US">
                <a:latin typeface="Roboto"/>
              </a:rPr>
              <a:t>ارسال کردن</a:t>
            </a:r>
            <a:endParaRPr/>
          </a:p>
        </p:txBody>
      </p:sp>
      <p:sp>
        <p:nvSpPr>
          <p:cNvPr id="1682539440" name="TextBox 19"/>
          <p:cNvSpPr txBox="1"/>
          <p:nvPr/>
        </p:nvSpPr>
        <p:spPr bwMode="auto">
          <a:xfrm>
            <a:off x="4410180" y="1713858"/>
            <a:ext cx="2628336" cy="11433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sz="2300" lang="en-US">
                <a:latin typeface="Roboto"/>
              </a:rPr>
              <a:t>رمزنگاری با کلید عمومی</a:t>
            </a:r>
            <a:endParaRPr/>
          </a:p>
        </p:txBody>
      </p:sp>
      <p:sp>
        <p:nvSpPr>
          <p:cNvPr id="698934102" name="Rectangle 21"/>
          <p:cNvSpPr/>
          <p:nvPr/>
        </p:nvSpPr>
        <p:spPr bwMode="auto">
          <a:xfrm>
            <a:off x="4918718" y="5620284"/>
            <a:ext cx="1610899" cy="11439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898941771" name="TextBox 22"/>
          <p:cNvSpPr txBox="1"/>
          <p:nvPr/>
        </p:nvSpPr>
        <p:spPr bwMode="auto">
          <a:xfrm>
            <a:off x="4520468" y="5592105"/>
            <a:ext cx="2407757" cy="11433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sz="2300" lang="en-US">
                <a:latin typeface="Roboto"/>
              </a:rPr>
              <a:t>رمزگشایی با کلید خصوصی</a:t>
            </a:r>
            <a:endParaRPr/>
          </a:p>
        </p:txBody>
      </p:sp>
      <p:pic>
        <p:nvPicPr>
          <p:cNvPr id="50243840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958999" y="21166"/>
            <a:ext cx="8392871" cy="6714297"/>
          </a:xfrm>
          <a:prstGeom prst="rect">
            <a:avLst/>
          </a:prstGeom>
        </p:spPr>
      </p:pic>
      <p:sp>
        <p:nvSpPr>
          <p:cNvPr id="1429071587" name=""/>
          <p:cNvSpPr/>
          <p:nvPr/>
        </p:nvSpPr>
        <p:spPr bwMode="auto">
          <a:xfrm flipH="0" flipV="0">
            <a:off x="2722070" y="203655"/>
            <a:ext cx="1398607" cy="446107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761093492" name=""/>
          <p:cNvSpPr txBox="1"/>
          <p:nvPr/>
        </p:nvSpPr>
        <p:spPr bwMode="auto">
          <a:xfrm flipH="0" flipV="0">
            <a:off x="1535541" y="203654"/>
            <a:ext cx="3431783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200" b="1">
                <a:latin typeface="IBM Plex Sans"/>
              </a:rPr>
              <a:t>متن واضح</a:t>
            </a:r>
            <a:endParaRPr sz="2200" b="1">
              <a:latin typeface="IBM Plex Sans"/>
              <a:cs typeface="IBM Plex Sans"/>
            </a:endParaRPr>
          </a:p>
        </p:txBody>
      </p:sp>
      <p:sp>
        <p:nvSpPr>
          <p:cNvPr id="1969521309" name=""/>
          <p:cNvSpPr/>
          <p:nvPr/>
        </p:nvSpPr>
        <p:spPr bwMode="auto">
          <a:xfrm flipH="0" flipV="0">
            <a:off x="7827161" y="198442"/>
            <a:ext cx="2037394" cy="446106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091385861" name=""/>
          <p:cNvSpPr/>
          <p:nvPr/>
        </p:nvSpPr>
        <p:spPr bwMode="auto">
          <a:xfrm flipH="0" flipV="0">
            <a:off x="8721165" y="2325560"/>
            <a:ext cx="1999512" cy="1365376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093531871" name=""/>
          <p:cNvSpPr/>
          <p:nvPr/>
        </p:nvSpPr>
        <p:spPr bwMode="auto">
          <a:xfrm flipH="0" flipV="0">
            <a:off x="4938876" y="1490804"/>
            <a:ext cx="1645997" cy="1669513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525520898" name=""/>
          <p:cNvSpPr/>
          <p:nvPr/>
        </p:nvSpPr>
        <p:spPr bwMode="auto">
          <a:xfrm flipH="0" flipV="0">
            <a:off x="4966245" y="5441911"/>
            <a:ext cx="1645996" cy="129355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756478981" name=""/>
          <p:cNvSpPr/>
          <p:nvPr/>
        </p:nvSpPr>
        <p:spPr bwMode="auto">
          <a:xfrm flipH="0" flipV="0">
            <a:off x="2722070" y="1044697"/>
            <a:ext cx="1688109" cy="446106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>
              <a:solidFill>
                <a:schemeClr val="bg1"/>
              </a:solidFill>
            </a:endParaRPr>
          </a:p>
        </p:txBody>
      </p:sp>
      <p:sp>
        <p:nvSpPr>
          <p:cNvPr id="30921611" name=""/>
          <p:cNvSpPr txBox="1"/>
          <p:nvPr/>
        </p:nvSpPr>
        <p:spPr bwMode="auto">
          <a:xfrm flipH="0" flipV="0">
            <a:off x="2853086" y="1033244"/>
            <a:ext cx="1139142" cy="45756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400">
                <a:latin typeface="IBM Plex Sans"/>
              </a:rPr>
              <a:t>بیت‌کوین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276313897" name=""/>
          <p:cNvSpPr txBox="1"/>
          <p:nvPr/>
        </p:nvSpPr>
        <p:spPr bwMode="auto">
          <a:xfrm flipH="0" flipV="0">
            <a:off x="7187931" y="203654"/>
            <a:ext cx="3239579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200" b="1">
                <a:latin typeface="IBM Plex Sans"/>
              </a:rPr>
              <a:t>متن رمزنگاری شده</a:t>
            </a:r>
            <a:endParaRPr sz="2200" b="1">
              <a:latin typeface="IBM Plex Sans"/>
              <a:cs typeface="IBM Plex Sans"/>
            </a:endParaRPr>
          </a:p>
        </p:txBody>
      </p:sp>
      <p:sp>
        <p:nvSpPr>
          <p:cNvPr id="1415171345" name=""/>
          <p:cNvSpPr txBox="1"/>
          <p:nvPr/>
        </p:nvSpPr>
        <p:spPr bwMode="auto">
          <a:xfrm flipH="0" flipV="0">
            <a:off x="8807720" y="2794709"/>
            <a:ext cx="3193567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200" b="0">
                <a:latin typeface="IBM Plex Sans"/>
              </a:rPr>
              <a:t>ارسال کردن</a:t>
            </a:r>
            <a:endParaRPr sz="2200" b="0">
              <a:latin typeface="IBM Plex Sans"/>
              <a:cs typeface="IBM Plex Sans"/>
            </a:endParaRPr>
          </a:p>
        </p:txBody>
      </p:sp>
      <p:sp>
        <p:nvSpPr>
          <p:cNvPr id="2060365003" name=""/>
          <p:cNvSpPr txBox="1"/>
          <p:nvPr/>
        </p:nvSpPr>
        <p:spPr bwMode="auto">
          <a:xfrm flipH="0" flipV="0">
            <a:off x="4938875" y="1639891"/>
            <a:ext cx="1592180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latin typeface="IBM Plex Sans"/>
              </a:rPr>
              <a:t>رمزنگاری </a:t>
            </a:r>
            <a:r>
              <a:rPr sz="1400" b="0" lang="fr-FR">
                <a:latin typeface="IBM Plex Sans"/>
              </a:rPr>
              <a:t>با </a:t>
            </a:r>
            <a:r>
              <a:rPr sz="1400" b="0">
                <a:latin typeface="IBM Plex Sans"/>
              </a:rPr>
              <a:t>کلید </a:t>
            </a:r>
            <a:r>
              <a:rPr sz="1400" b="0" lang="fr-FR">
                <a:latin typeface="IBM Plex Sans"/>
              </a:rPr>
              <a:t>عمومی </a:t>
            </a:r>
            <a:r>
              <a:rPr sz="1400" b="0">
                <a:latin typeface="IBM Plex Sans"/>
              </a:rPr>
              <a:t/>
            </a:r>
            <a:endParaRPr sz="1400" b="0"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564805446" name=""/>
          <p:cNvSpPr txBox="1"/>
          <p:nvPr/>
        </p:nvSpPr>
        <p:spPr bwMode="auto">
          <a:xfrm flipH="0" flipV="0">
            <a:off x="3765199" y="5680215"/>
            <a:ext cx="5043240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>
                <a:latin typeface="IBM Plex Sans"/>
              </a:rPr>
              <a:t>رمزگشایی </a:t>
            </a:r>
            <a:r>
              <a:rPr sz="1600" b="0" lang="fr-FR">
                <a:latin typeface="IBM Plex Sans"/>
              </a:rPr>
              <a:t>با </a:t>
            </a:r>
            <a:r>
              <a:rPr sz="1600" b="0">
                <a:latin typeface="IBM Plex Sans"/>
              </a:rPr>
              <a:t>کلید </a:t>
            </a:r>
            <a:r>
              <a:rPr sz="1600" b="0" lang="fr-FR">
                <a:latin typeface="IBM Plex Sans"/>
              </a:rPr>
              <a:t>خصوصی </a:t>
            </a:r>
            <a:r>
              <a:rPr sz="1600" b="0">
                <a:latin typeface="IBM Plex Sans"/>
              </a:rPr>
              <a:t/>
            </a:r>
            <a:endParaRPr sz="1600" b="0"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2117423457" name=""/>
          <p:cNvSpPr/>
          <p:nvPr/>
        </p:nvSpPr>
        <p:spPr bwMode="auto">
          <a:xfrm flipH="0" flipV="0">
            <a:off x="2720786" y="1056150"/>
            <a:ext cx="1688108" cy="446106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>
              <a:solidFill>
                <a:schemeClr val="bg1"/>
              </a:solidFill>
            </a:endParaRPr>
          </a:p>
        </p:txBody>
      </p:sp>
      <p:sp>
        <p:nvSpPr>
          <p:cNvPr id="1861164775" name=""/>
          <p:cNvSpPr txBox="1"/>
          <p:nvPr/>
        </p:nvSpPr>
        <p:spPr bwMode="auto">
          <a:xfrm flipH="0" flipV="0">
            <a:off x="1853931" y="1044696"/>
            <a:ext cx="2138452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2400">
                <a:latin typeface="IBM Plex Sans"/>
              </a:rPr>
              <a:t>بیت‌کوین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486006633" name=""/>
          <p:cNvSpPr txBox="1"/>
          <p:nvPr/>
        </p:nvSpPr>
        <p:spPr bwMode="auto">
          <a:xfrm flipH="0" flipV="0">
            <a:off x="2006330" y="4863123"/>
            <a:ext cx="2138812" cy="457560"/>
          </a:xfrm>
          <a:prstGeom prst="rect">
            <a:avLst/>
          </a:prstGeom>
          <a:solidFill>
            <a:schemeClr val="bg1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2400">
                <a:latin typeface="IBM Plex Sans"/>
              </a:rPr>
              <a:t>بیت‌کوین</a:t>
            </a:r>
            <a:endParaRPr sz="24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3809597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564651" y="15362"/>
            <a:ext cx="7062695" cy="6827270"/>
          </a:xfrm>
          <a:prstGeom prst="rect">
            <a:avLst/>
          </a:prstGeom>
        </p:spPr>
      </p:pic>
      <p:sp>
        <p:nvSpPr>
          <p:cNvPr id="618278120" name=""/>
          <p:cNvSpPr/>
          <p:nvPr/>
        </p:nvSpPr>
        <p:spPr bwMode="auto">
          <a:xfrm flipH="0" flipV="0">
            <a:off x="6940687" y="215079"/>
            <a:ext cx="2186448" cy="43015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577510310" name=""/>
          <p:cNvSpPr/>
          <p:nvPr/>
        </p:nvSpPr>
        <p:spPr bwMode="auto">
          <a:xfrm flipH="0" flipV="0">
            <a:off x="8154516" y="2881839"/>
            <a:ext cx="2444482" cy="501068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24416130" name=""/>
          <p:cNvSpPr/>
          <p:nvPr/>
        </p:nvSpPr>
        <p:spPr bwMode="auto">
          <a:xfrm flipH="0" flipV="0">
            <a:off x="4486317" y="5688146"/>
            <a:ext cx="1786852" cy="1004168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63204435" name=""/>
          <p:cNvSpPr/>
          <p:nvPr/>
        </p:nvSpPr>
        <p:spPr bwMode="auto">
          <a:xfrm flipH="0" flipV="0">
            <a:off x="4533302" y="1541392"/>
            <a:ext cx="1786852" cy="1004168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17404936" name=""/>
          <p:cNvSpPr/>
          <p:nvPr/>
        </p:nvSpPr>
        <p:spPr bwMode="auto">
          <a:xfrm flipH="0" flipV="0">
            <a:off x="2751531" y="5082559"/>
            <a:ext cx="1614461" cy="402796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74341121" name=""/>
          <p:cNvSpPr/>
          <p:nvPr/>
        </p:nvSpPr>
        <p:spPr bwMode="auto">
          <a:xfrm flipH="0" flipV="0">
            <a:off x="2736169" y="215079"/>
            <a:ext cx="1321209" cy="430161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728966252" name=""/>
          <p:cNvSpPr txBox="1"/>
          <p:nvPr/>
        </p:nvSpPr>
        <p:spPr bwMode="auto">
          <a:xfrm flipH="0" flipV="0">
            <a:off x="1784658" y="215078"/>
            <a:ext cx="3109693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>
                <a:latin typeface="IBM Plex Sans"/>
              </a:rPr>
              <a:t>پیام</a:t>
            </a:r>
            <a:endParaRPr sz="2000" b="1">
              <a:latin typeface="IBM Plex Sans"/>
              <a:cs typeface="IBM Plex Sans"/>
            </a:endParaRPr>
          </a:p>
        </p:txBody>
      </p:sp>
      <p:sp>
        <p:nvSpPr>
          <p:cNvPr id="1134818737" name=""/>
          <p:cNvSpPr txBox="1"/>
          <p:nvPr/>
        </p:nvSpPr>
        <p:spPr bwMode="auto">
          <a:xfrm flipH="0" flipV="0">
            <a:off x="6893522" y="215078"/>
            <a:ext cx="2734903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>
                <a:latin typeface="IBM Plex Sans"/>
              </a:rPr>
              <a:t>امضا</a:t>
            </a:r>
            <a:endParaRPr sz="2000" b="1">
              <a:latin typeface="IBM Plex Sans"/>
              <a:cs typeface="IBM Plex Sans"/>
            </a:endParaRPr>
          </a:p>
        </p:txBody>
      </p:sp>
      <p:sp>
        <p:nvSpPr>
          <p:cNvPr id="2021760122" name=""/>
          <p:cNvSpPr txBox="1"/>
          <p:nvPr/>
        </p:nvSpPr>
        <p:spPr bwMode="auto">
          <a:xfrm flipH="0" flipV="0">
            <a:off x="8202903" y="2986308"/>
            <a:ext cx="3194065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000" b="0">
                <a:latin typeface="IBM Plex Sans"/>
              </a:rPr>
              <a:t>ارسال کردن</a:t>
            </a:r>
            <a:endParaRPr sz="2000" b="0">
              <a:latin typeface="IBM Plex Sans"/>
              <a:cs typeface="IBM Plex Sans"/>
            </a:endParaRPr>
          </a:p>
        </p:txBody>
      </p:sp>
      <p:sp>
        <p:nvSpPr>
          <p:cNvPr id="1091897644" name=""/>
          <p:cNvSpPr txBox="1"/>
          <p:nvPr/>
        </p:nvSpPr>
        <p:spPr bwMode="auto">
          <a:xfrm flipH="0" flipV="0">
            <a:off x="2113704" y="5088755"/>
            <a:ext cx="1956099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2000" b="0">
                <a:latin typeface="IBM Plex Sans"/>
              </a:rPr>
              <a:t>باشه</a:t>
            </a:r>
            <a:endParaRPr sz="2000" b="0">
              <a:latin typeface="IBM Plex Sans"/>
              <a:cs typeface="IBM Plex Sans"/>
            </a:endParaRPr>
          </a:p>
        </p:txBody>
      </p:sp>
      <p:sp>
        <p:nvSpPr>
          <p:cNvPr id="1632395688" name=""/>
          <p:cNvSpPr txBox="1"/>
          <p:nvPr/>
        </p:nvSpPr>
        <p:spPr bwMode="auto">
          <a:xfrm flipH="0" flipV="0">
            <a:off x="3896720" y="1539360"/>
            <a:ext cx="2662335" cy="5794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>
                <a:latin typeface="IBM Plex Sans"/>
              </a:rPr>
              <a:t>امضا </a:t>
            </a:r>
            <a:r>
              <a:rPr sz="1600" b="0" lang="fr-FR">
                <a:latin typeface="IBM Plex Sans"/>
              </a:rPr>
              <a:t>با </a:t>
            </a:r>
            <a:r>
              <a:rPr sz="1600" b="0">
                <a:latin typeface="IBM Plex Sans"/>
              </a:rPr>
              <a:t>کلید </a:t>
            </a:r>
            <a:r>
              <a:rPr sz="1600" b="0" lang="fr-FR">
                <a:latin typeface="IBM Plex Sans"/>
              </a:rPr>
              <a:t>خصوصی </a:t>
            </a:r>
            <a:r>
              <a:rPr sz="1600" b="0">
                <a:latin typeface="IBM Plex Sans"/>
              </a:rPr>
              <a:t/>
            </a:r>
            <a:endParaRPr sz="1600" b="0">
              <a:latin typeface="IBM Plex Sans"/>
              <a:cs typeface="IBM Plex Sans"/>
            </a:endParaRPr>
          </a:p>
        </p:txBody>
      </p:sp>
      <p:sp>
        <p:nvSpPr>
          <p:cNvPr id="1469490840" name=""/>
          <p:cNvSpPr txBox="1"/>
          <p:nvPr/>
        </p:nvSpPr>
        <p:spPr bwMode="auto">
          <a:xfrm flipH="0" flipV="0">
            <a:off x="3621937" y="5686113"/>
            <a:ext cx="3015771" cy="5794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>
                <a:latin typeface="IBM Plex Sans"/>
              </a:rPr>
              <a:t>تأیید </a:t>
            </a:r>
            <a:r>
              <a:rPr sz="1600" b="0" lang="fr-FR">
                <a:latin typeface="IBM Plex Sans"/>
              </a:rPr>
              <a:t>با </a:t>
            </a:r>
            <a:r>
              <a:rPr sz="1600" b="0">
                <a:latin typeface="IBM Plex Sans"/>
              </a:rPr>
              <a:t>کلید </a:t>
            </a:r>
            <a:r>
              <a:rPr sz="1600" b="0" lang="fr-FR">
                <a:latin typeface="IBM Plex Sans"/>
              </a:rPr>
              <a:t>عمومی </a:t>
            </a:r>
            <a:r>
              <a:rPr sz="1600" b="0">
                <a:latin typeface="IBM Plex Sans"/>
              </a:rPr>
              <a:t/>
            </a:r>
            <a:endParaRPr sz="1600" b="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5052669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238499" y="666749"/>
            <a:ext cx="5715000" cy="5524499"/>
          </a:xfrm>
          <a:prstGeom prst="rect">
            <a:avLst/>
          </a:prstGeom>
        </p:spPr>
      </p:pic>
      <p:pic>
        <p:nvPicPr>
          <p:cNvPr id="1775366303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3352799" y="0"/>
            <a:ext cx="5486399" cy="68579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27958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286000" y="757237"/>
            <a:ext cx="7619999" cy="53435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6935569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072283" y="280392"/>
            <a:ext cx="6047431" cy="5745059"/>
          </a:xfrm>
          <a:prstGeom prst="rect">
            <a:avLst/>
          </a:prstGeom>
        </p:spPr>
      </p:pic>
      <p:sp>
        <p:nvSpPr>
          <p:cNvPr id="958143399" name=""/>
          <p:cNvSpPr/>
          <p:nvPr/>
        </p:nvSpPr>
        <p:spPr bwMode="auto">
          <a:xfrm flipH="0" flipV="0">
            <a:off x="5929808" y="864541"/>
            <a:ext cx="1149753" cy="30094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40051190" name=""/>
          <p:cNvSpPr txBox="1"/>
          <p:nvPr/>
        </p:nvSpPr>
        <p:spPr bwMode="auto">
          <a:xfrm flipH="0" flipV="0">
            <a:off x="6796666" y="2878666"/>
            <a:ext cx="682858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72791010" name=""/>
          <p:cNvSpPr txBox="1"/>
          <p:nvPr/>
        </p:nvSpPr>
        <p:spPr bwMode="auto">
          <a:xfrm flipH="0" flipV="0">
            <a:off x="6183477" y="2710450"/>
            <a:ext cx="1257937" cy="274679"/>
          </a:xfrm>
          <a:prstGeom prst="rect">
            <a:avLst/>
          </a:prstGeom>
          <a:solidFill>
            <a:srgbClr val="FFFFFF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200">
                <a:latin typeface="IBM Plex Sans"/>
              </a:rPr>
              <a:t>بفرستید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709900016" name=""/>
          <p:cNvSpPr txBox="1"/>
          <p:nvPr/>
        </p:nvSpPr>
        <p:spPr bwMode="auto">
          <a:xfrm flipH="0" flipV="0">
            <a:off x="5812687" y="877671"/>
            <a:ext cx="1035944" cy="274679"/>
          </a:xfrm>
          <a:prstGeom prst="rect">
            <a:avLst/>
          </a:prstGeom>
          <a:solidFill>
            <a:srgbClr val="FFFFFF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latin typeface="IBM Plex Sans"/>
              </a:rPr>
              <a:t>بفرستید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626557778" name=""/>
          <p:cNvSpPr txBox="1"/>
          <p:nvPr/>
        </p:nvSpPr>
        <p:spPr bwMode="auto">
          <a:xfrm flipH="0" flipV="0">
            <a:off x="8510588" y="2710090"/>
            <a:ext cx="2124381" cy="274679"/>
          </a:xfrm>
          <a:prstGeom prst="rect">
            <a:avLst/>
          </a:prstGeom>
          <a:solidFill>
            <a:srgbClr val="FFFFFF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1200">
                <a:latin typeface="IBM Plex Sans"/>
              </a:rPr>
              <a:t>اعتبارها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566308975" name=""/>
          <p:cNvSpPr txBox="1"/>
          <p:nvPr/>
        </p:nvSpPr>
        <p:spPr bwMode="auto">
          <a:xfrm flipH="0" flipV="0">
            <a:off x="2629117" y="5192732"/>
            <a:ext cx="2642102" cy="488039"/>
          </a:xfrm>
          <a:prstGeom prst="rect">
            <a:avLst/>
          </a:prstGeom>
          <a:solidFill>
            <a:srgbClr val="FFFFFF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600" b="1">
                <a:latin typeface="IBM Plex Sans"/>
              </a:rPr>
              <a:t>بانک ۱</a:t>
            </a:r>
            <a:endParaRPr sz="2600" b="1">
              <a:latin typeface="IBM Plex Sans"/>
              <a:cs typeface="IBM Plex Sans"/>
            </a:endParaRPr>
          </a:p>
        </p:txBody>
      </p:sp>
      <p:sp>
        <p:nvSpPr>
          <p:cNvPr id="466514468" name=""/>
          <p:cNvSpPr txBox="1"/>
          <p:nvPr/>
        </p:nvSpPr>
        <p:spPr bwMode="auto">
          <a:xfrm flipH="0" flipV="0">
            <a:off x="7185916" y="5192732"/>
            <a:ext cx="2326650" cy="488039"/>
          </a:xfrm>
          <a:prstGeom prst="rect">
            <a:avLst/>
          </a:prstGeom>
          <a:solidFill>
            <a:srgbClr val="FFFFFF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600" b="1">
                <a:latin typeface="IBM Plex Sans"/>
              </a:rPr>
              <a:t>بانک ۲</a:t>
            </a:r>
            <a:endParaRPr sz="2600" b="1">
              <a:latin typeface="IBM Plex Sans"/>
              <a:cs typeface="IBM Plex Sans"/>
            </a:endParaRPr>
          </a:p>
        </p:txBody>
      </p:sp>
      <p:sp>
        <p:nvSpPr>
          <p:cNvPr id="1355621069" name=""/>
          <p:cNvSpPr/>
          <p:nvPr/>
        </p:nvSpPr>
        <p:spPr bwMode="auto">
          <a:xfrm rot="0" flipH="0" flipV="0">
            <a:off x="5097499" y="5572125"/>
            <a:ext cx="2524124" cy="746124"/>
          </a:xfrm>
          <a:prstGeom prst="rect">
            <a:avLst/>
          </a:prstGeom>
          <a:solidFill>
            <a:schemeClr val="bg1"/>
          </a:solidFill>
          <a:ln w="12699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40523157" name=""/>
          <p:cNvSpPr txBox="1"/>
          <p:nvPr/>
        </p:nvSpPr>
        <p:spPr bwMode="auto">
          <a:xfrm flipH="0" flipV="0">
            <a:off x="4651612" y="5680770"/>
            <a:ext cx="3216127" cy="945239"/>
          </a:xfrm>
          <a:prstGeom prst="rect">
            <a:avLst/>
          </a:prstGeom>
          <a:solidFill>
            <a:schemeClr val="bg1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latin typeface="IBM Plex Sans"/>
              </a:rPr>
              <a:t>سابقه اسکناس‌های </a:t>
            </a:r>
            <a:r>
              <a:rPr sz="1400">
                <a:latin typeface="IBM Plex Sans"/>
              </a:rPr>
              <a:t>خرج شده</a:t>
            </a:r>
            <a:endParaRPr sz="1400">
              <a:latin typeface="IBM Plex Sans"/>
              <a:ea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0531513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694739" y="970372"/>
            <a:ext cx="4802518" cy="49172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1988498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571625" y="581024"/>
            <a:ext cx="9048749" cy="56959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941575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04845" y="733421"/>
            <a:ext cx="10782307" cy="53911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4263758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34474" y="33756"/>
            <a:ext cx="9523045" cy="679048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8199123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80246" y="2390769"/>
            <a:ext cx="6431504" cy="207645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3411826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241416" y="620661"/>
            <a:ext cx="7709163" cy="56166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49992560" name=""/>
          <p:cNvPicPr>
            <a:picLocks noChangeAspect="1"/>
          </p:cNvPicPr>
          <p:nvPr/>
        </p:nvPicPr>
        <p:blipFill>
          <a:blip r:embed="rId3"/>
          <a:srcRect l="0" t="0" r="0" b="16973"/>
          <a:stretch/>
        </p:blipFill>
        <p:spPr bwMode="auto">
          <a:xfrm flipH="0" flipV="0">
            <a:off x="1563274" y="159770"/>
            <a:ext cx="9065446" cy="5428633"/>
          </a:xfrm>
          <a:prstGeom prst="rect">
            <a:avLst/>
          </a:prstGeom>
        </p:spPr>
      </p:pic>
      <p:sp>
        <p:nvSpPr>
          <p:cNvPr id="1056831080" name=""/>
          <p:cNvSpPr/>
          <p:nvPr/>
        </p:nvSpPr>
        <p:spPr bwMode="auto">
          <a:xfrm flipH="0" flipV="0">
            <a:off x="2991824" y="5600699"/>
            <a:ext cx="523874" cy="36194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61749794" name=""/>
          <p:cNvSpPr/>
          <p:nvPr/>
        </p:nvSpPr>
        <p:spPr bwMode="auto">
          <a:xfrm flipH="0" flipV="0">
            <a:off x="5698727" y="5600699"/>
            <a:ext cx="523874" cy="36194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70698139" name=""/>
          <p:cNvSpPr/>
          <p:nvPr/>
        </p:nvSpPr>
        <p:spPr bwMode="auto">
          <a:xfrm flipH="0" flipV="0">
            <a:off x="8424329" y="5600699"/>
            <a:ext cx="523874" cy="36194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797094744" name=""/>
          <p:cNvSpPr/>
          <p:nvPr/>
        </p:nvSpPr>
        <p:spPr bwMode="auto">
          <a:xfrm flipH="0" flipV="0">
            <a:off x="2962949" y="5357154"/>
            <a:ext cx="762300" cy="28539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53823412" name=""/>
          <p:cNvSpPr/>
          <p:nvPr/>
        </p:nvSpPr>
        <p:spPr bwMode="auto">
          <a:xfrm flipH="0" flipV="0">
            <a:off x="3677625" y="4867453"/>
            <a:ext cx="647698" cy="228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2108527031" name=""/>
          <p:cNvSpPr txBox="1"/>
          <p:nvPr/>
        </p:nvSpPr>
        <p:spPr bwMode="auto">
          <a:xfrm flipH="0" flipV="0">
            <a:off x="7346907" y="5801943"/>
            <a:ext cx="4083833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200">
                <a:latin typeface="IBM Plex Sans"/>
              </a:rPr>
              <a:t>شبکه‌های توزیع‌شده.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794602628" name=""/>
          <p:cNvSpPr txBox="1"/>
          <p:nvPr/>
        </p:nvSpPr>
        <p:spPr bwMode="auto">
          <a:xfrm flipH="0" flipV="0">
            <a:off x="2925666" y="5337383"/>
            <a:ext cx="1448440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latin typeface="IBM Plex Sans"/>
              </a:rPr>
              <a:t>ایستگاه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33248220" name=""/>
          <p:cNvSpPr txBox="1"/>
          <p:nvPr/>
        </p:nvSpPr>
        <p:spPr bwMode="auto">
          <a:xfrm flipH="0" flipV="0">
            <a:off x="3677625" y="4829175"/>
            <a:ext cx="1183282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latin typeface="IBM Plex Sans"/>
              </a:rPr>
              <a:t>لینک</a:t>
            </a:r>
            <a:endParaRPr sz="1400"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1083863093" name=""/>
          <p:cNvSpPr/>
          <p:nvPr/>
        </p:nvSpPr>
        <p:spPr bwMode="auto">
          <a:xfrm flipH="0" flipV="0">
            <a:off x="3458550" y="4867453"/>
            <a:ext cx="266699" cy="152579"/>
          </a:xfrm>
          <a:prstGeom prst="leftArrow">
            <a:avLst>
              <a:gd name="adj1" fmla="val 50000"/>
              <a:gd name="adj2" fmla="val 83333"/>
            </a:avLst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980293751" name=""/>
          <p:cNvSpPr/>
          <p:nvPr/>
        </p:nvSpPr>
        <p:spPr bwMode="auto">
          <a:xfrm rot="2286170" flipH="0" flipV="0">
            <a:off x="2724120" y="5303120"/>
            <a:ext cx="266698" cy="152579"/>
          </a:xfrm>
          <a:prstGeom prst="leftArrow">
            <a:avLst>
              <a:gd name="adj1" fmla="val 50000"/>
              <a:gd name="adj2" fmla="val 83333"/>
            </a:avLst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827644842" name=""/>
          <p:cNvSpPr txBox="1"/>
          <p:nvPr/>
        </p:nvSpPr>
        <p:spPr bwMode="auto">
          <a:xfrm rot="0" flipH="0" flipV="0">
            <a:off x="1533582" y="5801943"/>
            <a:ext cx="2763487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200" lang="fr-FR">
                <a:latin typeface="IBM Plex Sans"/>
              </a:rPr>
              <a:t>متمرکزسازی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414344841" name=""/>
          <p:cNvSpPr txBox="1"/>
          <p:nvPr/>
        </p:nvSpPr>
        <p:spPr bwMode="auto">
          <a:xfrm rot="0" flipH="0" flipV="0">
            <a:off x="4494953" y="5801943"/>
            <a:ext cx="2851953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200" lang="fr-FR">
                <a:latin typeface="IBM Plex Sans"/>
              </a:rPr>
              <a:t>غیرمتمرکز</a:t>
            </a:r>
            <a:endParaRPr sz="2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9669217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72880" y="323847"/>
            <a:ext cx="10646236" cy="6210302"/>
          </a:xfrm>
          <a:prstGeom prst="rect">
            <a:avLst/>
          </a:prstGeom>
        </p:spPr>
      </p:pic>
      <p:sp>
        <p:nvSpPr>
          <p:cNvPr id="1604701722" name=""/>
          <p:cNvSpPr/>
          <p:nvPr/>
        </p:nvSpPr>
        <p:spPr bwMode="auto">
          <a:xfrm flipH="0" flipV="0">
            <a:off x="1651400" y="495479"/>
            <a:ext cx="2266949" cy="609599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585018793" name=""/>
          <p:cNvSpPr/>
          <p:nvPr/>
        </p:nvSpPr>
        <p:spPr bwMode="auto">
          <a:xfrm flipH="0" flipV="0">
            <a:off x="4562474" y="495479"/>
            <a:ext cx="1714500" cy="609599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078221400" name=""/>
          <p:cNvSpPr/>
          <p:nvPr/>
        </p:nvSpPr>
        <p:spPr bwMode="auto">
          <a:xfrm flipH="0" flipV="0">
            <a:off x="2784875" y="5857514"/>
            <a:ext cx="1714500" cy="609599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17931922" name=""/>
          <p:cNvSpPr/>
          <p:nvPr/>
        </p:nvSpPr>
        <p:spPr bwMode="auto">
          <a:xfrm flipH="0" flipV="0">
            <a:off x="7886698" y="5857514"/>
            <a:ext cx="1714500" cy="609599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2047620786" name=""/>
          <p:cNvSpPr txBox="1"/>
          <p:nvPr/>
        </p:nvSpPr>
        <p:spPr bwMode="auto">
          <a:xfrm flipH="0" flipV="0">
            <a:off x="1651399" y="571500"/>
            <a:ext cx="1586266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800">
                <a:latin typeface="IBM Plex Sans"/>
              </a:rPr>
              <a:t>ژنرال وفادار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951448218" name=""/>
          <p:cNvSpPr txBox="1"/>
          <p:nvPr/>
        </p:nvSpPr>
        <p:spPr bwMode="auto">
          <a:xfrm flipH="0" flipV="0">
            <a:off x="4562473" y="571500"/>
            <a:ext cx="2021121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800">
                <a:solidFill>
                  <a:srgbClr val="8A8A8A"/>
                </a:solidFill>
                <a:latin typeface="IBM Plex Sans"/>
              </a:rPr>
              <a:t>خیانتکار</a:t>
            </a:r>
            <a:endParaRPr sz="1800">
              <a:solidFill>
                <a:srgbClr val="8A8A8A"/>
              </a:solidFill>
              <a:latin typeface="IBM Plex Sans"/>
              <a:cs typeface="IBM Plex Sans"/>
            </a:endParaRPr>
          </a:p>
        </p:txBody>
      </p:sp>
      <p:sp>
        <p:nvSpPr>
          <p:cNvPr id="1415045215" name=""/>
          <p:cNvSpPr txBox="1"/>
          <p:nvPr/>
        </p:nvSpPr>
        <p:spPr bwMode="auto">
          <a:xfrm flipH="0" flipV="0">
            <a:off x="2131022" y="5857513"/>
            <a:ext cx="3378125" cy="4880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600" b="1">
                <a:latin typeface="IBM Plex Sans"/>
              </a:rPr>
              <a:t>شکست</a:t>
            </a:r>
            <a:endParaRPr sz="2600" b="1">
              <a:latin typeface="IBM Plex Sans"/>
              <a:cs typeface="IBM Plex Sans"/>
            </a:endParaRPr>
          </a:p>
        </p:txBody>
      </p:sp>
      <p:sp>
        <p:nvSpPr>
          <p:cNvPr id="1155593188" name=""/>
          <p:cNvSpPr txBox="1"/>
          <p:nvPr/>
        </p:nvSpPr>
        <p:spPr bwMode="auto">
          <a:xfrm flipH="0" flipV="0">
            <a:off x="6780954" y="5857513"/>
            <a:ext cx="3785102" cy="4880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600" b="1">
                <a:latin typeface="IBM Plex Sans"/>
              </a:rPr>
              <a:t>پیروزی</a:t>
            </a:r>
            <a:endParaRPr sz="2600" b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868452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338262" y="538162"/>
            <a:ext cx="9515475" cy="5781674"/>
          </a:xfrm>
          <a:prstGeom prst="rect">
            <a:avLst/>
          </a:prstGeom>
        </p:spPr>
      </p:pic>
      <p:sp>
        <p:nvSpPr>
          <p:cNvPr id="1435555748" name=""/>
          <p:cNvSpPr/>
          <p:nvPr/>
        </p:nvSpPr>
        <p:spPr bwMode="auto">
          <a:xfrm flipH="0" flipV="0">
            <a:off x="7200124" y="1254124"/>
            <a:ext cx="3017836" cy="317498"/>
          </a:xfrm>
          <a:prstGeom prst="rect">
            <a:avLst/>
          </a:prstGeom>
          <a:solidFill>
            <a:srgbClr val="FDE9D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55654714" name=""/>
          <p:cNvSpPr/>
          <p:nvPr/>
        </p:nvSpPr>
        <p:spPr bwMode="auto">
          <a:xfrm flipH="0" flipV="0">
            <a:off x="4048937" y="436562"/>
            <a:ext cx="4476749" cy="5715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739019711" name=""/>
          <p:cNvSpPr/>
          <p:nvPr/>
        </p:nvSpPr>
        <p:spPr bwMode="auto">
          <a:xfrm flipH="0" flipV="0">
            <a:off x="1620062" y="2016124"/>
            <a:ext cx="571500" cy="515937"/>
          </a:xfrm>
          <a:prstGeom prst="rect">
            <a:avLst/>
          </a:prstGeom>
          <a:solidFill>
            <a:srgbClr val="FEFF9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62170388" name=""/>
          <p:cNvSpPr/>
          <p:nvPr/>
        </p:nvSpPr>
        <p:spPr bwMode="auto">
          <a:xfrm flipH="0" flipV="0">
            <a:off x="1486711" y="5200650"/>
            <a:ext cx="571500" cy="515936"/>
          </a:xfrm>
          <a:prstGeom prst="rect">
            <a:avLst/>
          </a:prstGeom>
          <a:solidFill>
            <a:srgbClr val="FEFF9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21166664" name=""/>
          <p:cNvSpPr/>
          <p:nvPr/>
        </p:nvSpPr>
        <p:spPr bwMode="auto">
          <a:xfrm flipH="0" flipV="0">
            <a:off x="2366187" y="1738312"/>
            <a:ext cx="1627187" cy="22224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7375027" name=""/>
          <p:cNvSpPr/>
          <p:nvPr/>
        </p:nvSpPr>
        <p:spPr bwMode="auto">
          <a:xfrm flipH="0" flipV="0">
            <a:off x="4255312" y="3833812"/>
            <a:ext cx="1817687" cy="809624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9712142" name=""/>
          <p:cNvSpPr/>
          <p:nvPr/>
        </p:nvSpPr>
        <p:spPr bwMode="auto">
          <a:xfrm flipH="0" flipV="0">
            <a:off x="9406749" y="3040062"/>
            <a:ext cx="1904999" cy="896937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745983159" name=""/>
          <p:cNvSpPr/>
          <p:nvPr/>
        </p:nvSpPr>
        <p:spPr bwMode="auto">
          <a:xfrm flipH="0" flipV="0">
            <a:off x="6446062" y="3603624"/>
            <a:ext cx="1690687" cy="492124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97111734" name=""/>
          <p:cNvSpPr/>
          <p:nvPr/>
        </p:nvSpPr>
        <p:spPr bwMode="auto">
          <a:xfrm flipH="0" flipV="0">
            <a:off x="2866249" y="6095999"/>
            <a:ext cx="1674812" cy="373062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32067337" name=""/>
          <p:cNvSpPr txBox="1"/>
          <p:nvPr/>
        </p:nvSpPr>
        <p:spPr bwMode="auto">
          <a:xfrm flipH="0" flipV="0">
            <a:off x="2366185" y="436560"/>
            <a:ext cx="7427207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800" b="1">
                <a:solidFill>
                  <a:srgbClr val="850009"/>
                </a:solidFill>
                <a:latin typeface="IBM Plex Sans"/>
              </a:rPr>
              <a:t>زمان‌نگاری معتبر</a:t>
            </a:r>
            <a:endParaRPr sz="2800" b="1">
              <a:solidFill>
                <a:srgbClr val="850009"/>
              </a:solidFill>
              <a:latin typeface="IBM Plex Sans"/>
              <a:cs typeface="IBM Plex Sans"/>
            </a:endParaRPr>
          </a:p>
        </p:txBody>
      </p:sp>
      <p:sp>
        <p:nvSpPr>
          <p:cNvPr id="666728493" name=""/>
          <p:cNvSpPr txBox="1"/>
          <p:nvPr/>
        </p:nvSpPr>
        <p:spPr bwMode="auto">
          <a:xfrm flipH="0" flipV="0">
            <a:off x="2267924" y="1640939"/>
            <a:ext cx="1726168" cy="2441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000">
                <a:latin typeface="IBM Plex Sans"/>
              </a:rPr>
              <a:t>محاسبه هش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386261133" name=""/>
          <p:cNvSpPr txBox="1"/>
          <p:nvPr/>
        </p:nvSpPr>
        <p:spPr bwMode="auto">
          <a:xfrm flipH="0" flipV="0">
            <a:off x="4998760" y="1701120"/>
            <a:ext cx="2052513" cy="259439"/>
          </a:xfrm>
          <a:prstGeom prst="rect">
            <a:avLst/>
          </a:prstGeom>
          <a:solidFill>
            <a:srgbClr val="FFFFFF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>
                <a:latin typeface="IBM Plex Sans"/>
              </a:rPr>
              <a:t>هش را به TSA ارسال کنید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1826628945" name=""/>
          <p:cNvSpPr txBox="1"/>
          <p:nvPr/>
        </p:nvSpPr>
        <p:spPr bwMode="auto">
          <a:xfrm flipH="0" flipV="0">
            <a:off x="1486710" y="1254123"/>
            <a:ext cx="2973763" cy="305159"/>
          </a:xfrm>
          <a:prstGeom prst="rect">
            <a:avLst/>
          </a:prstGeom>
          <a:solidFill>
            <a:srgbClr val="FFCE9C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latin typeface="IBM Plex Sans"/>
              </a:rPr>
              <a:t>درون یک شرکت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513745464" name=""/>
          <p:cNvSpPr txBox="1"/>
          <p:nvPr/>
        </p:nvSpPr>
        <p:spPr bwMode="auto">
          <a:xfrm flipH="0" flipV="0">
            <a:off x="1486710" y="2179838"/>
            <a:ext cx="706650" cy="396599"/>
          </a:xfrm>
          <a:prstGeom prst="rect">
            <a:avLst/>
          </a:prstGeom>
          <a:solidFill>
            <a:srgbClr val="FEFF98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000">
                <a:latin typeface="IBM Plex Sans"/>
              </a:rPr>
              <a:t>داده</a:t>
            </a:r>
            <a:endParaRPr sz="1000"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11887285" name=""/>
          <p:cNvSpPr txBox="1"/>
          <p:nvPr/>
        </p:nvSpPr>
        <p:spPr bwMode="auto">
          <a:xfrm flipH="0" flipV="0">
            <a:off x="1411649" y="5311773"/>
            <a:ext cx="644081" cy="396599"/>
          </a:xfrm>
          <a:prstGeom prst="rect">
            <a:avLst/>
          </a:prstGeom>
          <a:solidFill>
            <a:srgbClr val="FEFF98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000">
                <a:latin typeface="IBM Plex Sans"/>
              </a:rPr>
              <a:t>داده‌ها</a:t>
            </a:r>
            <a:endParaRPr sz="1000"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1458164772" name=""/>
          <p:cNvSpPr txBox="1"/>
          <p:nvPr/>
        </p:nvSpPr>
        <p:spPr bwMode="auto">
          <a:xfrm flipH="0" flipV="0">
            <a:off x="1486710" y="6129950"/>
            <a:ext cx="4211293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latin typeface="IBM Plex Sans"/>
              </a:rPr>
              <a:t>با هم ذخیره کنید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13664644" name=""/>
          <p:cNvSpPr txBox="1"/>
          <p:nvPr/>
        </p:nvSpPr>
        <p:spPr bwMode="auto">
          <a:xfrm flipH="0" flipV="0">
            <a:off x="3756939" y="4095747"/>
            <a:ext cx="2268077" cy="5947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>
                <a:latin typeface="IBM Plex Sans"/>
              </a:rPr>
              <a:t>زمان‌سنجی امضا شده </a:t>
            </a:r>
            <a:r>
              <a:rPr sz="1100">
                <a:latin typeface="IBM Plex Sans"/>
              </a:rPr>
              <a:t>و هش به </a:t>
            </a:r>
            <a:r>
              <a:rPr sz="1100">
                <a:latin typeface="IBM Plex Sans"/>
              </a:rPr>
              <a:t>درخواست‌کننده بازگردانده می‌شود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1988364204" name=""/>
          <p:cNvSpPr txBox="1"/>
          <p:nvPr/>
        </p:nvSpPr>
        <p:spPr bwMode="auto">
          <a:xfrm flipH="0" flipV="0">
            <a:off x="8468534" y="2027259"/>
            <a:ext cx="1968051" cy="305159"/>
          </a:xfrm>
          <a:prstGeom prst="rect">
            <a:avLst/>
          </a:prstGeom>
          <a:solidFill>
            <a:srgbClr val="FEFF98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1400">
                <a:latin typeface="IBM Plex Sans"/>
              </a:rPr>
              <a:t>زمان‌نگار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17755538" name=""/>
          <p:cNvSpPr txBox="1"/>
          <p:nvPr/>
        </p:nvSpPr>
        <p:spPr bwMode="auto">
          <a:xfrm flipH="0" flipV="0">
            <a:off x="7051275" y="1254123"/>
            <a:ext cx="3384592" cy="274679"/>
          </a:xfrm>
          <a:prstGeom prst="rect">
            <a:avLst/>
          </a:prstGeom>
          <a:solidFill>
            <a:srgbClr val="FFCE9C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latin typeface="IBM Plex Sans"/>
              </a:rPr>
              <a:t>مرجع زمان‌گذاری (TSA)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686659638" name=""/>
          <p:cNvSpPr txBox="1"/>
          <p:nvPr/>
        </p:nvSpPr>
        <p:spPr bwMode="auto">
          <a:xfrm flipH="0" flipV="0">
            <a:off x="7051272" y="2568211"/>
            <a:ext cx="2171596" cy="259439"/>
          </a:xfrm>
          <a:prstGeom prst="rect">
            <a:avLst/>
          </a:prstGeom>
          <a:solidFill>
            <a:schemeClr val="bg1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>
                <a:latin typeface="IBM Plex Sans"/>
              </a:rPr>
              <a:t>محاسبه هش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1042183151" name=""/>
          <p:cNvSpPr txBox="1"/>
          <p:nvPr/>
        </p:nvSpPr>
        <p:spPr bwMode="auto">
          <a:xfrm flipH="0" flipV="0">
            <a:off x="9406748" y="3131637"/>
            <a:ext cx="2334618" cy="7623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>
                <a:latin typeface="IBM Plex Sans"/>
              </a:rPr>
              <a:t>این یک </a:t>
            </a:r>
            <a:r>
              <a:rPr sz="1100" lang="fr-FR">
                <a:latin typeface="IBM Plex Sans"/>
              </a:rPr>
              <a:t>امضای دیجیتال </a:t>
            </a:r>
            <a:r>
              <a:rPr sz="1100">
                <a:latin typeface="IBM Plex Sans"/>
              </a:rPr>
              <a:t>از هش </a:t>
            </a:r>
            <a:r>
              <a:rPr sz="1100" lang="fr-FR">
                <a:latin typeface="IBM Plex Sans"/>
              </a:rPr>
              <a:t>متصل </a:t>
            </a:r>
            <a:r>
              <a:rPr sz="1100">
                <a:latin typeface="IBM Plex Sans"/>
              </a:rPr>
              <a:t>به </a:t>
            </a:r>
            <a:r>
              <a:rPr sz="1100" lang="fr-FR">
                <a:latin typeface="IBM Plex Sans"/>
              </a:rPr>
              <a:t>زمان‌سنج </a:t>
            </a:r>
            <a:r>
              <a:rPr sz="1100">
                <a:latin typeface="IBM Plex Sans"/>
              </a:rPr>
              <a:t>است.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1856247728" name=""/>
          <p:cNvSpPr txBox="1"/>
          <p:nvPr/>
        </p:nvSpPr>
        <p:spPr bwMode="auto">
          <a:xfrm flipH="0" flipV="0">
            <a:off x="6446061" y="3699144"/>
            <a:ext cx="1616558" cy="396599"/>
          </a:xfrm>
          <a:prstGeom prst="rect">
            <a:avLst/>
          </a:prstGeom>
          <a:solidFill>
            <a:srgbClr val="FFFFFF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000">
                <a:latin typeface="IBM Plex Sans"/>
              </a:rPr>
              <a:t>کلید خصوصی TSA </a:t>
            </a:r>
            <a:r>
              <a:rPr sz="1000">
                <a:latin typeface="IBM Plex Sans"/>
              </a:rPr>
              <a:t>را اعمال کنید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631696941" name=""/>
          <p:cNvSpPr txBox="1"/>
          <p:nvPr/>
        </p:nvSpPr>
        <p:spPr bwMode="auto">
          <a:xfrm flipH="0" flipV="0">
            <a:off x="9743962" y="4516295"/>
            <a:ext cx="1996686" cy="305159"/>
          </a:xfrm>
          <a:prstGeom prst="rect">
            <a:avLst/>
          </a:prstGeom>
          <a:solidFill>
            <a:srgbClr val="FEFF98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1400">
                <a:latin typeface="IBM Plex Sans"/>
              </a:rPr>
              <a:t>زمان‌سنجی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133654291" name=""/>
          <p:cNvSpPr txBox="1"/>
          <p:nvPr/>
        </p:nvSpPr>
        <p:spPr bwMode="auto">
          <a:xfrm flipH="0" flipV="0">
            <a:off x="4814896" y="5306036"/>
            <a:ext cx="2069344" cy="305159"/>
          </a:xfrm>
          <a:prstGeom prst="rect">
            <a:avLst/>
          </a:prstGeom>
          <a:solidFill>
            <a:srgbClr val="FEFF98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1400">
                <a:latin typeface="IBM Plex Sans"/>
              </a:rPr>
              <a:t>زمان‌نگار</a:t>
            </a:r>
            <a:endParaRPr sz="14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650129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361473" y="1099778"/>
            <a:ext cx="3469050" cy="46584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3947794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42998" y="2438399"/>
            <a:ext cx="9905999" cy="1981199"/>
          </a:xfrm>
          <a:prstGeom prst="rect">
            <a:avLst/>
          </a:prstGeom>
        </p:spPr>
      </p:pic>
      <p:sp>
        <p:nvSpPr>
          <p:cNvPr id="659609761" name=""/>
          <p:cNvSpPr/>
          <p:nvPr/>
        </p:nvSpPr>
        <p:spPr bwMode="auto">
          <a:xfrm flipH="0" flipV="0">
            <a:off x="1437994" y="2703967"/>
            <a:ext cx="2628900" cy="809624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04420992" name=""/>
          <p:cNvSpPr txBox="1"/>
          <p:nvPr/>
        </p:nvSpPr>
        <p:spPr bwMode="auto">
          <a:xfrm flipH="0" flipV="0">
            <a:off x="1458298" y="2788560"/>
            <a:ext cx="5401395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3600" b="1">
                <a:latin typeface="IBM Plex Sans"/>
              </a:rPr>
              <a:t>مراجع</a:t>
            </a:r>
            <a:endParaRPr sz="10000" b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4658049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656823" y="1009648"/>
            <a:ext cx="8878350" cy="48387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4077712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096474" y="282956"/>
            <a:ext cx="7999047" cy="62920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926503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418497" y="751498"/>
            <a:ext cx="5355001" cy="53550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0342259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237647" y="956958"/>
            <a:ext cx="3716701" cy="494407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5281317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696424" y="90192"/>
            <a:ext cx="8782049" cy="66646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2402154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656621" y="989621"/>
            <a:ext cx="4878752" cy="48787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2046450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581399" y="914399"/>
            <a:ext cx="5029196" cy="50291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3724835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443906" y="0"/>
            <a:ext cx="5304184" cy="68579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9316974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11049" y="619124"/>
            <a:ext cx="7369898" cy="561974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9537786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69060" y="609600"/>
            <a:ext cx="9925305" cy="5200646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812837255" name=""/>
          <p:cNvSpPr txBox="1"/>
          <p:nvPr/>
        </p:nvSpPr>
        <p:spPr bwMode="auto">
          <a:xfrm rot="0" flipH="0" flipV="0">
            <a:off x="2755485" y="5941694"/>
            <a:ext cx="7268309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1">
                <a:latin typeface="IBM Plex Sans"/>
              </a:rPr>
              <a:t>صفحه ساتوشی ناکاموتو - هرگز </a:t>
            </a:r>
            <a:r>
              <a:rPr sz="1400" b="0" i="1" lang="fr-FR">
                <a:latin typeface="IBM Plex Sans"/>
              </a:rPr>
              <a:t>هیچ هدیه‌ای دریافت نکرده است</a:t>
            </a:r>
            <a:endParaRPr sz="2800" b="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9035615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80473" y="1313473"/>
            <a:ext cx="4231050" cy="42310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0674352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570771" y="786831"/>
            <a:ext cx="7050451" cy="528433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3164463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441575" y="1009649"/>
            <a:ext cx="9308848" cy="4838697"/>
          </a:xfrm>
          <a:prstGeom prst="rect">
            <a:avLst/>
          </a:prstGeom>
        </p:spPr>
      </p:pic>
      <p:sp>
        <p:nvSpPr>
          <p:cNvPr id="342911670" name=""/>
          <p:cNvSpPr txBox="1"/>
          <p:nvPr/>
        </p:nvSpPr>
        <p:spPr bwMode="auto">
          <a:xfrm flipH="0" flipV="0">
            <a:off x="1933203" y="5985901"/>
            <a:ext cx="7863998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latin typeface="IBM Plex Sans"/>
              </a:rPr>
              <a:t>فروم بیت‌کوین</a:t>
            </a:r>
            <a:endParaRPr sz="1400" b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5906939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066071" y="399071"/>
            <a:ext cx="6059853" cy="60598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3254041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247172" y="302892"/>
            <a:ext cx="3697651" cy="62522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1728638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28577" y="1277935"/>
            <a:ext cx="4334842" cy="43021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5786482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5088" y="457199"/>
            <a:ext cx="11701821" cy="594359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9229888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54301" y="2631219"/>
            <a:ext cx="4483395" cy="159556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6827381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380521" y="445294"/>
            <a:ext cx="3430952" cy="596740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255953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075598" y="471305"/>
            <a:ext cx="6040800" cy="591538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9721452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3797" y="1431598"/>
            <a:ext cx="11984401" cy="3994799"/>
          </a:xfrm>
          <a:prstGeom prst="rect">
            <a:avLst/>
          </a:prstGeom>
        </p:spPr>
      </p:pic>
      <p:sp>
        <p:nvSpPr>
          <p:cNvPr id="136547751" name=""/>
          <p:cNvSpPr/>
          <p:nvPr/>
        </p:nvSpPr>
        <p:spPr bwMode="auto">
          <a:xfrm flipH="0" flipV="0">
            <a:off x="3420449" y="1381124"/>
            <a:ext cx="6781799" cy="409574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80372163" name=""/>
          <p:cNvSpPr txBox="1"/>
          <p:nvPr/>
        </p:nvSpPr>
        <p:spPr bwMode="auto">
          <a:xfrm flipH="0" flipV="0">
            <a:off x="572474" y="1155371"/>
            <a:ext cx="11183069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>
                <a:latin typeface="IBM Plex Sans"/>
              </a:rPr>
              <a:t>بلوک‌های پاتوشی و زمان‌سنجی معکوس (شماره بلوک/اکسترانانس)</a:t>
            </a:r>
            <a:endParaRPr sz="18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3884979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61999" y="228600"/>
            <a:ext cx="10667998" cy="6400800"/>
          </a:xfrm>
          <a:prstGeom prst="rect">
            <a:avLst/>
          </a:prstGeom>
        </p:spPr>
      </p:pic>
      <p:sp>
        <p:nvSpPr>
          <p:cNvPr id="1446829500" name=""/>
          <p:cNvSpPr/>
          <p:nvPr/>
        </p:nvSpPr>
        <p:spPr bwMode="auto">
          <a:xfrm flipH="0" flipV="0">
            <a:off x="3963375" y="419099"/>
            <a:ext cx="6353174" cy="276224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99163990" name=""/>
          <p:cNvSpPr/>
          <p:nvPr/>
        </p:nvSpPr>
        <p:spPr bwMode="auto">
          <a:xfrm flipH="0" flipV="0">
            <a:off x="848699" y="1847849"/>
            <a:ext cx="276224" cy="2543175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067220978" name=""/>
          <p:cNvSpPr txBox="1"/>
          <p:nvPr/>
        </p:nvSpPr>
        <p:spPr bwMode="auto">
          <a:xfrm flipH="0" flipV="0">
            <a:off x="1439249" y="228599"/>
            <a:ext cx="10582993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>
                <a:latin typeface="IBM Plex Sans"/>
              </a:rPr>
              <a:t>برآورد درصد ساتوشی از شبکه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36166462" name=""/>
          <p:cNvSpPr txBox="1"/>
          <p:nvPr/>
        </p:nvSpPr>
        <p:spPr bwMode="auto">
          <a:xfrm rot="16199969" flipH="0" flipV="0">
            <a:off x="-21773" y="2867636"/>
            <a:ext cx="1988233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latin typeface="IBM Plex Sans"/>
              </a:rPr>
              <a:t>درصد شبکه</a:t>
            </a:r>
            <a:endParaRPr sz="14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4887405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65771" y="170863"/>
            <a:ext cx="10860453" cy="6516272"/>
          </a:xfrm>
          <a:prstGeom prst="rect">
            <a:avLst/>
          </a:prstGeom>
        </p:spPr>
      </p:pic>
      <p:sp>
        <p:nvSpPr>
          <p:cNvPr id="1513896667" name=""/>
          <p:cNvSpPr/>
          <p:nvPr/>
        </p:nvSpPr>
        <p:spPr bwMode="auto">
          <a:xfrm flipH="0" flipV="0">
            <a:off x="745567" y="2441863"/>
            <a:ext cx="329045" cy="1203613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90721780" name=""/>
          <p:cNvSpPr/>
          <p:nvPr/>
        </p:nvSpPr>
        <p:spPr bwMode="auto">
          <a:xfrm flipH="0" flipV="0">
            <a:off x="4877775" y="333374"/>
            <a:ext cx="4610099" cy="30479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46389776" name=""/>
          <p:cNvSpPr/>
          <p:nvPr/>
        </p:nvSpPr>
        <p:spPr bwMode="auto">
          <a:xfrm flipH="0" flipV="0">
            <a:off x="4925399" y="6095999"/>
            <a:ext cx="1571625" cy="43814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54449911" name=""/>
          <p:cNvSpPr/>
          <p:nvPr/>
        </p:nvSpPr>
        <p:spPr bwMode="auto">
          <a:xfrm flipH="0" flipV="0">
            <a:off x="6811349" y="6095999"/>
            <a:ext cx="1571625" cy="438148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270840435" name=""/>
          <p:cNvSpPr txBox="1"/>
          <p:nvPr/>
        </p:nvSpPr>
        <p:spPr bwMode="auto">
          <a:xfrm flipH="0" flipV="0">
            <a:off x="1639274" y="170862"/>
            <a:ext cx="9582868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>
                <a:latin typeface="IBM Plex Sans"/>
              </a:rPr>
              <a:t>برآورد قدرت </a:t>
            </a:r>
            <a:r>
              <a:rPr sz="1800">
                <a:latin typeface="IBM Plex Sans"/>
              </a:rPr>
              <a:t>هش ساتوشی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992520675" name=""/>
          <p:cNvSpPr txBox="1"/>
          <p:nvPr/>
        </p:nvSpPr>
        <p:spPr bwMode="auto">
          <a:xfrm rot="16199969" flipH="0" flipV="0">
            <a:off x="433819" y="2876295"/>
            <a:ext cx="91202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latin typeface="IBM Plex Sans"/>
              </a:rPr>
              <a:t>هش ریت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10757163" name=""/>
          <p:cNvSpPr txBox="1"/>
          <p:nvPr/>
        </p:nvSpPr>
        <p:spPr bwMode="auto">
          <a:xfrm flipH="0" flipV="0">
            <a:off x="4925398" y="6095998"/>
            <a:ext cx="1351535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900">
                <a:latin typeface="IBM Plex Sans"/>
              </a:rPr>
              <a:t>میانگین روزانه هش ریت</a:t>
            </a:r>
            <a:endParaRPr sz="900">
              <a:latin typeface="IBM Plex Sans"/>
              <a:cs typeface="IBM Plex Sans"/>
            </a:endParaRPr>
          </a:p>
        </p:txBody>
      </p:sp>
      <p:sp>
        <p:nvSpPr>
          <p:cNvPr id="641046973" name=""/>
          <p:cNvSpPr txBox="1"/>
          <p:nvPr/>
        </p:nvSpPr>
        <p:spPr bwMode="auto">
          <a:xfrm flipH="0" flipV="0">
            <a:off x="6932529" y="6095997"/>
            <a:ext cx="2127800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900">
                <a:latin typeface="IBM Plex Sans"/>
              </a:rPr>
              <a:t>مدل هش ریت خطی</a:t>
            </a:r>
            <a:endParaRPr sz="9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4072778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999396" y="804024"/>
            <a:ext cx="6193201" cy="52499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7921806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839299" y="591199"/>
            <a:ext cx="8513397" cy="56755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6076585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20499" y="388166"/>
            <a:ext cx="4550995" cy="60816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8599925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03550" y="2314574"/>
            <a:ext cx="6984897" cy="22288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0699824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066072" y="971013"/>
            <a:ext cx="6059851" cy="491596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613441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8251" y="1543043"/>
            <a:ext cx="11395487" cy="377190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8109733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730498" y="904874"/>
            <a:ext cx="6730999" cy="50482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4971020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85608" y="1971674"/>
            <a:ext cx="10820781" cy="29146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3398440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73441" y="1504949"/>
            <a:ext cx="11245114" cy="384809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654844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129" y="38099"/>
            <a:ext cx="12165738" cy="6781798"/>
          </a:xfrm>
          <a:prstGeom prst="rect">
            <a:avLst/>
          </a:prstGeom>
        </p:spPr>
      </p:pic>
      <p:sp>
        <p:nvSpPr>
          <p:cNvPr id="323316966" name=""/>
          <p:cNvSpPr/>
          <p:nvPr/>
        </p:nvSpPr>
        <p:spPr bwMode="auto">
          <a:xfrm flipH="0" flipV="0">
            <a:off x="20024" y="2952749"/>
            <a:ext cx="209549" cy="156209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788304490" name=""/>
          <p:cNvSpPr/>
          <p:nvPr/>
        </p:nvSpPr>
        <p:spPr bwMode="auto">
          <a:xfrm flipH="0" flipV="0">
            <a:off x="6039824" y="6610349"/>
            <a:ext cx="1514474" cy="19049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37384418" name=""/>
          <p:cNvSpPr txBox="1"/>
          <p:nvPr/>
        </p:nvSpPr>
        <p:spPr bwMode="auto">
          <a:xfrm rot="16199969" flipH="0" flipV="0">
            <a:off x="-275045" y="3247818"/>
            <a:ext cx="834339" cy="24419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000" b="0" i="1">
                <a:solidFill>
                  <a:schemeClr val="tx1"/>
                </a:solidFill>
                <a:latin typeface="IBM Plex Sans"/>
              </a:rPr>
              <a:t>اکسترا نانس</a:t>
            </a:r>
            <a:endParaRPr sz="1000" b="0" i="1">
              <a:solidFill>
                <a:schemeClr val="tx1"/>
              </a:solidFill>
              <a:latin typeface="IBM Plex Sans"/>
              <a:cs typeface="IBM Plex Sans"/>
            </a:endParaRPr>
          </a:p>
        </p:txBody>
      </p:sp>
      <p:sp>
        <p:nvSpPr>
          <p:cNvPr id="1453161468" name=""/>
          <p:cNvSpPr txBox="1"/>
          <p:nvPr/>
        </p:nvSpPr>
        <p:spPr bwMode="auto">
          <a:xfrm flipH="0" flipV="0">
            <a:off x="6039822" y="6583498"/>
            <a:ext cx="445977" cy="24419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000" b="0" i="1">
                <a:solidFill>
                  <a:schemeClr val="tx1"/>
                </a:solidFill>
                <a:latin typeface="IBM Plex Sans"/>
              </a:rPr>
              <a:t>تاریخ</a:t>
            </a:r>
            <a:endParaRPr sz="1000" b="0" i="1">
              <a:solidFill>
                <a:schemeClr val="tx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8300850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376657" y="866774"/>
            <a:ext cx="5438683" cy="512444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0660294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15321" y="2457449"/>
            <a:ext cx="7361353" cy="19430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9371501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47379" y="1543048"/>
            <a:ext cx="10897241" cy="257174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641417221" name=""/>
          <p:cNvSpPr txBox="1"/>
          <p:nvPr/>
        </p:nvSpPr>
        <p:spPr bwMode="auto">
          <a:xfrm rot="0" flipH="0" flipV="0">
            <a:off x="782023" y="4581703"/>
            <a:ext cx="2861100" cy="5794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rgbClr val="2D2593"/>
                </a:solidFill>
                <a:latin typeface="IBM Plex Sans"/>
              </a:rPr>
              <a:t>"مقاله: آیا درباره </a:t>
            </a: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بیت‌کوین‌ها اطلاعاتی دارید؟"</a:t>
            </a:r>
            <a:endParaRPr sz="1600" b="0">
              <a:solidFill>
                <a:schemeClr val="tx1"/>
              </a:solidFill>
              <a:latin typeface="IBM Plex Sans"/>
              <a:cs typeface="IBM Plex Sans"/>
            </a:endParaRPr>
          </a:p>
        </p:txBody>
      </p:sp>
      <p:sp>
        <p:nvSpPr>
          <p:cNvPr id="1755272410" name=""/>
          <p:cNvSpPr txBox="1"/>
          <p:nvPr/>
        </p:nvSpPr>
        <p:spPr bwMode="auto">
          <a:xfrm rot="0" flipH="0" flipV="0">
            <a:off x="3640603" y="4515029"/>
            <a:ext cx="7907255" cy="9452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بیت‌کوین یک ارز الکترونیکی است که در سال ۲۰۰۹ توسط شخصی به نام ساتوشی ناکاموتو طراحی شده است. این ارز به دلیل ماهیت کاملاً غیرمتمرکز و همتا به همتای خود و استفاده هوشمندانه از مفاهیم پایه‌ای رمزنگاری، از سایر ارزهای الکترونیکی متمایز است. این ارز به نرم‌افزاری که به زبان C++ نوشته شده و تحت مجوز متن باز MIT منتشر شده است، وابسته است.</a:t>
            </a:r>
            <a:endParaRPr sz="1000" b="0" i="0" u="none" strike="noStrike" cap="none" spc="0">
              <a:solidFill>
                <a:schemeClr val="tx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731448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94596" y="1174051"/>
            <a:ext cx="6802802" cy="45098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8345888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5159" y="1162049"/>
            <a:ext cx="11421678" cy="4533898"/>
          </a:xfrm>
          <a:prstGeom prst="rect">
            <a:avLst/>
          </a:prstGeom>
        </p:spPr>
      </p:pic>
      <p:sp>
        <p:nvSpPr>
          <p:cNvPr id="564352030" name=""/>
          <p:cNvSpPr txBox="1"/>
          <p:nvPr/>
        </p:nvSpPr>
        <p:spPr bwMode="auto">
          <a:xfrm rot="0" flipH="0" flipV="0">
            <a:off x="2896574" y="5886449"/>
            <a:ext cx="6974099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 i="1" u="none" lang="en-US">
                <a:solidFill>
                  <a:schemeClr val="tx1"/>
                </a:solidFill>
                <a:latin typeface="IBM Plex Sans"/>
              </a:rPr>
              <a:t>بیت‌کوین، ظهور ماشین‌ها.</a:t>
            </a:r>
            <a:endParaRPr sz="1600" b="0" i="1">
              <a:solidFill>
                <a:schemeClr val="tx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8854345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190999" y="1523999"/>
            <a:ext cx="3809999" cy="38099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4681777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876799" y="2209799"/>
            <a:ext cx="2438399" cy="24383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6892664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99641" y="514350"/>
            <a:ext cx="8592714" cy="58292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7084556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044819" y="2943224"/>
            <a:ext cx="8102357" cy="9715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8229385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018698" y="932560"/>
            <a:ext cx="2154600" cy="49928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0359626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706353" y="1133474"/>
            <a:ext cx="4779291" cy="45910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9632114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48438" y="771524"/>
            <a:ext cx="11495120" cy="5314946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859389808" name=""/>
          <p:cNvSpPr/>
          <p:nvPr/>
        </p:nvSpPr>
        <p:spPr bwMode="auto">
          <a:xfrm flipH="0" flipV="0">
            <a:off x="439123" y="5567948"/>
            <a:ext cx="11363323" cy="51851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5241435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258827" y="485774"/>
            <a:ext cx="9674340" cy="58864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6721376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225144" y="66674"/>
            <a:ext cx="9741706" cy="672464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070747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898724" y="400049"/>
            <a:ext cx="10394548" cy="60578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5950271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1529" y="628650"/>
            <a:ext cx="12008937" cy="56006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8638721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84822" y="389722"/>
            <a:ext cx="10822351" cy="60785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4002759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22065" y="514349"/>
            <a:ext cx="10347867" cy="58292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9319480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132748" y="771007"/>
            <a:ext cx="5926500" cy="53159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1960116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80472" y="608297"/>
            <a:ext cx="4231051" cy="5641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8272590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28698" y="895349"/>
            <a:ext cx="10134599" cy="5067299"/>
          </a:xfrm>
          <a:prstGeom prst="rect">
            <a:avLst/>
          </a:prstGeom>
        </p:spPr>
      </p:pic>
      <p:sp>
        <p:nvSpPr>
          <p:cNvPr id="493737358" name=""/>
          <p:cNvSpPr/>
          <p:nvPr/>
        </p:nvSpPr>
        <p:spPr bwMode="auto">
          <a:xfrm flipH="0" flipV="0">
            <a:off x="1229699" y="1790699"/>
            <a:ext cx="371475" cy="312419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20085475" name=""/>
          <p:cNvSpPr txBox="1"/>
          <p:nvPr/>
        </p:nvSpPr>
        <p:spPr bwMode="auto">
          <a:xfrm rot="16199969" flipH="0" flipV="0">
            <a:off x="-1385529" y="3289162"/>
            <a:ext cx="4829895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>
                <a:latin typeface="IBM Plex Sans"/>
              </a:rPr>
              <a:t>قیمت بیت‌کوین به دلار آمریکا</a:t>
            </a:r>
            <a:endParaRPr sz="18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ONLYOFFICE/9.0.4.50</Application>
  <PresentationFormat>On-screen Show (4:3)</PresentationFormat>
  <Paragraphs>0</Paragraphs>
  <Slides>70</Slides>
  <Notes>70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71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MariJ</cp:lastModifiedBy>
  <cp:revision>31</cp:revision>
  <dcterms:modified xsi:type="dcterms:W3CDTF">2025-10-15T15:09:23Z</dcterms:modified>
</cp:coreProperties>
</file>