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7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</p:sldIdLst>
  <p:sldSz cx="12192000" cy="6858000"/>
  <p:notesSz cx="6858000" cy="9144000"/>
  <p:defaultTextStyle>
    <a:defPPr>
      <a:defRPr lang="en-US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notesMaster" Target="notesMasters/notesMaster1.xml"/><Relationship Id="rId75" Type="http://schemas.openxmlformats.org/officeDocument/2006/relationships/presProps" Target="presProps.xml"/><Relationship Id="rId76" Type="http://schemas.openxmlformats.org/officeDocument/2006/relationships/tableStyles" Target="tableStyles.xml"/><Relationship Id="rId77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089058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99481301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3331614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994229746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31305234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50771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978870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6417540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8489157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7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45669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18707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E55648-ADE2-965E-0F87-0ABB71C754B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89878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86592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596705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473744-944F-EBDB-D1E6-8F1CC5CEBD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9782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982314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79473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8696C0-5062-29DC-8A0D-0B5FE66196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4146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66668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24653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BD0134-888A-C41F-C6A9-E9CB0DCD8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53819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8520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591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27A960-E66B-BEB9-512F-51F73B38A5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259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9594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4797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3624B9-90B4-A423-2B5E-5454F908F41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25945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39546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842112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5C4064-3EE6-A2BF-51F2-AEF85998A4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26131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038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5884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C163AE-044F-883A-A57C-12F3E3EFBF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1360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531638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647454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792455D-49EB-FB3F-3A5D-A54B84B95EC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50080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09609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491445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8631968-6248-63BE-F4DC-BD5ECB85DA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479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262107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41831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812B2-1B68-B1DC-1870-D4D85F9024B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2720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50779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6816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745C4F-2678-59E7-2ECA-A500A97CE2C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307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45284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3489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37134FC-422C-A81C-D2A9-89C9D8EAEF6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69698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474402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18773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14A156-7A59-A123-F75C-E447D5D4785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17363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48551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52244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374181E-3D75-015A-BF9A-A1811885A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11334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93553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65503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162975-0B87-124D-F4CF-CC0D059DED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2461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108073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6387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F710F28-E052-173C-41D9-DD6C9335DF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187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3043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21177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9DB6D7-1DAB-B1E0-82BB-0703661D71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02230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86879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650072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99B5EB9-CEEA-9BBB-ADE0-7D8A93C8FCB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279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5849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304800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258580-6B33-FA3E-7D01-D92051217F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4358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10289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25060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64CBA-39A3-330E-222D-8DFBAC3EAE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16946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82456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0978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5E4D4C-FF23-C312-3909-D43C2034481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08575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5309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49005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9D0093-CEF7-4F7C-3917-F404DA844F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93649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3034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701319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FE2612B-5475-F079-D6D8-D27530AECA9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1124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14009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531708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3A8570-D5E3-A3DA-E9BE-4E59B47DCD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83011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15591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57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02157EF-C9F3-24D9-B1A1-FB4AB34082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4212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11183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5386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8873EC8-14A0-3A00-0EAE-6D6F91E856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05324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0476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4808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1797A96-85C7-DC3D-4197-A7799D4D93E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3006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79474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9048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2A5D2C-5EB6-3EFE-448A-6E5A57BBB57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7733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514847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33931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B8107A1-9B68-E9FB-7790-E654E75FDF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52406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6110387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20258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FF372D-B465-F965-BBAE-99202805F6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9860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99093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316318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F4C2D-6E5E-C875-C976-C6D55F6BE6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96668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494284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13840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346F0F7-F334-E342-5F02-944A3495C4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35639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363484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6871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37FDAD-1320-454A-0438-600C450795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7520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822509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052958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1E0814-FA3A-798F-7BCC-928878DD25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47989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5772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707579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447F0D3-1DEA-F745-1E09-B7FA6BF8E5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5032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871915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243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F4C0AE-E38D-DC6B-C68A-AA49F3CF55A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37955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37586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908012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887B64-E028-2AA4-2F68-CBA8265516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1228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41179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5402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F0CF1FC-3401-5F66-1687-747F5BB6F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6020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25282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9331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0E706-D256-E63B-0C75-706309155F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868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1154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247965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1B1688A-4A24-A9DE-E8D5-11EF282097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98663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79038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23162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F96F47-3D75-628A-7225-3D6D257E195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13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45846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257581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5ABE1E-764B-F425-3391-598B8B461FD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52635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47495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64608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A8DE568-97B0-9929-DEC1-7CBD6BC5D2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73545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11279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18006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D6FF70-89BB-82B1-17DA-D1DCA74758D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254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68896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9041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D1B874-9CC0-4429-5FF7-FC67A3C3FD7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64262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1396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90316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5434F9-E3D3-DB90-E93A-1D223BF901B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7939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7360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774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6F7208-4509-16B4-8EF9-ADC2C49B49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83447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99652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6781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A26031-1666-FFA0-1343-10117A0A8A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579552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54805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487942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7F023A4-E3E3-6195-88ED-53EC821D299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96221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4024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39177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4C3DA3E-F2DA-2C64-8E0F-319E878795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4220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4644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6232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466F95-1D03-2B53-5C37-61A2864787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44795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295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42257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A40C7-AB34-D7E9-E511-577CCB0FD39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17668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158057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35529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9237B5-1CB3-7EDD-7250-D1A1602C7E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44841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390574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49675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382380-19A7-A1A0-EEAC-E3B9E43D5E6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9902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118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4961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7702FD-7905-BDC6-4203-F59B61CEB9B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09081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099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09105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29BA4D-F7B8-24AB-4D7A-E413A5FFAA8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2815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298703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2780777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4927C6-D97B-436B-C8A7-AFE8CEC3A6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243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9962771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63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E0709-468D-4CCD-4EDF-4432F5A849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6772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0061926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374902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D58AC18-380E-66F2-7AE2-BD7F602DEC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75379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8966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71241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4934705-0AD6-963A-C353-5FAF7821E48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75979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52338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61806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62C122E-C38D-8339-6097-2ED6C91C05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35527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802033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245097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3BB0AA0-5CF8-9B70-D3B9-41D78923508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7780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94666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0867509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042AC1A-8DA1-B652-2027-74938292C62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10277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14640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044949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BFD0CD-9953-DAB9-1629-83C76D32C9C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58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5895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2408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3E527E-84B9-F204-CCC6-BF4670AEB2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28862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15381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82555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EC451A-0168-5998-FE7E-6B0633410CB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7974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0859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18487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5FCCCA1-04DB-E6CE-E5C4-4256E1EC3F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7072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68683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9356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0A229DD-D5FF-254B-DF64-C5EA347728A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4012231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1914569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50749570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90640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487451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02523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545275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07252403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2925207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4946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0848304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68289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29119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51667712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4793061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020522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0301703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48332984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839929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44927447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04734671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949479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819632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82293859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5682687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780629443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687960751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72777601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26134090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699621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83117413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40639957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3051399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301401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90089583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19118340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219754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719177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5629683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23495580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885444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56103786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073462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5684061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11698061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684644214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1918839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749154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603646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08545615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5156830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284888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718484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468260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2358660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221292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7017028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9149997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400015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9846336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1326057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5257325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82678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3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4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2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3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9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0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2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3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4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45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7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8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49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0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2.jp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54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55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5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7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9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0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1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62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63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64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6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66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7.jp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68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9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70.jp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7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9117410" name="Rectangle 7"/>
          <p:cNvSpPr/>
          <p:nvPr/>
        </p:nvSpPr>
        <p:spPr bwMode="auto">
          <a:xfrm>
            <a:off x="2595339" y="198443"/>
            <a:ext cx="1396890" cy="381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1387892" name="TextBox 5"/>
          <p:cNvSpPr txBox="1"/>
          <p:nvPr/>
        </p:nvSpPr>
        <p:spPr bwMode="auto">
          <a:xfrm>
            <a:off x="2591523" y="188417"/>
            <a:ext cx="2347353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Jasni tekst</a:t>
            </a:r>
            <a:endParaRPr lang="en-US" sz="2300"/>
          </a:p>
        </p:txBody>
      </p:sp>
      <p:sp>
        <p:nvSpPr>
          <p:cNvPr id="542659239" name="Rectangle 13"/>
          <p:cNvSpPr/>
          <p:nvPr/>
        </p:nvSpPr>
        <p:spPr bwMode="auto">
          <a:xfrm>
            <a:off x="7747107" y="158272"/>
            <a:ext cx="1739305" cy="4616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06029660" name="TextBox 11"/>
          <p:cNvSpPr txBox="1"/>
          <p:nvPr/>
        </p:nvSpPr>
        <p:spPr bwMode="auto">
          <a:xfrm>
            <a:off x="7764696" y="178324"/>
            <a:ext cx="2593914" cy="44231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sz="2300" b="1" lang="en-US">
                <a:latin typeface="Roboto"/>
              </a:rPr>
              <a:t>Šifrovani tekst</a:t>
            </a:r>
            <a:endParaRPr/>
          </a:p>
        </p:txBody>
      </p:sp>
      <p:sp>
        <p:nvSpPr>
          <p:cNvPr id="515311746" name="Rectangle 17"/>
          <p:cNvSpPr/>
          <p:nvPr/>
        </p:nvSpPr>
        <p:spPr bwMode="auto">
          <a:xfrm>
            <a:off x="8766243" y="2968881"/>
            <a:ext cx="1257075" cy="4305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87331779" name="Rectangle 18"/>
          <p:cNvSpPr/>
          <p:nvPr/>
        </p:nvSpPr>
        <p:spPr bwMode="auto">
          <a:xfrm>
            <a:off x="4918718" y="1681878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2035916910" name="TextBox 14"/>
          <p:cNvSpPr txBox="1"/>
          <p:nvPr/>
        </p:nvSpPr>
        <p:spPr bwMode="auto">
          <a:xfrm>
            <a:off x="8766243" y="2957805"/>
            <a:ext cx="1954436" cy="442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sz="2300" lang="en-US">
                <a:latin typeface="Roboto"/>
              </a:rPr>
              <a:t>Slanje</a:t>
            </a:r>
            <a:endParaRPr/>
          </a:p>
        </p:txBody>
      </p:sp>
      <p:sp>
        <p:nvSpPr>
          <p:cNvPr id="1682539440" name="TextBox 19"/>
          <p:cNvSpPr txBox="1"/>
          <p:nvPr/>
        </p:nvSpPr>
        <p:spPr bwMode="auto">
          <a:xfrm>
            <a:off x="4410180" y="1713858"/>
            <a:ext cx="2628336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Enkripcija</a:t>
            </a:r>
            <a:endParaRPr/>
          </a:p>
          <a:p>
            <a:pPr algn="ctr"/>
            <a:r>
              <a:rPr sz="2300" lang="en-US">
                <a:latin typeface="Roboto"/>
              </a:rPr>
              <a:t>sa javnim</a:t>
            </a:r>
          </a:p>
          <a:p>
            <a:pPr algn="ctr"/>
            <a:r>
              <a:rPr sz="2300" lang="en-US">
                <a:latin typeface="Roboto"/>
              </a:rPr>
              <a:t>ključem</a:t>
            </a:r>
          </a:p>
        </p:txBody>
      </p:sp>
      <p:sp>
        <p:nvSpPr>
          <p:cNvPr id="698934102" name="Rectangle 21"/>
          <p:cNvSpPr/>
          <p:nvPr/>
        </p:nvSpPr>
        <p:spPr bwMode="auto">
          <a:xfrm>
            <a:off x="4918718" y="5620284"/>
            <a:ext cx="1610899" cy="1143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>
              <a:solidFill>
                <a:schemeClr val="tx1"/>
              </a:solidFill>
            </a:endParaRPr>
          </a:p>
        </p:txBody>
      </p:sp>
      <p:sp>
        <p:nvSpPr>
          <p:cNvPr id="898941771" name="TextBox 22"/>
          <p:cNvSpPr txBox="1"/>
          <p:nvPr/>
        </p:nvSpPr>
        <p:spPr bwMode="auto">
          <a:xfrm>
            <a:off x="4520468" y="5592105"/>
            <a:ext cx="2407757" cy="114335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sz="2300" lang="en-US">
                <a:latin typeface="Roboto"/>
              </a:rPr>
              <a:t>Dekripcija</a:t>
            </a:r>
            <a:endParaRPr/>
          </a:p>
          <a:p>
            <a:pPr algn="ctr"/>
            <a:r>
              <a:rPr sz="2300" lang="en-US">
                <a:latin typeface="Roboto"/>
              </a:rPr>
              <a:t>sa privatnim</a:t>
            </a:r>
          </a:p>
          <a:p>
            <a:pPr algn="ctr"/>
            <a:r>
              <a:rPr sz="2300" lang="en-US">
                <a:latin typeface="Roboto"/>
              </a:rPr>
              <a:t>ključem</a:t>
            </a:r>
          </a:p>
        </p:txBody>
      </p:sp>
      <p:pic>
        <p:nvPicPr>
          <p:cNvPr id="5024384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58999" y="21166"/>
            <a:ext cx="8392871" cy="6714297"/>
          </a:xfrm>
          <a:prstGeom prst="rect">
            <a:avLst/>
          </a:prstGeom>
        </p:spPr>
      </p:pic>
      <p:sp>
        <p:nvSpPr>
          <p:cNvPr id="1429071587" name=""/>
          <p:cNvSpPr/>
          <p:nvPr/>
        </p:nvSpPr>
        <p:spPr bwMode="auto">
          <a:xfrm flipH="0" flipV="0">
            <a:off x="2722070" y="203655"/>
            <a:ext cx="1398607" cy="44610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761093492" name=""/>
          <p:cNvSpPr txBox="1"/>
          <p:nvPr/>
        </p:nvSpPr>
        <p:spPr bwMode="auto">
          <a:xfrm flipH="0" flipV="0">
            <a:off x="1535541" y="203654"/>
            <a:ext cx="343178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Jasni tekst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969521309" name=""/>
          <p:cNvSpPr/>
          <p:nvPr/>
        </p:nvSpPr>
        <p:spPr bwMode="auto">
          <a:xfrm flipH="0" flipV="0">
            <a:off x="7827161" y="198442"/>
            <a:ext cx="2037394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1385861" name=""/>
          <p:cNvSpPr/>
          <p:nvPr/>
        </p:nvSpPr>
        <p:spPr bwMode="auto">
          <a:xfrm flipH="0" flipV="0">
            <a:off x="8721165" y="2325560"/>
            <a:ext cx="1999512" cy="136537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93531871" name=""/>
          <p:cNvSpPr/>
          <p:nvPr/>
        </p:nvSpPr>
        <p:spPr bwMode="auto">
          <a:xfrm flipH="0" flipV="0">
            <a:off x="4938876" y="1490804"/>
            <a:ext cx="1645997" cy="16695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525520898" name=""/>
          <p:cNvSpPr/>
          <p:nvPr/>
        </p:nvSpPr>
        <p:spPr bwMode="auto">
          <a:xfrm flipH="0" flipV="0">
            <a:off x="4966245" y="5441911"/>
            <a:ext cx="1645996" cy="129355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756478981" name=""/>
          <p:cNvSpPr/>
          <p:nvPr/>
        </p:nvSpPr>
        <p:spPr bwMode="auto">
          <a:xfrm flipH="0" flipV="0">
            <a:off x="2722070" y="1044697"/>
            <a:ext cx="1688109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0921611" name=""/>
          <p:cNvSpPr txBox="1"/>
          <p:nvPr/>
        </p:nvSpPr>
        <p:spPr bwMode="auto">
          <a:xfrm flipH="0" flipV="0">
            <a:off x="2853086" y="1033244"/>
            <a:ext cx="1139142" cy="45756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400">
                <a:latin typeface="IBM Plex Sans"/>
              </a:rPr>
              <a:t>Биткоин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276313897" name=""/>
          <p:cNvSpPr txBox="1"/>
          <p:nvPr/>
        </p:nvSpPr>
        <p:spPr bwMode="auto">
          <a:xfrm flipH="0" flipV="0">
            <a:off x="7187931" y="203654"/>
            <a:ext cx="3239579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latin typeface="IBM Plex Sans"/>
              </a:rPr>
              <a:t>Šifrovani tekst</a:t>
            </a:r>
            <a:endParaRPr sz="2200" b="1">
              <a:latin typeface="IBM Plex Sans"/>
              <a:cs typeface="IBM Plex Sans"/>
            </a:endParaRPr>
          </a:p>
        </p:txBody>
      </p:sp>
      <p:sp>
        <p:nvSpPr>
          <p:cNvPr id="1415171345" name=""/>
          <p:cNvSpPr txBox="1"/>
          <p:nvPr/>
        </p:nvSpPr>
        <p:spPr bwMode="auto">
          <a:xfrm flipH="0" flipV="0">
            <a:off x="8807720" y="2794709"/>
            <a:ext cx="319356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0">
                <a:latin typeface="IBM Plex Sans"/>
              </a:rPr>
              <a:t>Slanje</a:t>
            </a:r>
            <a:endParaRPr sz="2200" b="0">
              <a:latin typeface="IBM Plex Sans"/>
              <a:cs typeface="IBM Plex Sans"/>
            </a:endParaRPr>
          </a:p>
        </p:txBody>
      </p:sp>
      <p:sp>
        <p:nvSpPr>
          <p:cNvPr id="2060365003" name=""/>
          <p:cNvSpPr txBox="1"/>
          <p:nvPr/>
        </p:nvSpPr>
        <p:spPr bwMode="auto">
          <a:xfrm flipH="0" flipV="0">
            <a:off x="4938875" y="1639891"/>
            <a:ext cx="1592180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>
                <a:latin typeface="IBM Plex Sans"/>
              </a:rPr>
              <a:t>Enkripcija </a:t>
            </a:r>
            <a:r>
              <a:rPr sz="1400" b="0" lang="fr-FR">
                <a:latin typeface="IBM Plex Sans"/>
              </a:rPr>
              <a:t>sa </a:t>
            </a:r>
            <a:r>
              <a:rPr sz="1400" b="0">
                <a:latin typeface="IBM Plex Sans"/>
              </a:rPr>
              <a:t>javnim </a:t>
            </a:r>
            <a:r>
              <a:rPr sz="1400" b="0" lang="fr-FR">
                <a:latin typeface="IBM Plex Sans"/>
              </a:rPr>
              <a:t>ključem </a:t>
            </a:r>
            <a:r>
              <a:rPr sz="1400" b="0">
                <a:latin typeface="IBM Plex Sans"/>
              </a:rPr>
              <a:t/>
            </a:r>
            <a:endParaRPr sz="14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564805446" name=""/>
          <p:cNvSpPr txBox="1"/>
          <p:nvPr/>
        </p:nvSpPr>
        <p:spPr bwMode="auto">
          <a:xfrm flipH="0" flipV="0">
            <a:off x="3765199" y="5680215"/>
            <a:ext cx="5043240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Dekripcija </a:t>
            </a:r>
            <a:r>
              <a:rPr sz="1600" b="0" lang="fr-FR">
                <a:latin typeface="IBM Plex Sans"/>
              </a:rPr>
              <a:t>sa </a:t>
            </a:r>
            <a:r>
              <a:rPr sz="1600" b="0">
                <a:latin typeface="IBM Plex Sans"/>
              </a:rPr>
              <a:t>privatnim </a:t>
            </a:r>
            <a:r>
              <a:rPr sz="1600" b="0" lang="fr-FR">
                <a:latin typeface="IBM Plex Sans"/>
              </a:rPr>
              <a:t>ključem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2117423457" name=""/>
          <p:cNvSpPr/>
          <p:nvPr/>
        </p:nvSpPr>
        <p:spPr bwMode="auto">
          <a:xfrm flipH="0" flipV="0">
            <a:off x="2720786" y="1056150"/>
            <a:ext cx="1688108" cy="44610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1861164775" name=""/>
          <p:cNvSpPr txBox="1"/>
          <p:nvPr/>
        </p:nvSpPr>
        <p:spPr bwMode="auto">
          <a:xfrm flipH="0" flipV="0">
            <a:off x="1853931" y="1044696"/>
            <a:ext cx="2138452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Биткоин</a:t>
            </a:r>
            <a:endParaRPr sz="2400">
              <a:latin typeface="IBM Plex Sans"/>
              <a:cs typeface="IBM Plex Sans"/>
            </a:endParaRPr>
          </a:p>
        </p:txBody>
      </p:sp>
      <p:sp>
        <p:nvSpPr>
          <p:cNvPr id="1486006633" name=""/>
          <p:cNvSpPr txBox="1"/>
          <p:nvPr/>
        </p:nvSpPr>
        <p:spPr bwMode="auto">
          <a:xfrm flipH="0" flipV="0">
            <a:off x="2006330" y="4863123"/>
            <a:ext cx="2138812" cy="457560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400">
                <a:latin typeface="IBM Plex Sans"/>
              </a:rPr>
              <a:t>Биткоин</a:t>
            </a:r>
            <a:endParaRPr sz="2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0959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64651" y="15362"/>
            <a:ext cx="7062695" cy="6827270"/>
          </a:xfrm>
          <a:prstGeom prst="rect">
            <a:avLst/>
          </a:prstGeom>
        </p:spPr>
      </p:pic>
      <p:sp>
        <p:nvSpPr>
          <p:cNvPr id="618278120" name=""/>
          <p:cNvSpPr/>
          <p:nvPr/>
        </p:nvSpPr>
        <p:spPr bwMode="auto">
          <a:xfrm flipH="0" flipV="0">
            <a:off x="6940687" y="215079"/>
            <a:ext cx="2186448" cy="43015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577510310" name=""/>
          <p:cNvSpPr/>
          <p:nvPr/>
        </p:nvSpPr>
        <p:spPr bwMode="auto">
          <a:xfrm flipH="0" flipV="0">
            <a:off x="8154516" y="2881839"/>
            <a:ext cx="2444482" cy="5010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24416130" name=""/>
          <p:cNvSpPr/>
          <p:nvPr/>
        </p:nvSpPr>
        <p:spPr bwMode="auto">
          <a:xfrm flipH="0" flipV="0">
            <a:off x="4486317" y="5688146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163204435" name=""/>
          <p:cNvSpPr/>
          <p:nvPr/>
        </p:nvSpPr>
        <p:spPr bwMode="auto">
          <a:xfrm flipH="0" flipV="0">
            <a:off x="4533302" y="1541392"/>
            <a:ext cx="1786852" cy="100416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17404936" name=""/>
          <p:cNvSpPr/>
          <p:nvPr/>
        </p:nvSpPr>
        <p:spPr bwMode="auto">
          <a:xfrm flipH="0" flipV="0">
            <a:off x="2751531" y="5082559"/>
            <a:ext cx="1614461" cy="402796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74341121" name=""/>
          <p:cNvSpPr/>
          <p:nvPr/>
        </p:nvSpPr>
        <p:spPr bwMode="auto">
          <a:xfrm flipH="0" flipV="0">
            <a:off x="2736169" y="215079"/>
            <a:ext cx="1321209" cy="430161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28966252" name=""/>
          <p:cNvSpPr txBox="1"/>
          <p:nvPr/>
        </p:nvSpPr>
        <p:spPr bwMode="auto">
          <a:xfrm flipH="0" flipV="0">
            <a:off x="1784658" y="215078"/>
            <a:ext cx="310969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Poruka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1134818737" name=""/>
          <p:cNvSpPr txBox="1"/>
          <p:nvPr/>
        </p:nvSpPr>
        <p:spPr bwMode="auto">
          <a:xfrm flipH="0" flipV="0">
            <a:off x="6893522" y="215078"/>
            <a:ext cx="2734903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000" b="1">
                <a:latin typeface="IBM Plex Sans"/>
              </a:rPr>
              <a:t>Potpis</a:t>
            </a:r>
            <a:endParaRPr sz="2000" b="1">
              <a:latin typeface="IBM Plex Sans"/>
              <a:cs typeface="IBM Plex Sans"/>
            </a:endParaRPr>
          </a:p>
        </p:txBody>
      </p:sp>
      <p:sp>
        <p:nvSpPr>
          <p:cNvPr id="2021760122" name=""/>
          <p:cNvSpPr txBox="1"/>
          <p:nvPr/>
        </p:nvSpPr>
        <p:spPr bwMode="auto">
          <a:xfrm flipH="0" flipV="0">
            <a:off x="8202903" y="2986308"/>
            <a:ext cx="3194065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b="0">
                <a:latin typeface="IBM Plex Sans"/>
              </a:rPr>
              <a:t>Slanje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091897644" name=""/>
          <p:cNvSpPr txBox="1"/>
          <p:nvPr/>
        </p:nvSpPr>
        <p:spPr bwMode="auto">
          <a:xfrm flipH="0" flipV="0">
            <a:off x="2113704" y="5088755"/>
            <a:ext cx="195609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2000" b="0">
                <a:latin typeface="IBM Plex Sans"/>
              </a:rPr>
              <a:t>U redu</a:t>
            </a:r>
            <a:endParaRPr sz="2000" b="0">
              <a:latin typeface="IBM Plex Sans"/>
              <a:cs typeface="IBM Plex Sans"/>
            </a:endParaRPr>
          </a:p>
        </p:txBody>
      </p:sp>
      <p:sp>
        <p:nvSpPr>
          <p:cNvPr id="1632395688" name=""/>
          <p:cNvSpPr txBox="1"/>
          <p:nvPr/>
        </p:nvSpPr>
        <p:spPr bwMode="auto">
          <a:xfrm flipH="0" flipV="0">
            <a:off x="3896720" y="1539360"/>
            <a:ext cx="2662335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Potpisivanje </a:t>
            </a:r>
            <a:r>
              <a:rPr sz="1600" b="0" lang="fr-FR">
                <a:latin typeface="IBM Plex Sans"/>
              </a:rPr>
              <a:t>privatnim </a:t>
            </a:r>
            <a:r>
              <a:rPr sz="1600" b="0">
                <a:latin typeface="IBM Plex Sans"/>
              </a:rPr>
              <a:t>ključem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  <p:sp>
        <p:nvSpPr>
          <p:cNvPr id="1469490840" name=""/>
          <p:cNvSpPr txBox="1"/>
          <p:nvPr/>
        </p:nvSpPr>
        <p:spPr bwMode="auto">
          <a:xfrm flipH="0" flipV="0">
            <a:off x="3621937" y="5686113"/>
            <a:ext cx="3015771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>
                <a:latin typeface="IBM Plex Sans"/>
              </a:rPr>
              <a:t>Proveravanje </a:t>
            </a:r>
            <a:r>
              <a:rPr sz="1600" b="0" lang="fr-FR">
                <a:latin typeface="IBM Plex Sans"/>
              </a:rPr>
              <a:t>sa </a:t>
            </a:r>
            <a:r>
              <a:rPr sz="1600" b="0">
                <a:latin typeface="IBM Plex Sans"/>
              </a:rPr>
              <a:t>javnim </a:t>
            </a:r>
            <a:r>
              <a:rPr sz="1600" b="0" lang="fr-FR">
                <a:latin typeface="IBM Plex Sans"/>
              </a:rPr>
              <a:t>ključem </a:t>
            </a:r>
            <a:r>
              <a:rPr sz="1600" b="0">
                <a:latin typeface="IBM Plex Sans"/>
              </a:rPr>
              <a:t/>
            </a:r>
            <a:endParaRPr sz="1600" b="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526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8499" y="666749"/>
            <a:ext cx="5715000" cy="5524499"/>
          </a:xfrm>
          <a:prstGeom prst="rect">
            <a:avLst/>
          </a:prstGeom>
        </p:spPr>
      </p:pic>
      <p:pic>
        <p:nvPicPr>
          <p:cNvPr id="177536630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3352799" y="0"/>
            <a:ext cx="5486399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958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757237"/>
            <a:ext cx="7619999" cy="53435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93556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2283" y="280392"/>
            <a:ext cx="6047431" cy="5745059"/>
          </a:xfrm>
          <a:prstGeom prst="rect">
            <a:avLst/>
          </a:prstGeom>
        </p:spPr>
      </p:pic>
      <p:sp>
        <p:nvSpPr>
          <p:cNvPr id="958143399" name=""/>
          <p:cNvSpPr/>
          <p:nvPr/>
        </p:nvSpPr>
        <p:spPr bwMode="auto">
          <a:xfrm flipH="0" flipV="0">
            <a:off x="5929808" y="864541"/>
            <a:ext cx="1149753" cy="30094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40051190" name=""/>
          <p:cNvSpPr txBox="1"/>
          <p:nvPr/>
        </p:nvSpPr>
        <p:spPr bwMode="auto">
          <a:xfrm flipH="0" flipV="0">
            <a:off x="6796666" y="2878666"/>
            <a:ext cx="682858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>
              <a:latin typeface="IBM Plex Sans"/>
              <a:cs typeface="IBM Plex Sans"/>
            </a:endParaRPr>
          </a:p>
        </p:txBody>
      </p:sp>
      <p:sp>
        <p:nvSpPr>
          <p:cNvPr id="72791010" name=""/>
          <p:cNvSpPr txBox="1"/>
          <p:nvPr/>
        </p:nvSpPr>
        <p:spPr bwMode="auto">
          <a:xfrm flipH="0" flipV="0">
            <a:off x="6183477" y="2710450"/>
            <a:ext cx="1257937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200">
                <a:latin typeface="IBM Plex Sans"/>
              </a:rPr>
              <a:t>pošalji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1709900016" name=""/>
          <p:cNvSpPr txBox="1"/>
          <p:nvPr/>
        </p:nvSpPr>
        <p:spPr bwMode="auto">
          <a:xfrm flipH="0" flipV="0">
            <a:off x="5812687" y="877671"/>
            <a:ext cx="1035944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pošalji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26557778" name=""/>
          <p:cNvSpPr txBox="1"/>
          <p:nvPr/>
        </p:nvSpPr>
        <p:spPr bwMode="auto">
          <a:xfrm flipH="0" flipV="0">
            <a:off x="8510588" y="2710090"/>
            <a:ext cx="2124381" cy="27467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>
                <a:latin typeface="IBM Plex Sans"/>
              </a:rPr>
              <a:t>krediti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566308975" name=""/>
          <p:cNvSpPr txBox="1"/>
          <p:nvPr/>
        </p:nvSpPr>
        <p:spPr bwMode="auto">
          <a:xfrm flipH="0" flipV="0">
            <a:off x="2629117" y="5192732"/>
            <a:ext cx="2642102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Banka 1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466514468" name=""/>
          <p:cNvSpPr txBox="1"/>
          <p:nvPr/>
        </p:nvSpPr>
        <p:spPr bwMode="auto">
          <a:xfrm flipH="0" flipV="0">
            <a:off x="7185916" y="5192732"/>
            <a:ext cx="2326650" cy="4880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Banka 2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355621069" name=""/>
          <p:cNvSpPr/>
          <p:nvPr/>
        </p:nvSpPr>
        <p:spPr bwMode="auto">
          <a:xfrm rot="0" flipH="0" flipV="0">
            <a:off x="5097499" y="5572125"/>
            <a:ext cx="2524124" cy="746124"/>
          </a:xfrm>
          <a:prstGeom prst="rect">
            <a:avLst/>
          </a:prstGeom>
          <a:solidFill>
            <a:schemeClr val="bg1"/>
          </a:solidFill>
          <a:ln w="12699" cap="flat" cmpd="sng" algn="ctr">
            <a:solidFill>
              <a:schemeClr val="bg1"/>
            </a:solidFill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40523157" name=""/>
          <p:cNvSpPr txBox="1"/>
          <p:nvPr/>
        </p:nvSpPr>
        <p:spPr bwMode="auto">
          <a:xfrm flipH="0" flipV="0">
            <a:off x="4651612" y="5680770"/>
            <a:ext cx="3216127" cy="9452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evidencija potrošenih </a:t>
            </a:r>
            <a:r>
              <a:rPr sz="1400">
                <a:latin typeface="IBM Plex Sans"/>
              </a:rPr>
              <a:t>novčanica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5315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4739" y="970372"/>
            <a:ext cx="4802518" cy="49172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19884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71625" y="581024"/>
            <a:ext cx="9048749" cy="5695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4157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4845" y="733421"/>
            <a:ext cx="10782307" cy="539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2637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4474" y="33756"/>
            <a:ext cx="9523045" cy="67904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819912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0246" y="2390769"/>
            <a:ext cx="6431504" cy="20764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34118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41416" y="620661"/>
            <a:ext cx="7709163" cy="561667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49992560" name=""/>
          <p:cNvPicPr>
            <a:picLocks noChangeAspect="1"/>
          </p:cNvPicPr>
          <p:nvPr/>
        </p:nvPicPr>
        <p:blipFill>
          <a:blip r:embed="rId3"/>
          <a:srcRect l="0" t="0" r="0" b="16973"/>
          <a:stretch/>
        </p:blipFill>
        <p:spPr bwMode="auto">
          <a:xfrm flipH="0" flipV="0">
            <a:off x="1563274" y="159770"/>
            <a:ext cx="9065446" cy="5428633"/>
          </a:xfrm>
          <a:prstGeom prst="rect">
            <a:avLst/>
          </a:prstGeom>
        </p:spPr>
      </p:pic>
      <p:sp>
        <p:nvSpPr>
          <p:cNvPr id="1056831080" name=""/>
          <p:cNvSpPr/>
          <p:nvPr/>
        </p:nvSpPr>
        <p:spPr bwMode="auto">
          <a:xfrm flipH="0" flipV="0">
            <a:off x="2991824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61749794" name=""/>
          <p:cNvSpPr/>
          <p:nvPr/>
        </p:nvSpPr>
        <p:spPr bwMode="auto">
          <a:xfrm flipH="0" flipV="0">
            <a:off x="5698727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0698139" name=""/>
          <p:cNvSpPr/>
          <p:nvPr/>
        </p:nvSpPr>
        <p:spPr bwMode="auto">
          <a:xfrm flipH="0" flipV="0">
            <a:off x="8424329" y="5600699"/>
            <a:ext cx="523874" cy="3619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97094744" name=""/>
          <p:cNvSpPr/>
          <p:nvPr/>
        </p:nvSpPr>
        <p:spPr bwMode="auto">
          <a:xfrm flipH="0" flipV="0">
            <a:off x="2962949" y="5357154"/>
            <a:ext cx="762300" cy="28539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153823412" name=""/>
          <p:cNvSpPr/>
          <p:nvPr/>
        </p:nvSpPr>
        <p:spPr bwMode="auto">
          <a:xfrm flipH="0" flipV="0">
            <a:off x="3677625" y="4867453"/>
            <a:ext cx="647698" cy="22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 sz="2200">
              <a:latin typeface="IBM Plex Sans"/>
              <a:cs typeface="IBM Plex Sans"/>
            </a:endParaRPr>
          </a:p>
        </p:txBody>
      </p:sp>
      <p:sp>
        <p:nvSpPr>
          <p:cNvPr id="2108527031" name=""/>
          <p:cNvSpPr txBox="1"/>
          <p:nvPr/>
        </p:nvSpPr>
        <p:spPr bwMode="auto">
          <a:xfrm flipH="0" flipV="0">
            <a:off x="7346907" y="5801943"/>
            <a:ext cx="408383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>
                <a:latin typeface="IBM Plex Sans"/>
              </a:rPr>
              <a:t>Distribuirane mreže.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794602628" name=""/>
          <p:cNvSpPr txBox="1"/>
          <p:nvPr/>
        </p:nvSpPr>
        <p:spPr bwMode="auto">
          <a:xfrm flipH="0" flipV="0">
            <a:off x="2925666" y="5337383"/>
            <a:ext cx="1448440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Stanica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833248220" name=""/>
          <p:cNvSpPr txBox="1"/>
          <p:nvPr/>
        </p:nvSpPr>
        <p:spPr bwMode="auto">
          <a:xfrm flipH="0" flipV="0">
            <a:off x="3677625" y="4829175"/>
            <a:ext cx="1183282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400">
                <a:latin typeface="IBM Plex Sans"/>
              </a:rPr>
              <a:t>Veza</a:t>
            </a:r>
            <a:endParaRPr sz="14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083863093" name=""/>
          <p:cNvSpPr/>
          <p:nvPr/>
        </p:nvSpPr>
        <p:spPr bwMode="auto">
          <a:xfrm flipH="0" flipV="0">
            <a:off x="3458550" y="4867453"/>
            <a:ext cx="266699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980293751" name=""/>
          <p:cNvSpPr/>
          <p:nvPr/>
        </p:nvSpPr>
        <p:spPr bwMode="auto">
          <a:xfrm rot="2286170" flipH="0" flipV="0">
            <a:off x="2724120" y="5303120"/>
            <a:ext cx="266698" cy="152579"/>
          </a:xfrm>
          <a:prstGeom prst="leftArrow">
            <a:avLst>
              <a:gd name="adj1" fmla="val 50000"/>
              <a:gd name="adj2" fmla="val 83333"/>
            </a:avLst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827644842" name=""/>
          <p:cNvSpPr txBox="1"/>
          <p:nvPr/>
        </p:nvSpPr>
        <p:spPr bwMode="auto">
          <a:xfrm rot="0" flipH="0" flipV="0">
            <a:off x="1533582" y="5801943"/>
            <a:ext cx="2763487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Centralizacija</a:t>
            </a:r>
            <a:endParaRPr sz="2200">
              <a:latin typeface="IBM Plex Sans"/>
              <a:cs typeface="IBM Plex Sans"/>
            </a:endParaRPr>
          </a:p>
        </p:txBody>
      </p:sp>
      <p:sp>
        <p:nvSpPr>
          <p:cNvPr id="414344841" name=""/>
          <p:cNvSpPr txBox="1"/>
          <p:nvPr/>
        </p:nvSpPr>
        <p:spPr bwMode="auto">
          <a:xfrm rot="0" flipH="0" flipV="0">
            <a:off x="4494953" y="5801943"/>
            <a:ext cx="2851953" cy="427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lang="fr-FR">
                <a:latin typeface="IBM Plex Sans"/>
              </a:rPr>
              <a:t>Decentralizovan</a:t>
            </a:r>
            <a:endParaRPr sz="2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6692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72880" y="323847"/>
            <a:ext cx="10646236" cy="6210302"/>
          </a:xfrm>
          <a:prstGeom prst="rect">
            <a:avLst/>
          </a:prstGeom>
        </p:spPr>
      </p:pic>
      <p:sp>
        <p:nvSpPr>
          <p:cNvPr id="1604701722" name=""/>
          <p:cNvSpPr/>
          <p:nvPr/>
        </p:nvSpPr>
        <p:spPr bwMode="auto">
          <a:xfrm flipH="0" flipV="0">
            <a:off x="1651400" y="495479"/>
            <a:ext cx="2266949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585018793" name=""/>
          <p:cNvSpPr/>
          <p:nvPr/>
        </p:nvSpPr>
        <p:spPr bwMode="auto">
          <a:xfrm flipH="0" flipV="0">
            <a:off x="4562474" y="495479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1078221400" name=""/>
          <p:cNvSpPr/>
          <p:nvPr/>
        </p:nvSpPr>
        <p:spPr bwMode="auto">
          <a:xfrm flipH="0" flipV="0">
            <a:off x="2784875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17931922" name=""/>
          <p:cNvSpPr/>
          <p:nvPr/>
        </p:nvSpPr>
        <p:spPr bwMode="auto">
          <a:xfrm flipH="0" flipV="0">
            <a:off x="7886698" y="5857514"/>
            <a:ext cx="1714500" cy="609599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sp>
        <p:nvSpPr>
          <p:cNvPr id="2047620786" name=""/>
          <p:cNvSpPr txBox="1"/>
          <p:nvPr/>
        </p:nvSpPr>
        <p:spPr bwMode="auto">
          <a:xfrm flipH="0" flipV="0">
            <a:off x="1651399" y="571500"/>
            <a:ext cx="1586266" cy="36612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latin typeface="IBM Plex Sans"/>
              </a:rPr>
              <a:t>Lojalni general</a:t>
            </a:r>
            <a:endParaRPr sz="1800">
              <a:latin typeface="IBM Plex Sans"/>
              <a:cs typeface="IBM Plex Sans"/>
            </a:endParaRPr>
          </a:p>
        </p:txBody>
      </p:sp>
      <p:sp>
        <p:nvSpPr>
          <p:cNvPr id="1951448218" name=""/>
          <p:cNvSpPr txBox="1"/>
          <p:nvPr/>
        </p:nvSpPr>
        <p:spPr bwMode="auto">
          <a:xfrm flipH="0" flipV="0">
            <a:off x="4562473" y="571500"/>
            <a:ext cx="2021121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1800">
                <a:solidFill>
                  <a:srgbClr val="8A8A8A"/>
                </a:solidFill>
                <a:latin typeface="IBM Plex Sans"/>
              </a:rPr>
              <a:t>Izdajica</a:t>
            </a:r>
            <a:endParaRPr sz="1800">
              <a:solidFill>
                <a:srgbClr val="8A8A8A"/>
              </a:solidFill>
              <a:latin typeface="IBM Plex Sans"/>
              <a:cs typeface="IBM Plex Sans"/>
            </a:endParaRPr>
          </a:p>
        </p:txBody>
      </p:sp>
      <p:sp>
        <p:nvSpPr>
          <p:cNvPr id="1415045215" name=""/>
          <p:cNvSpPr txBox="1"/>
          <p:nvPr/>
        </p:nvSpPr>
        <p:spPr bwMode="auto">
          <a:xfrm flipH="0" flipV="0">
            <a:off x="2131022" y="5857513"/>
            <a:ext cx="3378125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Poraz</a:t>
            </a:r>
            <a:endParaRPr sz="2600" b="1">
              <a:latin typeface="IBM Plex Sans"/>
              <a:cs typeface="IBM Plex Sans"/>
            </a:endParaRPr>
          </a:p>
        </p:txBody>
      </p:sp>
      <p:sp>
        <p:nvSpPr>
          <p:cNvPr id="1155593188" name=""/>
          <p:cNvSpPr txBox="1"/>
          <p:nvPr/>
        </p:nvSpPr>
        <p:spPr bwMode="auto">
          <a:xfrm flipH="0" flipV="0">
            <a:off x="6780954" y="5857513"/>
            <a:ext cx="3785102" cy="4880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600" b="1">
                <a:latin typeface="IBM Plex Sans"/>
              </a:rPr>
              <a:t>Pobedа</a:t>
            </a:r>
            <a:endParaRPr sz="26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868452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338262" y="538162"/>
            <a:ext cx="9515475" cy="5781674"/>
          </a:xfrm>
          <a:prstGeom prst="rect">
            <a:avLst/>
          </a:prstGeom>
        </p:spPr>
      </p:pic>
      <p:sp>
        <p:nvSpPr>
          <p:cNvPr id="1435555748" name=""/>
          <p:cNvSpPr/>
          <p:nvPr/>
        </p:nvSpPr>
        <p:spPr bwMode="auto">
          <a:xfrm flipH="0" flipV="0">
            <a:off x="7200124" y="1254124"/>
            <a:ext cx="3017836" cy="317498"/>
          </a:xfrm>
          <a:prstGeom prst="rect">
            <a:avLst/>
          </a:prstGeom>
          <a:solidFill>
            <a:srgbClr val="FDE9D4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855654714" name=""/>
          <p:cNvSpPr/>
          <p:nvPr/>
        </p:nvSpPr>
        <p:spPr bwMode="auto">
          <a:xfrm flipH="0" flipV="0">
            <a:off x="4048937" y="436562"/>
            <a:ext cx="4476749" cy="5715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39019711" name=""/>
          <p:cNvSpPr/>
          <p:nvPr/>
        </p:nvSpPr>
        <p:spPr bwMode="auto">
          <a:xfrm flipH="0" flipV="0">
            <a:off x="1620062" y="2016124"/>
            <a:ext cx="571500" cy="515937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362170388" name=""/>
          <p:cNvSpPr/>
          <p:nvPr/>
        </p:nvSpPr>
        <p:spPr bwMode="auto">
          <a:xfrm flipH="0" flipV="0">
            <a:off x="1486711" y="5200650"/>
            <a:ext cx="571500" cy="515936"/>
          </a:xfrm>
          <a:prstGeom prst="rect">
            <a:avLst/>
          </a:prstGeom>
          <a:solidFill>
            <a:srgbClr val="FEFF9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1166664" name=""/>
          <p:cNvSpPr/>
          <p:nvPr/>
        </p:nvSpPr>
        <p:spPr bwMode="auto">
          <a:xfrm flipH="0" flipV="0">
            <a:off x="2366187" y="1738312"/>
            <a:ext cx="1627187" cy="2222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37375027" name=""/>
          <p:cNvSpPr/>
          <p:nvPr/>
        </p:nvSpPr>
        <p:spPr bwMode="auto">
          <a:xfrm flipH="0" flipV="0">
            <a:off x="4255312" y="3833812"/>
            <a:ext cx="1817687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2142" name=""/>
          <p:cNvSpPr/>
          <p:nvPr/>
        </p:nvSpPr>
        <p:spPr bwMode="auto">
          <a:xfrm flipH="0" flipV="0">
            <a:off x="9406749" y="3040062"/>
            <a:ext cx="1904999" cy="896937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45983159" name=""/>
          <p:cNvSpPr/>
          <p:nvPr/>
        </p:nvSpPr>
        <p:spPr bwMode="auto">
          <a:xfrm flipH="0" flipV="0">
            <a:off x="6446062" y="3603624"/>
            <a:ext cx="1690687" cy="4921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97111734" name=""/>
          <p:cNvSpPr/>
          <p:nvPr/>
        </p:nvSpPr>
        <p:spPr bwMode="auto">
          <a:xfrm flipH="0" flipV="0">
            <a:off x="2866249" y="6095999"/>
            <a:ext cx="1674812" cy="373062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32067337" name=""/>
          <p:cNvSpPr txBox="1"/>
          <p:nvPr/>
        </p:nvSpPr>
        <p:spPr bwMode="auto">
          <a:xfrm flipH="0" flipV="0">
            <a:off x="2366185" y="436560"/>
            <a:ext cx="7427207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rgbClr val="850009"/>
                </a:solidFill>
                <a:latin typeface="IBM Plex Sans"/>
              </a:rPr>
              <a:t>Poverljivo vremensko označavanje</a:t>
            </a:r>
            <a:endParaRPr sz="2800" b="1">
              <a:solidFill>
                <a:srgbClr val="850009"/>
              </a:solidFill>
              <a:latin typeface="IBM Plex Sans"/>
              <a:cs typeface="IBM Plex Sans"/>
            </a:endParaRPr>
          </a:p>
        </p:txBody>
      </p:sp>
      <p:sp>
        <p:nvSpPr>
          <p:cNvPr id="666728493" name=""/>
          <p:cNvSpPr txBox="1"/>
          <p:nvPr/>
        </p:nvSpPr>
        <p:spPr bwMode="auto">
          <a:xfrm flipH="0" flipV="0">
            <a:off x="2267924" y="1640939"/>
            <a:ext cx="1726168" cy="2441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Izračunaj heš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386261133" name=""/>
          <p:cNvSpPr txBox="1"/>
          <p:nvPr/>
        </p:nvSpPr>
        <p:spPr bwMode="auto">
          <a:xfrm flipH="0" flipV="0">
            <a:off x="4998760" y="1701120"/>
            <a:ext cx="2052513" cy="25943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Pošaljite hash TSA-u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26628945" name=""/>
          <p:cNvSpPr txBox="1"/>
          <p:nvPr/>
        </p:nvSpPr>
        <p:spPr bwMode="auto">
          <a:xfrm flipH="0" flipV="0">
            <a:off x="1486710" y="1254123"/>
            <a:ext cx="2973763" cy="30515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Unutar kompanije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513745464" name=""/>
          <p:cNvSpPr txBox="1"/>
          <p:nvPr/>
        </p:nvSpPr>
        <p:spPr bwMode="auto">
          <a:xfrm flipH="0" flipV="0">
            <a:off x="1486710" y="2179838"/>
            <a:ext cx="706650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Podaci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1887285" name=""/>
          <p:cNvSpPr txBox="1"/>
          <p:nvPr/>
        </p:nvSpPr>
        <p:spPr bwMode="auto">
          <a:xfrm flipH="0" flipV="0">
            <a:off x="1411649" y="5311773"/>
            <a:ext cx="644081" cy="39659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>
                <a:latin typeface="IBM Plex Sans"/>
              </a:rPr>
              <a:t>Podaci</a:t>
            </a:r>
            <a:endParaRPr sz="1000">
              <a:latin typeface="IBM Plex Sans"/>
              <a:ea typeface="IBM Plex Sans"/>
              <a:cs typeface="IBM Plex Sans"/>
            </a:endParaRPr>
          </a:p>
        </p:txBody>
      </p:sp>
      <p:sp>
        <p:nvSpPr>
          <p:cNvPr id="1458164772" name=""/>
          <p:cNvSpPr txBox="1"/>
          <p:nvPr/>
        </p:nvSpPr>
        <p:spPr bwMode="auto">
          <a:xfrm flipH="0" flipV="0">
            <a:off x="1486710" y="6129950"/>
            <a:ext cx="421129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Čuvati zajedno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3664644" name=""/>
          <p:cNvSpPr txBox="1"/>
          <p:nvPr/>
        </p:nvSpPr>
        <p:spPr bwMode="auto">
          <a:xfrm flipH="0" flipV="0">
            <a:off x="3756939" y="4095747"/>
            <a:ext cx="2268077" cy="5947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Potpisani vremenski pečat </a:t>
            </a:r>
            <a:r>
              <a:rPr sz="1100">
                <a:latin typeface="IBM Plex Sans"/>
              </a:rPr>
              <a:t>i hash se </a:t>
            </a:r>
            <a:r>
              <a:rPr sz="1100">
                <a:latin typeface="IBM Plex Sans"/>
              </a:rPr>
              <a:t>vraćaju tražiocu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988364204" name=""/>
          <p:cNvSpPr txBox="1"/>
          <p:nvPr/>
        </p:nvSpPr>
        <p:spPr bwMode="auto">
          <a:xfrm flipH="0" flipV="0">
            <a:off x="8468534" y="2027259"/>
            <a:ext cx="1968051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Vremenska oznaka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1417755538" name=""/>
          <p:cNvSpPr txBox="1"/>
          <p:nvPr/>
        </p:nvSpPr>
        <p:spPr bwMode="auto">
          <a:xfrm flipH="0" flipV="0">
            <a:off x="7051275" y="1254123"/>
            <a:ext cx="3384592" cy="274679"/>
          </a:xfrm>
          <a:prstGeom prst="rect">
            <a:avLst/>
          </a:prstGeom>
          <a:solidFill>
            <a:srgbClr val="FFCE9C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Autoritet za vremensko označavanje (TSA)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686659638" name=""/>
          <p:cNvSpPr txBox="1"/>
          <p:nvPr/>
        </p:nvSpPr>
        <p:spPr bwMode="auto">
          <a:xfrm flipH="0" flipV="0">
            <a:off x="7051272" y="2568211"/>
            <a:ext cx="2171596" cy="259439"/>
          </a:xfrm>
          <a:prstGeom prst="rect">
            <a:avLst/>
          </a:prstGeom>
          <a:solidFill>
            <a:schemeClr val="bg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Izračunaj heš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042183151" name=""/>
          <p:cNvSpPr txBox="1"/>
          <p:nvPr/>
        </p:nvSpPr>
        <p:spPr bwMode="auto">
          <a:xfrm flipH="0" flipV="0">
            <a:off x="9406748" y="3131637"/>
            <a:ext cx="2334618" cy="7623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100">
                <a:latin typeface="IBM Plex Sans"/>
              </a:rPr>
              <a:t>Ovo je </a:t>
            </a:r>
            <a:r>
              <a:rPr sz="1100" lang="fr-FR">
                <a:latin typeface="IBM Plex Sans"/>
              </a:rPr>
              <a:t>digitalni potpis </a:t>
            </a:r>
            <a:r>
              <a:rPr sz="1100">
                <a:latin typeface="IBM Plex Sans"/>
              </a:rPr>
              <a:t>haša koji </a:t>
            </a:r>
            <a:r>
              <a:rPr sz="1100" lang="fr-FR">
                <a:latin typeface="IBM Plex Sans"/>
              </a:rPr>
              <a:t>je spojen </a:t>
            </a:r>
            <a:r>
              <a:rPr sz="1100">
                <a:latin typeface="IBM Plex Sans"/>
              </a:rPr>
              <a:t>sa </a:t>
            </a:r>
            <a:r>
              <a:rPr sz="1100" lang="fr-FR">
                <a:latin typeface="IBM Plex Sans"/>
              </a:rPr>
              <a:t>vremenskom </a:t>
            </a:r>
            <a:r>
              <a:rPr sz="1100">
                <a:latin typeface="IBM Plex Sans"/>
              </a:rPr>
              <a:t>oznakom.</a:t>
            </a:r>
            <a:endParaRPr sz="1100">
              <a:latin typeface="IBM Plex Sans"/>
              <a:cs typeface="IBM Plex Sans"/>
            </a:endParaRPr>
          </a:p>
        </p:txBody>
      </p:sp>
      <p:sp>
        <p:nvSpPr>
          <p:cNvPr id="1856247728" name=""/>
          <p:cNvSpPr txBox="1"/>
          <p:nvPr/>
        </p:nvSpPr>
        <p:spPr bwMode="auto">
          <a:xfrm flipH="0" flipV="0">
            <a:off x="6446061" y="3699144"/>
            <a:ext cx="1616558" cy="396599"/>
          </a:xfrm>
          <a:prstGeom prst="rect">
            <a:avLst/>
          </a:prstGeom>
          <a:solidFill>
            <a:srgbClr val="FFFFFF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r">
              <a:defRPr/>
            </a:pPr>
            <a:r>
              <a:rPr sz="1000">
                <a:latin typeface="IBM Plex Sans"/>
              </a:rPr>
              <a:t>Primeni privatni </a:t>
            </a:r>
            <a:r>
              <a:rPr sz="1000">
                <a:latin typeface="IBM Plex Sans"/>
              </a:rPr>
              <a:t>ključ TSA.</a:t>
            </a:r>
            <a:endParaRPr sz="1000">
              <a:latin typeface="IBM Plex Sans"/>
              <a:cs typeface="IBM Plex Sans"/>
            </a:endParaRPr>
          </a:p>
        </p:txBody>
      </p:sp>
      <p:sp>
        <p:nvSpPr>
          <p:cNvPr id="1631696941" name=""/>
          <p:cNvSpPr txBox="1"/>
          <p:nvPr/>
        </p:nvSpPr>
        <p:spPr bwMode="auto">
          <a:xfrm flipH="0" flipV="0">
            <a:off x="9743962" y="4516295"/>
            <a:ext cx="1996686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Vreme oznaka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2133654291" name=""/>
          <p:cNvSpPr txBox="1"/>
          <p:nvPr/>
        </p:nvSpPr>
        <p:spPr bwMode="auto">
          <a:xfrm flipH="0" flipV="0">
            <a:off x="4814896" y="5306036"/>
            <a:ext cx="2069344" cy="305159"/>
          </a:xfrm>
          <a:prstGeom prst="rect">
            <a:avLst/>
          </a:prstGeom>
          <a:solidFill>
            <a:srgbClr val="FEFF98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400">
                <a:latin typeface="IBM Plex Sans"/>
              </a:rPr>
              <a:t>Vreme oznaka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50129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61473" y="1099778"/>
            <a:ext cx="3469050" cy="4658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394779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42998" y="2438399"/>
            <a:ext cx="9905999" cy="1981199"/>
          </a:xfrm>
          <a:prstGeom prst="rect">
            <a:avLst/>
          </a:prstGeom>
        </p:spPr>
      </p:pic>
      <p:sp>
        <p:nvSpPr>
          <p:cNvPr id="659609761" name=""/>
          <p:cNvSpPr/>
          <p:nvPr/>
        </p:nvSpPr>
        <p:spPr bwMode="auto">
          <a:xfrm flipH="0" flipV="0">
            <a:off x="1437994" y="2703967"/>
            <a:ext cx="2628900" cy="8096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904420992" name=""/>
          <p:cNvSpPr txBox="1"/>
          <p:nvPr/>
        </p:nvSpPr>
        <p:spPr bwMode="auto">
          <a:xfrm flipH="0" flipV="0">
            <a:off x="1458298" y="2788560"/>
            <a:ext cx="540139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 b="1">
                <a:latin typeface="IBM Plex Sans"/>
              </a:rPr>
              <a:t>Referencei</a:t>
            </a:r>
            <a:endParaRPr sz="100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65804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56823" y="1009648"/>
            <a:ext cx="8878350" cy="483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4077712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96474" y="282956"/>
            <a:ext cx="7999047" cy="62920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26503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18497" y="751498"/>
            <a:ext cx="5355001" cy="53550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4225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7647" y="956958"/>
            <a:ext cx="3716701" cy="49440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5281317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696424" y="90192"/>
            <a:ext cx="8782049" cy="66646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402154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56621" y="989621"/>
            <a:ext cx="4878752" cy="48787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204645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1399" y="914399"/>
            <a:ext cx="5029196" cy="50291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72483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3906" y="0"/>
            <a:ext cx="5304184" cy="6857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931697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1049" y="619124"/>
            <a:ext cx="7369898" cy="5619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953778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69060" y="609600"/>
            <a:ext cx="9925305" cy="52006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12837255" name=""/>
          <p:cNvSpPr txBox="1"/>
          <p:nvPr/>
        </p:nvSpPr>
        <p:spPr bwMode="auto">
          <a:xfrm rot="0" flipH="0" flipV="0">
            <a:off x="2755485" y="5941694"/>
            <a:ext cx="7268309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>
                <a:latin typeface="IBM Plex Sans"/>
              </a:rPr>
              <a:t>Stranica Satoshija Nakamota - Nikada </a:t>
            </a:r>
            <a:r>
              <a:rPr sz="1400" b="0" i="1" lang="fr-FR">
                <a:latin typeface="IBM Plex Sans"/>
              </a:rPr>
              <a:t>nije primio nijedan poklon</a:t>
            </a:r>
            <a:endParaRPr sz="28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9035615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3" y="1313473"/>
            <a:ext cx="4231050" cy="4231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067435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570771" y="786831"/>
            <a:ext cx="7050451" cy="52843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64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41575" y="1009649"/>
            <a:ext cx="9308848" cy="4838697"/>
          </a:xfrm>
          <a:prstGeom prst="rect">
            <a:avLst/>
          </a:prstGeom>
        </p:spPr>
      </p:pic>
      <p:sp>
        <p:nvSpPr>
          <p:cNvPr id="342911670" name=""/>
          <p:cNvSpPr txBox="1"/>
          <p:nvPr/>
        </p:nvSpPr>
        <p:spPr bwMode="auto">
          <a:xfrm flipH="0" flipV="0">
            <a:off x="1933203" y="5985901"/>
            <a:ext cx="7863998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1">
                <a:latin typeface="IBM Plex Sans"/>
              </a:rPr>
              <a:t>Bitcoin Forum</a:t>
            </a:r>
            <a:endParaRPr sz="1400" b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906939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1" y="399071"/>
            <a:ext cx="6059853" cy="60598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25404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47172" y="302892"/>
            <a:ext cx="3697651" cy="62522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728638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28577" y="1277935"/>
            <a:ext cx="4334842" cy="43021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578648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5088" y="457199"/>
            <a:ext cx="11701821" cy="59435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922988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4301" y="2631219"/>
            <a:ext cx="4483395" cy="1595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682738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0521" y="445294"/>
            <a:ext cx="3430952" cy="596740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25595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598" y="471305"/>
            <a:ext cx="6040800" cy="5915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972145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3797" y="1431598"/>
            <a:ext cx="11984401" cy="3994799"/>
          </a:xfrm>
          <a:prstGeom prst="rect">
            <a:avLst/>
          </a:prstGeom>
        </p:spPr>
      </p:pic>
      <p:sp>
        <p:nvSpPr>
          <p:cNvPr id="136547751" name=""/>
          <p:cNvSpPr/>
          <p:nvPr/>
        </p:nvSpPr>
        <p:spPr bwMode="auto">
          <a:xfrm flipH="0" flipV="0">
            <a:off x="3420449" y="1381124"/>
            <a:ext cx="6781799" cy="409574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80372163" name=""/>
          <p:cNvSpPr txBox="1"/>
          <p:nvPr/>
        </p:nvSpPr>
        <p:spPr bwMode="auto">
          <a:xfrm flipH="0" flipV="0">
            <a:off x="572474" y="1155371"/>
            <a:ext cx="1118306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Patoshi blokovi i obrnuti vremenski oznaci (broj bloka/ExtraNonce)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388497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61999" y="228600"/>
            <a:ext cx="10667998" cy="6400800"/>
          </a:xfrm>
          <a:prstGeom prst="rect">
            <a:avLst/>
          </a:prstGeom>
        </p:spPr>
      </p:pic>
      <p:sp>
        <p:nvSpPr>
          <p:cNvPr id="1446829500" name=""/>
          <p:cNvSpPr/>
          <p:nvPr/>
        </p:nvSpPr>
        <p:spPr bwMode="auto">
          <a:xfrm flipH="0" flipV="0">
            <a:off x="3963375" y="419099"/>
            <a:ext cx="6353174" cy="276224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99163990" name=""/>
          <p:cNvSpPr/>
          <p:nvPr/>
        </p:nvSpPr>
        <p:spPr bwMode="auto">
          <a:xfrm flipH="0" flipV="0">
            <a:off x="848699" y="1847849"/>
            <a:ext cx="276224" cy="2543175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2067220978" name=""/>
          <p:cNvSpPr txBox="1"/>
          <p:nvPr/>
        </p:nvSpPr>
        <p:spPr bwMode="auto">
          <a:xfrm flipH="0" flipV="0">
            <a:off x="1439249" y="228599"/>
            <a:ext cx="10582993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>
                <a:latin typeface="IBM Plex Sans"/>
              </a:rPr>
              <a:t>Procena Satoshi-ovog procenta mreže</a:t>
            </a:r>
            <a:endParaRPr sz="1600">
              <a:latin typeface="IBM Plex Sans"/>
              <a:cs typeface="IBM Plex Sans"/>
            </a:endParaRPr>
          </a:p>
        </p:txBody>
      </p:sp>
      <p:sp>
        <p:nvSpPr>
          <p:cNvPr id="36166462" name=""/>
          <p:cNvSpPr txBox="1"/>
          <p:nvPr/>
        </p:nvSpPr>
        <p:spPr bwMode="auto">
          <a:xfrm rot="16199969" flipH="0" flipV="0">
            <a:off x="-21773" y="2867636"/>
            <a:ext cx="1988233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Procenat mreže</a:t>
            </a:r>
            <a:endParaRPr sz="14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87405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65771" y="170863"/>
            <a:ext cx="10860453" cy="6516272"/>
          </a:xfrm>
          <a:prstGeom prst="rect">
            <a:avLst/>
          </a:prstGeom>
        </p:spPr>
      </p:pic>
      <p:sp>
        <p:nvSpPr>
          <p:cNvPr id="1513896667" name=""/>
          <p:cNvSpPr/>
          <p:nvPr/>
        </p:nvSpPr>
        <p:spPr bwMode="auto">
          <a:xfrm flipH="0" flipV="0">
            <a:off x="745567" y="2441863"/>
            <a:ext cx="329045" cy="1203613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790721780" name=""/>
          <p:cNvSpPr/>
          <p:nvPr/>
        </p:nvSpPr>
        <p:spPr bwMode="auto">
          <a:xfrm flipH="0" flipV="0">
            <a:off x="4877775" y="333374"/>
            <a:ext cx="4610099" cy="3047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46389776" name=""/>
          <p:cNvSpPr/>
          <p:nvPr/>
        </p:nvSpPr>
        <p:spPr bwMode="auto">
          <a:xfrm flipH="0" flipV="0">
            <a:off x="4925399" y="6095999"/>
            <a:ext cx="1571625" cy="43814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54449911" name=""/>
          <p:cNvSpPr/>
          <p:nvPr/>
        </p:nvSpPr>
        <p:spPr bwMode="auto">
          <a:xfrm flipH="0" flipV="0">
            <a:off x="6811349" y="6095999"/>
            <a:ext cx="1571625" cy="438148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270840435" name=""/>
          <p:cNvSpPr txBox="1"/>
          <p:nvPr/>
        </p:nvSpPr>
        <p:spPr bwMode="auto">
          <a:xfrm flipH="0" flipV="0">
            <a:off x="1639274" y="170862"/>
            <a:ext cx="9582868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Procena Satoshi-ovog </a:t>
            </a:r>
            <a:r>
              <a:rPr sz="1800">
                <a:latin typeface="IBM Plex Sans"/>
              </a:rPr>
              <a:t>hashrate-a</a:t>
            </a:r>
            <a:endParaRPr sz="2000">
              <a:latin typeface="IBM Plex Sans"/>
              <a:cs typeface="IBM Plex Sans"/>
            </a:endParaRPr>
          </a:p>
        </p:txBody>
      </p:sp>
      <p:sp>
        <p:nvSpPr>
          <p:cNvPr id="992520675" name=""/>
          <p:cNvSpPr txBox="1"/>
          <p:nvPr/>
        </p:nvSpPr>
        <p:spPr bwMode="auto">
          <a:xfrm rot="16199969" flipH="0" flipV="0">
            <a:off x="433819" y="2876295"/>
            <a:ext cx="912028" cy="30515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>
                <a:latin typeface="IBM Plex Sans"/>
              </a:rPr>
              <a:t>Hashrate</a:t>
            </a:r>
            <a:endParaRPr sz="1400">
              <a:latin typeface="IBM Plex Sans"/>
              <a:cs typeface="IBM Plex Sans"/>
            </a:endParaRPr>
          </a:p>
        </p:txBody>
      </p:sp>
      <p:sp>
        <p:nvSpPr>
          <p:cNvPr id="410757163" name=""/>
          <p:cNvSpPr txBox="1"/>
          <p:nvPr/>
        </p:nvSpPr>
        <p:spPr bwMode="auto">
          <a:xfrm flipH="0" flipV="0">
            <a:off x="4925398" y="6095998"/>
            <a:ext cx="1351535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Dnevni prosek hashrate-a</a:t>
            </a:r>
            <a:endParaRPr sz="900">
              <a:latin typeface="IBM Plex Sans"/>
              <a:cs typeface="IBM Plex Sans"/>
            </a:endParaRPr>
          </a:p>
        </p:txBody>
      </p:sp>
      <p:sp>
        <p:nvSpPr>
          <p:cNvPr id="641046973" name=""/>
          <p:cNvSpPr txBox="1"/>
          <p:nvPr/>
        </p:nvSpPr>
        <p:spPr bwMode="auto">
          <a:xfrm flipH="0" flipV="0">
            <a:off x="6932529" y="6095997"/>
            <a:ext cx="2127800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900">
                <a:latin typeface="IBM Plex Sans"/>
              </a:rPr>
              <a:t>Linear model hashrate-a</a:t>
            </a:r>
            <a:endParaRPr sz="9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407277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99396" y="804024"/>
            <a:ext cx="6193201" cy="524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792180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39299" y="591199"/>
            <a:ext cx="8513397" cy="567559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607658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20499" y="388166"/>
            <a:ext cx="4550995" cy="6081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85999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03550" y="2314574"/>
            <a:ext cx="6984897" cy="222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699824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66072" y="971013"/>
            <a:ext cx="6059851" cy="49159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613441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251" y="1543043"/>
            <a:ext cx="11395487" cy="37719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810973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730498" y="904874"/>
            <a:ext cx="6730999" cy="50482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4971020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608" y="1971674"/>
            <a:ext cx="10820781" cy="29146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39844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3441" y="1504949"/>
            <a:ext cx="11245114" cy="384809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54844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129" y="38099"/>
            <a:ext cx="12165738" cy="6781798"/>
          </a:xfrm>
          <a:prstGeom prst="rect">
            <a:avLst/>
          </a:prstGeom>
        </p:spPr>
      </p:pic>
      <p:sp>
        <p:nvSpPr>
          <p:cNvPr id="323316966" name=""/>
          <p:cNvSpPr/>
          <p:nvPr/>
        </p:nvSpPr>
        <p:spPr bwMode="auto">
          <a:xfrm flipH="0" flipV="0">
            <a:off x="20024" y="2952749"/>
            <a:ext cx="209549" cy="15620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788304490" name=""/>
          <p:cNvSpPr/>
          <p:nvPr/>
        </p:nvSpPr>
        <p:spPr bwMode="auto">
          <a:xfrm flipH="0" flipV="0">
            <a:off x="6039824" y="6610349"/>
            <a:ext cx="1514474" cy="1904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1037384418" name=""/>
          <p:cNvSpPr txBox="1"/>
          <p:nvPr/>
        </p:nvSpPr>
        <p:spPr bwMode="auto">
          <a:xfrm rot="16199969" flipH="0" flipV="0">
            <a:off x="-275045" y="3247818"/>
            <a:ext cx="834339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ExtraNonce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453161468" name=""/>
          <p:cNvSpPr txBox="1"/>
          <p:nvPr/>
        </p:nvSpPr>
        <p:spPr bwMode="auto">
          <a:xfrm flipH="0" flipV="0">
            <a:off x="6039822" y="6583498"/>
            <a:ext cx="445977" cy="24419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000" b="0" i="1">
                <a:solidFill>
                  <a:schemeClr val="tx1"/>
                </a:solidFill>
                <a:latin typeface="IBM Plex Sans"/>
              </a:rPr>
              <a:t>Datum</a:t>
            </a:r>
            <a:endParaRPr sz="10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30085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376657" y="866774"/>
            <a:ext cx="5438683" cy="51244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66029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5321" y="2457449"/>
            <a:ext cx="7361353" cy="1943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37150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7379" y="1543048"/>
            <a:ext cx="10897241" cy="25717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41417221" name=""/>
          <p:cNvSpPr txBox="1"/>
          <p:nvPr/>
        </p:nvSpPr>
        <p:spPr bwMode="auto">
          <a:xfrm rot="0" flipH="0" flipV="0">
            <a:off x="782023" y="4581703"/>
            <a:ext cx="2861100" cy="5794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1" i="0" u="none" lang="en-US">
                <a:solidFill>
                  <a:srgbClr val="2D2593"/>
                </a:solidFill>
                <a:latin typeface="IBM Plex Sans"/>
              </a:rPr>
              <a:t>"Članak: Da li </a:t>
            </a:r>
            <a:r>
              <a:rPr sz="1600" b="0" i="0" u="none" lang="en-US">
                <a:solidFill>
                  <a:schemeClr val="tx1"/>
                </a:solidFill>
                <a:latin typeface="IBM Plex Sans"/>
              </a:rPr>
              <a:t>znate o bitkoinima?"</a:t>
            </a:r>
            <a:endParaRPr sz="1600" b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  <p:sp>
        <p:nvSpPr>
          <p:cNvPr id="1755272410" name=""/>
          <p:cNvSpPr txBox="1"/>
          <p:nvPr/>
        </p:nvSpPr>
        <p:spPr bwMode="auto">
          <a:xfrm rot="0" flipH="0" flipV="0">
            <a:off x="3640603" y="4515029"/>
            <a:ext cx="7907255" cy="9452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1200" b="0" i="0" u="none" lang="en-US">
                <a:solidFill>
                  <a:schemeClr val="tx1"/>
                </a:solidFill>
                <a:latin typeface="IBM Plex Sans"/>
              </a:rPr>
              <a:t>Bitcoin je elektronska valuta koju je 2009. godine osmislila osoba po imenu Satoshi Nakamoto. Ova valuta se izdvaja od drugih elektronskih valuta zbog svoje potpuno decentralizovane peer-to-peer prirode i pametne upotrebe osnovnih kriptografskih koncepata. Oslanja se na softver napisan u C++ i objavljen pod MIT licencom otvorenog koda.</a:t>
            </a:r>
            <a:endParaRPr sz="1000" b="0" i="0" u="none" strike="noStrike" cap="none" spc="0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31448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4596" y="1174051"/>
            <a:ext cx="6802802" cy="45098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83458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5159" y="1162049"/>
            <a:ext cx="11421678" cy="4533898"/>
          </a:xfrm>
          <a:prstGeom prst="rect">
            <a:avLst/>
          </a:prstGeom>
        </p:spPr>
      </p:pic>
      <p:sp>
        <p:nvSpPr>
          <p:cNvPr id="564352030" name=""/>
          <p:cNvSpPr txBox="1"/>
          <p:nvPr/>
        </p:nvSpPr>
        <p:spPr bwMode="auto">
          <a:xfrm rot="0" flipH="0" flipV="0">
            <a:off x="2896574" y="5886449"/>
            <a:ext cx="6974099" cy="335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600" b="0" i="1" u="none" lang="en-US">
                <a:solidFill>
                  <a:schemeClr val="tx1"/>
                </a:solidFill>
                <a:latin typeface="IBM Plex Sans"/>
              </a:rPr>
              <a:t>Bitcoin uspon mašina.</a:t>
            </a:r>
            <a:endParaRPr sz="1600" b="0" i="1">
              <a:solidFill>
                <a:schemeClr val="tx1"/>
              </a:solidFill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8854345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190999" y="1523999"/>
            <a:ext cx="3809999" cy="38099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68177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876799" y="2209799"/>
            <a:ext cx="2438399" cy="24383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6892664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99641" y="514350"/>
            <a:ext cx="8592714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708455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044819" y="2943224"/>
            <a:ext cx="8102357" cy="9715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822938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18698" y="932560"/>
            <a:ext cx="2154600" cy="499287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35962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06353" y="1133474"/>
            <a:ext cx="4779291" cy="45910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632114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8438" y="771524"/>
            <a:ext cx="11495120" cy="5314946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859389808" name=""/>
          <p:cNvSpPr/>
          <p:nvPr/>
        </p:nvSpPr>
        <p:spPr bwMode="auto">
          <a:xfrm flipH="0" flipV="0">
            <a:off x="439123" y="5567948"/>
            <a:ext cx="11363323" cy="51851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5241435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58827" y="485774"/>
            <a:ext cx="9674340" cy="58864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72137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225144" y="66674"/>
            <a:ext cx="9741706" cy="6724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070747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898724" y="400049"/>
            <a:ext cx="10394548" cy="60578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95027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1529" y="628650"/>
            <a:ext cx="12008937" cy="56006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63872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4822" y="389722"/>
            <a:ext cx="10822351" cy="60785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400275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22065" y="514349"/>
            <a:ext cx="10347867" cy="58292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31948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32748" y="771007"/>
            <a:ext cx="5926500" cy="5315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1960116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80472" y="608297"/>
            <a:ext cx="4231051" cy="5641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8272590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028698" y="895349"/>
            <a:ext cx="10134599" cy="5067299"/>
          </a:xfrm>
          <a:prstGeom prst="rect">
            <a:avLst/>
          </a:prstGeom>
        </p:spPr>
      </p:pic>
      <p:sp>
        <p:nvSpPr>
          <p:cNvPr id="493737358" name=""/>
          <p:cNvSpPr/>
          <p:nvPr/>
        </p:nvSpPr>
        <p:spPr bwMode="auto">
          <a:xfrm flipH="0" flipV="0">
            <a:off x="1229699" y="1790699"/>
            <a:ext cx="371475" cy="3124199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/>
        </p:txBody>
      </p:sp>
      <p:sp>
        <p:nvSpPr>
          <p:cNvPr id="620085475" name=""/>
          <p:cNvSpPr txBox="1"/>
          <p:nvPr/>
        </p:nvSpPr>
        <p:spPr bwMode="auto">
          <a:xfrm rot="16199969" flipH="0" flipV="0">
            <a:off x="-1385529" y="3289162"/>
            <a:ext cx="4829895" cy="3661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800">
                <a:latin typeface="IBM Plex Sans"/>
              </a:rPr>
              <a:t>Cena Bitcoina u američkim dolarima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70</Slides>
  <Notes>70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31</cp:revision>
  <dcterms:modified xsi:type="dcterms:W3CDTF">2025-10-15T15:09:23Z</dcterms:modified>
</cp:coreProperties>
</file>