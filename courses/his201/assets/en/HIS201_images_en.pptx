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Cleartext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Ciphertext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Sending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Encryption</a:t>
            </a:r>
            <a:endParaRPr/>
          </a:p>
          <a:p>
            <a:pPr algn="ctr"/>
            <a:r>
              <a:rPr sz="2300" lang="en-US">
                <a:latin typeface="Roboto"/>
              </a:rPr>
              <a:t>with public</a:t>
            </a:r>
          </a:p>
          <a:p>
            <a:pPr algn="ctr"/>
            <a:r>
              <a:rPr sz="2300" lang="en-US">
                <a:latin typeface="Roboto"/>
              </a:rPr>
              <a:t>key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Decryption</a:t>
            </a:r>
            <a:endParaRPr/>
          </a:p>
          <a:p>
            <a:pPr algn="ctr"/>
            <a:r>
              <a:rPr sz="2300" lang="en-US">
                <a:latin typeface="Roboto"/>
              </a:rPr>
              <a:t>with private</a:t>
            </a:r>
          </a:p>
          <a:p>
            <a:pPr algn="ctr"/>
            <a:r>
              <a:rPr sz="2300" lang="en-US">
                <a:latin typeface="Roboto"/>
              </a:rPr>
              <a:t>key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Cleartext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Ciphertext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Sending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Encryption </a:t>
            </a:r>
            <a:r>
              <a:rPr sz="1400" b="0" lang="fr-FR">
                <a:latin typeface="IBM Plex Sans"/>
              </a:rPr>
              <a:t>with </a:t>
            </a:r>
            <a:r>
              <a:rPr sz="1400" b="0">
                <a:latin typeface="IBM Plex Sans"/>
              </a:rPr>
              <a:t>public </a:t>
            </a:r>
            <a:r>
              <a:rPr sz="1400" b="0" lang="fr-FR">
                <a:latin typeface="IBM Plex Sans"/>
              </a:rPr>
              <a:t>key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Decryption </a:t>
            </a:r>
            <a:r>
              <a:rPr sz="1600" b="0" lang="fr-FR">
                <a:latin typeface="IBM Plex Sans"/>
              </a:rPr>
              <a:t>with </a:t>
            </a:r>
            <a:r>
              <a:rPr sz="1600" b="0">
                <a:latin typeface="IBM Plex Sans"/>
              </a:rPr>
              <a:t>private </a:t>
            </a:r>
            <a:r>
              <a:rPr sz="1600" b="0" lang="fr-FR">
                <a:latin typeface="IBM Plex Sans"/>
              </a:rPr>
              <a:t>key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Message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Signature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Sending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Signing </a:t>
            </a:r>
            <a:r>
              <a:rPr sz="1600" b="0" lang="fr-FR">
                <a:latin typeface="IBM Plex Sans"/>
              </a:rPr>
              <a:t>with </a:t>
            </a:r>
            <a:r>
              <a:rPr sz="1600" b="0">
                <a:latin typeface="IBM Plex Sans"/>
              </a:rPr>
              <a:t>private </a:t>
            </a:r>
            <a:r>
              <a:rPr sz="1600" b="0" lang="fr-FR">
                <a:latin typeface="IBM Plex Sans"/>
              </a:rPr>
              <a:t>key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Verifying </a:t>
            </a:r>
            <a:r>
              <a:rPr sz="1600" b="0" lang="fr-FR">
                <a:latin typeface="IBM Plex Sans"/>
              </a:rPr>
              <a:t>with </a:t>
            </a:r>
            <a:r>
              <a:rPr sz="1600" b="0">
                <a:latin typeface="IBM Plex Sans"/>
              </a:rPr>
              <a:t>public </a:t>
            </a:r>
            <a:r>
              <a:rPr sz="1600" b="0" lang="fr-FR">
                <a:latin typeface="IBM Plex Sans"/>
              </a:rPr>
              <a:t>key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send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send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credits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record of </a:t>
            </a:r>
            <a:r>
              <a:rPr sz="1400">
                <a:latin typeface="IBM Plex Sans"/>
              </a:rPr>
              <a:t>spent banknotes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Distributed networks.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Station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Link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Centralisation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Decentralized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Loyal General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Traitor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Defeat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Victory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Trusted timestamping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Calculate hash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Send hash to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Within a company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Data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Data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Store together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Signed timestamp and </a:t>
            </a:r>
            <a:r>
              <a:rPr sz="1100">
                <a:latin typeface="IBM Plex Sans"/>
              </a:rPr>
              <a:t>hash are returned </a:t>
            </a:r>
            <a:r>
              <a:rPr sz="1100">
                <a:latin typeface="IBM Plex Sans"/>
              </a:rPr>
              <a:t>to requester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Timestamp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Timestamping Authority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Calculate hash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This is </a:t>
            </a:r>
            <a:r>
              <a:rPr sz="1100" lang="fr-FR">
                <a:latin typeface="IBM Plex Sans"/>
              </a:rPr>
              <a:t>a digital </a:t>
            </a:r>
            <a:r>
              <a:rPr sz="1100">
                <a:latin typeface="IBM Plex Sans"/>
              </a:rPr>
              <a:t>signature of </a:t>
            </a:r>
            <a:r>
              <a:rPr sz="1100" lang="fr-FR">
                <a:latin typeface="IBM Plex Sans"/>
              </a:rPr>
              <a:t>the hash </a:t>
            </a:r>
            <a:r>
              <a:rPr sz="1100">
                <a:latin typeface="IBM Plex Sans"/>
              </a:rPr>
              <a:t>concatenated to </a:t>
            </a:r>
            <a:r>
              <a:rPr sz="1100" lang="fr-FR">
                <a:latin typeface="IBM Plex Sans"/>
              </a:rPr>
              <a:t>the </a:t>
            </a:r>
            <a:r>
              <a:rPr sz="1100">
                <a:latin typeface="IBM Plex Sans"/>
              </a:rPr>
              <a:t>timestamp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Apply private key </a:t>
            </a:r>
            <a:r>
              <a:rPr sz="1000">
                <a:latin typeface="IBM Plex Sans"/>
              </a:rPr>
              <a:t>of the TSA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Timestamp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Timestamp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References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Satoshi Nakamoto’s Page - </a:t>
            </a:r>
            <a:r>
              <a:rPr sz="1400" b="0" i="1" lang="fr-FR">
                <a:latin typeface="IBM Plex Sans"/>
              </a:rPr>
              <a:t>Never received any gift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Bitcoin Forum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Patoshi Blocks &amp; Inverted Timestamps (Block number/ExtraNonce)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Estimate of Satoshi’s percentage of the network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Percentage of network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Estimate of </a:t>
            </a:r>
            <a:r>
              <a:rPr sz="1800">
                <a:latin typeface="IBM Plex Sans"/>
              </a:rPr>
              <a:t>Satoshi’s hashrate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Daily average hashrate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Linear hashrate model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Date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"Article: Do you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know about bitcoins?"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Bitcoin is an electronic currency designed in 2009 by someone named Satoshi Nakamoto. This currency stands out from other electronic currencies due to its fully decentralized peer-to-peer nature and its clever use of basic cryptographic concepts. It relies on software written in C++ and published under the MIT open-source license.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 the rise of the machines.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Bitcoin Price in US Dollars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