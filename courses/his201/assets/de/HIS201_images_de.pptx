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56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_rels/notesSlide40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63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70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60.xml.rels" ContentType="application/vnd.openxmlformats-package.relationships+xml"/>
  <Override PartName="/ppt/notesSlides/_rels/notesSlide68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67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64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65.xml.rels" ContentType="application/vnd.openxmlformats-package.relationships+xml"/>
  <Override PartName="/ppt/notesSlides/notesSlide6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59.jpeg" ContentType="image/jpeg"/>
  <Override PartName="/ppt/media/image42.jpeg" ContentType="image/jpeg"/>
  <Override PartName="/ppt/media/image58.jpeg" ContentType="image/jpeg"/>
  <Override PartName="/ppt/media/image57.jpeg" ContentType="image/jpeg"/>
  <Override PartName="/ppt/media/image56.jpeg" ContentType="image/jpeg"/>
  <Override PartName="/ppt/media/image55.jpeg" ContentType="image/jpeg"/>
  <Override PartName="/ppt/media/image54.jpeg" ContentType="image/jpeg"/>
  <Override PartName="/ppt/media/image53.jpeg" ContentType="image/jpeg"/>
  <Override PartName="/ppt/media/image49.jpeg" ContentType="image/jpeg"/>
  <Override PartName="/ppt/media/image48.jpeg" ContentType="image/jpeg"/>
  <Override PartName="/ppt/media/image47.jpeg" ContentType="image/jpeg"/>
  <Override PartName="/ppt/media/image37.jpeg" ContentType="image/jpeg"/>
  <Override PartName="/ppt/media/image3.jpeg" ContentType="image/jpeg"/>
  <Override PartName="/ppt/media/image60.jpeg" ContentType="image/jpeg"/>
  <Override PartName="/ppt/media/image24.jpeg" ContentType="image/jpeg"/>
  <Override PartName="/ppt/media/image36.jpeg" ContentType="image/jpeg"/>
  <Override PartName="/ppt/media/image2.jpeg" ContentType="image/jpeg"/>
  <Override PartName="/ppt/media/image23.jpeg" ContentType="image/jpeg"/>
  <Override PartName="/ppt/media/image35.jpeg" ContentType="image/jpeg"/>
  <Override PartName="/ppt/media/image1.jpeg" ContentType="image/jpeg"/>
  <Override PartName="/ppt/media/image22.jpeg" ContentType="image/jpeg"/>
  <Override PartName="/ppt/media/image41.jpeg" ContentType="image/jpeg"/>
  <Override PartName="/ppt/media/image14.jpeg" ContentType="image/jpeg"/>
  <Override PartName="/ppt/media/image15.jpeg" ContentType="image/jpeg"/>
  <Override PartName="/ppt/media/image70.jpeg" ContentType="image/jpeg"/>
  <Override PartName="/ppt/media/image43.jpeg" ContentType="image/jpeg"/>
  <Override PartName="/ppt/media/image65.jpeg" ContentType="image/jpeg"/>
  <Override PartName="/ppt/media/image8.jpeg" ContentType="image/jpeg"/>
  <Override PartName="/ppt/media/image39.jpeg" ContentType="image/jpeg"/>
  <Override PartName="/ppt/media/image21.jpeg" ContentType="image/jpeg"/>
  <Override PartName="/ppt/media/image69.jpeg" ContentType="image/jpeg"/>
  <Override PartName="/ppt/media/image68.jpeg" ContentType="image/jpeg"/>
  <Override PartName="/ppt/media/image67.jpeg" ContentType="image/jpeg"/>
  <Override PartName="/ppt/media/image66.jpeg" ContentType="image/jpeg"/>
  <Override PartName="/ppt/media/image9.jpeg" ContentType="image/jpeg"/>
  <Override PartName="/ppt/media/image64.jpeg" ContentType="image/jpeg"/>
  <Override PartName="/ppt/media/image7.jpeg" ContentType="image/jpeg"/>
  <Override PartName="/ppt/media/image38.jpeg" ContentType="image/jpeg"/>
  <Override PartName="/ppt/media/image20.jpeg" ContentType="image/jpeg"/>
  <Override PartName="/ppt/media/image19.jpeg" ContentType="image/jpeg"/>
  <Override PartName="/ppt/media/image63.jpeg" ContentType="image/jpeg"/>
  <Override PartName="/ppt/media/image6.jpeg" ContentType="image/jpeg"/>
  <Override PartName="/ppt/media/image18.jpeg" ContentType="image/jpeg"/>
  <Override PartName="/ppt/media/image62.jpeg" ContentType="image/jpeg"/>
  <Override PartName="/ppt/media/image5.jpeg" ContentType="image/jpeg"/>
  <Override PartName="/ppt/media/image17.jpeg" ContentType="image/jpeg"/>
  <Override PartName="/ppt/media/image61.jpeg" ContentType="image/jpeg"/>
  <Override PartName="/ppt/media/image4.jpeg" ContentType="image/jpeg"/>
  <Override PartName="/ppt/media/image16.jpeg" ContentType="image/jpeg"/>
  <Override PartName="/ppt/media/image25.jpeg" ContentType="image/jpeg"/>
  <Override PartName="/ppt/media/image26.jpeg" ContentType="image/jpeg"/>
  <Override PartName="/ppt/media/image50.jpeg" ContentType="image/jpeg"/>
  <Override PartName="/ppt/media/image51.jpeg" ContentType="image/jpeg"/>
  <Override PartName="/ppt/media/image12.jpeg" ContentType="image/jpeg"/>
  <Override PartName="/ppt/media/image29.jpeg" ContentType="image/jpeg"/>
  <Override PartName="/ppt/media/image52.jpeg" ContentType="image/jpeg"/>
  <Override PartName="/ppt/media/image27.jpeg" ContentType="image/jpeg"/>
  <Override PartName="/ppt/media/image10.jpeg" ContentType="image/jpeg"/>
  <Override PartName="/ppt/media/image13.jpeg" ContentType="image/jpeg"/>
  <Override PartName="/ppt/media/image40.jpeg" ContentType="image/jpeg"/>
  <Override PartName="/ppt/media/image28.jpeg" ContentType="image/jpeg"/>
  <Override PartName="/ppt/media/image11.jpeg" ContentType="image/jpeg"/>
  <Override PartName="/ppt/media/image30.jpeg" ContentType="image/jpeg"/>
  <Override PartName="/ppt/media/image31.jpeg" ContentType="image/jpeg"/>
  <Override PartName="/ppt/media/image32.jpeg" ContentType="image/jpeg"/>
  <Override PartName="/ppt/media/image33.jpeg" ContentType="image/jpeg"/>
  <Override PartName="/ppt/media/image34.jpeg" ContentType="image/jpeg"/>
  <Override PartName="/ppt/media/image44.jpeg" ContentType="image/jpeg"/>
  <Override PartName="/ppt/media/image45.jpeg" ContentType="image/jpeg"/>
  <Override PartName="/ppt/media/image46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9.xml" ContentType="application/vnd.openxmlformats-officedocument.presentationml.slide+xml"/>
  <Override PartName="/ppt/slides/slide61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69.xml" ContentType="application/vnd.openxmlformats-officedocument.presentationml.slide+xml"/>
  <Override PartName="/ppt/slides/slide32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66.xml" ContentType="application/vnd.openxmlformats-officedocument.presentationml.slid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25.xml" ContentType="application/vnd.openxmlformats-officedocument.presentationml.slide+xml"/>
  <Override PartName="/ppt/slides/slide62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34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49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48.xml.rels" ContentType="application/vnd.openxmlformats-package.relationships+xml"/>
  <Override PartName="/ppt/slides/_rels/slide64.xml.rels" ContentType="application/vnd.openxmlformats-package.relationships+xml"/>
  <Override PartName="/ppt/slides/_rels/slide28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58.xml.rels" ContentType="application/vnd.openxmlformats-package.relationships+xml"/>
  <Override PartName="/ppt/slides/_rels/slide65.xml.rels" ContentType="application/vnd.openxmlformats-package.relationships+xml"/>
  <Override PartName="/ppt/slides/_rels/slide13.xml.rels" ContentType="application/vnd.openxmlformats-package.relationships+xml"/>
  <Override PartName="/ppt/slides/_rels/slide27.xml.rels" ContentType="application/vnd.openxmlformats-package.relationships+xml"/>
  <Override PartName="/ppt/slides/_rels/slide36.xml.rels" ContentType="application/vnd.openxmlformats-package.relationships+xml"/>
  <Override PartName="/ppt/slides/_rels/slide43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55.xml.rels" ContentType="application/vnd.openxmlformats-package.relationships+xml"/>
  <Override PartName="/ppt/slides/_rels/slide35.xml.rels" ContentType="application/vnd.openxmlformats-package.relationships+xml"/>
  <Override PartName="/ppt/slides/_rels/slide51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61.xml.rels" ContentType="application/vnd.openxmlformats-package.relationships+xml"/>
  <Override PartName="/ppt/slides/_rels/slide57.xml.rels" ContentType="application/vnd.openxmlformats-package.relationships+xml"/>
  <Override PartName="/ppt/slides/_rels/slide54.xml.rels" ContentType="application/vnd.openxmlformats-package.relationships+xml"/>
  <Override PartName="/ppt/slides/_rels/slide63.xml.rels" ContentType="application/vnd.openxmlformats-package.relationships+xml"/>
  <Override PartName="/ppt/slides/_rels/slide70.xml.rels" ContentType="application/vnd.openxmlformats-package.relationships+xml"/>
  <Override PartName="/ppt/slides/_rels/slide69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53.xml.rels" ContentType="application/vnd.openxmlformats-package.relationships+xml"/>
  <Override PartName="/ppt/slides/_rels/slide46.xml.rels" ContentType="application/vnd.openxmlformats-package.relationships+xml"/>
  <Override PartName="/ppt/slides/_rels/slide68.xml.rels" ContentType="application/vnd.openxmlformats-package.relationships+xml"/>
  <Override PartName="/ppt/slides/_rels/slide62.xml.rels" ContentType="application/vnd.openxmlformats-package.relationships+xml"/>
  <Override PartName="/ppt/slides/_rels/slide50.xml.rels" ContentType="application/vnd.openxmlformats-package.relationships+xml"/>
  <Override PartName="/ppt/slides/_rels/slide52.xml.rels" ContentType="application/vnd.openxmlformats-package.relationships+xml"/>
  <Override PartName="/ppt/slides/_rels/slide67.xml.rels" ContentType="application/vnd.openxmlformats-package.relationships+xml"/>
  <Override PartName="/ppt/slides/_rels/slide45.xml.rels" ContentType="application/vnd.openxmlformats-package.relationships+xml"/>
  <Override PartName="/ppt/slides/_rels/slide38.xml.rels" ContentType="application/vnd.openxmlformats-package.relationships+xml"/>
  <Override PartName="/ppt/slides/_rels/slide19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39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2.xml.rels" ContentType="application/vnd.openxmlformats-package.relationships+xml"/>
  <Override PartName="/ppt/slides/_rels/slide66.xml.rels" ContentType="application/vnd.openxmlformats-package.relationships+xml"/>
  <Override PartName="/ppt/slides/_rels/slide10.xml.rels" ContentType="application/vnd.openxmlformats-package.relationships+xml"/>
  <Override PartName="/ppt/slides/_rels/slide59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ot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2E2CF5B-00FE-44D9-8531-6EC0F4D913F2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5C8C6C-EFEF-4EFF-ABCD-1A829534D78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748DEE-E887-42C6-AA73-A4EE76B238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75B0F9-1FBA-4779-8AFD-A640A3FCBE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75B5E8-980E-420A-920D-5D3DE29B86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18FDCF-CADF-46DC-9D03-78320222F4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6A3873-ADE1-477F-9BE9-128E1B3703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B80854-9A04-4BB9-B301-A329AACA96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291E1B-20AD-491F-B783-80AEDBA968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48F061-35BB-4F7F-B5F6-7CC33D1D9F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883AAB-EEAA-41F1-9DC4-5C9C6C2BD3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EBEFBC-DB8C-40DA-8B77-53C33E5E5E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03DA70-5B94-4969-BD17-463AB25B37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80AEAD-1C72-4218-8C21-0D3C534293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FB3478-D3C1-498F-8295-25C980BDB9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78AD85-3DCB-42B5-A37A-7CE1906020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D6731F-13EE-4210-8000-534D9828E5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400CD6-3C5A-4ED9-918E-581EB6A0A5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E5AB8F-F6E1-492B-A654-9A46F1353B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94ACFA-3F6C-4F90-9D84-FDC3C48172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A5CC38-4D61-49FA-BE53-578BFE31DD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651AF2-0B74-4B05-AEAA-AC30439B93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2E8F92-A15A-42D3-9C92-5029357D2E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714CA2-21B5-4962-80CE-512FA2DBD7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8FA5E0-5A80-4287-821C-F9D77CC3B8A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73E412-BB09-4783-8F6C-D94D0D3676D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Master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A5F1B0-C8D7-43B7-9A19-66701033D7C6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Master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E2F8D0-DEFF-4CB1-B770-72CC87144708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3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5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56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6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63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6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65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66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6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6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69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70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7"/>
          <p:cNvSpPr/>
          <p:nvPr/>
        </p:nvSpPr>
        <p:spPr>
          <a:xfrm>
            <a:off x="2595240" y="198360"/>
            <a:ext cx="1396440" cy="380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2591640" y="188280"/>
            <a:ext cx="23468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1" lang="en-US" sz="2300" spc="-1" strike="noStrike">
                <a:solidFill>
                  <a:srgbClr val="000000"/>
                </a:solidFill>
                <a:latin typeface="Roboto"/>
                <a:ea typeface="Arial"/>
              </a:rPr>
              <a:t>Klartext</a:t>
            </a:r>
            <a:endParaRPr b="0" lang="it-IT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13"/>
          <p:cNvSpPr/>
          <p:nvPr/>
        </p:nvSpPr>
        <p:spPr>
          <a:xfrm>
            <a:off x="7747200" y="158400"/>
            <a:ext cx="1738800" cy="461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91" name="TextBox 11"/>
          <p:cNvSpPr/>
          <p:nvPr/>
        </p:nvSpPr>
        <p:spPr>
          <a:xfrm>
            <a:off x="7764840" y="178200"/>
            <a:ext cx="25934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1" lang="en-US" sz="2300" spc="-1" strike="noStrike">
                <a:solidFill>
                  <a:srgbClr val="000000"/>
                </a:solidFill>
                <a:latin typeface="Roboto"/>
                <a:ea typeface="Arial"/>
              </a:rPr>
              <a:t>Chiffretext</a:t>
            </a:r>
            <a:endParaRPr b="0" lang="it-IT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17"/>
          <p:cNvSpPr/>
          <p:nvPr/>
        </p:nvSpPr>
        <p:spPr>
          <a:xfrm>
            <a:off x="8766360" y="2968920"/>
            <a:ext cx="1256760" cy="4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93" name="Rectangle 18"/>
          <p:cNvSpPr/>
          <p:nvPr/>
        </p:nvSpPr>
        <p:spPr>
          <a:xfrm>
            <a:off x="4918680" y="1681920"/>
            <a:ext cx="1610640" cy="1143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4" name="TextBox 14"/>
          <p:cNvSpPr/>
          <p:nvPr/>
        </p:nvSpPr>
        <p:spPr>
          <a:xfrm>
            <a:off x="8766360" y="2957760"/>
            <a:ext cx="19540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0" lang="en-US" sz="2300" spc="-1" strike="noStrike">
                <a:solidFill>
                  <a:srgbClr val="000000"/>
                </a:solidFill>
                <a:latin typeface="Roboto"/>
                <a:ea typeface="Arial"/>
              </a:rPr>
              <a:t>Senden von</a:t>
            </a:r>
            <a:endParaRPr b="0" lang="it-IT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9"/>
          <p:cNvSpPr/>
          <p:nvPr/>
        </p:nvSpPr>
        <p:spPr>
          <a:xfrm>
            <a:off x="4410360" y="1713960"/>
            <a:ext cx="2628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300" spc="-1" strike="noStrike">
                <a:solidFill>
                  <a:srgbClr val="000000"/>
                </a:solidFill>
                <a:latin typeface="Roboto"/>
                <a:ea typeface="Arial"/>
              </a:rPr>
              <a:t>Verschlüsselung</a:t>
            </a:r>
            <a:endParaRPr b="0" lang="it-IT" sz="23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300" spc="-1" strike="noStrike">
                <a:solidFill>
                  <a:srgbClr val="000000"/>
                </a:solidFill>
                <a:latin typeface="Roboto"/>
                <a:ea typeface="Arial"/>
              </a:rPr>
              <a:t>mit öffentlichem</a:t>
            </a:r>
            <a:endParaRPr b="0" lang="it-IT" sz="23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300" spc="-1" strike="noStrike">
                <a:solidFill>
                  <a:srgbClr val="000000"/>
                </a:solidFill>
                <a:latin typeface="Roboto"/>
                <a:ea typeface="Arial"/>
              </a:rPr>
              <a:t>schlüssel</a:t>
            </a:r>
            <a:endParaRPr b="0" lang="it-IT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 21"/>
          <p:cNvSpPr/>
          <p:nvPr/>
        </p:nvSpPr>
        <p:spPr>
          <a:xfrm>
            <a:off x="4918680" y="5620320"/>
            <a:ext cx="1610640" cy="1143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959120" y="21240"/>
            <a:ext cx="8392680" cy="6714000"/>
          </a:xfrm>
          <a:prstGeom prst="rect">
            <a:avLst/>
          </a:prstGeom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2721960" y="203760"/>
            <a:ext cx="1398240" cy="445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535400" y="203760"/>
            <a:ext cx="34315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IBM Plex Sans"/>
                <a:ea typeface="Arial"/>
              </a:rPr>
              <a:t>Klartext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7827120" y="198360"/>
            <a:ext cx="2036880" cy="445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8721000" y="2325600"/>
            <a:ext cx="1999080" cy="1365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938840" y="1490760"/>
            <a:ext cx="1645560" cy="1669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966200" y="5441760"/>
            <a:ext cx="1645560" cy="129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2721960" y="1044720"/>
            <a:ext cx="1687680" cy="445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2854080" y="1033200"/>
            <a:ext cx="1136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IBM Plex Sans"/>
                <a:ea typeface="Arial"/>
              </a:rPr>
              <a:t>Bitcoin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187760" y="203760"/>
            <a:ext cx="32392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IBM Plex Sans"/>
                <a:ea typeface="Arial"/>
              </a:rPr>
              <a:t>Chiffretext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807760" y="2794680"/>
            <a:ext cx="31932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IBM Plex Sans"/>
                <a:ea typeface="Arial"/>
              </a:rPr>
              <a:t>Senden von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938840" y="1639800"/>
            <a:ext cx="15919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Verschlüsselung </a:t>
            </a:r>
            <a:r>
              <a:rPr b="0" lang="fr-FR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mit </a:t>
            </a: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öffentlichem </a:t>
            </a:r>
            <a:r>
              <a:rPr b="0" lang="fr-FR" sz="1400" spc="-1" strike="noStrike">
                <a:solidFill>
                  <a:srgbClr val="000000"/>
                </a:solidFill>
                <a:latin typeface="IBM Plex Sans"/>
              </a:rPr>
              <a:t>Schlüssel 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765240" y="5680080"/>
            <a:ext cx="504288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Entschlüsselung </a:t>
            </a:r>
            <a:r>
              <a:rPr b="0" lang="fr-FR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mit </a:t>
            </a:r>
            <a:r>
              <a:rPr b="0" lang="en-US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privatem </a:t>
            </a:r>
            <a:r>
              <a:rPr b="0" lang="fr-FR" sz="1600" spc="-1" strike="noStrike">
                <a:solidFill>
                  <a:srgbClr val="000000"/>
                </a:solidFill>
                <a:latin typeface="IBM Plex Sans"/>
              </a:rPr>
              <a:t>Schlüssel 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720880" y="1056240"/>
            <a:ext cx="1687680" cy="445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1854000" y="1044720"/>
            <a:ext cx="213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IBM Plex Sans"/>
                <a:ea typeface="Arial"/>
              </a:rPr>
              <a:t>Bitcoin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006280" y="4863240"/>
            <a:ext cx="2138400" cy="4568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IBM Plex Sans"/>
                <a:ea typeface="Arial"/>
              </a:rPr>
              <a:t>Bitcoin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2564640" y="15480"/>
            <a:ext cx="7062480" cy="6827040"/>
          </a:xfrm>
          <a:prstGeom prst="rect">
            <a:avLst/>
          </a:prstGeom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6940800" y="214920"/>
            <a:ext cx="2185920" cy="429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8154360" y="2881800"/>
            <a:ext cx="2444040" cy="500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486320" y="5688000"/>
            <a:ext cx="1786320" cy="1003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533480" y="1541520"/>
            <a:ext cx="1786320" cy="1003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2751480" y="5082480"/>
            <a:ext cx="1614240" cy="402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2736000" y="214920"/>
            <a:ext cx="1320840" cy="429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784520" y="214920"/>
            <a:ext cx="31093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IBM Plex Sans"/>
                <a:ea typeface="Arial"/>
              </a:rPr>
              <a:t>Nachricht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6893640" y="214920"/>
            <a:ext cx="27345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IBM Plex Sans"/>
                <a:ea typeface="Arial"/>
              </a:rPr>
              <a:t>Unterschrift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8202960" y="2986200"/>
            <a:ext cx="31935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IBM Plex Sans"/>
                <a:ea typeface="Arial"/>
              </a:rPr>
              <a:t>Senden von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2113560" y="5088600"/>
            <a:ext cx="19558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IBM Plex Sans"/>
                <a:ea typeface="Arial"/>
              </a:rPr>
              <a:t>OK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896640" y="1539360"/>
            <a:ext cx="266184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Signieren </a:t>
            </a:r>
            <a:r>
              <a:rPr b="0" lang="fr-FR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mit </a:t>
            </a:r>
            <a:r>
              <a:rPr b="0" lang="en-US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privatem </a:t>
            </a:r>
            <a:r>
              <a:rPr b="0" lang="fr-FR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Schlüssel 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3621960" y="5686200"/>
            <a:ext cx="301536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Verifizierung </a:t>
            </a:r>
            <a:r>
              <a:rPr b="0" lang="fr-FR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mit </a:t>
            </a:r>
            <a:r>
              <a:rPr b="0" lang="en-US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öffentlichem </a:t>
            </a:r>
            <a:r>
              <a:rPr b="0" lang="fr-FR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Schlüssel 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3238560" y="666720"/>
            <a:ext cx="5714640" cy="552420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3352680" y="0"/>
            <a:ext cx="54860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2286000" y="757080"/>
            <a:ext cx="7619760" cy="534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3072240" y="280440"/>
            <a:ext cx="6046920" cy="5744520"/>
          </a:xfrm>
          <a:prstGeom prst="rect">
            <a:avLst/>
          </a:prstGeom>
          <a:ln w="0">
            <a:noFill/>
          </a:ln>
        </p:spPr>
      </p:pic>
      <p:sp>
        <p:nvSpPr>
          <p:cNvPr id="130" name=""/>
          <p:cNvSpPr/>
          <p:nvPr/>
        </p:nvSpPr>
        <p:spPr>
          <a:xfrm>
            <a:off x="5929920" y="864720"/>
            <a:ext cx="1149480" cy="3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796800" y="2878560"/>
            <a:ext cx="6825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IBM Plex Sans"/>
              <a:ea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183360" y="2710440"/>
            <a:ext cx="1257480" cy="273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IBM Plex Sans"/>
                <a:ea typeface="Arial"/>
              </a:rPr>
              <a:t>senden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5812560" y="877680"/>
            <a:ext cx="1035720" cy="273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IBM Plex Sans"/>
                <a:ea typeface="Arial"/>
              </a:rPr>
              <a:t>senden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8510760" y="2710080"/>
            <a:ext cx="2124000" cy="273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IBM Plex Sans"/>
                <a:ea typeface="Arial"/>
              </a:rPr>
              <a:t>kredite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2629080" y="5192640"/>
            <a:ext cx="2641680" cy="487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IBM Plex Sans"/>
                <a:ea typeface="Arial"/>
              </a:rPr>
              <a:t>Bank 1</a:t>
            </a:r>
            <a:endParaRPr b="0" lang="it-IT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7185960" y="5192640"/>
            <a:ext cx="2326320" cy="487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IBM Plex Sans"/>
                <a:ea typeface="Arial"/>
              </a:rPr>
              <a:t>Bank 2</a:t>
            </a:r>
            <a:endParaRPr b="0" lang="it-IT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5097600" y="5572080"/>
            <a:ext cx="2523600" cy="7459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4651560" y="5680800"/>
            <a:ext cx="3215880" cy="10659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aufzeichnung der ausgegebenen Banknoten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3694680" y="970200"/>
            <a:ext cx="4802040" cy="491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1571760" y="581040"/>
            <a:ext cx="9048240" cy="569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704880" y="733320"/>
            <a:ext cx="10782000" cy="539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1334520" y="33840"/>
            <a:ext cx="9522720" cy="678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2880360" y="2390760"/>
            <a:ext cx="6431040" cy="207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2241360" y="620640"/>
            <a:ext cx="7708680" cy="5616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" descr=""/>
          <p:cNvPicPr/>
          <p:nvPr/>
        </p:nvPicPr>
        <p:blipFill>
          <a:blip r:embed="rId1"/>
          <a:srcRect l="0" t="0" r="0" b="16972"/>
          <a:stretch/>
        </p:blipFill>
        <p:spPr>
          <a:xfrm>
            <a:off x="1563120" y="159840"/>
            <a:ext cx="9065160" cy="5428440"/>
          </a:xfrm>
          <a:prstGeom prst="rect">
            <a:avLst/>
          </a:prstGeom>
          <a:ln w="0">
            <a:noFill/>
          </a:ln>
        </p:spPr>
      </p:pic>
      <p:sp>
        <p:nvSpPr>
          <p:cNvPr id="146" name=""/>
          <p:cNvSpPr/>
          <p:nvPr/>
        </p:nvSpPr>
        <p:spPr>
          <a:xfrm>
            <a:off x="2991960" y="5600520"/>
            <a:ext cx="523440" cy="36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5698800" y="5600520"/>
            <a:ext cx="523440" cy="36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8424360" y="5600520"/>
            <a:ext cx="523440" cy="36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2962800" y="5357160"/>
            <a:ext cx="762120" cy="285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chemeClr val="lt1"/>
              </a:solidFill>
              <a:latin typeface="IBM Plex Sans"/>
              <a:ea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677760" y="4867560"/>
            <a:ext cx="64728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chemeClr val="lt1"/>
              </a:solidFill>
              <a:latin typeface="IBM Plex Sans"/>
              <a:ea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7346880" y="5802120"/>
            <a:ext cx="40834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IBM Plex Sans"/>
                <a:ea typeface="Arial"/>
              </a:rPr>
              <a:t>Verteilte Netzwerke.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2925720" y="5337360"/>
            <a:ext cx="14479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Bahnhof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3677760" y="4829040"/>
            <a:ext cx="1182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Link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3458520" y="4867560"/>
            <a:ext cx="266400" cy="152280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55" name=""/>
          <p:cNvSpPr/>
          <p:nvPr/>
        </p:nvSpPr>
        <p:spPr>
          <a:xfrm rot="2286600">
            <a:off x="2724120" y="5302800"/>
            <a:ext cx="266400" cy="152280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320" bIns="31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533600" y="5802120"/>
            <a:ext cx="2763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fr-FR" sz="2200" spc="-1" strike="noStrike">
                <a:solidFill>
                  <a:srgbClr val="000000"/>
                </a:solidFill>
                <a:latin typeface="IBM Plex Sans"/>
                <a:ea typeface="Arial"/>
              </a:rPr>
              <a:t>Zentralisierung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4494960" y="5802120"/>
            <a:ext cx="28515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fr-FR" sz="2200" spc="-1" strike="noStrike">
                <a:solidFill>
                  <a:srgbClr val="000000"/>
                </a:solidFill>
                <a:latin typeface="IBM Plex Sans"/>
                <a:ea typeface="Arial"/>
              </a:rPr>
              <a:t>Dezentralisiert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" descr=""/>
          <p:cNvPicPr/>
          <p:nvPr/>
        </p:nvPicPr>
        <p:blipFill>
          <a:blip r:embed="rId1"/>
          <a:stretch/>
        </p:blipFill>
        <p:spPr>
          <a:xfrm>
            <a:off x="772920" y="324000"/>
            <a:ext cx="10645920" cy="6210000"/>
          </a:xfrm>
          <a:prstGeom prst="rect">
            <a:avLst/>
          </a:prstGeom>
          <a:ln w="0">
            <a:noFill/>
          </a:ln>
        </p:spPr>
      </p:pic>
      <p:sp>
        <p:nvSpPr>
          <p:cNvPr id="159" name=""/>
          <p:cNvSpPr/>
          <p:nvPr/>
        </p:nvSpPr>
        <p:spPr>
          <a:xfrm>
            <a:off x="1651320" y="495360"/>
            <a:ext cx="2266560" cy="609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4562640" y="495360"/>
            <a:ext cx="1714320" cy="609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2784960" y="5857560"/>
            <a:ext cx="1714320" cy="609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886520" y="5857560"/>
            <a:ext cx="1714320" cy="609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552320" y="571680"/>
            <a:ext cx="1784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IBM Plex Sans"/>
                <a:ea typeface="Arial"/>
              </a:rPr>
              <a:t>Loyaler General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4562640" y="571680"/>
            <a:ext cx="20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8a8a8a"/>
                </a:solidFill>
                <a:latin typeface="IBM Plex Sans"/>
                <a:ea typeface="Arial"/>
              </a:rPr>
              <a:t>Verräter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2131200" y="5857560"/>
            <a:ext cx="33778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IBM Plex Sans"/>
                <a:ea typeface="Arial"/>
              </a:rPr>
              <a:t>Besiegen Sie</a:t>
            </a:r>
            <a:endParaRPr b="0" lang="it-IT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780960" y="5857560"/>
            <a:ext cx="37846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IBM Plex Sans"/>
                <a:ea typeface="Arial"/>
              </a:rPr>
              <a:t>Sieg</a:t>
            </a:r>
            <a:endParaRPr b="0" lang="it-IT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1338120" y="538200"/>
            <a:ext cx="9515160" cy="5781240"/>
          </a:xfrm>
          <a:prstGeom prst="rect">
            <a:avLst/>
          </a:prstGeom>
          <a:ln w="0">
            <a:noFill/>
          </a:ln>
        </p:spPr>
      </p:pic>
      <p:sp>
        <p:nvSpPr>
          <p:cNvPr id="168" name=""/>
          <p:cNvSpPr/>
          <p:nvPr/>
        </p:nvSpPr>
        <p:spPr>
          <a:xfrm>
            <a:off x="7200000" y="1254240"/>
            <a:ext cx="3017520" cy="317160"/>
          </a:xfrm>
          <a:prstGeom prst="rect">
            <a:avLst/>
          </a:prstGeom>
          <a:solidFill>
            <a:srgbClr val="fde9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4048920" y="436680"/>
            <a:ext cx="4476240" cy="57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1620000" y="2016000"/>
            <a:ext cx="571320" cy="515520"/>
          </a:xfrm>
          <a:prstGeom prst="rect">
            <a:avLst/>
          </a:prstGeom>
          <a:solidFill>
            <a:srgbClr val="fef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1486800" y="5200560"/>
            <a:ext cx="571320" cy="515520"/>
          </a:xfrm>
          <a:prstGeom prst="rect">
            <a:avLst/>
          </a:prstGeom>
          <a:solidFill>
            <a:srgbClr val="fef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2366280" y="1738440"/>
            <a:ext cx="1626840" cy="22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4255200" y="3833640"/>
            <a:ext cx="1817280" cy="80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9406800" y="3040200"/>
            <a:ext cx="1904760" cy="89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446160" y="3603600"/>
            <a:ext cx="1690200" cy="49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866320" y="6095880"/>
            <a:ext cx="1674360" cy="37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2366280" y="436680"/>
            <a:ext cx="742680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800" spc="-1" strike="noStrike">
                <a:solidFill>
                  <a:srgbClr val="850009"/>
                </a:solidFill>
                <a:latin typeface="IBM Plex Sans"/>
                <a:ea typeface="Arial"/>
              </a:rPr>
              <a:t>Zuverlässige Zeitstempelung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2268000" y="1640880"/>
            <a:ext cx="172584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IBM Plex Sans"/>
                <a:ea typeface="Arial"/>
              </a:rPr>
              <a:t>Hash berechnen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4998600" y="1701000"/>
            <a:ext cx="2052000" cy="258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IBM Plex Sans"/>
                <a:ea typeface="Arial"/>
              </a:rPr>
              <a:t>Hash an TSA senden</a:t>
            </a:r>
            <a:endParaRPr b="0" lang="it-I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1486800" y="1254240"/>
            <a:ext cx="2973240" cy="304200"/>
          </a:xfrm>
          <a:prstGeom prst="rect">
            <a:avLst/>
          </a:prstGeom>
          <a:solidFill>
            <a:srgbClr val="ffce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Innerhalb eines Unternehmens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1486800" y="2179800"/>
            <a:ext cx="706320" cy="517680"/>
          </a:xfrm>
          <a:prstGeom prst="rect">
            <a:avLst/>
          </a:prstGeom>
          <a:solidFill>
            <a:srgbClr val="feff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IBM Plex Sans"/>
                <a:ea typeface="Arial"/>
              </a:rPr>
              <a:t>Daten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411560" y="5311800"/>
            <a:ext cx="643680" cy="517680"/>
          </a:xfrm>
          <a:prstGeom prst="rect">
            <a:avLst/>
          </a:prstGeom>
          <a:solidFill>
            <a:srgbClr val="feff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IBM Plex Sans"/>
                <a:ea typeface="Arial"/>
              </a:rPr>
              <a:t>Daten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1486800" y="6130080"/>
            <a:ext cx="42109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Zusammen speichern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3756960" y="4095720"/>
            <a:ext cx="2267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IBM Plex Sans"/>
                <a:ea typeface="Arial"/>
              </a:rPr>
              <a:t>Signierter Zeitstempel und Hash werden an den Antragsteller zurückgegeben</a:t>
            </a:r>
            <a:endParaRPr b="0" lang="it-I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8468640" y="2027160"/>
            <a:ext cx="1967760" cy="304200"/>
          </a:xfrm>
          <a:prstGeom prst="rect">
            <a:avLst/>
          </a:prstGeom>
          <a:solidFill>
            <a:srgbClr val="feff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Zeitstempel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7051320" y="1254240"/>
            <a:ext cx="3384360" cy="273600"/>
          </a:xfrm>
          <a:prstGeom prst="rect">
            <a:avLst/>
          </a:prstGeom>
          <a:solidFill>
            <a:srgbClr val="ffce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IBM Plex Sans"/>
                <a:ea typeface="Arial"/>
              </a:rPr>
              <a:t>Zeitstempel-Behörde (TSA)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7051320" y="2568240"/>
            <a:ext cx="2171160" cy="2584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IBM Plex Sans"/>
                <a:ea typeface="Arial"/>
              </a:rPr>
              <a:t>Hash berechnen</a:t>
            </a:r>
            <a:endParaRPr b="0" lang="it-I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9406800" y="3131640"/>
            <a:ext cx="2334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IBM Plex Sans"/>
                <a:ea typeface="Arial"/>
              </a:rPr>
              <a:t>Es handelt sich </a:t>
            </a:r>
            <a:r>
              <a:rPr b="0" lang="fr-FR" sz="1100" spc="-1" strike="noStrike">
                <a:solidFill>
                  <a:srgbClr val="000000"/>
                </a:solidFill>
                <a:latin typeface="IBM Plex Sans"/>
                <a:ea typeface="Arial"/>
              </a:rPr>
              <a:t>um eine </a:t>
            </a:r>
            <a:r>
              <a:rPr b="0" lang="en-US" sz="1100" spc="-1" strike="noStrike">
                <a:solidFill>
                  <a:srgbClr val="000000"/>
                </a:solidFill>
                <a:latin typeface="IBM Plex Sans"/>
                <a:ea typeface="Arial"/>
              </a:rPr>
              <a:t>digitale Signatur </a:t>
            </a:r>
            <a:r>
              <a:rPr b="0" lang="fr-FR" sz="1100" spc="-1" strike="noStrike">
                <a:solidFill>
                  <a:srgbClr val="000000"/>
                </a:solidFill>
                <a:latin typeface="IBM Plex Sans"/>
                <a:ea typeface="Arial"/>
              </a:rPr>
              <a:t>des Hashes, </a:t>
            </a:r>
            <a:r>
              <a:rPr b="0" lang="en-US" sz="1100" spc="-1" strike="noStrike">
                <a:solidFill>
                  <a:srgbClr val="000000"/>
                </a:solidFill>
                <a:latin typeface="IBM Plex Sans"/>
                <a:ea typeface="Arial"/>
              </a:rPr>
              <a:t>der mit </a:t>
            </a:r>
            <a:r>
              <a:rPr b="0" lang="fr-FR" sz="1100" spc="-1" strike="noStrike">
                <a:solidFill>
                  <a:srgbClr val="000000"/>
                </a:solidFill>
                <a:latin typeface="IBM Plex Sans"/>
                <a:ea typeface="Arial"/>
              </a:rPr>
              <a:t>dem Zeitstempel </a:t>
            </a:r>
            <a:r>
              <a:rPr b="0" lang="en-US" sz="1100" spc="-1" strike="noStrike">
                <a:solidFill>
                  <a:srgbClr val="000000"/>
                </a:solidFill>
                <a:latin typeface="IBM Plex Sans"/>
                <a:ea typeface="Arial"/>
              </a:rPr>
              <a:t>verkettet ist</a:t>
            </a:r>
            <a:endParaRPr b="0" lang="it-IT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446160" y="3699000"/>
            <a:ext cx="1616040" cy="395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IBM Plex Sans"/>
                <a:ea typeface="Arial"/>
              </a:rPr>
              <a:t>Privater Schlüssel der TSA anwenden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9744120" y="4516200"/>
            <a:ext cx="1996200" cy="304200"/>
          </a:xfrm>
          <a:prstGeom prst="rect">
            <a:avLst/>
          </a:prstGeom>
          <a:solidFill>
            <a:srgbClr val="feff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Zeitstempel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4815000" y="5306040"/>
            <a:ext cx="2068920" cy="304200"/>
          </a:xfrm>
          <a:prstGeom prst="rect">
            <a:avLst/>
          </a:prstGeom>
          <a:solidFill>
            <a:srgbClr val="feff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Zeitstempel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4361400" y="1099800"/>
            <a:ext cx="3468600" cy="465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" descr=""/>
          <p:cNvPicPr/>
          <p:nvPr/>
        </p:nvPicPr>
        <p:blipFill>
          <a:blip r:embed="rId1"/>
          <a:stretch/>
        </p:blipFill>
        <p:spPr>
          <a:xfrm>
            <a:off x="1143000" y="2438280"/>
            <a:ext cx="9905760" cy="1980720"/>
          </a:xfrm>
          <a:prstGeom prst="rect">
            <a:avLst/>
          </a:prstGeom>
          <a:ln w="0">
            <a:noFill/>
          </a:ln>
        </p:spPr>
      </p:pic>
      <p:sp>
        <p:nvSpPr>
          <p:cNvPr id="194" name=""/>
          <p:cNvSpPr/>
          <p:nvPr/>
        </p:nvSpPr>
        <p:spPr>
          <a:xfrm>
            <a:off x="1437840" y="2703960"/>
            <a:ext cx="2628720" cy="80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1458360" y="2788560"/>
            <a:ext cx="5401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IBM Plex Sans"/>
                <a:ea typeface="Arial"/>
              </a:rPr>
              <a:t>Referenzen</a:t>
            </a:r>
            <a:endParaRPr b="0" lang="it-IT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" descr=""/>
          <p:cNvPicPr/>
          <p:nvPr/>
        </p:nvPicPr>
        <p:blipFill>
          <a:blip r:embed="rId1"/>
          <a:stretch/>
        </p:blipFill>
        <p:spPr>
          <a:xfrm>
            <a:off x="1656720" y="1009800"/>
            <a:ext cx="8877960" cy="483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" descr=""/>
          <p:cNvPicPr/>
          <p:nvPr/>
        </p:nvPicPr>
        <p:blipFill>
          <a:blip r:embed="rId1"/>
          <a:stretch/>
        </p:blipFill>
        <p:spPr>
          <a:xfrm>
            <a:off x="2096640" y="282960"/>
            <a:ext cx="7998840" cy="629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3418560" y="751320"/>
            <a:ext cx="5354640" cy="535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" descr=""/>
          <p:cNvPicPr/>
          <p:nvPr/>
        </p:nvPicPr>
        <p:blipFill>
          <a:blip r:embed="rId1"/>
          <a:stretch/>
        </p:blipFill>
        <p:spPr>
          <a:xfrm>
            <a:off x="4237560" y="956880"/>
            <a:ext cx="3716280" cy="494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1696320" y="90360"/>
            <a:ext cx="8781840" cy="666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3656520" y="989640"/>
            <a:ext cx="4878360" cy="487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" descr=""/>
          <p:cNvPicPr/>
          <p:nvPr/>
        </p:nvPicPr>
        <p:blipFill>
          <a:blip r:embed="rId1"/>
          <a:stretch/>
        </p:blipFill>
        <p:spPr>
          <a:xfrm>
            <a:off x="3581280" y="914400"/>
            <a:ext cx="502884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" descr=""/>
          <p:cNvPicPr/>
          <p:nvPr/>
        </p:nvPicPr>
        <p:blipFill>
          <a:blip r:embed="rId1"/>
          <a:stretch/>
        </p:blipFill>
        <p:spPr>
          <a:xfrm>
            <a:off x="3443760" y="0"/>
            <a:ext cx="530388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" descr=""/>
          <p:cNvPicPr/>
          <p:nvPr/>
        </p:nvPicPr>
        <p:blipFill>
          <a:blip r:embed="rId1"/>
          <a:stretch/>
        </p:blipFill>
        <p:spPr>
          <a:xfrm>
            <a:off x="2410920" y="619200"/>
            <a:ext cx="7369560" cy="561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1069200" y="609480"/>
            <a:ext cx="9924840" cy="52002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206" name=""/>
          <p:cNvSpPr/>
          <p:nvPr/>
        </p:nvSpPr>
        <p:spPr>
          <a:xfrm>
            <a:off x="2755440" y="5941800"/>
            <a:ext cx="72680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Satoshi Nakamoto's Page - </a:t>
            </a:r>
            <a:r>
              <a:rPr b="0" i="1" lang="fr-FR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Nie ein Geschenk erhalten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" descr=""/>
          <p:cNvPicPr/>
          <p:nvPr/>
        </p:nvPicPr>
        <p:blipFill>
          <a:blip r:embed="rId1"/>
          <a:stretch/>
        </p:blipFill>
        <p:spPr>
          <a:xfrm>
            <a:off x="3980520" y="1313640"/>
            <a:ext cx="4230720" cy="423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" descr=""/>
          <p:cNvPicPr/>
          <p:nvPr/>
        </p:nvPicPr>
        <p:blipFill>
          <a:blip r:embed="rId1"/>
          <a:stretch/>
        </p:blipFill>
        <p:spPr>
          <a:xfrm>
            <a:off x="2570760" y="786960"/>
            <a:ext cx="7050240" cy="528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1441440" y="1009800"/>
            <a:ext cx="9308520" cy="4838400"/>
          </a:xfrm>
          <a:prstGeom prst="rect">
            <a:avLst/>
          </a:prstGeom>
          <a:ln w="0">
            <a:noFill/>
          </a:ln>
        </p:spPr>
      </p:pic>
      <p:sp>
        <p:nvSpPr>
          <p:cNvPr id="210" name=""/>
          <p:cNvSpPr/>
          <p:nvPr/>
        </p:nvSpPr>
        <p:spPr>
          <a:xfrm>
            <a:off x="1933200" y="5986080"/>
            <a:ext cx="7863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Bitcoin-Forum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" descr=""/>
          <p:cNvPicPr/>
          <p:nvPr/>
        </p:nvPicPr>
        <p:blipFill>
          <a:blip r:embed="rId1"/>
          <a:stretch/>
        </p:blipFill>
        <p:spPr>
          <a:xfrm>
            <a:off x="3066120" y="399240"/>
            <a:ext cx="6059520" cy="605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" descr=""/>
          <p:cNvPicPr/>
          <p:nvPr/>
        </p:nvPicPr>
        <p:blipFill>
          <a:blip r:embed="rId1"/>
          <a:stretch/>
        </p:blipFill>
        <p:spPr>
          <a:xfrm>
            <a:off x="4247280" y="302760"/>
            <a:ext cx="3697200" cy="625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3928680" y="1278000"/>
            <a:ext cx="4334400" cy="430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" descr=""/>
          <p:cNvPicPr/>
          <p:nvPr/>
        </p:nvPicPr>
        <p:blipFill>
          <a:blip r:embed="rId1"/>
          <a:stretch/>
        </p:blipFill>
        <p:spPr>
          <a:xfrm>
            <a:off x="245160" y="457200"/>
            <a:ext cx="11701440" cy="594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" descr=""/>
          <p:cNvPicPr/>
          <p:nvPr/>
        </p:nvPicPr>
        <p:blipFill>
          <a:blip r:embed="rId1"/>
          <a:stretch/>
        </p:blipFill>
        <p:spPr>
          <a:xfrm>
            <a:off x="3854160" y="2631240"/>
            <a:ext cx="4483080" cy="159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" descr=""/>
          <p:cNvPicPr/>
          <p:nvPr/>
        </p:nvPicPr>
        <p:blipFill>
          <a:blip r:embed="rId1"/>
          <a:stretch/>
        </p:blipFill>
        <p:spPr>
          <a:xfrm>
            <a:off x="4380480" y="445320"/>
            <a:ext cx="3430440" cy="596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" descr=""/>
          <p:cNvPicPr/>
          <p:nvPr/>
        </p:nvPicPr>
        <p:blipFill>
          <a:blip r:embed="rId1"/>
          <a:stretch/>
        </p:blipFill>
        <p:spPr>
          <a:xfrm>
            <a:off x="3075480" y="471240"/>
            <a:ext cx="6040440" cy="591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103680" y="1431720"/>
            <a:ext cx="11984040" cy="3994560"/>
          </a:xfrm>
          <a:prstGeom prst="rect">
            <a:avLst/>
          </a:prstGeom>
          <a:ln w="0">
            <a:noFill/>
          </a:ln>
        </p:spPr>
      </p:pic>
      <p:sp>
        <p:nvSpPr>
          <p:cNvPr id="219" name=""/>
          <p:cNvSpPr/>
          <p:nvPr/>
        </p:nvSpPr>
        <p:spPr>
          <a:xfrm>
            <a:off x="3420360" y="1380960"/>
            <a:ext cx="6781320" cy="409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572400" y="1155240"/>
            <a:ext cx="1118268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Patoshi-Blöcke &amp; invertierte Zeitstempel (Blocknummer/ExtraNonce)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" descr=""/>
          <p:cNvPicPr/>
          <p:nvPr/>
        </p:nvPicPr>
        <p:blipFill>
          <a:blip r:embed="rId1"/>
          <a:stretch/>
        </p:blipFill>
        <p:spPr>
          <a:xfrm>
            <a:off x="762120" y="228600"/>
            <a:ext cx="10667520" cy="6400440"/>
          </a:xfrm>
          <a:prstGeom prst="rect">
            <a:avLst/>
          </a:prstGeom>
          <a:ln w="0">
            <a:noFill/>
          </a:ln>
        </p:spPr>
      </p:pic>
      <p:sp>
        <p:nvSpPr>
          <p:cNvPr id="222" name=""/>
          <p:cNvSpPr/>
          <p:nvPr/>
        </p:nvSpPr>
        <p:spPr>
          <a:xfrm>
            <a:off x="3963240" y="419040"/>
            <a:ext cx="6352920" cy="27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848520" y="1847880"/>
            <a:ext cx="275760" cy="2542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1439280" y="228600"/>
            <a:ext cx="1058256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Schätzung des Anteils von Satoshi am Netzwerk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 rot="16200000">
            <a:off x="-50400" y="2868120"/>
            <a:ext cx="20451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Prozentsatz des Netzes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665640" y="171000"/>
            <a:ext cx="10860120" cy="6516000"/>
          </a:xfrm>
          <a:prstGeom prst="rect">
            <a:avLst/>
          </a:prstGeom>
          <a:ln w="0">
            <a:noFill/>
          </a:ln>
        </p:spPr>
      </p:pic>
      <p:sp>
        <p:nvSpPr>
          <p:cNvPr id="227" name=""/>
          <p:cNvSpPr/>
          <p:nvPr/>
        </p:nvSpPr>
        <p:spPr>
          <a:xfrm>
            <a:off x="745560" y="2441880"/>
            <a:ext cx="328680" cy="12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4877640" y="333360"/>
            <a:ext cx="4609800" cy="30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4925520" y="6095880"/>
            <a:ext cx="1571400" cy="4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811200" y="6095880"/>
            <a:ext cx="1571400" cy="4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1639440" y="171000"/>
            <a:ext cx="9582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IBM Plex Sans"/>
                <a:ea typeface="Arial"/>
              </a:rPr>
              <a:t>Schätzung von Satoshis Hashrate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 rot="16200000">
            <a:off x="434160" y="2877120"/>
            <a:ext cx="910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IBM Plex Sans"/>
                <a:ea typeface="Arial"/>
              </a:rPr>
              <a:t>Hashrate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4925520" y="6095880"/>
            <a:ext cx="1351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IBM Plex Sans"/>
                <a:ea typeface="Arial"/>
              </a:rPr>
              <a:t>Tägliche durchschnittliche Hash-Rate</a:t>
            </a:r>
            <a:endParaRPr b="0" lang="it-IT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6932520" y="6095880"/>
            <a:ext cx="2127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IBM Plex Sans"/>
                <a:ea typeface="Arial"/>
              </a:rPr>
              <a:t>Lineares Hashrate-Modell</a:t>
            </a:r>
            <a:endParaRPr b="0" lang="it-IT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" descr=""/>
          <p:cNvPicPr/>
          <p:nvPr/>
        </p:nvPicPr>
        <p:blipFill>
          <a:blip r:embed="rId1"/>
          <a:stretch/>
        </p:blipFill>
        <p:spPr>
          <a:xfrm>
            <a:off x="2999520" y="803880"/>
            <a:ext cx="6192720" cy="524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" descr=""/>
          <p:cNvPicPr/>
          <p:nvPr/>
        </p:nvPicPr>
        <p:blipFill>
          <a:blip r:embed="rId1"/>
          <a:stretch/>
        </p:blipFill>
        <p:spPr>
          <a:xfrm>
            <a:off x="1839240" y="591120"/>
            <a:ext cx="8512920" cy="567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" descr=""/>
          <p:cNvPicPr/>
          <p:nvPr/>
        </p:nvPicPr>
        <p:blipFill>
          <a:blip r:embed="rId1"/>
          <a:stretch/>
        </p:blipFill>
        <p:spPr>
          <a:xfrm>
            <a:off x="3820320" y="388080"/>
            <a:ext cx="4550760" cy="608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" descr=""/>
          <p:cNvPicPr/>
          <p:nvPr/>
        </p:nvPicPr>
        <p:blipFill>
          <a:blip r:embed="rId1"/>
          <a:stretch/>
        </p:blipFill>
        <p:spPr>
          <a:xfrm>
            <a:off x="2603520" y="2314440"/>
            <a:ext cx="6984360" cy="222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" descr=""/>
          <p:cNvPicPr/>
          <p:nvPr/>
        </p:nvPicPr>
        <p:blipFill>
          <a:blip r:embed="rId1"/>
          <a:stretch/>
        </p:blipFill>
        <p:spPr>
          <a:xfrm>
            <a:off x="3066120" y="970920"/>
            <a:ext cx="6059520" cy="491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" descr=""/>
          <p:cNvPicPr/>
          <p:nvPr/>
        </p:nvPicPr>
        <p:blipFill>
          <a:blip r:embed="rId1"/>
          <a:stretch/>
        </p:blipFill>
        <p:spPr>
          <a:xfrm>
            <a:off x="398160" y="1542960"/>
            <a:ext cx="11395080" cy="377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" descr=""/>
          <p:cNvPicPr/>
          <p:nvPr/>
        </p:nvPicPr>
        <p:blipFill>
          <a:blip r:embed="rId1"/>
          <a:stretch/>
        </p:blipFill>
        <p:spPr>
          <a:xfrm>
            <a:off x="2730600" y="905040"/>
            <a:ext cx="6730560" cy="504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" descr=""/>
          <p:cNvPicPr/>
          <p:nvPr/>
        </p:nvPicPr>
        <p:blipFill>
          <a:blip r:embed="rId1"/>
          <a:stretch/>
        </p:blipFill>
        <p:spPr>
          <a:xfrm>
            <a:off x="685440" y="1971720"/>
            <a:ext cx="10820520" cy="291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" descr=""/>
          <p:cNvPicPr/>
          <p:nvPr/>
        </p:nvPicPr>
        <p:blipFill>
          <a:blip r:embed="rId1"/>
          <a:stretch/>
        </p:blipFill>
        <p:spPr>
          <a:xfrm>
            <a:off x="473400" y="1504800"/>
            <a:ext cx="11244600" cy="384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" descr=""/>
          <p:cNvPicPr/>
          <p:nvPr/>
        </p:nvPicPr>
        <p:blipFill>
          <a:blip r:embed="rId1"/>
          <a:stretch/>
        </p:blipFill>
        <p:spPr>
          <a:xfrm>
            <a:off x="12960" y="38160"/>
            <a:ext cx="12165480" cy="6781320"/>
          </a:xfrm>
          <a:prstGeom prst="rect">
            <a:avLst/>
          </a:prstGeom>
          <a:ln w="0">
            <a:noFill/>
          </a:ln>
        </p:spPr>
      </p:pic>
      <p:sp>
        <p:nvSpPr>
          <p:cNvPr id="245" name=""/>
          <p:cNvSpPr/>
          <p:nvPr/>
        </p:nvSpPr>
        <p:spPr>
          <a:xfrm>
            <a:off x="20160" y="2952720"/>
            <a:ext cx="209160" cy="156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6039720" y="6610320"/>
            <a:ext cx="1514160" cy="19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47" name=""/>
          <p:cNvSpPr/>
          <p:nvPr/>
        </p:nvSpPr>
        <p:spPr>
          <a:xfrm rot="16200000">
            <a:off x="-272880" y="3248640"/>
            <a:ext cx="8298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000000"/>
                </a:solidFill>
                <a:latin typeface="IBM Plex Sans"/>
                <a:ea typeface="Arial"/>
              </a:rPr>
              <a:t>ExtraNonce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5983920" y="6583320"/>
            <a:ext cx="5572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000000"/>
                </a:solidFill>
                <a:latin typeface="IBM Plex Sans"/>
                <a:ea typeface="Arial"/>
              </a:rPr>
              <a:t>Datum</a:t>
            </a:r>
            <a:endParaRPr b="0" lang="it-IT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" descr=""/>
          <p:cNvPicPr/>
          <p:nvPr/>
        </p:nvPicPr>
        <p:blipFill>
          <a:blip r:embed="rId1"/>
          <a:stretch/>
        </p:blipFill>
        <p:spPr>
          <a:xfrm>
            <a:off x="3376800" y="866880"/>
            <a:ext cx="5438160" cy="512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" descr=""/>
          <p:cNvPicPr/>
          <p:nvPr/>
        </p:nvPicPr>
        <p:blipFill>
          <a:blip r:embed="rId1"/>
          <a:stretch/>
        </p:blipFill>
        <p:spPr>
          <a:xfrm>
            <a:off x="2415240" y="2457360"/>
            <a:ext cx="7360920" cy="194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" descr=""/>
          <p:cNvPicPr/>
          <p:nvPr/>
        </p:nvPicPr>
        <p:blipFill>
          <a:blip r:embed="rId1"/>
          <a:stretch/>
        </p:blipFill>
        <p:spPr>
          <a:xfrm>
            <a:off x="647280" y="1542960"/>
            <a:ext cx="10896840" cy="2571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252" name=""/>
          <p:cNvSpPr/>
          <p:nvPr/>
        </p:nvSpPr>
        <p:spPr>
          <a:xfrm>
            <a:off x="781920" y="4581720"/>
            <a:ext cx="286092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2d2593"/>
                </a:solidFill>
                <a:latin typeface="IBM Plex Sans"/>
                <a:ea typeface="Arial"/>
              </a:rPr>
              <a:t>"Artikel: Kennen Sie sich </a:t>
            </a:r>
            <a:r>
              <a:rPr b="0" lang="en-US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mit Bitcoins aus?"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3640680" y="4515120"/>
            <a:ext cx="79070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IBM Plex Sans"/>
                <a:ea typeface="Arial"/>
              </a:rPr>
              <a:t>Bitcoin ist eine elektronische Währung, die im Jahr 2009 von einem Mann namens Satoshi Nakamoto entwickelt wurde. Diese Währung unterscheidet sich von anderen elektronischen Währungen durch ihren vollständig dezentralen Peer-to-Peer-Charakter und ihre clevere Nutzung grundlegender kryptografischer Konzepte. Sie basiert auf Software, die in C++ geschrieben und unter der MIT-Open-Source-Lizenz veröffentlicht wurde.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" descr=""/>
          <p:cNvPicPr/>
          <p:nvPr/>
        </p:nvPicPr>
        <p:blipFill>
          <a:blip r:embed="rId1"/>
          <a:stretch/>
        </p:blipFill>
        <p:spPr>
          <a:xfrm>
            <a:off x="2694600" y="1173960"/>
            <a:ext cx="6802560" cy="450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" descr=""/>
          <p:cNvPicPr/>
          <p:nvPr/>
        </p:nvPicPr>
        <p:blipFill>
          <a:blip r:embed="rId1"/>
          <a:stretch/>
        </p:blipFill>
        <p:spPr>
          <a:xfrm>
            <a:off x="385200" y="1162080"/>
            <a:ext cx="11421360" cy="4533480"/>
          </a:xfrm>
          <a:prstGeom prst="rect">
            <a:avLst/>
          </a:prstGeom>
          <a:ln w="0">
            <a:noFill/>
          </a:ln>
        </p:spPr>
      </p:pic>
      <p:sp>
        <p:nvSpPr>
          <p:cNvPr id="256" name=""/>
          <p:cNvSpPr/>
          <p:nvPr/>
        </p:nvSpPr>
        <p:spPr>
          <a:xfrm>
            <a:off x="2896560" y="5886360"/>
            <a:ext cx="697356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000000"/>
                </a:solidFill>
                <a:latin typeface="IBM Plex Sans"/>
                <a:ea typeface="Arial"/>
              </a:rPr>
              <a:t>Bitcoin der Aufstieg der Maschinen.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" descr=""/>
          <p:cNvPicPr/>
          <p:nvPr/>
        </p:nvPicPr>
        <p:blipFill>
          <a:blip r:embed="rId1"/>
          <a:stretch/>
        </p:blipFill>
        <p:spPr>
          <a:xfrm>
            <a:off x="4191120" y="1523880"/>
            <a:ext cx="3809520" cy="380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" descr=""/>
          <p:cNvPicPr/>
          <p:nvPr/>
        </p:nvPicPr>
        <p:blipFill>
          <a:blip r:embed="rId1"/>
          <a:stretch/>
        </p:blipFill>
        <p:spPr>
          <a:xfrm>
            <a:off x="4876920" y="2209680"/>
            <a:ext cx="2437920" cy="243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1799640" y="514440"/>
            <a:ext cx="8592480" cy="582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" descr=""/>
          <p:cNvPicPr/>
          <p:nvPr/>
        </p:nvPicPr>
        <p:blipFill>
          <a:blip r:embed="rId1"/>
          <a:stretch/>
        </p:blipFill>
        <p:spPr>
          <a:xfrm>
            <a:off x="2044800" y="2943360"/>
            <a:ext cx="8102160" cy="97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" descr=""/>
          <p:cNvPicPr/>
          <p:nvPr/>
        </p:nvPicPr>
        <p:blipFill>
          <a:blip r:embed="rId1"/>
          <a:stretch/>
        </p:blipFill>
        <p:spPr>
          <a:xfrm>
            <a:off x="5018760" y="932400"/>
            <a:ext cx="2154240" cy="499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" descr=""/>
          <p:cNvPicPr/>
          <p:nvPr/>
        </p:nvPicPr>
        <p:blipFill>
          <a:blip r:embed="rId1"/>
          <a:stretch/>
        </p:blipFill>
        <p:spPr>
          <a:xfrm>
            <a:off x="3706200" y="1133640"/>
            <a:ext cx="4779000" cy="459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" descr=""/>
          <p:cNvPicPr/>
          <p:nvPr/>
        </p:nvPicPr>
        <p:blipFill>
          <a:blip r:embed="rId1"/>
          <a:stretch/>
        </p:blipFill>
        <p:spPr>
          <a:xfrm>
            <a:off x="348480" y="771480"/>
            <a:ext cx="11494800" cy="5314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264" name=""/>
          <p:cNvSpPr/>
          <p:nvPr/>
        </p:nvSpPr>
        <p:spPr>
          <a:xfrm>
            <a:off x="439200" y="5568120"/>
            <a:ext cx="11363040" cy="518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" descr=""/>
          <p:cNvPicPr/>
          <p:nvPr/>
        </p:nvPicPr>
        <p:blipFill>
          <a:blip r:embed="rId1"/>
          <a:stretch/>
        </p:blipFill>
        <p:spPr>
          <a:xfrm>
            <a:off x="1258920" y="485640"/>
            <a:ext cx="9673920" cy="588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" descr=""/>
          <p:cNvPicPr/>
          <p:nvPr/>
        </p:nvPicPr>
        <p:blipFill>
          <a:blip r:embed="rId1"/>
          <a:stretch/>
        </p:blipFill>
        <p:spPr>
          <a:xfrm>
            <a:off x="1225080" y="66600"/>
            <a:ext cx="9741240" cy="672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" descr=""/>
          <p:cNvPicPr/>
          <p:nvPr/>
        </p:nvPicPr>
        <p:blipFill>
          <a:blip r:embed="rId1"/>
          <a:stretch/>
        </p:blipFill>
        <p:spPr>
          <a:xfrm>
            <a:off x="898560" y="399960"/>
            <a:ext cx="10394280" cy="605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" descr=""/>
          <p:cNvPicPr/>
          <p:nvPr/>
        </p:nvPicPr>
        <p:blipFill>
          <a:blip r:embed="rId1"/>
          <a:stretch/>
        </p:blipFill>
        <p:spPr>
          <a:xfrm>
            <a:off x="91440" y="628560"/>
            <a:ext cx="12008520" cy="560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" descr=""/>
          <p:cNvPicPr/>
          <p:nvPr/>
        </p:nvPicPr>
        <p:blipFill>
          <a:blip r:embed="rId1"/>
          <a:stretch/>
        </p:blipFill>
        <p:spPr>
          <a:xfrm>
            <a:off x="684720" y="389880"/>
            <a:ext cx="10821960" cy="607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" descr=""/>
          <p:cNvPicPr/>
          <p:nvPr/>
        </p:nvPicPr>
        <p:blipFill>
          <a:blip r:embed="rId1"/>
          <a:stretch/>
        </p:blipFill>
        <p:spPr>
          <a:xfrm>
            <a:off x="921960" y="514440"/>
            <a:ext cx="10347480" cy="582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" descr=""/>
          <p:cNvPicPr/>
          <p:nvPr/>
        </p:nvPicPr>
        <p:blipFill>
          <a:blip r:embed="rId1"/>
          <a:stretch/>
        </p:blipFill>
        <p:spPr>
          <a:xfrm>
            <a:off x="3132720" y="771120"/>
            <a:ext cx="5926320" cy="531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" descr=""/>
          <p:cNvPicPr/>
          <p:nvPr/>
        </p:nvPicPr>
        <p:blipFill>
          <a:blip r:embed="rId1"/>
          <a:stretch/>
        </p:blipFill>
        <p:spPr>
          <a:xfrm>
            <a:off x="3980520" y="608400"/>
            <a:ext cx="4230720" cy="564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" descr=""/>
          <p:cNvPicPr/>
          <p:nvPr/>
        </p:nvPicPr>
        <p:blipFill>
          <a:blip r:embed="rId1"/>
          <a:stretch/>
        </p:blipFill>
        <p:spPr>
          <a:xfrm>
            <a:off x="1028520" y="895320"/>
            <a:ext cx="10134360" cy="5067000"/>
          </a:xfrm>
          <a:prstGeom prst="rect">
            <a:avLst/>
          </a:prstGeom>
          <a:ln w="0">
            <a:noFill/>
          </a:ln>
        </p:spPr>
      </p:pic>
      <p:sp>
        <p:nvSpPr>
          <p:cNvPr id="274" name=""/>
          <p:cNvSpPr/>
          <p:nvPr/>
        </p:nvSpPr>
        <p:spPr>
          <a:xfrm>
            <a:off x="1229760" y="1790640"/>
            <a:ext cx="371160" cy="3123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75" name=""/>
          <p:cNvSpPr/>
          <p:nvPr/>
        </p:nvSpPr>
        <p:spPr>
          <a:xfrm rot="16200000">
            <a:off x="-1385280" y="3289680"/>
            <a:ext cx="4829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IBM Plex Sans"/>
                <a:ea typeface="Arial"/>
              </a:rPr>
              <a:t>Bitcoin-Preis in US-Dollars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2025-10-15T18:00:04Z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70</vt:i4>
  </property>
  <property fmtid="{D5CDD505-2E9C-101B-9397-08002B2CF9AE}" pid="4" name="PresentationFormat">
    <vt:lpwstr>On-screen Show (4:3)</vt:lpwstr>
  </property>
  <property fmtid="{D5CDD505-2E9C-101B-9397-08002B2CF9AE}" pid="5" name="Slides">
    <vt:i4>70</vt:i4>
  </property>
</Properties>
</file>