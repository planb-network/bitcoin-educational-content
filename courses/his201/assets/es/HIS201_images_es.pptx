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9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notesSlides/notesSlide28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2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1.xml" ContentType="application/vnd.openxmlformats-officedocument.presentationml.slide+xml"/>
  <Override PartName="/ppt/slides/slide38.xml" ContentType="application/vnd.openxmlformats-officedocument.presentationml.slide+xml"/>
  <Override PartName="/ppt/slides/slide28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notesSlides/notesSlide49.xml" ContentType="application/vnd.openxmlformats-officedocument.presentationml.notesSlide+xml"/>
  <Override PartName="/ppt/slides/slide20.xml" ContentType="application/vnd.openxmlformats-officedocument.presentationml.slide+xml"/>
  <Override PartName="/ppt/slides/slide47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32.xml" ContentType="application/vnd.openxmlformats-officedocument.presentationml.slid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58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7.xml" ContentType="application/vnd.openxmlformats-officedocument.presentationml.slide+xml"/>
  <Override PartName="/ppt/slides/slide41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s/slide68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3.xml" ContentType="application/vnd.openxmlformats-officedocument.presentationml.notes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67.xml" ContentType="application/vnd.openxmlformats-officedocument.presentationml.slide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notesSlides/notesSlide27.xml" ContentType="application/vnd.openxmlformats-officedocument.presentationml.notes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slides/slide6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65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26.xml" ContentType="application/vnd.openxmlformats-officedocument.presentationml.slide+xml"/>
  <Override PartName="/ppt/theme/theme2.xml" ContentType="application/vnd.openxmlformats-officedocument.theme+xml"/>
  <Override PartName="/ppt/slides/slide30.xml" ContentType="application/vnd.openxmlformats-officedocument.presentationml.slide+xml"/>
  <Override PartName="/ppt/slides/slide18.xml" ContentType="application/vnd.openxmlformats-officedocument.presentationml.slide+xml"/>
  <Override PartName="/ppt/slides/slide69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40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49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slides/slide33.xml" ContentType="application/vnd.openxmlformats-officedocument.presentationml.slide+xml"/>
  <Override PartName="/ppt/slides/slide63.xml" ContentType="application/vnd.openxmlformats-officedocument.presentationml.slide+xml"/>
  <Override PartName="/ppt/presentation.xml" ContentType="application/vnd.openxmlformats-officedocument.presentationml.presentation.main+xml"/>
  <Override PartName="/ppt/slides/slide42.xml" ContentType="application/vnd.openxmlformats-officedocument.presentationml.slide+xml"/>
  <Override PartName="/ppt/slides/slide44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5.xml" ContentType="application/vnd.openxmlformats-officedocument.presentationml.slide+xml"/>
  <Override PartName="/ppt/slides/slide53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notesSlides/notesSlide6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0.xml" ContentType="application/vnd.openxmlformats-officedocument.presentationml.slide+xml"/>
  <Override PartName="/ppt/slides/slide8.xml" ContentType="application/vnd.openxmlformats-officedocument.presentationml.slide+xml"/>
  <Override PartName="/ppt/slides/slide51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57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52.xml" ContentType="application/vnd.openxmlformats-officedocument.presentationml.slide+xml"/>
  <Override PartName="/ppt/slides/slide55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62.xml" ContentType="application/vnd.openxmlformats-officedocument.presentationml.slide+xml"/>
  <Override PartName="/ppt/slides/slide64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66.xml" ContentType="application/vnd.openxmlformats-officedocument.presentationml.slide+xml"/>
  <Override PartName="/ppt/slides/slide43.xml" ContentType="application/vnd.openxmlformats-officedocument.presentationml.slide+xml"/>
  <Override PartName="/ppt/slides/slide7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 /><Relationship Id="rId76" Type="http://schemas.openxmlformats.org/officeDocument/2006/relationships/tableStyles" Target="tableStyles.xml" /><Relationship Id="rId7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6267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023220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30523876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8491955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0089087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769789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 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 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 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 ?>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 ?>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 ?>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 ?>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 ?>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 ?>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 ?>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 ?>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 ?>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 ?>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 ?>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 ?>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 ?>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 ?>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 ?>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 ?>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 ?>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 ?>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 ?>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 ?>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 ?>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114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77517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89347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7040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9003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3705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55648-ADE2-965E-0F87-0ABB71C754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8095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30674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119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73744-944F-EBDB-D1E6-8F1CC5CEBD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5915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78829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6576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8696C0-5062-29DC-8A0D-0B5FE66196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98573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9556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2913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BD0134-888A-C41F-C6A9-E9CB0DCD8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14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95802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949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27A960-E66B-BEB9-512F-51F73B38A5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029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8201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766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3624B9-90B4-A423-2B5E-5454F908F4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8052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3345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909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5C4064-3EE6-A2BF-51F2-AEF85998A4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55380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0853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2238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C163AE-044F-883A-A57C-12F3E3EFBF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7268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6264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1319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92455D-49EB-FB3F-3A5D-A54B84B95E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1854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3284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545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31968-6248-63BE-F4DC-BD5ECB85DA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896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7366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987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812B2-1B68-B1DC-1870-D4D85F9024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5439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545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2351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745C4F-2678-59E7-2ECA-A500A97CE2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3291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65111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2208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7134FC-422C-A81C-D2A9-89C9D8EAEF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7115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6449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46539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14A156-7A59-A123-F75C-E447D5D478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8036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65827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6309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74181E-3D75-015A-BF9A-A1811885A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175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8666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8826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62975-0B87-124D-F4CF-CC0D059DED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8667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86115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735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10F28-E052-173C-41D9-DD6C9335DF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2493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43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63927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9DB6D7-1DAB-B1E0-82BB-0703661D71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0804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54457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3392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9B5EB9-CEEA-9BBB-ADE0-7D8A93C8FC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43706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8683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27831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258580-6B33-FA3E-7D01-D92051217F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2185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8888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9863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F64CBA-39A3-330E-222D-8DFBAC3EAE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0974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8158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2202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E4D4C-FF23-C312-3909-D43C203448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639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9627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284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9D0093-CEF7-4F7C-3917-F404DA844F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5244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110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833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E2612B-5475-F079-D6D8-D27530AECA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1033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78434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9913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3A8570-D5E3-A3DA-E9BE-4E59B47DCD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6551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49810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522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2157EF-C9F3-24D9-B1A1-FB4AB34082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4591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6002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9384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73EC8-14A0-3A00-0EAE-6D6F91E856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680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06051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1497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797A96-85C7-DC3D-4197-A7799D4D93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4746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1640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878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2A5D2C-5EB6-3EFE-448A-6E5A57BBB5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9703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41637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7578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8107A1-9B68-E9FB-7790-E654E75FDF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4848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81362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2745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FF372D-B465-F965-BBAE-99202805F6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2697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76377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7348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F4C2D-6E5E-C875-C976-C6D55F6BE6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24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9924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3670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6F0F7-F334-E342-5F02-944A3495C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9368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29741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7988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37FDAD-1320-454A-0438-600C450795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5777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52649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118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E0814-FA3A-798F-7BCC-928878DD25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680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64539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00586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47F0D3-1DEA-F745-1E09-B7FA6BF8E5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1242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07497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87502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F4C0AE-E38D-DC6B-C68A-AA49F3CF55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7059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79555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3128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887B64-E028-2AA4-2F68-CBA8265516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420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1140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8819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0CF1FC-3401-5F66-1687-747F5BB6F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7252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1905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9656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20E706-D256-E63B-0C75-706309155F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863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95931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56654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B1688A-4A24-A9DE-E8D5-11EF282097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2866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2025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4332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F96F47-3D75-628A-7225-3D6D257E19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5286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24151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509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5ABE1E-764B-F425-3391-598B8B461F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3101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0294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4975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8DE568-97B0-9929-DEC1-7CBD6BC5D2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53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4721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2335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D6FF70-89BB-82B1-17DA-D1DCA74758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1342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47561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873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D1B874-9CC0-4429-5FF7-FC67A3C3FD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9504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5859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74289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5434F9-E3D3-DB90-E93A-1D223BF901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560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62431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842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6F7208-4509-16B4-8EF9-ADC2C49B49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4966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36807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07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A26031-1666-FFA0-1343-10117A0A8A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0171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6334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09024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F023A4-E3E3-6195-88ED-53EC821D29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532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8804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9072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C3DA3E-F2DA-2C64-8E0F-319E878795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5743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22712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2746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466F95-1D03-2B53-5C37-61A2864787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4882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9225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6450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0A40C7-AB34-D7E9-E511-577CCB0FD3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23737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3131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3238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9237B5-1CB3-7EDD-7250-D1A1602C7E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8678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3633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422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382380-19A7-A1A0-EEAC-E3B9E43D5E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407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6846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251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702FD-7905-BDC6-4203-F59B61CEB9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0514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03902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69817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29BA4D-F7B8-24AB-4D7A-E413A5FFAA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1587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9432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94165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4927C6-D97B-436B-C8A7-AFE8CEC3A6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3302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7224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5741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E0709-468D-4CCD-4EDF-4432F5A849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081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63497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78884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58AC18-380E-66F2-7AE2-BD7F602DEC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4940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6346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093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934705-0AD6-963A-C353-5FAF7821E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3427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2114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415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2C122E-C38D-8339-6097-2ED6C91C05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9185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86698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10275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BB0AA0-5CF8-9B70-D3B9-41D7892350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4807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0929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855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42AC1A-8DA1-B652-2027-74938292C6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2130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0807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652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FD0CD-9953-DAB9-1629-83C76D32C9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5275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5276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4957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3E527E-84B9-F204-CCC6-BF4670AEB2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1381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0792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674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EC451A-0168-5998-FE7E-6B0633410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1120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46862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950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FCCCA1-04DB-E6CE-E5C4-4256E1EC3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83548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51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94719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A229DD-D5FF-254B-DF64-C5EA347728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88372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9488529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390972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21212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43525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8044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1404285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757064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420684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006730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0674317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906271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865345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299032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80019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10316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815954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5783700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368718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856142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18338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80233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70398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2024905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4784964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8486500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5186164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8705496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892687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4955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226274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0778201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009258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56048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9589926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714252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16711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170914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1801035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849804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9905258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930090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7487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605264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94240856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35642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643161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289307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79608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489712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395782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085940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70236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729241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726004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344596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687621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91214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84438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891512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9705618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5507522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80486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jp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jp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jp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jp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jp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jp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jp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jp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jp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jp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jp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jp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jpg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jpg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jp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jp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jpg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jpg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9.jpg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0.jpg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jpg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jpg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jpg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jpg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5.jpg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6.jpg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jpg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jpg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jpg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jpg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1.jpg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2.jpg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3.jpg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4.jpg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5.jpg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6.jpg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7.jpg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8.jpg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9.jpg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0.jpg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34338" name="Rectangle 7"/>
          <p:cNvSpPr/>
          <p:nvPr/>
        </p:nvSpPr>
        <p:spPr bwMode="auto">
          <a:xfrm>
            <a:off x="2595339" y="198443"/>
            <a:ext cx="1396890" cy="381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9609" name="TextBox 5"/>
          <p:cNvSpPr txBox="1"/>
          <p:nvPr/>
        </p:nvSpPr>
        <p:spPr bwMode="auto">
          <a:xfrm>
            <a:off x="2591523" y="188417"/>
            <a:ext cx="2347353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300" b="1">
                <a:latin typeface="Roboto"/>
              </a:rPr>
              <a:t>Texto claro</a:t>
            </a:r>
            <a:endParaRPr lang="en-US" sz="2300"/>
          </a:p>
        </p:txBody>
      </p:sp>
      <p:sp>
        <p:nvSpPr>
          <p:cNvPr id="948745915" name="Rectangle 13"/>
          <p:cNvSpPr/>
          <p:nvPr/>
        </p:nvSpPr>
        <p:spPr bwMode="auto">
          <a:xfrm>
            <a:off x="7747107" y="158272"/>
            <a:ext cx="1739305" cy="461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68436628" name="TextBox 11"/>
          <p:cNvSpPr txBox="1"/>
          <p:nvPr/>
        </p:nvSpPr>
        <p:spPr bwMode="auto">
          <a:xfrm>
            <a:off x="7764696" y="178324"/>
            <a:ext cx="2593914" cy="442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sz="2300" b="1">
                <a:latin typeface="Roboto"/>
              </a:rPr>
              <a:t>Texto cifrado</a:t>
            </a:r>
            <a:endParaRPr/>
          </a:p>
        </p:txBody>
      </p:sp>
      <p:sp>
        <p:nvSpPr>
          <p:cNvPr id="1477458854" name="Rectangle 17"/>
          <p:cNvSpPr/>
          <p:nvPr/>
        </p:nvSpPr>
        <p:spPr bwMode="auto">
          <a:xfrm>
            <a:off x="8766243" y="2968881"/>
            <a:ext cx="1257075" cy="4305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26614405" name="Rectangle 18"/>
          <p:cNvSpPr/>
          <p:nvPr/>
        </p:nvSpPr>
        <p:spPr bwMode="auto">
          <a:xfrm>
            <a:off x="4918718" y="1681878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470304985" name="TextBox 14"/>
          <p:cNvSpPr txBox="1"/>
          <p:nvPr/>
        </p:nvSpPr>
        <p:spPr bwMode="auto">
          <a:xfrm>
            <a:off x="8766243" y="2957805"/>
            <a:ext cx="1954436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300">
                <a:latin typeface="Roboto"/>
              </a:rPr>
              <a:t>Envío de</a:t>
            </a:r>
            <a:endParaRPr/>
          </a:p>
        </p:txBody>
      </p:sp>
      <p:sp>
        <p:nvSpPr>
          <p:cNvPr id="1509988011" name="TextBox 19"/>
          <p:cNvSpPr txBox="1"/>
          <p:nvPr/>
        </p:nvSpPr>
        <p:spPr bwMode="auto">
          <a:xfrm>
            <a:off x="4410180" y="1713858"/>
            <a:ext cx="2628336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2300">
                <a:latin typeface="Roboto"/>
              </a:rPr>
              <a:t>Cifrado</a:t>
            </a:r>
            <a:endParaRPr/>
          </a:p>
          <a:p>
            <a:pPr algn="ctr">
              <a:defRPr/>
            </a:pPr>
            <a:r>
              <a:rPr lang="en-US" sz="2300">
                <a:latin typeface="Roboto"/>
              </a:rPr>
              <a:t>con clave</a:t>
            </a:r>
            <a:endParaRPr/>
          </a:p>
          <a:p>
            <a:pPr algn="ctr">
              <a:defRPr/>
            </a:pPr>
            <a:r>
              <a:rPr lang="en-US" sz="2300">
                <a:latin typeface="Roboto"/>
              </a:rPr>
              <a:t>pública</a:t>
            </a:r>
            <a:endParaRPr/>
          </a:p>
        </p:txBody>
      </p:sp>
      <p:sp>
        <p:nvSpPr>
          <p:cNvPr id="29072894" name="Rectangle 21"/>
          <p:cNvSpPr/>
          <p:nvPr/>
        </p:nvSpPr>
        <p:spPr bwMode="auto">
          <a:xfrm>
            <a:off x="4918718" y="5620284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227624897" name="TextBox 22"/>
          <p:cNvSpPr txBox="1"/>
          <p:nvPr/>
        </p:nvSpPr>
        <p:spPr bwMode="auto">
          <a:xfrm>
            <a:off x="4520468" y="5592105"/>
            <a:ext cx="2407757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2300">
                <a:latin typeface="Roboto"/>
              </a:rPr>
              <a:t>Descifrado</a:t>
            </a:r>
            <a:endParaRPr/>
          </a:p>
          <a:p>
            <a:pPr algn="ctr">
              <a:defRPr/>
            </a:pPr>
            <a:r>
              <a:rPr lang="en-US" sz="2300">
                <a:latin typeface="Roboto"/>
              </a:rPr>
              <a:t>con clave</a:t>
            </a:r>
            <a:endParaRPr/>
          </a:p>
          <a:p>
            <a:pPr algn="ctr">
              <a:defRPr/>
            </a:pPr>
            <a:r>
              <a:rPr lang="en-US" sz="2300">
                <a:latin typeface="Roboto"/>
              </a:rPr>
              <a:t>privada</a:t>
            </a:r>
            <a:endParaRPr/>
          </a:p>
        </p:txBody>
      </p:sp>
      <p:pic>
        <p:nvPicPr>
          <p:cNvPr id="5517112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999" y="21166"/>
            <a:ext cx="8392871" cy="6714297"/>
          </a:xfrm>
          <a:prstGeom prst="rect">
            <a:avLst/>
          </a:prstGeom>
        </p:spPr>
      </p:pic>
      <p:sp>
        <p:nvSpPr>
          <p:cNvPr id="277838482" name=""/>
          <p:cNvSpPr/>
          <p:nvPr/>
        </p:nvSpPr>
        <p:spPr bwMode="auto">
          <a:xfrm flipH="0" flipV="0">
            <a:off x="2722070" y="203655"/>
            <a:ext cx="1398607" cy="44610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12602805" name=""/>
          <p:cNvSpPr txBox="1"/>
          <p:nvPr/>
        </p:nvSpPr>
        <p:spPr bwMode="auto">
          <a:xfrm flipH="0" flipV="0">
            <a:off x="1535541" y="203654"/>
            <a:ext cx="343178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Texto claro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077365937" name=""/>
          <p:cNvSpPr/>
          <p:nvPr/>
        </p:nvSpPr>
        <p:spPr bwMode="auto">
          <a:xfrm flipH="0" flipV="0">
            <a:off x="7827161" y="198442"/>
            <a:ext cx="2037394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571826570" name=""/>
          <p:cNvSpPr/>
          <p:nvPr/>
        </p:nvSpPr>
        <p:spPr bwMode="auto">
          <a:xfrm flipH="0" flipV="0">
            <a:off x="8721165" y="2325560"/>
            <a:ext cx="1999512" cy="136537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35139625" name=""/>
          <p:cNvSpPr/>
          <p:nvPr/>
        </p:nvSpPr>
        <p:spPr bwMode="auto">
          <a:xfrm flipH="0" flipV="0">
            <a:off x="4938876" y="1490804"/>
            <a:ext cx="1645997" cy="16695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868498141" name=""/>
          <p:cNvSpPr/>
          <p:nvPr/>
        </p:nvSpPr>
        <p:spPr bwMode="auto">
          <a:xfrm flipH="0" flipV="0">
            <a:off x="4966245" y="5441911"/>
            <a:ext cx="1645996" cy="129355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76493776" name=""/>
          <p:cNvSpPr/>
          <p:nvPr/>
        </p:nvSpPr>
        <p:spPr bwMode="auto">
          <a:xfrm flipH="0" flipV="0">
            <a:off x="2722070" y="1044697"/>
            <a:ext cx="1688109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445743019" name=""/>
          <p:cNvSpPr txBox="1"/>
          <p:nvPr/>
        </p:nvSpPr>
        <p:spPr bwMode="auto">
          <a:xfrm flipH="0" flipV="0">
            <a:off x="2853086" y="1033244"/>
            <a:ext cx="1139142" cy="4575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25290116" name=""/>
          <p:cNvSpPr txBox="1"/>
          <p:nvPr/>
        </p:nvSpPr>
        <p:spPr bwMode="auto">
          <a:xfrm flipH="0" flipV="0">
            <a:off x="7187931" y="203654"/>
            <a:ext cx="323957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Texto cifrado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739291385" name=""/>
          <p:cNvSpPr txBox="1"/>
          <p:nvPr/>
        </p:nvSpPr>
        <p:spPr bwMode="auto">
          <a:xfrm flipH="0" flipV="0">
            <a:off x="8807720" y="2794709"/>
            <a:ext cx="319356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0">
                <a:latin typeface="IBM Plex Sans"/>
              </a:rPr>
              <a:t>Envío de</a:t>
            </a:r>
            <a:endParaRPr sz="2200" b="0">
              <a:latin typeface="IBM Plex Sans"/>
              <a:cs typeface="IBM Plex Sans"/>
            </a:endParaRPr>
          </a:p>
        </p:txBody>
      </p:sp>
      <p:sp>
        <p:nvSpPr>
          <p:cNvPr id="1081844588" name=""/>
          <p:cNvSpPr txBox="1"/>
          <p:nvPr/>
        </p:nvSpPr>
        <p:spPr bwMode="auto">
          <a:xfrm flipH="0" flipV="0">
            <a:off x="4938875" y="1639891"/>
            <a:ext cx="1592180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latin typeface="IBM Plex Sans"/>
              </a:rPr>
              <a:t>Cifrado </a:t>
            </a:r>
            <a:r>
              <a:rPr lang="fr-FR" sz="1400" b="0">
                <a:latin typeface="IBM Plex Sans"/>
              </a:rPr>
              <a:t>con </a:t>
            </a:r>
            <a:r>
              <a:rPr sz="1400" b="0">
                <a:latin typeface="IBM Plex Sans"/>
              </a:rPr>
              <a:t>clave </a:t>
            </a:r>
            <a:r>
              <a:rPr lang="fr-FR" sz="1400" b="0">
                <a:latin typeface="IBM Plex Sans"/>
              </a:rPr>
              <a:t>pública </a:t>
            </a:r>
            <a:endParaRPr sz="14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41898532" name=""/>
          <p:cNvSpPr txBox="1"/>
          <p:nvPr/>
        </p:nvSpPr>
        <p:spPr bwMode="auto">
          <a:xfrm flipH="0" flipV="0">
            <a:off x="3765199" y="5680215"/>
            <a:ext cx="504324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Descifrado </a:t>
            </a:r>
            <a:r>
              <a:rPr lang="fr-FR" sz="1600" b="0">
                <a:latin typeface="IBM Plex Sans"/>
              </a:rPr>
              <a:t>con </a:t>
            </a:r>
            <a:r>
              <a:rPr sz="1600" b="0">
                <a:latin typeface="IBM Plex Sans"/>
              </a:rPr>
              <a:t>clave </a:t>
            </a:r>
            <a:r>
              <a:rPr lang="fr-FR" sz="1600" b="0">
                <a:latin typeface="IBM Plex Sans"/>
              </a:rPr>
              <a:t>privada </a:t>
            </a:r>
            <a:endParaRPr sz="16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700605" name=""/>
          <p:cNvSpPr/>
          <p:nvPr/>
        </p:nvSpPr>
        <p:spPr bwMode="auto">
          <a:xfrm flipH="0" flipV="0">
            <a:off x="2720786" y="1056150"/>
            <a:ext cx="1688108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394855709" name=""/>
          <p:cNvSpPr txBox="1"/>
          <p:nvPr/>
        </p:nvSpPr>
        <p:spPr bwMode="auto">
          <a:xfrm flipH="0" flipV="0">
            <a:off x="1853931" y="1044696"/>
            <a:ext cx="2138452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86072551" name=""/>
          <p:cNvSpPr txBox="1"/>
          <p:nvPr/>
        </p:nvSpPr>
        <p:spPr bwMode="auto">
          <a:xfrm flipH="0" flipV="0">
            <a:off x="2006330" y="4863123"/>
            <a:ext cx="2138812" cy="457560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091968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64651" y="15362"/>
            <a:ext cx="7062695" cy="6827270"/>
          </a:xfrm>
          <a:prstGeom prst="rect">
            <a:avLst/>
          </a:prstGeom>
        </p:spPr>
      </p:pic>
      <p:sp>
        <p:nvSpPr>
          <p:cNvPr id="2045342302" name=""/>
          <p:cNvSpPr/>
          <p:nvPr/>
        </p:nvSpPr>
        <p:spPr bwMode="auto">
          <a:xfrm flipH="0" flipV="0">
            <a:off x="6940687" y="215079"/>
            <a:ext cx="2186448" cy="43015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22107360" name=""/>
          <p:cNvSpPr/>
          <p:nvPr/>
        </p:nvSpPr>
        <p:spPr bwMode="auto">
          <a:xfrm flipH="0" flipV="0">
            <a:off x="8154516" y="2881839"/>
            <a:ext cx="2444482" cy="5010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79789777" name=""/>
          <p:cNvSpPr/>
          <p:nvPr/>
        </p:nvSpPr>
        <p:spPr bwMode="auto">
          <a:xfrm flipH="0" flipV="0">
            <a:off x="4486317" y="5688146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617006794" name=""/>
          <p:cNvSpPr/>
          <p:nvPr/>
        </p:nvSpPr>
        <p:spPr bwMode="auto">
          <a:xfrm flipH="0" flipV="0">
            <a:off x="4533302" y="1541392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872901329" name=""/>
          <p:cNvSpPr/>
          <p:nvPr/>
        </p:nvSpPr>
        <p:spPr bwMode="auto">
          <a:xfrm flipH="0" flipV="0">
            <a:off x="2751531" y="5082559"/>
            <a:ext cx="1614461" cy="40279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98807994" name=""/>
          <p:cNvSpPr/>
          <p:nvPr/>
        </p:nvSpPr>
        <p:spPr bwMode="auto">
          <a:xfrm flipH="0" flipV="0">
            <a:off x="2736169" y="215079"/>
            <a:ext cx="1321209" cy="430161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3061503" name=""/>
          <p:cNvSpPr txBox="1"/>
          <p:nvPr/>
        </p:nvSpPr>
        <p:spPr bwMode="auto">
          <a:xfrm flipH="0" flipV="0">
            <a:off x="1784658" y="215078"/>
            <a:ext cx="310969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Mensaje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32202579" name=""/>
          <p:cNvSpPr txBox="1"/>
          <p:nvPr/>
        </p:nvSpPr>
        <p:spPr bwMode="auto">
          <a:xfrm flipH="0" flipV="0">
            <a:off x="6893522" y="215078"/>
            <a:ext cx="273490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Firma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1411751085" name=""/>
          <p:cNvSpPr txBox="1"/>
          <p:nvPr/>
        </p:nvSpPr>
        <p:spPr bwMode="auto">
          <a:xfrm flipH="0" flipV="0">
            <a:off x="8202902" y="2986308"/>
            <a:ext cx="3195144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>
                <a:latin typeface="IBM Plex Sans"/>
              </a:rPr>
              <a:t>Envío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834456899" name=""/>
          <p:cNvSpPr txBox="1"/>
          <p:nvPr/>
        </p:nvSpPr>
        <p:spPr bwMode="auto">
          <a:xfrm flipH="0" flipV="0">
            <a:off x="2113704" y="5088755"/>
            <a:ext cx="195609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000" b="0">
                <a:latin typeface="IBM Plex Sans"/>
              </a:rPr>
              <a:t>OK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245276002" name=""/>
          <p:cNvSpPr txBox="1"/>
          <p:nvPr/>
        </p:nvSpPr>
        <p:spPr bwMode="auto">
          <a:xfrm flipH="0" flipV="0">
            <a:off x="3896720" y="1539360"/>
            <a:ext cx="266233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Firma </a:t>
            </a:r>
            <a:r>
              <a:rPr lang="fr-FR" sz="1600" b="0">
                <a:latin typeface="IBM Plex Sans"/>
              </a:rPr>
              <a:t>con </a:t>
            </a:r>
            <a:r>
              <a:rPr sz="1600" b="0">
                <a:latin typeface="IBM Plex Sans"/>
              </a:rPr>
              <a:t>clave </a:t>
            </a:r>
            <a:r>
              <a:rPr lang="fr-FR" sz="1600" b="0">
                <a:latin typeface="IBM Plex Sans"/>
              </a:rPr>
              <a:t>privada </a:t>
            </a:r>
            <a:endParaRPr sz="1600" b="0">
              <a:latin typeface="IBM Plex Sans"/>
              <a:cs typeface="IBM Plex Sans"/>
            </a:endParaRPr>
          </a:p>
          <a:p>
            <a:pPr algn="ctr">
              <a:defRPr/>
            </a:pPr>
            <a:endParaRPr/>
          </a:p>
        </p:txBody>
      </p:sp>
      <p:sp>
        <p:nvSpPr>
          <p:cNvPr id="433996740" name=""/>
          <p:cNvSpPr txBox="1"/>
          <p:nvPr/>
        </p:nvSpPr>
        <p:spPr bwMode="auto">
          <a:xfrm flipH="0" flipV="0">
            <a:off x="3621937" y="5686113"/>
            <a:ext cx="3015771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Verificación </a:t>
            </a:r>
            <a:r>
              <a:rPr lang="fr-FR" sz="1600" b="0">
                <a:latin typeface="IBM Plex Sans"/>
              </a:rPr>
              <a:t>con </a:t>
            </a:r>
            <a:r>
              <a:rPr sz="1600" b="0">
                <a:latin typeface="IBM Plex Sans"/>
              </a:rPr>
              <a:t>clave </a:t>
            </a:r>
            <a:r>
              <a:rPr lang="fr-FR" sz="1600" b="0">
                <a:latin typeface="IBM Plex Sans"/>
              </a:rPr>
              <a:t>pública </a:t>
            </a:r>
            <a:endParaRPr sz="1600" b="0">
              <a:latin typeface="IBM Plex Sans"/>
              <a:cs typeface="IBM Plex Sans"/>
            </a:endParaRPr>
          </a:p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65687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8499" y="666749"/>
            <a:ext cx="5715000" cy="5524499"/>
          </a:xfrm>
          <a:prstGeom prst="rect">
            <a:avLst/>
          </a:prstGeom>
        </p:spPr>
      </p:pic>
      <p:pic>
        <p:nvPicPr>
          <p:cNvPr id="146662343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52799" y="0"/>
            <a:ext cx="5486399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2405041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757237"/>
            <a:ext cx="7619999" cy="534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40781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2283" y="280392"/>
            <a:ext cx="6047431" cy="5745059"/>
          </a:xfrm>
          <a:prstGeom prst="rect">
            <a:avLst/>
          </a:prstGeom>
        </p:spPr>
      </p:pic>
      <p:sp>
        <p:nvSpPr>
          <p:cNvPr id="1006603316" name=""/>
          <p:cNvSpPr/>
          <p:nvPr/>
        </p:nvSpPr>
        <p:spPr bwMode="auto">
          <a:xfrm flipH="0" flipV="0">
            <a:off x="5929808" y="864541"/>
            <a:ext cx="1149753" cy="3009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39766880" name=""/>
          <p:cNvSpPr txBox="1"/>
          <p:nvPr/>
        </p:nvSpPr>
        <p:spPr bwMode="auto">
          <a:xfrm flipH="0" flipV="0">
            <a:off x="6796666" y="2878666"/>
            <a:ext cx="682858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20673664" name=""/>
          <p:cNvSpPr txBox="1"/>
          <p:nvPr/>
        </p:nvSpPr>
        <p:spPr bwMode="auto">
          <a:xfrm flipH="0" flipV="0">
            <a:off x="6183477" y="2710450"/>
            <a:ext cx="1257937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latin typeface="IBM Plex Sans"/>
              </a:rPr>
              <a:t>enviar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96797562" name=""/>
          <p:cNvSpPr txBox="1"/>
          <p:nvPr/>
        </p:nvSpPr>
        <p:spPr bwMode="auto">
          <a:xfrm flipH="0" flipV="0">
            <a:off x="5812687" y="877671"/>
            <a:ext cx="1035944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enviar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66080544" name=""/>
          <p:cNvSpPr txBox="1"/>
          <p:nvPr/>
        </p:nvSpPr>
        <p:spPr bwMode="auto">
          <a:xfrm flipH="0" flipV="0">
            <a:off x="8510588" y="2710090"/>
            <a:ext cx="2124381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>
                <a:latin typeface="IBM Plex Sans"/>
              </a:rPr>
              <a:t>créditos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63175420" name=""/>
          <p:cNvSpPr txBox="1"/>
          <p:nvPr/>
        </p:nvSpPr>
        <p:spPr bwMode="auto">
          <a:xfrm flipH="0" flipV="0">
            <a:off x="2629117" y="5192732"/>
            <a:ext cx="2642102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Banco 1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2109537522" name=""/>
          <p:cNvSpPr txBox="1"/>
          <p:nvPr/>
        </p:nvSpPr>
        <p:spPr bwMode="auto">
          <a:xfrm flipH="0" flipV="0">
            <a:off x="7185916" y="5192732"/>
            <a:ext cx="2326650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Banco 2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2092798235" name=""/>
          <p:cNvSpPr/>
          <p:nvPr/>
        </p:nvSpPr>
        <p:spPr bwMode="auto">
          <a:xfrm rot="0" flipH="0" flipV="0">
            <a:off x="5097499" y="5572125"/>
            <a:ext cx="2524124" cy="746124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685742811" name=""/>
          <p:cNvSpPr txBox="1"/>
          <p:nvPr/>
        </p:nvSpPr>
        <p:spPr bwMode="auto">
          <a:xfrm flipH="0" flipV="0">
            <a:off x="4651612" y="5680770"/>
            <a:ext cx="3216127" cy="9452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registro de </a:t>
            </a:r>
            <a:r>
              <a:rPr sz="1400">
                <a:latin typeface="IBM Plex Sans"/>
              </a:rPr>
              <a:t>billetes gastados</a:t>
            </a:r>
            <a:endParaRPr sz="1400">
              <a:latin typeface="IBM Plex Sans"/>
              <a:ea typeface="IBM Plex Sans"/>
              <a:cs typeface="IBM Plex Sans"/>
            </a:endParaRPr>
          </a:p>
          <a:p>
            <a:pPr algn="ctr">
              <a:defRPr/>
            </a:pPr>
            <a:endParaRPr/>
          </a:p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5231160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4739" y="970372"/>
            <a:ext cx="4802518" cy="4917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4556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71625" y="581024"/>
            <a:ext cx="9048749" cy="569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0682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4845" y="733421"/>
            <a:ext cx="10782307" cy="539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318771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4474" y="33756"/>
            <a:ext cx="9523045" cy="6790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556791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0246" y="2390769"/>
            <a:ext cx="6431504" cy="2076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11159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41416" y="620661"/>
            <a:ext cx="7709163" cy="5616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299736" name=""/>
          <p:cNvPicPr>
            <a:picLocks noChangeAspect="1"/>
          </p:cNvPicPr>
          <p:nvPr/>
        </p:nvPicPr>
        <p:blipFill>
          <a:blip r:embed="rId3"/>
          <a:srcRect l="0" t="0" r="0" b="16973"/>
          <a:stretch/>
        </p:blipFill>
        <p:spPr bwMode="auto">
          <a:xfrm flipH="0" flipV="0">
            <a:off x="1563274" y="159770"/>
            <a:ext cx="9065446" cy="5428633"/>
          </a:xfrm>
          <a:prstGeom prst="rect">
            <a:avLst/>
          </a:prstGeom>
        </p:spPr>
      </p:pic>
      <p:sp>
        <p:nvSpPr>
          <p:cNvPr id="313418953" name=""/>
          <p:cNvSpPr/>
          <p:nvPr/>
        </p:nvSpPr>
        <p:spPr bwMode="auto">
          <a:xfrm flipH="0" flipV="0">
            <a:off x="2991824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104547693" name=""/>
          <p:cNvSpPr/>
          <p:nvPr/>
        </p:nvSpPr>
        <p:spPr bwMode="auto">
          <a:xfrm flipH="0" flipV="0">
            <a:off x="5698727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80921369" name=""/>
          <p:cNvSpPr/>
          <p:nvPr/>
        </p:nvSpPr>
        <p:spPr bwMode="auto">
          <a:xfrm flipH="0" flipV="0">
            <a:off x="8424329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61131292" name=""/>
          <p:cNvSpPr/>
          <p:nvPr/>
        </p:nvSpPr>
        <p:spPr bwMode="auto">
          <a:xfrm flipH="0" flipV="0">
            <a:off x="2962949" y="5357154"/>
            <a:ext cx="762300" cy="28539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08114695" name=""/>
          <p:cNvSpPr/>
          <p:nvPr/>
        </p:nvSpPr>
        <p:spPr bwMode="auto">
          <a:xfrm flipH="0" flipV="0">
            <a:off x="3677625" y="4867453"/>
            <a:ext cx="647698" cy="22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62858906" name=""/>
          <p:cNvSpPr txBox="1"/>
          <p:nvPr/>
        </p:nvSpPr>
        <p:spPr bwMode="auto">
          <a:xfrm flipH="0" flipV="0">
            <a:off x="7346907" y="5801943"/>
            <a:ext cx="408383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>
                <a:latin typeface="IBM Plex Sans"/>
              </a:rPr>
              <a:t>Redes distribuidas.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78831275" name=""/>
          <p:cNvSpPr txBox="1"/>
          <p:nvPr/>
        </p:nvSpPr>
        <p:spPr bwMode="auto">
          <a:xfrm flipH="0" flipV="0">
            <a:off x="2925666" y="5337383"/>
            <a:ext cx="144844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Estación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41645707" name=""/>
          <p:cNvSpPr txBox="1"/>
          <p:nvPr/>
        </p:nvSpPr>
        <p:spPr bwMode="auto">
          <a:xfrm flipH="0" flipV="0">
            <a:off x="3677625" y="4829175"/>
            <a:ext cx="118328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Enlace</a:t>
            </a:r>
            <a:endParaRPr sz="14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805351383" name=""/>
          <p:cNvSpPr/>
          <p:nvPr/>
        </p:nvSpPr>
        <p:spPr bwMode="auto">
          <a:xfrm flipH="0" flipV="0">
            <a:off x="3458550" y="4867453"/>
            <a:ext cx="266699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34445476" name=""/>
          <p:cNvSpPr/>
          <p:nvPr/>
        </p:nvSpPr>
        <p:spPr bwMode="auto">
          <a:xfrm rot="2286170" flipH="0" flipV="0">
            <a:off x="2724120" y="5303120"/>
            <a:ext cx="266698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75408672" name=""/>
          <p:cNvSpPr txBox="1"/>
          <p:nvPr/>
        </p:nvSpPr>
        <p:spPr bwMode="auto">
          <a:xfrm rot="0" flipH="0" flipV="0">
            <a:off x="1533582" y="5801943"/>
            <a:ext cx="276348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 sz="2200">
                <a:latin typeface="IBM Plex Sans"/>
              </a:rPr>
              <a:t>Centralización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71228161" name=""/>
          <p:cNvSpPr txBox="1"/>
          <p:nvPr/>
        </p:nvSpPr>
        <p:spPr bwMode="auto">
          <a:xfrm rot="0" flipH="0" flipV="0">
            <a:off x="4494953" y="5801943"/>
            <a:ext cx="285195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 sz="2200">
                <a:latin typeface="IBM Plex Sans"/>
              </a:rPr>
              <a:t>Descentralizado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57204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72880" y="323847"/>
            <a:ext cx="10646236" cy="6210302"/>
          </a:xfrm>
          <a:prstGeom prst="rect">
            <a:avLst/>
          </a:prstGeom>
        </p:spPr>
      </p:pic>
      <p:sp>
        <p:nvSpPr>
          <p:cNvPr id="667931855" name=""/>
          <p:cNvSpPr/>
          <p:nvPr/>
        </p:nvSpPr>
        <p:spPr bwMode="auto">
          <a:xfrm flipH="0" flipV="0">
            <a:off x="1651400" y="495479"/>
            <a:ext cx="2266949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49395136" name=""/>
          <p:cNvSpPr/>
          <p:nvPr/>
        </p:nvSpPr>
        <p:spPr bwMode="auto">
          <a:xfrm flipH="0" flipV="0">
            <a:off x="4562474" y="495479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605609943" name=""/>
          <p:cNvSpPr/>
          <p:nvPr/>
        </p:nvSpPr>
        <p:spPr bwMode="auto">
          <a:xfrm flipH="0" flipV="0">
            <a:off x="2784875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824726389" name=""/>
          <p:cNvSpPr/>
          <p:nvPr/>
        </p:nvSpPr>
        <p:spPr bwMode="auto">
          <a:xfrm flipH="0" flipV="0">
            <a:off x="7886698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623489620" name=""/>
          <p:cNvSpPr txBox="1"/>
          <p:nvPr/>
        </p:nvSpPr>
        <p:spPr bwMode="auto">
          <a:xfrm flipH="0" flipV="0">
            <a:off x="1651399" y="571500"/>
            <a:ext cx="158626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latin typeface="IBM Plex Sans"/>
              </a:rPr>
              <a:t>General Leal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27823425" name=""/>
          <p:cNvSpPr txBox="1"/>
          <p:nvPr/>
        </p:nvSpPr>
        <p:spPr bwMode="auto">
          <a:xfrm flipH="0" flipV="0">
            <a:off x="4562473" y="571500"/>
            <a:ext cx="2021121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8A8A8A"/>
                </a:solidFill>
                <a:latin typeface="IBM Plex Sans"/>
              </a:rPr>
              <a:t>Traidor</a:t>
            </a:r>
            <a:endParaRPr sz="1800">
              <a:solidFill>
                <a:srgbClr val="8A8A8A"/>
              </a:solidFill>
              <a:latin typeface="IBM Plex Sans"/>
              <a:cs typeface="IBM Plex Sans"/>
            </a:endParaRPr>
          </a:p>
        </p:txBody>
      </p:sp>
      <p:sp>
        <p:nvSpPr>
          <p:cNvPr id="761859434" name=""/>
          <p:cNvSpPr txBox="1"/>
          <p:nvPr/>
        </p:nvSpPr>
        <p:spPr bwMode="auto">
          <a:xfrm flipH="0" flipV="0">
            <a:off x="2131022" y="5857513"/>
            <a:ext cx="3378125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Derrota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2028851820" name=""/>
          <p:cNvSpPr txBox="1"/>
          <p:nvPr/>
        </p:nvSpPr>
        <p:spPr bwMode="auto">
          <a:xfrm flipH="0" flipV="0">
            <a:off x="6780954" y="5857513"/>
            <a:ext cx="3785102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Victoria</a:t>
            </a:r>
            <a:endParaRPr sz="26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87452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38262" y="538162"/>
            <a:ext cx="9515475" cy="5781674"/>
          </a:xfrm>
          <a:prstGeom prst="rect">
            <a:avLst/>
          </a:prstGeom>
        </p:spPr>
      </p:pic>
      <p:sp>
        <p:nvSpPr>
          <p:cNvPr id="1242398608" name=""/>
          <p:cNvSpPr/>
          <p:nvPr/>
        </p:nvSpPr>
        <p:spPr bwMode="auto">
          <a:xfrm flipH="0" flipV="0">
            <a:off x="7200124" y="1254124"/>
            <a:ext cx="3017836" cy="317498"/>
          </a:xfrm>
          <a:prstGeom prst="rect">
            <a:avLst/>
          </a:prstGeom>
          <a:solidFill>
            <a:srgbClr val="FDE9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43063291" name=""/>
          <p:cNvSpPr/>
          <p:nvPr/>
        </p:nvSpPr>
        <p:spPr bwMode="auto">
          <a:xfrm flipH="0" flipV="0">
            <a:off x="4048937" y="436562"/>
            <a:ext cx="4476749" cy="571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57998029" name=""/>
          <p:cNvSpPr/>
          <p:nvPr/>
        </p:nvSpPr>
        <p:spPr bwMode="auto">
          <a:xfrm flipH="0" flipV="0">
            <a:off x="1620062" y="2016124"/>
            <a:ext cx="571500" cy="515937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23589823" name=""/>
          <p:cNvSpPr/>
          <p:nvPr/>
        </p:nvSpPr>
        <p:spPr bwMode="auto">
          <a:xfrm flipH="0" flipV="0">
            <a:off x="1486711" y="5200650"/>
            <a:ext cx="571500" cy="515936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22527775" name=""/>
          <p:cNvSpPr/>
          <p:nvPr/>
        </p:nvSpPr>
        <p:spPr bwMode="auto">
          <a:xfrm flipH="0" flipV="0">
            <a:off x="2366187" y="1738312"/>
            <a:ext cx="1627187" cy="2222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57228093" name=""/>
          <p:cNvSpPr/>
          <p:nvPr/>
        </p:nvSpPr>
        <p:spPr bwMode="auto">
          <a:xfrm flipH="0" flipV="0">
            <a:off x="4255312" y="3833812"/>
            <a:ext cx="1817687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98402483" name=""/>
          <p:cNvSpPr/>
          <p:nvPr/>
        </p:nvSpPr>
        <p:spPr bwMode="auto">
          <a:xfrm flipH="0" flipV="0">
            <a:off x="9406749" y="3040062"/>
            <a:ext cx="1904999" cy="89693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99901917" name=""/>
          <p:cNvSpPr/>
          <p:nvPr/>
        </p:nvSpPr>
        <p:spPr bwMode="auto">
          <a:xfrm flipH="0" flipV="0">
            <a:off x="6446062" y="3603624"/>
            <a:ext cx="1690687" cy="4921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664383203" name=""/>
          <p:cNvSpPr/>
          <p:nvPr/>
        </p:nvSpPr>
        <p:spPr bwMode="auto">
          <a:xfrm flipH="0" flipV="0">
            <a:off x="2866249" y="6095999"/>
            <a:ext cx="1674812" cy="37306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587671564" name=""/>
          <p:cNvSpPr txBox="1"/>
          <p:nvPr/>
        </p:nvSpPr>
        <p:spPr bwMode="auto">
          <a:xfrm flipH="0" flipV="0">
            <a:off x="2366185" y="436560"/>
            <a:ext cx="74272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rgbClr val="850009"/>
                </a:solidFill>
                <a:latin typeface="IBM Plex Sans"/>
              </a:rPr>
              <a:t>Sellado de tiempo de confianza</a:t>
            </a:r>
            <a:endParaRPr sz="2800" b="1">
              <a:solidFill>
                <a:srgbClr val="850009"/>
              </a:solidFill>
              <a:latin typeface="IBM Plex Sans"/>
              <a:cs typeface="IBM Plex Sans"/>
            </a:endParaRPr>
          </a:p>
        </p:txBody>
      </p:sp>
      <p:sp>
        <p:nvSpPr>
          <p:cNvPr id="1190894884" name=""/>
          <p:cNvSpPr txBox="1"/>
          <p:nvPr/>
        </p:nvSpPr>
        <p:spPr bwMode="auto">
          <a:xfrm flipH="0" flipV="0">
            <a:off x="2267924" y="1640939"/>
            <a:ext cx="1726168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Calcular hash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5928361" name=""/>
          <p:cNvSpPr txBox="1"/>
          <p:nvPr/>
        </p:nvSpPr>
        <p:spPr bwMode="auto">
          <a:xfrm flipH="0" flipV="0">
            <a:off x="4998760" y="1701120"/>
            <a:ext cx="2052513" cy="2594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Enviar hash a la TSA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428560418" name=""/>
          <p:cNvSpPr txBox="1"/>
          <p:nvPr/>
        </p:nvSpPr>
        <p:spPr bwMode="auto">
          <a:xfrm flipH="0" flipV="0">
            <a:off x="1486710" y="1254123"/>
            <a:ext cx="2973763" cy="30515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Dentro de una empresa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37641733" name=""/>
          <p:cNvSpPr txBox="1"/>
          <p:nvPr/>
        </p:nvSpPr>
        <p:spPr bwMode="auto">
          <a:xfrm flipH="0" flipV="0">
            <a:off x="1486710" y="2179838"/>
            <a:ext cx="706650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Datos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>
              <a:defRPr/>
            </a:pPr>
            <a:endParaRPr/>
          </a:p>
        </p:txBody>
      </p:sp>
      <p:sp>
        <p:nvSpPr>
          <p:cNvPr id="780687661" name=""/>
          <p:cNvSpPr txBox="1"/>
          <p:nvPr/>
        </p:nvSpPr>
        <p:spPr bwMode="auto">
          <a:xfrm flipH="0" flipV="0">
            <a:off x="1411649" y="5311773"/>
            <a:ext cx="644081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Datos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 algn="ctr">
              <a:defRPr/>
            </a:pPr>
            <a:endParaRPr/>
          </a:p>
        </p:txBody>
      </p:sp>
      <p:sp>
        <p:nvSpPr>
          <p:cNvPr id="1792050863" name=""/>
          <p:cNvSpPr txBox="1"/>
          <p:nvPr/>
        </p:nvSpPr>
        <p:spPr bwMode="auto">
          <a:xfrm flipH="0" flipV="0">
            <a:off x="1486710" y="6129950"/>
            <a:ext cx="421129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Almacenar juntos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85568954" name=""/>
          <p:cNvSpPr txBox="1"/>
          <p:nvPr/>
        </p:nvSpPr>
        <p:spPr bwMode="auto">
          <a:xfrm flipH="0" flipV="0">
            <a:off x="3756939" y="4095747"/>
            <a:ext cx="2268077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Se devuelven al solicitante </a:t>
            </a:r>
            <a:r>
              <a:rPr sz="1100">
                <a:latin typeface="IBM Plex Sans"/>
              </a:rPr>
              <a:t>el sello de tiempo </a:t>
            </a:r>
            <a:r>
              <a:rPr sz="1100">
                <a:latin typeface="IBM Plex Sans"/>
              </a:rPr>
              <a:t>y el hash firmados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547135384" name=""/>
          <p:cNvSpPr txBox="1"/>
          <p:nvPr/>
        </p:nvSpPr>
        <p:spPr bwMode="auto">
          <a:xfrm flipH="0" flipV="0">
            <a:off x="8468534" y="2027259"/>
            <a:ext cx="1968051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Marca de tiempo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96965935" name=""/>
          <p:cNvSpPr txBox="1"/>
          <p:nvPr/>
        </p:nvSpPr>
        <p:spPr bwMode="auto">
          <a:xfrm flipH="0" flipV="0">
            <a:off x="7051275" y="1254123"/>
            <a:ext cx="3384592" cy="27467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Autoridad de Sellado de Tiempo (TSA)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95840156" name=""/>
          <p:cNvSpPr txBox="1"/>
          <p:nvPr/>
        </p:nvSpPr>
        <p:spPr bwMode="auto">
          <a:xfrm flipH="0" flipV="0">
            <a:off x="7051272" y="2568211"/>
            <a:ext cx="2171596" cy="2594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Calcular hash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372025950" name=""/>
          <p:cNvSpPr txBox="1"/>
          <p:nvPr/>
        </p:nvSpPr>
        <p:spPr bwMode="auto">
          <a:xfrm flipH="0" flipV="0">
            <a:off x="9406748" y="3131637"/>
            <a:ext cx="2334618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Se trata </a:t>
            </a:r>
            <a:r>
              <a:rPr lang="fr-FR" sz="1100">
                <a:latin typeface="IBM Plex Sans"/>
              </a:rPr>
              <a:t>de una </a:t>
            </a:r>
            <a:r>
              <a:rPr sz="1100">
                <a:latin typeface="IBM Plex Sans"/>
              </a:rPr>
              <a:t>firma digital </a:t>
            </a:r>
            <a:r>
              <a:rPr lang="fr-FR" sz="1100">
                <a:latin typeface="IBM Plex Sans"/>
              </a:rPr>
              <a:t>del hash </a:t>
            </a:r>
            <a:r>
              <a:rPr sz="1100">
                <a:latin typeface="IBM Plex Sans"/>
              </a:rPr>
              <a:t>concatenado a </a:t>
            </a:r>
            <a:r>
              <a:rPr lang="fr-FR" sz="1100">
                <a:latin typeface="IBM Plex Sans"/>
              </a:rPr>
              <a:t>la marca </a:t>
            </a:r>
            <a:r>
              <a:rPr sz="1100">
                <a:latin typeface="IBM Plex Sans"/>
              </a:rPr>
              <a:t>de tiempo</a:t>
            </a:r>
            <a:endParaRPr sz="1100">
              <a:latin typeface="IBM Plex Sans"/>
              <a:cs typeface="IBM Plex Sans"/>
            </a:endParaRPr>
          </a:p>
          <a:p>
            <a:pPr algn="ctr">
              <a:defRPr/>
            </a:pPr>
            <a:endParaRPr/>
          </a:p>
        </p:txBody>
      </p:sp>
      <p:sp>
        <p:nvSpPr>
          <p:cNvPr id="586089029" name=""/>
          <p:cNvSpPr txBox="1"/>
          <p:nvPr/>
        </p:nvSpPr>
        <p:spPr bwMode="auto">
          <a:xfrm flipH="0" flipV="0">
            <a:off x="6446061" y="3699144"/>
            <a:ext cx="1616558" cy="39659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000">
                <a:latin typeface="IBM Plex Sans"/>
              </a:rPr>
              <a:t>Aplicar la clave privada </a:t>
            </a:r>
            <a:r>
              <a:rPr sz="1000">
                <a:latin typeface="IBM Plex Sans"/>
              </a:rPr>
              <a:t>de la TSA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63753036" name=""/>
          <p:cNvSpPr txBox="1"/>
          <p:nvPr/>
        </p:nvSpPr>
        <p:spPr bwMode="auto">
          <a:xfrm flipH="0" flipV="0">
            <a:off x="9743962" y="4516295"/>
            <a:ext cx="1996686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Marca de tiempo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42505715" name=""/>
          <p:cNvSpPr txBox="1"/>
          <p:nvPr/>
        </p:nvSpPr>
        <p:spPr bwMode="auto">
          <a:xfrm flipH="0" flipV="0">
            <a:off x="4814896" y="5306036"/>
            <a:ext cx="2069344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Marca de tiempo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286015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61473" y="1099778"/>
            <a:ext cx="3469050" cy="4658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79460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42998" y="2438399"/>
            <a:ext cx="9905999" cy="1981199"/>
          </a:xfrm>
          <a:prstGeom prst="rect">
            <a:avLst/>
          </a:prstGeom>
        </p:spPr>
      </p:pic>
      <p:sp>
        <p:nvSpPr>
          <p:cNvPr id="2069940937" name=""/>
          <p:cNvSpPr/>
          <p:nvPr/>
        </p:nvSpPr>
        <p:spPr bwMode="auto">
          <a:xfrm flipH="0" flipV="0">
            <a:off x="1437994" y="2703967"/>
            <a:ext cx="2628900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15519437" name=""/>
          <p:cNvSpPr txBox="1"/>
          <p:nvPr/>
        </p:nvSpPr>
        <p:spPr bwMode="auto">
          <a:xfrm flipH="0" flipV="0">
            <a:off x="1458298" y="2788560"/>
            <a:ext cx="540139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>
                <a:latin typeface="IBM Plex Sans"/>
              </a:rPr>
              <a:t>Referencias</a:t>
            </a:r>
            <a:endParaRPr sz="100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32292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6823" y="1009648"/>
            <a:ext cx="8878350" cy="483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44992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96474" y="282956"/>
            <a:ext cx="7999047" cy="6292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5736589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8497" y="751498"/>
            <a:ext cx="5355001" cy="5355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63469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7647" y="956958"/>
            <a:ext cx="3716701" cy="4944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7190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96424" y="90192"/>
            <a:ext cx="8782049" cy="6664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2376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56621" y="989621"/>
            <a:ext cx="4878752" cy="4878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193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1399" y="914399"/>
            <a:ext cx="5029196" cy="5029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46121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3906" y="0"/>
            <a:ext cx="5304184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07221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1049" y="619124"/>
            <a:ext cx="7369898" cy="5619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279306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69060" y="609600"/>
            <a:ext cx="9925305" cy="52006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18598659" name=""/>
          <p:cNvSpPr txBox="1"/>
          <p:nvPr/>
        </p:nvSpPr>
        <p:spPr bwMode="auto">
          <a:xfrm rot="0" flipH="0" flipV="0">
            <a:off x="2755485" y="5941694"/>
            <a:ext cx="726830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>
                <a:latin typeface="IBM Plex Sans"/>
              </a:rPr>
              <a:t>Página de Satoshi Nakamoto - </a:t>
            </a:r>
            <a:r>
              <a:rPr lang="fr-FR" sz="1400" b="0" i="1">
                <a:latin typeface="IBM Plex Sans"/>
              </a:rPr>
              <a:t>Nunca ha recibido ningún regalo</a:t>
            </a:r>
            <a:endParaRPr sz="28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48520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3" y="1313473"/>
            <a:ext cx="4231050" cy="423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70166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70771" y="786831"/>
            <a:ext cx="7050451" cy="5284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21336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41575" y="1009649"/>
            <a:ext cx="9308848" cy="4838697"/>
          </a:xfrm>
          <a:prstGeom prst="rect">
            <a:avLst/>
          </a:prstGeom>
        </p:spPr>
      </p:pic>
      <p:sp>
        <p:nvSpPr>
          <p:cNvPr id="78689600" name=""/>
          <p:cNvSpPr txBox="1"/>
          <p:nvPr/>
        </p:nvSpPr>
        <p:spPr bwMode="auto">
          <a:xfrm flipH="0" flipV="0">
            <a:off x="1933203" y="5985901"/>
            <a:ext cx="786399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latin typeface="IBM Plex Sans"/>
              </a:rPr>
              <a:t>Foro Bitcoin</a:t>
            </a:r>
            <a:endParaRPr sz="14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98299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1" y="399071"/>
            <a:ext cx="6059853" cy="605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47148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47172" y="302892"/>
            <a:ext cx="3697651" cy="6252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30110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28577" y="1277935"/>
            <a:ext cx="4334842" cy="43021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169447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088" y="457199"/>
            <a:ext cx="11701821" cy="59435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168140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4301" y="2631219"/>
            <a:ext cx="4483395" cy="1595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67767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0521" y="445294"/>
            <a:ext cx="3430952" cy="5967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86685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598" y="471305"/>
            <a:ext cx="6040800" cy="5915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96968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797" y="1431598"/>
            <a:ext cx="11984401" cy="3994799"/>
          </a:xfrm>
          <a:prstGeom prst="rect">
            <a:avLst/>
          </a:prstGeom>
        </p:spPr>
      </p:pic>
      <p:sp>
        <p:nvSpPr>
          <p:cNvPr id="1594530608" name=""/>
          <p:cNvSpPr/>
          <p:nvPr/>
        </p:nvSpPr>
        <p:spPr bwMode="auto">
          <a:xfrm flipH="0" flipV="0">
            <a:off x="3420449" y="1381124"/>
            <a:ext cx="6781799" cy="40957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72743790" name=""/>
          <p:cNvSpPr txBox="1"/>
          <p:nvPr/>
        </p:nvSpPr>
        <p:spPr bwMode="auto">
          <a:xfrm flipH="0" flipV="0">
            <a:off x="572474" y="1155371"/>
            <a:ext cx="111830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Patoshi Blocks &amp; Inverted Timestamps (Número de bloque/ExtraNonce)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53425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61999" y="228600"/>
            <a:ext cx="10667998" cy="6400800"/>
          </a:xfrm>
          <a:prstGeom prst="rect">
            <a:avLst/>
          </a:prstGeom>
        </p:spPr>
      </p:pic>
      <p:sp>
        <p:nvSpPr>
          <p:cNvPr id="943447953" name=""/>
          <p:cNvSpPr/>
          <p:nvPr/>
        </p:nvSpPr>
        <p:spPr bwMode="auto">
          <a:xfrm flipH="0" flipV="0">
            <a:off x="3963375" y="419099"/>
            <a:ext cx="6353174" cy="2762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62586964" name=""/>
          <p:cNvSpPr/>
          <p:nvPr/>
        </p:nvSpPr>
        <p:spPr bwMode="auto">
          <a:xfrm flipH="0" flipV="0">
            <a:off x="848699" y="1847849"/>
            <a:ext cx="276224" cy="254317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30456277" name=""/>
          <p:cNvSpPr txBox="1"/>
          <p:nvPr/>
        </p:nvSpPr>
        <p:spPr bwMode="auto">
          <a:xfrm flipH="0" flipV="0">
            <a:off x="1439249" y="228599"/>
            <a:ext cx="1058299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Estimación del porcentaje de Satoshi en la red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4742202" name=""/>
          <p:cNvSpPr txBox="1"/>
          <p:nvPr/>
        </p:nvSpPr>
        <p:spPr bwMode="auto">
          <a:xfrm rot="16199969" flipH="0" flipV="0">
            <a:off x="-21773" y="2867636"/>
            <a:ext cx="198823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Porcentaje de la red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98073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65771" y="170863"/>
            <a:ext cx="10860453" cy="6516272"/>
          </a:xfrm>
          <a:prstGeom prst="rect">
            <a:avLst/>
          </a:prstGeom>
        </p:spPr>
      </p:pic>
      <p:sp>
        <p:nvSpPr>
          <p:cNvPr id="1283251507" name=""/>
          <p:cNvSpPr/>
          <p:nvPr/>
        </p:nvSpPr>
        <p:spPr bwMode="auto">
          <a:xfrm flipH="0" flipV="0">
            <a:off x="745567" y="2441863"/>
            <a:ext cx="329045" cy="12036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277144814" name=""/>
          <p:cNvSpPr/>
          <p:nvPr/>
        </p:nvSpPr>
        <p:spPr bwMode="auto">
          <a:xfrm flipH="0" flipV="0">
            <a:off x="4877775" y="333374"/>
            <a:ext cx="4610099" cy="3047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578023989" name=""/>
          <p:cNvSpPr/>
          <p:nvPr/>
        </p:nvSpPr>
        <p:spPr bwMode="auto">
          <a:xfrm flipH="0" flipV="0">
            <a:off x="4925399" y="6095999"/>
            <a:ext cx="1571625" cy="4381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83498620" name=""/>
          <p:cNvSpPr/>
          <p:nvPr/>
        </p:nvSpPr>
        <p:spPr bwMode="auto">
          <a:xfrm flipH="0" flipV="0">
            <a:off x="6811349" y="6095999"/>
            <a:ext cx="1571625" cy="43814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19325172" name=""/>
          <p:cNvSpPr txBox="1"/>
          <p:nvPr/>
        </p:nvSpPr>
        <p:spPr bwMode="auto">
          <a:xfrm flipH="0" flipV="0">
            <a:off x="1639274" y="170862"/>
            <a:ext cx="9582868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Estimación del hashrate </a:t>
            </a:r>
            <a:r>
              <a:rPr sz="1800">
                <a:latin typeface="IBM Plex Sans"/>
              </a:rPr>
              <a:t>de Satoshi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0959130" name=""/>
          <p:cNvSpPr txBox="1"/>
          <p:nvPr/>
        </p:nvSpPr>
        <p:spPr bwMode="auto">
          <a:xfrm rot="16199969" flipH="0" flipV="0">
            <a:off x="433819" y="2876295"/>
            <a:ext cx="9120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Hashrate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38505366" name=""/>
          <p:cNvSpPr txBox="1"/>
          <p:nvPr/>
        </p:nvSpPr>
        <p:spPr bwMode="auto">
          <a:xfrm flipH="0" flipV="0">
            <a:off x="4925398" y="6095998"/>
            <a:ext cx="1351535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Hashrate medio diario</a:t>
            </a:r>
            <a:endParaRPr sz="900">
              <a:latin typeface="IBM Plex Sans"/>
              <a:cs typeface="IBM Plex Sans"/>
            </a:endParaRPr>
          </a:p>
        </p:txBody>
      </p:sp>
      <p:sp>
        <p:nvSpPr>
          <p:cNvPr id="247807073" name=""/>
          <p:cNvSpPr txBox="1"/>
          <p:nvPr/>
        </p:nvSpPr>
        <p:spPr bwMode="auto">
          <a:xfrm flipH="0" flipV="0">
            <a:off x="6932529" y="6095997"/>
            <a:ext cx="2127800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Modelo lineal de hashrate</a:t>
            </a:r>
            <a:endParaRPr sz="9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521656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9396" y="804024"/>
            <a:ext cx="6193201" cy="524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60639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39299" y="591199"/>
            <a:ext cx="8513397" cy="5675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62788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20499" y="388166"/>
            <a:ext cx="4550995" cy="6081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86572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03550" y="2314574"/>
            <a:ext cx="6984897" cy="2228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8342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2" y="971013"/>
            <a:ext cx="6059851" cy="49159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267030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251" y="1543043"/>
            <a:ext cx="11395487" cy="37719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7573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30498" y="904874"/>
            <a:ext cx="6730999" cy="5048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171282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608" y="1971674"/>
            <a:ext cx="10820781" cy="2914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29851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3441" y="1504949"/>
            <a:ext cx="11245114" cy="3848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34821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29" y="38099"/>
            <a:ext cx="12165738" cy="6781798"/>
          </a:xfrm>
          <a:prstGeom prst="rect">
            <a:avLst/>
          </a:prstGeom>
        </p:spPr>
      </p:pic>
      <p:sp>
        <p:nvSpPr>
          <p:cNvPr id="1865913412" name=""/>
          <p:cNvSpPr/>
          <p:nvPr/>
        </p:nvSpPr>
        <p:spPr bwMode="auto">
          <a:xfrm flipH="0" flipV="0">
            <a:off x="20024" y="2952749"/>
            <a:ext cx="209549" cy="15620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30748671" name=""/>
          <p:cNvSpPr/>
          <p:nvPr/>
        </p:nvSpPr>
        <p:spPr bwMode="auto">
          <a:xfrm flipH="0" flipV="0">
            <a:off x="6039824" y="6610349"/>
            <a:ext cx="1514474" cy="1904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819691178" name=""/>
          <p:cNvSpPr txBox="1"/>
          <p:nvPr/>
        </p:nvSpPr>
        <p:spPr bwMode="auto">
          <a:xfrm rot="16199969" flipH="0" flipV="0">
            <a:off x="-275045" y="3247818"/>
            <a:ext cx="834339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ExtraNonce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755979800" name=""/>
          <p:cNvSpPr txBox="1"/>
          <p:nvPr/>
        </p:nvSpPr>
        <p:spPr bwMode="auto">
          <a:xfrm flipH="0" flipV="0">
            <a:off x="6039822" y="6583498"/>
            <a:ext cx="445977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Fecha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56219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376657" y="866774"/>
            <a:ext cx="5438683" cy="5124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17210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5321" y="2457449"/>
            <a:ext cx="7361353" cy="1943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4397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7379" y="1543048"/>
            <a:ext cx="10897241" cy="25717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60903714" name=""/>
          <p:cNvSpPr txBox="1"/>
          <p:nvPr/>
        </p:nvSpPr>
        <p:spPr bwMode="auto">
          <a:xfrm rot="0" flipH="0" flipV="0">
            <a:off x="782023" y="4581703"/>
            <a:ext cx="2861100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1" i="0" u="none">
                <a:solidFill>
                  <a:srgbClr val="2D2593"/>
                </a:solidFill>
                <a:latin typeface="IBM Plex Sans"/>
              </a:rPr>
              <a:t>"Artículo: ¿Conoces </a:t>
            </a:r>
            <a:r>
              <a:rPr lang="en-US" sz="1600" b="0" i="0" u="none">
                <a:solidFill>
                  <a:schemeClr val="tx1"/>
                </a:solidFill>
                <a:latin typeface="IBM Plex Sans"/>
              </a:rPr>
              <a:t>los bitcoins?"</a:t>
            </a:r>
            <a:endParaRPr sz="1600" b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599774697" name=""/>
          <p:cNvSpPr txBox="1"/>
          <p:nvPr/>
        </p:nvSpPr>
        <p:spPr bwMode="auto">
          <a:xfrm rot="0" flipH="0" flipV="0">
            <a:off x="3640603" y="4515029"/>
            <a:ext cx="7907255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200" b="0" i="0" u="none">
                <a:solidFill>
                  <a:schemeClr val="tx1"/>
                </a:solidFill>
                <a:latin typeface="IBM Plex Sans"/>
              </a:rPr>
              <a:t>Bitcoin es una moneda electrónica diseñada en 2009 por alguien llamado Satoshi Nakamoto. Esta moneda se distingue de otras divisas electrónicas por su naturaleza totalmente descentralizada de igual a igual y su inteligente uso de conceptos criptográficos básicos. Se basa en software escrito en C++ y publicado bajo la licencia de código abierto MIT.</a:t>
            </a:r>
            <a:endParaRPr sz="1000" b="0" i="0" u="none" strike="noStrike" cap="none" spc="0">
              <a:solidFill>
                <a:schemeClr val="tx1"/>
              </a:solidFill>
              <a:latin typeface="IBM Plex Sans"/>
              <a:cs typeface="IBM Plex Sans"/>
            </a:endParaRPr>
          </a:p>
          <a:p>
            <a:pPr algn="l">
              <a:defRPr/>
            </a:pPr>
            <a:endParaRPr/>
          </a:p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79577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4596" y="1174051"/>
            <a:ext cx="6802802" cy="4509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32524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59" y="1162049"/>
            <a:ext cx="11421678" cy="4533898"/>
          </a:xfrm>
          <a:prstGeom prst="rect">
            <a:avLst/>
          </a:prstGeom>
        </p:spPr>
      </p:pic>
      <p:sp>
        <p:nvSpPr>
          <p:cNvPr id="754742294" name=""/>
          <p:cNvSpPr txBox="1"/>
          <p:nvPr/>
        </p:nvSpPr>
        <p:spPr bwMode="auto">
          <a:xfrm rot="0" flipH="0" flipV="0">
            <a:off x="2896574" y="5886449"/>
            <a:ext cx="697409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0" i="1" u="none">
                <a:solidFill>
                  <a:schemeClr val="tx1"/>
                </a:solidFill>
                <a:latin typeface="IBM Plex Sans"/>
              </a:rPr>
              <a:t>Bitcoin, el auge de las máquinas.</a:t>
            </a:r>
            <a:endParaRPr sz="16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59045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190999" y="1523999"/>
            <a:ext cx="3809999" cy="3809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1105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76799" y="2209799"/>
            <a:ext cx="2438399" cy="243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0915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9641" y="514350"/>
            <a:ext cx="8592714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6042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4819" y="2943224"/>
            <a:ext cx="8102357" cy="971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61497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18698" y="932560"/>
            <a:ext cx="2154600" cy="4992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5584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06353" y="1133474"/>
            <a:ext cx="4779291" cy="4591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6305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8438" y="771524"/>
            <a:ext cx="11495120" cy="53149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384117931" name=""/>
          <p:cNvSpPr/>
          <p:nvPr/>
        </p:nvSpPr>
        <p:spPr bwMode="auto">
          <a:xfrm flipH="0" flipV="0">
            <a:off x="439123" y="5567948"/>
            <a:ext cx="11363323" cy="51851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20320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58827" y="485774"/>
            <a:ext cx="9674340" cy="5886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50632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25144" y="66674"/>
            <a:ext cx="9741706" cy="6724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615799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98724" y="400049"/>
            <a:ext cx="10394548" cy="605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093072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529" y="628650"/>
            <a:ext cx="12008937" cy="5600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112796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4822" y="389722"/>
            <a:ext cx="10822351" cy="60785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806742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2065" y="514349"/>
            <a:ext cx="10347867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536131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32748" y="771007"/>
            <a:ext cx="5926500" cy="5315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84557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2" y="608297"/>
            <a:ext cx="4231051" cy="5641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9051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28698" y="895349"/>
            <a:ext cx="10134599" cy="5067299"/>
          </a:xfrm>
          <a:prstGeom prst="rect">
            <a:avLst/>
          </a:prstGeom>
        </p:spPr>
      </p:pic>
      <p:sp>
        <p:nvSpPr>
          <p:cNvPr id="1643375066" name=""/>
          <p:cNvSpPr/>
          <p:nvPr/>
        </p:nvSpPr>
        <p:spPr bwMode="auto">
          <a:xfrm flipH="0" flipV="0">
            <a:off x="1229699" y="1790699"/>
            <a:ext cx="371475" cy="31241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224187241" name=""/>
          <p:cNvSpPr txBox="1"/>
          <p:nvPr/>
        </p:nvSpPr>
        <p:spPr bwMode="auto">
          <a:xfrm rot="16199969" flipH="0" flipV="0">
            <a:off x="-1385529" y="3289162"/>
            <a:ext cx="48298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Precio del Bitcoin en dólares estadounidenses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70</Slides>
  <Notes>70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32</cp:revision>
  <dcterms:modified xsi:type="dcterms:W3CDTF">2025-10-15T16:00:55Z</dcterms:modified>
</cp:coreProperties>
</file>