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71304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398115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49653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195495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2611166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549791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63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5736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941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43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740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9078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00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7020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8661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583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2467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596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414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82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4505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1404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9636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452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8484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577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63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209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7042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89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18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956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6170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647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380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349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6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859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765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3431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536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1115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357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0149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186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8874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377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675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587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832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4938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90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557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33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522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880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484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861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5402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0175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4985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990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1703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78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337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604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832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816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58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091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2309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868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46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44314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1051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2897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35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397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6995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884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120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426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003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4603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817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534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197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976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5263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1265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981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25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0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45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2530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0926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870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7828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22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895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135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9135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1026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67137185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3300462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9019044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49244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4210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18789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48293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639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34346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1546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72974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664945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601289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47873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262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43242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413440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729963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5529794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42380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7789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39343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12424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00829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204125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7501124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7538785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0639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9203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60881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8305246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86992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45169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166114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01180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57344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5177111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93893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07570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1706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86222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581210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086614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7556091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20782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012622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83663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18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714744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04178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975656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875971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3031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275227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50138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199350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79193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78376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98937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33794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726397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519810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9506141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70684748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49126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8225632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3521066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2703569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79402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47360460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18057417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3110010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0907032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05099266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77624493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5558410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0585018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24232267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6301162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43677513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5523579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88648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4230443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6983528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7395642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068637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8914516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23782728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2444637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049562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487057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71726087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3308657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33087775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232427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3248128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1287252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26889335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755106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59291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560605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70299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0354147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3438283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9793864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40114552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7815055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6108198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7426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3703314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30739685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14462933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2693360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4102360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28263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39107221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申し込み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78951345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10297022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6.プレゼンテーション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44771940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03642852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5.セッション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52770869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4319077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4.輸送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04485756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19778366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3.ネットワーク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87100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360480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2.データリンク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0155741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056263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1.フィジカル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29680375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6257768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7.申し込み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81383750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OSIモデル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96772804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TCP/IPモデル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1958183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960759645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輸送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57091880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5244930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インターネット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2322514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188676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ネットワーク・アクセス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17310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67208603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67675751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7564928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ルーター</a:t>
            </a:r>
            <a:endParaRPr/>
          </a:p>
        </p:txBody>
      </p:sp>
      <p:sp>
        <p:nvSpPr>
          <p:cNvPr id="1398907663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9535709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570388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8286313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286754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86057026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477985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19457270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8853958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70302668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1586542122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390982759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6624450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0113741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905326655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申し込み</a:t>
            </a:r>
            <a:endParaRPr sz="1400"/>
          </a:p>
        </p:txBody>
      </p:sp>
      <p:sp>
        <p:nvSpPr>
          <p:cNvPr id="1178297561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1674934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96949578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輸送</a:t>
            </a:r>
            <a:endParaRPr sz="1400"/>
          </a:p>
        </p:txBody>
      </p:sp>
      <p:sp>
        <p:nvSpPr>
          <p:cNvPr id="2013335272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731273736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インターネット</a:t>
            </a:r>
            <a:endParaRPr sz="1400"/>
          </a:p>
        </p:txBody>
      </p:sp>
      <p:sp>
        <p:nvSpPr>
          <p:cNvPr id="185901269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89800392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ネットワーク・アクセス</a:t>
            </a:r>
            <a:endParaRPr sz="1400"/>
          </a:p>
        </p:txBody>
      </p:sp>
      <p:grpSp>
        <p:nvGrpSpPr>
          <p:cNvPr id="415339631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20592176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547509654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881971888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777433154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97287266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6668305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申し込み</a:t>
            </a:r>
            <a:endParaRPr/>
          </a:p>
        </p:txBody>
      </p:sp>
      <p:grpSp>
        <p:nvGrpSpPr>
          <p:cNvPr id="1631746555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952499651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IPレイヤー</a:t>
            </a:r>
            <a:endParaRPr/>
          </a:p>
        </p:txBody>
      </p:sp>
      <p:sp>
        <p:nvSpPr>
          <p:cNvPr id="29614350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MACサブレイヤ</a:t>
            </a:r>
            <a:endParaRPr/>
          </a:p>
        </p:txBody>
      </p:sp>
      <p:sp>
        <p:nvSpPr>
          <p:cNvPr id="810893682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アプリケーションデータ</a:t>
            </a:r>
            <a:endParaRPr/>
          </a:p>
        </p:txBody>
      </p:sp>
      <p:grpSp>
        <p:nvGrpSpPr>
          <p:cNvPr id="698872816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845065448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39123297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データフィールド</a:t>
            </a:r>
            <a:endParaRPr/>
          </a:p>
        </p:txBody>
      </p:sp>
      <p:sp>
        <p:nvSpPr>
          <p:cNvPr id="131035324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ヘッダー</a:t>
            </a:r>
            <a:endParaRPr sz="1600"/>
          </a:p>
        </p:txBody>
      </p:sp>
      <p:sp>
        <p:nvSpPr>
          <p:cNvPr id="30400866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IPデータグラム</a:t>
            </a:r>
            <a:endParaRPr/>
          </a:p>
        </p:txBody>
      </p:sp>
      <p:sp>
        <p:nvSpPr>
          <p:cNvPr id="624088117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8236826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16365713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62187202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1762585141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フレーム・データ・フィールド</a:t>
            </a:r>
            <a:endParaRPr/>
          </a:p>
        </p:txBody>
      </p:sp>
      <p:sp>
        <p:nvSpPr>
          <p:cNvPr id="226686767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ヘッダー</a:t>
            </a:r>
            <a:endParaRPr sz="1600"/>
          </a:p>
        </p:txBody>
      </p:sp>
      <p:sp>
        <p:nvSpPr>
          <p:cNvPr id="1310929872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フレーム（イーサネット）</a:t>
            </a:r>
            <a:endParaRPr/>
          </a:p>
        </p:txBody>
      </p:sp>
      <p:sp>
        <p:nvSpPr>
          <p:cNvPr id="969762047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6967739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07355995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329110002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64899410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61619935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フレーム・チェック・シーケンス</a:t>
            </a:r>
            <a:endParaRPr sz="1400"/>
          </a:p>
        </p:txBody>
      </p:sp>
      <p:sp>
        <p:nvSpPr>
          <p:cNvPr id="1308495510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253952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7248020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4639850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84508365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ペイロード</a:t>
            </a:r>
            <a:endParaRPr sz="1100"/>
          </a:p>
        </p:txBody>
      </p:sp>
      <p:sp>
        <p:nvSpPr>
          <p:cNvPr id="1323983522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701785653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申請する。</a:t>
            </a:r>
            <a:endParaRPr sz="1100"/>
          </a:p>
        </p:txBody>
      </p:sp>
      <p:sp>
        <p:nvSpPr>
          <p:cNvPr id="2133468813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852991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輸送</a:t>
            </a:r>
            <a:endParaRPr sz="1100"/>
          </a:p>
        </p:txBody>
      </p:sp>
      <p:sp>
        <p:nvSpPr>
          <p:cNvPr id="1867085107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33270717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データ</a:t>
            </a:r>
            <a:endParaRPr sz="1100"/>
          </a:p>
        </p:txBody>
      </p:sp>
      <p:sp>
        <p:nvSpPr>
          <p:cNvPr id="161416500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55090801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インターネット</a:t>
            </a:r>
            <a:endParaRPr sz="1100"/>
          </a:p>
        </p:txBody>
      </p:sp>
      <p:sp>
        <p:nvSpPr>
          <p:cNvPr id="691675583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36432487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セグメント</a:t>
            </a:r>
            <a:endParaRPr sz="1100"/>
          </a:p>
        </p:txBody>
      </p:sp>
      <p:sp>
        <p:nvSpPr>
          <p:cNvPr id="1395392871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24517125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アクセス</a:t>
            </a:r>
            <a:endParaRPr sz="1100"/>
          </a:p>
        </p:txBody>
      </p:sp>
      <p:sp>
        <p:nvSpPr>
          <p:cNvPr id="1783091923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3907110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パケット</a:t>
            </a:r>
            <a:endParaRPr sz="1100"/>
          </a:p>
        </p:txBody>
      </p:sp>
      <p:grpSp>
        <p:nvGrpSpPr>
          <p:cNvPr id="1956942079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116739492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2082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2464328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ペイロード</a:t>
            </a:r>
            <a:endParaRPr sz="1100"/>
          </a:p>
        </p:txBody>
      </p:sp>
      <p:sp>
        <p:nvSpPr>
          <p:cNvPr id="1555661665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86542748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申請する。</a:t>
            </a:r>
            <a:endParaRPr sz="1100"/>
          </a:p>
        </p:txBody>
      </p:sp>
      <p:sp>
        <p:nvSpPr>
          <p:cNvPr id="738889458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49431658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輸送</a:t>
            </a:r>
            <a:endParaRPr sz="1100"/>
          </a:p>
        </p:txBody>
      </p:sp>
      <p:sp>
        <p:nvSpPr>
          <p:cNvPr id="614045784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75411546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データ</a:t>
            </a:r>
            <a:endParaRPr sz="1100"/>
          </a:p>
        </p:txBody>
      </p:sp>
      <p:sp>
        <p:nvSpPr>
          <p:cNvPr id="1446181723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092723253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インターネット</a:t>
            </a:r>
            <a:endParaRPr sz="1100"/>
          </a:p>
        </p:txBody>
      </p:sp>
      <p:sp>
        <p:nvSpPr>
          <p:cNvPr id="1652061333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20295960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セグメント</a:t>
            </a:r>
            <a:endParaRPr sz="1100"/>
          </a:p>
        </p:txBody>
      </p:sp>
      <p:sp>
        <p:nvSpPr>
          <p:cNvPr id="1702395186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3491135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アクセス</a:t>
            </a:r>
            <a:endParaRPr sz="1100"/>
          </a:p>
        </p:txBody>
      </p:sp>
      <p:sp>
        <p:nvSpPr>
          <p:cNvPr id="11185918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29853760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パケット</a:t>
            </a:r>
            <a:endParaRPr sz="1100"/>
          </a:p>
        </p:txBody>
      </p:sp>
      <p:grpSp>
        <p:nvGrpSpPr>
          <p:cNvPr id="1174956510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1673446723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9336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ピアツーピア・コミュニケーション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カプセル化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カプセル化解除</a:t>
            </a:r>
          </a:p>
        </p:txBody>
      </p:sp>
      <p:sp>
        <p:nvSpPr>
          <p:cNvPr id="1364220958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フレーム</a:t>
            </a:r>
            <a:endParaRPr sz="1100"/>
          </a:p>
        </p:txBody>
      </p:sp>
      <p:sp>
        <p:nvSpPr>
          <p:cNvPr id="1238769371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フレーム</a:t>
            </a:r>
            <a:endParaRPr sz="1100"/>
          </a:p>
        </p:txBody>
      </p:sp>
      <p:sp>
        <p:nvSpPr>
          <p:cNvPr id="539693356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バイナリー・ストリーム</a:t>
            </a:r>
            <a:endParaRPr sz="1100"/>
          </a:p>
        </p:txBody>
      </p:sp>
      <p:sp>
        <p:nvSpPr>
          <p:cNvPr id="246373296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8712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5243903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3380358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1883121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36063964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15765640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92534553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313390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クラス：</a:t>
            </a:r>
            <a:endParaRPr/>
          </a:p>
        </p:txBody>
      </p:sp>
      <p:sp>
        <p:nvSpPr>
          <p:cNvPr id="85694550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サブネットの最大数 ：</a:t>
            </a:r>
            <a:endParaRPr sz="1400"/>
          </a:p>
        </p:txBody>
      </p:sp>
      <p:sp>
        <p:nvSpPr>
          <p:cNvPr id="584695179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サブネットあたりの最大ホスト数 ：</a:t>
            </a:r>
            <a:endParaRPr sz="1400"/>
          </a:p>
        </p:txBody>
      </p:sp>
      <p:grpSp>
        <p:nvGrpSpPr>
          <p:cNvPr id="432274291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7408243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09539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827963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14643356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3491454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3884700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送信機</a:t>
            </a:r>
            <a:endParaRPr/>
          </a:p>
        </p:txBody>
      </p:sp>
      <p:sp>
        <p:nvSpPr>
          <p:cNvPr id="907907981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荷受機</a:t>
            </a:r>
            <a:endParaRPr/>
          </a:p>
        </p:txBody>
      </p:sp>
      <p:sp>
        <p:nvSpPr>
          <p:cNvPr id="380560299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33826444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65875459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36614020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73908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83169163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8015405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423593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90397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送信機</a:t>
            </a:r>
            <a:endParaRPr/>
          </a:p>
        </p:txBody>
      </p:sp>
      <p:sp>
        <p:nvSpPr>
          <p:cNvPr id="372843320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荷受機</a:t>
            </a:r>
            <a:endParaRPr/>
          </a:p>
        </p:txBody>
      </p:sp>
      <p:sp>
        <p:nvSpPr>
          <p:cNvPr id="839148436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21276044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30376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42909003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88899995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タイマー</a:t>
            </a:r>
            <a:endParaRPr/>
          </a:p>
        </p:txBody>
      </p:sp>
      <p:grpSp>
        <p:nvGrpSpPr>
          <p:cNvPr id="1346248651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985113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177711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76045574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8273019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1716793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送信機</a:t>
            </a:r>
            <a:endParaRPr/>
          </a:p>
        </p:txBody>
      </p:sp>
      <p:sp>
        <p:nvSpPr>
          <p:cNvPr id="185111813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荷受機</a:t>
            </a:r>
            <a:endParaRPr/>
          </a:p>
        </p:txBody>
      </p:sp>
      <p:sp>
        <p:nvSpPr>
          <p:cNvPr id="890158885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382900791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4969365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32618324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269243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0780427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08166161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84880472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08531058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4807003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469188468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894857132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送信機</a:t>
            </a:r>
            <a:endParaRPr/>
          </a:p>
        </p:txBody>
      </p:sp>
      <p:sp>
        <p:nvSpPr>
          <p:cNvPr id="1710619020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荷受機</a:t>
            </a:r>
            <a:endParaRPr/>
          </a:p>
        </p:txBody>
      </p:sp>
      <p:sp>
        <p:nvSpPr>
          <p:cNvPr id="1005367434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435561383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33905179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56303858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5474165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79234235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91158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47560542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37730918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手紙を送る</a:t>
            </a:r>
            <a:endParaRPr sz="1100"/>
          </a:p>
        </p:txBody>
      </p:sp>
      <p:sp>
        <p:nvSpPr>
          <p:cNvPr id="1925096076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432264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53070807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手紙を送る</a:t>
            </a:r>
            <a:endParaRPr sz="1000"/>
          </a:p>
        </p:txBody>
      </p:sp>
      <p:sp>
        <p:nvSpPr>
          <p:cNvPr id="1828137124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27824777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375040382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手紙を受け取る</a:t>
            </a:r>
            <a:endParaRPr/>
          </a:p>
        </p:txBody>
      </p:sp>
      <p:sp>
        <p:nvSpPr>
          <p:cNvPr id="1607193006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453446377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ベストエフォート・デリバリー</a:t>
            </a:r>
            <a:endParaRPr sz="1200"/>
          </a:p>
        </p:txBody>
      </p:sp>
      <p:sp>
        <p:nvSpPr>
          <p:cNvPr id="1637063721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2521817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511193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レイヤーインターフェース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1727074284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サービス (N)</a:t>
            </a:r>
            <a:endParaRPr/>
          </a:p>
        </p:txBody>
      </p:sp>
      <p:sp>
        <p:nvSpPr>
          <p:cNvPr id="89848679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35906071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レイヤー (N + 1)</a:t>
            </a:r>
            <a:endParaRPr/>
          </a:p>
        </p:txBody>
      </p:sp>
      <p:sp>
        <p:nvSpPr>
          <p:cNvPr id="549043708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6068285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レイヤー (N)</a:t>
            </a:r>
            <a:endParaRPr/>
          </a:p>
        </p:txBody>
      </p:sp>
      <p:sp>
        <p:nvSpPr>
          <p:cNvPr id="1042713721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79290277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レイヤー (N - 1)</a:t>
            </a:r>
            <a:endParaRPr/>
          </a:p>
        </p:txBody>
      </p:sp>
      <p:grpSp>
        <p:nvGrpSpPr>
          <p:cNvPr id="1297539750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13109189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1441946292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11271177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16295575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516957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9319425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サービス (N - 1)</a:t>
            </a:r>
            <a:endParaRPr/>
          </a:p>
        </p:txBody>
      </p:sp>
      <p:sp>
        <p:nvSpPr>
          <p:cNvPr id="1590677200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9394446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レイヤインターフェース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168427051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13793423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ユーザー</a:t>
            </a:r>
            <a:endParaRPr sz="1400"/>
          </a:p>
        </p:txBody>
      </p:sp>
      <p:sp>
        <p:nvSpPr>
          <p:cNvPr id="1294423356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プロバイダー</a:t>
            </a:r>
            <a:endParaRPr sz="1400"/>
          </a:p>
        </p:txBody>
      </p:sp>
      <p:sp>
        <p:nvSpPr>
          <p:cNvPr id="133569813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ユーザー</a:t>
            </a:r>
            <a:endParaRPr sz="1400"/>
          </a:p>
        </p:txBody>
      </p:sp>
      <p:sp>
        <p:nvSpPr>
          <p:cNvPr id="552912891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プロバイダー</a:t>
            </a:r>
            <a:endParaRPr sz="1400"/>
          </a:p>
        </p:txBody>
      </p:sp>
      <p:sp>
        <p:nvSpPr>
          <p:cNvPr id="970185868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47566611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3807424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23692500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072972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ホストA</a:t>
            </a:r>
            <a:endParaRPr/>
          </a:p>
        </p:txBody>
      </p:sp>
      <p:sp>
        <p:nvSpPr>
          <p:cNvPr id="1118521974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637959771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レイヤー (N)</a:t>
            </a:r>
            <a:endParaRPr sz="1400"/>
          </a:p>
        </p:txBody>
      </p:sp>
      <p:grpSp>
        <p:nvGrpSpPr>
          <p:cNvPr id="1795392852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144065389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985138361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0139837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エンティティ（N）</a:t>
            </a:r>
            <a:endParaRPr sz="1400"/>
          </a:p>
        </p:txBody>
      </p:sp>
      <p:grpSp>
        <p:nvGrpSpPr>
          <p:cNvPr id="1249814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385632130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660717729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レイヤー (N + 1)</a:t>
            </a:r>
            <a:endParaRPr sz="1400"/>
          </a:p>
        </p:txBody>
      </p:sp>
      <p:grpSp>
        <p:nvGrpSpPr>
          <p:cNvPr id="1011144573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329078135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834896928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37651610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79829486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844608764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エンティティ（N）</a:t>
            </a:r>
            <a:endParaRPr sz="1400"/>
          </a:p>
        </p:txBody>
      </p:sp>
      <p:sp>
        <p:nvSpPr>
          <p:cNvPr id="717466732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20100942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ホストB</a:t>
            </a:r>
            <a:endParaRPr/>
          </a:p>
        </p:txBody>
      </p:sp>
      <p:sp>
        <p:nvSpPr>
          <p:cNvPr id="1066106652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上層部</a:t>
            </a:r>
            <a:endParaRPr sz="1400"/>
          </a:p>
        </p:txBody>
      </p:sp>
      <p:sp>
        <p:nvSpPr>
          <p:cNvPr id="382844289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下層</a:t>
            </a:r>
            <a:endParaRPr sz="1400"/>
          </a:p>
        </p:txBody>
      </p:sp>
      <p:sp>
        <p:nvSpPr>
          <p:cNvPr id="371275828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サービスプリミティブ（N）</a:t>
            </a:r>
            <a:endParaRPr sz="1200"/>
          </a:p>
        </p:txBody>
      </p:sp>
      <p:sp>
        <p:nvSpPr>
          <p:cNvPr id="335922075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サービスプリミティブ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774607694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7545127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1468642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74534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256425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778937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93608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6972006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09793421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867971187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1196777875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14268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サービス・アクセス・インターフェース</a:t>
            </a:r>
            <a:endParaRPr sz="1200"/>
          </a:p>
        </p:txBody>
      </p:sp>
      <p:sp>
        <p:nvSpPr>
          <p:cNvPr id="1014683467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26880486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1290514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082589668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87001272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72352589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58998031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7591687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7443630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7225436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349073375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レイヤー (N+1)</a:t>
            </a:r>
            <a:endParaRPr lang="en-US" sz="1100"/>
          </a:p>
        </p:txBody>
      </p:sp>
      <p:sp>
        <p:nvSpPr>
          <p:cNvPr id="1407865619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レイヤー (N)</a:t>
            </a:r>
            <a:endParaRPr lang="en-US" sz="1100"/>
          </a:p>
        </p:txBody>
      </p:sp>
      <p:sp>
        <p:nvSpPr>
          <p:cNvPr id="922973699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レイヤー (N-1)</a:t>
            </a:r>
            <a:endParaRPr lang="en-US" sz="1100"/>
          </a:p>
        </p:txBody>
      </p:sp>
      <p:sp>
        <p:nvSpPr>
          <p:cNvPr id="987891585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システムA</a:t>
            </a:r>
            <a:endParaRPr lang="en-US" sz="1100"/>
          </a:p>
        </p:txBody>
      </p:sp>
      <p:sp>
        <p:nvSpPr>
          <p:cNvPr id="39163827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システムB</a:t>
            </a:r>
            <a:endParaRPr lang="en-US" sz="1100"/>
          </a:p>
        </p:txBody>
      </p:sp>
      <p:sp>
        <p:nvSpPr>
          <p:cNvPr id="1601591867" name=""/>
          <p:cNvSpPr txBox="1"/>
          <p:nvPr/>
        </p:nvSpPr>
        <p:spPr bwMode="auto">
          <a:xfrm rot="0" flipH="0" flipV="0">
            <a:off x="7882288" y="3894998"/>
            <a:ext cx="130204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エンティティB</a:t>
            </a:r>
            <a:endParaRPr lang="en-US" sz="1000"/>
          </a:p>
        </p:txBody>
      </p:sp>
      <p:sp>
        <p:nvSpPr>
          <p:cNvPr id="990952879" name=""/>
          <p:cNvSpPr txBox="1"/>
          <p:nvPr/>
        </p:nvSpPr>
        <p:spPr bwMode="auto">
          <a:xfrm rot="0" flipH="0" flipV="0">
            <a:off x="2986331" y="3895358"/>
            <a:ext cx="1288964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エンティティA</a:t>
            </a:r>
            <a:endParaRPr lang="en-US" sz="1000"/>
          </a:p>
        </p:txBody>
      </p:sp>
      <p:sp>
        <p:nvSpPr>
          <p:cNvPr id="83408133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レイヤーN-1のサービス</a:t>
            </a:r>
            <a:endParaRPr lang="en-US" sz="1000"/>
          </a:p>
        </p:txBody>
      </p:sp>
      <p:sp>
        <p:nvSpPr>
          <p:cNvPr id="174844479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レイヤーNのサービス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862341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179585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986385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84412198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758599743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7002204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5531588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1981031987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50731071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287744357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839610993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255822673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038299435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753627551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20737645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176405944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535976658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04573927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1バイト</a:t>
            </a:r>
            <a:endParaRPr/>
          </a:p>
        </p:txBody>
      </p:sp>
      <p:sp>
        <p:nvSpPr>
          <p:cNvPr id="347645678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8ビット</a:t>
            </a:r>
            <a:endParaRPr/>
          </a:p>
        </p:txBody>
      </p:sp>
      <p:sp>
        <p:nvSpPr>
          <p:cNvPr id="1671545064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17093317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32ビット（4 * 8）、または4バイト</a:t>
            </a:r>
            <a:endParaRPr/>
          </a:p>
        </p:txBody>
      </p:sp>
      <p:sp>
        <p:nvSpPr>
          <p:cNvPr id="335658007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521658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52669908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94891612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27929414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572633106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0110555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178900852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929971631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170931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メーカーID</a:t>
            </a:r>
            <a:endParaRPr/>
          </a:p>
        </p:txBody>
      </p:sp>
      <p:sp>
        <p:nvSpPr>
          <p:cNvPr id="1850298457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ローカルアドレス1 / ユニークアドレス0</a:t>
            </a:r>
            <a:endParaRPr/>
          </a:p>
        </p:txBody>
      </p:sp>
      <p:sp>
        <p:nvSpPr>
          <p:cNvPr id="82625997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1083840385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4738886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3674156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35948683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42207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51662018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8771231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1498556502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150259205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1607740587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1327535982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8ビット</a:t>
            </a:r>
            <a:endParaRPr/>
          </a:p>
        </p:txBody>
      </p:sp>
      <p:sp>
        <p:nvSpPr>
          <p:cNvPr id="2142251041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5925134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放送：一般 1 / 監督 0</a:t>
            </a:r>
            <a:endParaRPr/>
          </a:p>
        </p:txBody>
      </p:sp>
      <p:sp>
        <p:nvSpPr>
          <p:cNvPr id="890036025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007830" name="Freeform 2"/>
          <p:cNvSpPr/>
          <p:nvPr/>
        </p:nvSpPr>
        <p:spPr bwMode="auto">
          <a:xfrm rot="-5399978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2167891" name="AutoShape 3"/>
          <p:cNvSpPr/>
          <p:nvPr/>
        </p:nvSpPr>
        <p:spPr bwMode="auto">
          <a:xfrm flipH="1" flipV="1">
            <a:off x="2440361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36890053" name="AutoShape 4"/>
          <p:cNvSpPr/>
          <p:nvPr/>
        </p:nvSpPr>
        <p:spPr bwMode="auto">
          <a:xfrm flipH="1" flipV="1">
            <a:off x="4888352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8535534" name="AutoShape 5"/>
          <p:cNvSpPr/>
          <p:nvPr/>
        </p:nvSpPr>
        <p:spPr bwMode="auto">
          <a:xfrm flipH="1" flipV="1">
            <a:off x="7336344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11229898" name="AutoShape 6"/>
          <p:cNvSpPr/>
          <p:nvPr/>
        </p:nvSpPr>
        <p:spPr bwMode="auto">
          <a:xfrm flipV="1">
            <a:off x="9797216" y="2218543"/>
            <a:ext cx="0" cy="38457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040177696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914391527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6096660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81990281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339178806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300328749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439251287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333932856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485150649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211147890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731214260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4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628824283" name="Freeform 24"/>
          <p:cNvSpPr/>
          <p:nvPr/>
        </p:nvSpPr>
        <p:spPr bwMode="auto">
          <a:xfrm rot="-5399978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660138" name="TextBox 25"/>
          <p:cNvSpPr txBox="1"/>
          <p:nvPr/>
        </p:nvSpPr>
        <p:spPr bwMode="auto">
          <a:xfrm rot="0">
            <a:off x="1389862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1バイト</a:t>
            </a:r>
            <a:endParaRPr/>
          </a:p>
        </p:txBody>
      </p:sp>
      <p:sp>
        <p:nvSpPr>
          <p:cNvPr id="1082251532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8ビット</a:t>
            </a:r>
            <a:endParaRPr/>
          </a:p>
        </p:txBody>
      </p:sp>
      <p:sp>
        <p:nvSpPr>
          <p:cNvPr id="165951993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036591651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32ビット（4 * 8）、または4バイト</a:t>
            </a:r>
            <a:endParaRPr/>
          </a:p>
        </p:txBody>
      </p:sp>
      <p:sp>
        <p:nvSpPr>
          <p:cNvPr id="1757370390" name=""/>
          <p:cNvSpPr/>
          <p:nvPr/>
        </p:nvSpPr>
        <p:spPr bwMode="auto">
          <a:xfrm rot="5399943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206920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092999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08570713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77089976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45320960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073750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51535860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150430821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ルーティングとリモート・アクセスを実行するサーバー</a:t>
            </a:r>
            <a:endParaRPr sz="1400"/>
          </a:p>
        </p:txBody>
      </p:sp>
      <p:sp>
        <p:nvSpPr>
          <p:cNvPr id="270777721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インターネット</a:t>
            </a:r>
            <a:endParaRPr/>
          </a:p>
        </p:txBody>
      </p:sp>
      <p:sp>
        <p:nvSpPr>
          <p:cNvPr id="306055063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9339975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68096446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791753069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85289681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714608489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2082800330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2119244138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048185865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613413971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28025596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5322443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85837891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06085056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プライベートネットワーク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8697055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5436210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5602506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67075063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58787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45654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9452702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348562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254007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46315518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308367304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2003883888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9196704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97846116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16202541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インターネット</a:t>
            </a:r>
            <a:endParaRPr/>
          </a:p>
        </p:txBody>
      </p:sp>
      <p:sp>
        <p:nvSpPr>
          <p:cNvPr id="1789084269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会社概要</a:t>
            </a:r>
            <a:endParaRPr/>
          </a:p>
        </p:txBody>
      </p:sp>
      <p:sp>
        <p:nvSpPr>
          <p:cNvPr id="1058383903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5949398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ゲートウェイ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(ルータまたはファイアウォール）</a:t>
            </a:r>
          </a:p>
        </p:txBody>
      </p:sp>
      <p:sp>
        <p:nvSpPr>
          <p:cNvPr id="1918356144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ウェブサーバー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IPアドレス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HTTPポート80</a:t>
            </a:r>
          </a:p>
        </p:txBody>
      </p:sp>
      <p:sp>
        <p:nvSpPr>
          <p:cNvPr id="2035226425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エクストラネットサーバー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IPアドレス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HTTPポート80</a:t>
            </a:r>
          </a:p>
        </p:txBody>
      </p:sp>
      <p:sp>
        <p:nvSpPr>
          <p:cNvPr id="706364853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イントラネットサーバー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IPアドレス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HTTPポート80</a:t>
            </a:r>
          </a:p>
        </p:txBody>
      </p:sp>
      <p:sp>
        <p:nvSpPr>
          <p:cNvPr id="1756933045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会社コンピュータ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1985710662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会社コンピュータ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9859076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50187373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2894489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5600472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4984479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6308961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71591726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21194199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750260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1335013771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407875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93284393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12058187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00610852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95795554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411968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86706453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507488977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47814561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8089535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726262968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752085098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08696850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1427564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ボンド0</a:t>
            </a:r>
            <a:endParaRPr/>
          </a:p>
        </p:txBody>
      </p:sp>
      <p:grpSp>
        <p:nvGrpSpPr>
          <p:cNvPr id="143382956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9468270" name=""/>
          <p:cNvGrpSpPr/>
          <p:nvPr/>
        </p:nvGrpSpPr>
        <p:grpSpPr bwMode="auto">
          <a:xfrm>
            <a:off x="1854148" y="2050468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5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5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003449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19507702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38040553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698377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2075231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081330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67431727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53161869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59666786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0133391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5417899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IPv6ヘッダー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ホップバイホップオプション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Nバイト</a:t>
            </a:r>
          </a:p>
        </p:txBody>
      </p:sp>
      <p:sp>
        <p:nvSpPr>
          <p:cNvPr id="1855594147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オプション</a:t>
            </a:r>
            <a:endParaRPr/>
          </a:p>
        </p:txBody>
      </p:sp>
      <p:sp>
        <p:nvSpPr>
          <p:cNvPr id="659210542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次のヘッダー</a:t>
            </a:r>
            <a:endParaRPr/>
          </a:p>
        </p:txBody>
      </p:sp>
      <p:sp>
        <p:nvSpPr>
          <p:cNvPr id="204982917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長さ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855636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12511010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4715037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89937895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9288515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3867596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71888424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87318958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8189142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035318131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34826677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72898078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740820845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IPv6ヘッダー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ルーティングオプション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Nバイト</a:t>
            </a:r>
          </a:p>
        </p:txBody>
      </p:sp>
      <p:sp>
        <p:nvSpPr>
          <p:cNvPr id="1693240014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オプション</a:t>
            </a:r>
            <a:endParaRPr/>
          </a:p>
        </p:txBody>
      </p:sp>
      <p:sp>
        <p:nvSpPr>
          <p:cNvPr id="1578349752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次のヘッダー</a:t>
            </a:r>
            <a:endParaRPr sz="1200"/>
          </a:p>
        </p:txBody>
      </p:sp>
      <p:sp>
        <p:nvSpPr>
          <p:cNvPr id="755572321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長さ</a:t>
            </a:r>
            <a:endParaRPr sz="1200"/>
          </a:p>
        </p:txBody>
      </p:sp>
      <p:sp>
        <p:nvSpPr>
          <p:cNvPr id="2067157611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1695540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898811227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タイプ</a:t>
            </a:r>
            <a:endParaRPr sz="1200"/>
          </a:p>
        </p:txBody>
      </p:sp>
      <p:sp>
        <p:nvSpPr>
          <p:cNvPr id="340285442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セグメント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057621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39185192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70948996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63791336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5628478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288856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6158639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205479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66074783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91408172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0151120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6981996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IPv6ヘッダー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フラグメントオプション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8バイト</a:t>
            </a:r>
          </a:p>
        </p:txBody>
      </p:sp>
      <p:sp>
        <p:nvSpPr>
          <p:cNvPr id="326383263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識別</a:t>
            </a:r>
            <a:endParaRPr sz="1200"/>
          </a:p>
        </p:txBody>
      </p:sp>
      <p:sp>
        <p:nvSpPr>
          <p:cNvPr id="2052771362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次のヘッダー</a:t>
            </a:r>
            <a:endParaRPr sz="1200"/>
          </a:p>
        </p:txBody>
      </p:sp>
      <p:sp>
        <p:nvSpPr>
          <p:cNvPr id="2108363755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予約</a:t>
            </a:r>
            <a:endParaRPr sz="1200"/>
          </a:p>
        </p:txBody>
      </p:sp>
      <p:sp>
        <p:nvSpPr>
          <p:cNvPr id="851659974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77664705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05875953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オフセット - 13ビット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予約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2ビット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- 1ビット</a:t>
            </a:r>
          </a:p>
        </p:txBody>
      </p:sp>
      <p:sp>
        <p:nvSpPr>
          <p:cNvPr id="2105523813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094623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88389354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6415842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7552644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3112069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37916384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17609216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8319885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58071426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8331225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35675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2080343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47020854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52212747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86882529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4497446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8282016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660437415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32122827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6767012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141689376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IPv6ヘッダー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認証オプション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Nバイト</a:t>
            </a:r>
          </a:p>
        </p:txBody>
      </p:sp>
      <p:sp>
        <p:nvSpPr>
          <p:cNvPr id="1369325110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416221459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次のヘッダー</a:t>
            </a:r>
            <a:endParaRPr sz="1400"/>
          </a:p>
        </p:txBody>
      </p:sp>
      <p:sp>
        <p:nvSpPr>
          <p:cNvPr id="387631698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長さ</a:t>
            </a:r>
            <a:endParaRPr sz="1400"/>
          </a:p>
        </p:txBody>
      </p:sp>
      <p:sp>
        <p:nvSpPr>
          <p:cNvPr id="1725678693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28736336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9528543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予約</a:t>
            </a:r>
            <a:endParaRPr sz="1400"/>
          </a:p>
        </p:txBody>
      </p:sp>
      <p:sp>
        <p:nvSpPr>
          <p:cNvPr id="473146974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37273915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7568033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シーケンス</a:t>
            </a:r>
            <a:endParaRPr/>
          </a:p>
        </p:txBody>
      </p:sp>
      <p:sp>
        <p:nvSpPr>
          <p:cNvPr id="1512481821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スパイク</a:t>
            </a:r>
            <a:endParaRPr/>
          </a:p>
        </p:txBody>
      </p:sp>
      <p:sp>
        <p:nvSpPr>
          <p:cNvPr id="1652701648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469654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2711357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2216041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4936443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9089175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33440427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2245535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53291115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11189318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99405947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551739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IPv6ヘッダ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宛先オプション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Nバイト</a:t>
            </a:r>
          </a:p>
        </p:txBody>
      </p:sp>
      <p:sp>
        <p:nvSpPr>
          <p:cNvPr id="807868457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オプション</a:t>
            </a:r>
            <a:endParaRPr/>
          </a:p>
        </p:txBody>
      </p:sp>
      <p:sp>
        <p:nvSpPr>
          <p:cNvPr id="1254550024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次のヘッダー</a:t>
            </a:r>
            <a:endParaRPr/>
          </a:p>
        </p:txBody>
      </p:sp>
      <p:sp>
        <p:nvSpPr>
          <p:cNvPr id="1953334732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長さ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2011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5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948083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152366562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2228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1513675494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8</cp:revision>
  <dcterms:created xsi:type="dcterms:W3CDTF">2006-08-16T00:00:00Z</dcterms:created>
  <dcterms:modified xsi:type="dcterms:W3CDTF">2025-10-14T12:26:40Z</dcterms:modified>
</cp:coreProperties>
</file>