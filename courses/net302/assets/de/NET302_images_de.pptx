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aveSubsetFonts="1">
  <p:sldMasterIdLst>
    <p:sldMasterId id="2147483648" r:id="rId1"/>
  </p:sldMasterIdLst>
  <p:notesMasterIdLst>
    <p:notesMasterId r:id="rId3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4" d="100"/>
          <a:sy n="74" d="100"/>
        </p:scale>
        <p:origin x="-1092" y="-90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tableStyles" Target="tableStyles.xml"/><Relationship Id="rId42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171304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63981157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134965349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91954953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42611166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54979151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97632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257362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69416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97712F-7D01-5388-A6FA-6409C3F84CB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2434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87405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89078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617691B-247C-9F60-279C-AF11D337E4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47002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070202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58661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FD83C59-43EC-C83D-9B29-A39F21AC0CC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85831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802467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65969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B5DAC2-E015-8737-053A-BF3B4A89CB2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24414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55826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14505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354F781-A25C-2608-828F-0D73AF2CFA2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51404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396363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94528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8CF5C7-4FE7-11F5-0707-CF08DF99AE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98484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95772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16317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3210923-DBEA-F79A-9DE9-A980ACF64B2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2093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667042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92898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E65076-5C84-40C4-A631-621184D6B11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72185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99567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16170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ADAFD0-883C-3A6B-9E02-AED0F58A42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2647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223806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93496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796C095-0095-BABB-BA02-313AF27DC55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42619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308596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17659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D22D52-BF1B-46DE-62F5-392A4163482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34319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165360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11152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25BA69-3E22-3C6D-E985-20CDCA35F62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73571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01495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33186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E73784-D7AA-77AD-7F7F-65C9D6AD34C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18874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093772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66755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9F36EB-6E53-6761-BFD6-C31A56C0C81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15872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83239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49383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B53322-40DF-D2F6-3606-1126A10AF17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39096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65571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53351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6D7228-7816-C87C-0C37-9EF25B4373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55221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28804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14843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F39229-EA08-5FF5-F083-54DCF534707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86139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354023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01756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B30BB1-5B68-F1C1-C0A5-AF49718A31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49854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79905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17034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4005472-BDDC-8E72-71C2-6BFDE21CFAA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67898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43374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36043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4BA273-BD3A-3B6F-B7CE-69F5AC7B8EC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91832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288169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5589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D959BB-0108-C2CF-BF98-322F09672A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80912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23094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78682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F0C352-E68C-65E5-64C1-95525EF8EAA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9464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44314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61051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FED08A-B9D8-C0E9-CD83-9F6DB767C66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28977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035774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53979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92BEE8-8DA9-72F1-A1AA-EB3204DBEA2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69958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638849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81201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AAAE26-33B5-5AC0-2664-452D563429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54267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60038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46039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DF8A16-257E-BD41-B658-2835041531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38170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34534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41974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59DD29-E549-6109-1C7F-B0EE789929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49760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85263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81265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9AC59D-0209-76D0-14F5-CAA9CFA5025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09812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2251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80209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0452D5D-FC85-88D2-DB2D-92E298925C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01457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25303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90926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5B527BF-3F10-AE9F-0F13-005FC3ED647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88707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597828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22210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596B25-C19F-F881-C518-C4FC452FF01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00895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41351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09135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3DF0C4-BBAC-78E9-9B93-DBF5968B979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5CFAC89-6479-6BD1-A36C-236FBBFEB2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1F2B6C-C65E-A9ED-A79C-DC47FF34590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77E2D1-F653-AC9C-3CB0-A71A2C3330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9810267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67137185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33004620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9019044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9492446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742105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2187892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9482930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156393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4343465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1515460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6072974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96649452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2601289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8478730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826233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44324281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4413440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7299634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15529794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8423805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677894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8393435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6212424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00082988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62041254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75011246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67538785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1606391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92032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72608812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483052467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88699280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4451698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816611464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50118029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6573449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05177111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2938938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9075706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6170662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8862227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1581210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70866144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57556091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6207824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30126225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2836639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431890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07147442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7041782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99756568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0875971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5130315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52752276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4501386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11993506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6579193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2783767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1989371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43379481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72639714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25198101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1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9506141" name="Group 2"/>
          <p:cNvGrpSpPr/>
          <p:nvPr/>
        </p:nvGrpSpPr>
        <p:grpSpPr bwMode="auto">
          <a:xfrm rot="0">
            <a:off x="3981359" y="1314359"/>
            <a:ext cx="4229283" cy="422928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970684748" name="Freeform 5"/>
          <p:cNvSpPr/>
          <p:nvPr/>
        </p:nvSpPr>
        <p:spPr bwMode="auto">
          <a:xfrm rot="0" flipH="0" flipV="0">
            <a:off x="5672103" y="68580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1491264" name="Freeform 6"/>
          <p:cNvSpPr/>
          <p:nvPr/>
        </p:nvSpPr>
        <p:spPr bwMode="auto">
          <a:xfrm rot="0" flipH="0" flipV="0">
            <a:off x="3771541" y="1889717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98225632" name="Freeform 7"/>
          <p:cNvSpPr/>
          <p:nvPr/>
        </p:nvSpPr>
        <p:spPr bwMode="auto">
          <a:xfrm rot="0" flipH="0" flipV="0">
            <a:off x="4149267" y="417204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43521066" name="Freeform 8"/>
          <p:cNvSpPr/>
          <p:nvPr/>
        </p:nvSpPr>
        <p:spPr bwMode="auto">
          <a:xfrm rot="0" flipH="0" flipV="0">
            <a:off x="7135806" y="4274369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82703569" name="Freeform 9"/>
          <p:cNvSpPr/>
          <p:nvPr/>
        </p:nvSpPr>
        <p:spPr bwMode="auto">
          <a:xfrm rot="0" flipH="0" flipV="0">
            <a:off x="7461314" y="205740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379402" name="Freeform 2"/>
          <p:cNvSpPr/>
          <p:nvPr/>
        </p:nvSpPr>
        <p:spPr bwMode="auto">
          <a:xfrm rot="0" flipH="0" flipV="0">
            <a:off x="1264861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47360460" name="Freeform 3"/>
          <p:cNvSpPr/>
          <p:nvPr/>
        </p:nvSpPr>
        <p:spPr bwMode="auto">
          <a:xfrm rot="0" flipH="0" flipV="0">
            <a:off x="4125814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18057417" name="Freeform 4"/>
          <p:cNvSpPr/>
          <p:nvPr/>
        </p:nvSpPr>
        <p:spPr bwMode="auto">
          <a:xfrm rot="0" flipH="0" flipV="0">
            <a:off x="6991350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3110010" name="Freeform 5"/>
          <p:cNvSpPr/>
          <p:nvPr/>
        </p:nvSpPr>
        <p:spPr bwMode="auto">
          <a:xfrm rot="0" flipH="0" flipV="0">
            <a:off x="9852304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90907032" name="Freeform 6"/>
          <p:cNvSpPr/>
          <p:nvPr/>
        </p:nvSpPr>
        <p:spPr bwMode="auto">
          <a:xfrm rot="0" flipH="0" flipV="0">
            <a:off x="2659266" y="2741948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05099266" name="Freeform 7"/>
          <p:cNvSpPr/>
          <p:nvPr/>
        </p:nvSpPr>
        <p:spPr bwMode="auto">
          <a:xfrm rot="0" flipH="0" flipV="0">
            <a:off x="8457898" y="2741948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777624493" name="Freeform 8"/>
          <p:cNvSpPr/>
          <p:nvPr/>
        </p:nvSpPr>
        <p:spPr bwMode="auto">
          <a:xfrm rot="0" flipH="0" flipV="0">
            <a:off x="5558582" y="657878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55584103" name="AutoShape 9"/>
          <p:cNvSpPr/>
          <p:nvPr/>
        </p:nvSpPr>
        <p:spPr bwMode="auto">
          <a:xfrm flipV="1">
            <a:off x="1802279" y="4113548"/>
            <a:ext cx="1394405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600585018" name="AutoShape 10"/>
          <p:cNvSpPr/>
          <p:nvPr/>
        </p:nvSpPr>
        <p:spPr bwMode="auto">
          <a:xfrm flipH="1" flipV="1">
            <a:off x="3196684" y="4113548"/>
            <a:ext cx="1466548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224232267" name="AutoShape 11"/>
          <p:cNvSpPr/>
          <p:nvPr/>
        </p:nvSpPr>
        <p:spPr bwMode="auto">
          <a:xfrm flipH="1">
            <a:off x="7528768" y="4113548"/>
            <a:ext cx="1466548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956301162" name="AutoShape 12"/>
          <p:cNvSpPr/>
          <p:nvPr/>
        </p:nvSpPr>
        <p:spPr bwMode="auto">
          <a:xfrm>
            <a:off x="8995316" y="4113548"/>
            <a:ext cx="1394405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243677513" name="AutoShape 13"/>
          <p:cNvSpPr/>
          <p:nvPr/>
        </p:nvSpPr>
        <p:spPr bwMode="auto">
          <a:xfrm>
            <a:off x="6096000" y="2029478"/>
            <a:ext cx="2899316" cy="71247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55235798" name="AutoShape 14"/>
          <p:cNvSpPr/>
          <p:nvPr/>
        </p:nvSpPr>
        <p:spPr bwMode="auto">
          <a:xfrm flipH="1">
            <a:off x="3196684" y="2029478"/>
            <a:ext cx="2899316" cy="71247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688648" name="Freeform 2"/>
          <p:cNvSpPr/>
          <p:nvPr/>
        </p:nvSpPr>
        <p:spPr bwMode="auto">
          <a:xfrm rot="0" flipH="0" flipV="0">
            <a:off x="2772127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04230443" name="AutoShape 3"/>
          <p:cNvSpPr/>
          <p:nvPr/>
        </p:nvSpPr>
        <p:spPr bwMode="auto">
          <a:xfrm flipH="1">
            <a:off x="2408151" y="4477673"/>
            <a:ext cx="7375699" cy="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56983528" name="AutoShape 4"/>
          <p:cNvSpPr/>
          <p:nvPr/>
        </p:nvSpPr>
        <p:spPr bwMode="auto">
          <a:xfrm flipV="1">
            <a:off x="3309545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647395642" name="Freeform 5"/>
          <p:cNvSpPr/>
          <p:nvPr/>
        </p:nvSpPr>
        <p:spPr bwMode="auto">
          <a:xfrm rot="0" flipH="0" flipV="0">
            <a:off x="4628012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740686370" name="Freeform 6"/>
          <p:cNvSpPr/>
          <p:nvPr/>
        </p:nvSpPr>
        <p:spPr bwMode="auto">
          <a:xfrm rot="0" flipH="0" flipV="0">
            <a:off x="6486525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368914516" name="Freeform 7"/>
          <p:cNvSpPr/>
          <p:nvPr/>
        </p:nvSpPr>
        <p:spPr bwMode="auto">
          <a:xfrm rot="0" flipH="0" flipV="0">
            <a:off x="8345038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23782728" name="AutoShape 8"/>
          <p:cNvSpPr/>
          <p:nvPr/>
        </p:nvSpPr>
        <p:spPr bwMode="auto">
          <a:xfrm flipV="1">
            <a:off x="5165429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2444637" name="AutoShape 9"/>
          <p:cNvSpPr/>
          <p:nvPr/>
        </p:nvSpPr>
        <p:spPr bwMode="auto">
          <a:xfrm flipV="1">
            <a:off x="7023943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2049562" name="AutoShape 10"/>
          <p:cNvSpPr/>
          <p:nvPr/>
        </p:nvSpPr>
        <p:spPr bwMode="auto">
          <a:xfrm flipV="1">
            <a:off x="8882455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1487057" name="AutoShape 2"/>
          <p:cNvSpPr/>
          <p:nvPr/>
        </p:nvSpPr>
        <p:spPr bwMode="auto">
          <a:xfrm flipH="1">
            <a:off x="6673808" y="2077866"/>
            <a:ext cx="2670338" cy="111078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71726087" name="Freeform 3"/>
          <p:cNvSpPr/>
          <p:nvPr/>
        </p:nvSpPr>
        <p:spPr bwMode="auto">
          <a:xfrm rot="0" flipH="0" flipV="0">
            <a:off x="2673889" y="1123557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13308657" name="Freeform 4"/>
          <p:cNvSpPr/>
          <p:nvPr/>
        </p:nvSpPr>
        <p:spPr bwMode="auto">
          <a:xfrm rot="0" flipH="0" flipV="0">
            <a:off x="5518192" y="2638466"/>
            <a:ext cx="1155617" cy="1581068"/>
          </a:xfrm>
          <a:custGeom>
            <a:avLst/>
            <a:gdLst/>
            <a:ahLst/>
            <a:cxnLst/>
            <a:rect l="l" t="t" r="r" b="b"/>
            <a:pathLst>
              <a:path w="1155617" h="1581068" fill="norm" stroke="1" extrusionOk="0">
                <a:moveTo>
                  <a:pt x="0" y="0"/>
                </a:moveTo>
                <a:lnTo>
                  <a:pt x="1155616" y="0"/>
                </a:lnTo>
                <a:lnTo>
                  <a:pt x="1155616" y="1581068"/>
                </a:lnTo>
                <a:lnTo>
                  <a:pt x="0" y="15810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333087775" name="Freeform 5"/>
          <p:cNvSpPr/>
          <p:nvPr/>
        </p:nvSpPr>
        <p:spPr bwMode="auto">
          <a:xfrm rot="0" flipH="0" flipV="0">
            <a:off x="8834977" y="141827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3232427" name="Freeform 6"/>
          <p:cNvSpPr/>
          <p:nvPr/>
        </p:nvSpPr>
        <p:spPr bwMode="auto">
          <a:xfrm rot="0" flipH="0" flipV="0">
            <a:off x="8297559" y="4477673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03248128" name="Freeform 7"/>
          <p:cNvSpPr/>
          <p:nvPr/>
        </p:nvSpPr>
        <p:spPr bwMode="auto">
          <a:xfrm rot="0" flipH="0" flipV="0">
            <a:off x="1745855" y="4110816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71287252" name="AutoShape 8"/>
          <p:cNvSpPr/>
          <p:nvPr/>
        </p:nvSpPr>
        <p:spPr bwMode="auto">
          <a:xfrm>
            <a:off x="3177160" y="1809357"/>
            <a:ext cx="2341031" cy="1299021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26889335" name="AutoShape 9"/>
          <p:cNvSpPr/>
          <p:nvPr/>
        </p:nvSpPr>
        <p:spPr bwMode="auto">
          <a:xfrm flipV="1">
            <a:off x="2210949" y="3636346"/>
            <a:ext cx="3307243" cy="118680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67755106" name="AutoShape 10"/>
          <p:cNvSpPr/>
          <p:nvPr/>
        </p:nvSpPr>
        <p:spPr bwMode="auto">
          <a:xfrm flipH="1" flipV="1">
            <a:off x="6096000" y="3457580"/>
            <a:ext cx="2201559" cy="1371178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4559291" name="AutoShape 2"/>
          <p:cNvSpPr/>
          <p:nvPr/>
        </p:nvSpPr>
        <p:spPr bwMode="auto">
          <a:xfrm flipV="1">
            <a:off x="9277150" y="3226680"/>
            <a:ext cx="355966" cy="118385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8560605" name="Freeform 3"/>
          <p:cNvSpPr/>
          <p:nvPr/>
        </p:nvSpPr>
        <p:spPr bwMode="auto">
          <a:xfrm rot="0" flipH="0" flipV="0">
            <a:off x="8533523" y="441053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92870299" name="AutoShape 4"/>
          <p:cNvSpPr/>
          <p:nvPr/>
        </p:nvSpPr>
        <p:spPr bwMode="auto">
          <a:xfrm flipH="1" flipV="1">
            <a:off x="2890092" y="2843670"/>
            <a:ext cx="5643431" cy="2056795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30354147" name="Freeform 5"/>
          <p:cNvSpPr/>
          <p:nvPr/>
        </p:nvSpPr>
        <p:spPr bwMode="auto">
          <a:xfrm rot="0" flipH="0" flipV="0">
            <a:off x="1815256" y="1962004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83438283" name="AutoShape 6"/>
          <p:cNvSpPr/>
          <p:nvPr/>
        </p:nvSpPr>
        <p:spPr bwMode="auto">
          <a:xfrm flipV="1">
            <a:off x="2890092" y="2548555"/>
            <a:ext cx="6411816" cy="915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69793864" name="Freeform 7"/>
          <p:cNvSpPr/>
          <p:nvPr/>
        </p:nvSpPr>
        <p:spPr bwMode="auto">
          <a:xfrm rot="0" flipH="0" flipV="0">
            <a:off x="3544790" y="4680415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40114552" name="AutoShape 8"/>
          <p:cNvSpPr/>
          <p:nvPr/>
        </p:nvSpPr>
        <p:spPr bwMode="auto">
          <a:xfrm flipV="1">
            <a:off x="4619625" y="5125405"/>
            <a:ext cx="3913898" cy="211737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67815055" name="Freeform 9"/>
          <p:cNvSpPr/>
          <p:nvPr/>
        </p:nvSpPr>
        <p:spPr bwMode="auto">
          <a:xfrm rot="0" flipH="0" flipV="0">
            <a:off x="9301908" y="185508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96108198" name="AutoShape 10"/>
          <p:cNvSpPr/>
          <p:nvPr/>
        </p:nvSpPr>
        <p:spPr bwMode="auto">
          <a:xfrm flipH="1" flipV="1">
            <a:off x="6032044" y="1621553"/>
            <a:ext cx="3269863" cy="789559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5074265" name="Freeform 11"/>
          <p:cNvSpPr/>
          <p:nvPr/>
        </p:nvSpPr>
        <p:spPr bwMode="auto">
          <a:xfrm rot="0" flipH="0" flipV="0">
            <a:off x="4957210" y="805985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03703314" name="AutoShape 12"/>
          <p:cNvSpPr/>
          <p:nvPr/>
        </p:nvSpPr>
        <p:spPr bwMode="auto">
          <a:xfrm flipH="1">
            <a:off x="2890092" y="1689517"/>
            <a:ext cx="2067118" cy="760555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30739685" name="AutoShape 13"/>
          <p:cNvSpPr/>
          <p:nvPr/>
        </p:nvSpPr>
        <p:spPr bwMode="auto">
          <a:xfrm flipV="1">
            <a:off x="4619625" y="2804620"/>
            <a:ext cx="4682283" cy="2297855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214462933" name="AutoShape 14"/>
          <p:cNvSpPr/>
          <p:nvPr/>
        </p:nvSpPr>
        <p:spPr bwMode="auto">
          <a:xfrm flipH="1" flipV="1">
            <a:off x="6032044" y="2033445"/>
            <a:ext cx="2501478" cy="2521226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62693360" name="AutoShape 15"/>
          <p:cNvSpPr/>
          <p:nvPr/>
        </p:nvSpPr>
        <p:spPr bwMode="auto">
          <a:xfrm flipH="1" flipV="1">
            <a:off x="2789000" y="3333603"/>
            <a:ext cx="856881" cy="134681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94102360" name="AutoShape 16"/>
          <p:cNvSpPr/>
          <p:nvPr/>
        </p:nvSpPr>
        <p:spPr bwMode="auto">
          <a:xfrm flipV="1">
            <a:off x="4332215" y="2177585"/>
            <a:ext cx="912404" cy="2502831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2826332" name="Freeform 3"/>
          <p:cNvSpPr/>
          <p:nvPr/>
        </p:nvSpPr>
        <p:spPr bwMode="auto">
          <a:xfrm rot="0" flipH="0" flipV="0">
            <a:off x="6442562" y="930681"/>
            <a:ext cx="2488632" cy="2271155"/>
          </a:xfrm>
          <a:custGeom>
            <a:avLst/>
            <a:gdLst/>
            <a:ahLst/>
            <a:cxnLst/>
            <a:rect l="l" t="t" r="r" b="b"/>
            <a:pathLst>
              <a:path w="983164" h="897247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850583"/>
                </a:lnTo>
                <a:cubicBezTo>
                  <a:pt x="983164" y="876355"/>
                  <a:pt x="962272" y="897247"/>
                  <a:pt x="936500" y="897247"/>
                </a:cubicBezTo>
                <a:lnTo>
                  <a:pt x="46664" y="897247"/>
                </a:lnTo>
                <a:cubicBezTo>
                  <a:pt x="20892" y="897247"/>
                  <a:pt x="0" y="876355"/>
                  <a:pt x="0" y="850583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539107221" name="TextBox 4"/>
          <p:cNvSpPr txBox="1"/>
          <p:nvPr/>
        </p:nvSpPr>
        <p:spPr bwMode="auto">
          <a:xfrm rot="0" flipH="0" flipV="0">
            <a:off x="6442562" y="834240"/>
            <a:ext cx="2488632" cy="236759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Anmeldung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78951345" name="Freeform 6"/>
          <p:cNvSpPr/>
          <p:nvPr/>
        </p:nvSpPr>
        <p:spPr bwMode="auto">
          <a:xfrm rot="0" flipH="0" flipV="0">
            <a:off x="3260803" y="1724159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510297022" name="TextBox 7"/>
          <p:cNvSpPr txBox="1"/>
          <p:nvPr/>
        </p:nvSpPr>
        <p:spPr bwMode="auto">
          <a:xfrm rot="0" flipH="0" flipV="0">
            <a:off x="3260803" y="1627719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6.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Präsentation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044771940" name="Freeform 9"/>
          <p:cNvSpPr/>
          <p:nvPr/>
        </p:nvSpPr>
        <p:spPr bwMode="auto">
          <a:xfrm rot="0" flipH="0" flipV="0">
            <a:off x="3260803" y="2513131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203642852" name="TextBox 10"/>
          <p:cNvSpPr txBox="1"/>
          <p:nvPr/>
        </p:nvSpPr>
        <p:spPr bwMode="auto">
          <a:xfrm rot="0" flipH="0" flipV="0">
            <a:off x="3260803" y="2416691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5.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Sitzung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52770869" name="Freeform 12"/>
          <p:cNvSpPr/>
          <p:nvPr/>
        </p:nvSpPr>
        <p:spPr bwMode="auto">
          <a:xfrm rot="0" flipH="0" flipV="0">
            <a:off x="3260803" y="3306610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644319077" name="TextBox 13"/>
          <p:cNvSpPr txBox="1"/>
          <p:nvPr/>
        </p:nvSpPr>
        <p:spPr bwMode="auto">
          <a:xfrm rot="0" flipH="0" flipV="0">
            <a:off x="3260803" y="3210170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4.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Transport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04485756" name="Freeform 15"/>
          <p:cNvSpPr/>
          <p:nvPr/>
        </p:nvSpPr>
        <p:spPr bwMode="auto">
          <a:xfrm rot="0" flipH="0" flipV="0">
            <a:off x="3260803" y="4095583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919778366" name="TextBox 16"/>
          <p:cNvSpPr txBox="1"/>
          <p:nvPr/>
        </p:nvSpPr>
        <p:spPr bwMode="auto">
          <a:xfrm rot="0" flipH="0" flipV="0">
            <a:off x="3260803" y="3999143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3.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Netzwerk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187100" name="Freeform 18"/>
          <p:cNvSpPr/>
          <p:nvPr/>
        </p:nvSpPr>
        <p:spPr bwMode="auto">
          <a:xfrm rot="0" flipH="0" flipV="0">
            <a:off x="3260803" y="4889062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0360480" name="TextBox 19"/>
          <p:cNvSpPr txBox="1"/>
          <p:nvPr/>
        </p:nvSpPr>
        <p:spPr bwMode="auto">
          <a:xfrm rot="0" flipH="0" flipV="0">
            <a:off x="3260803" y="4792622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2.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Datenverbindung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40155741" name="Freeform 21"/>
          <p:cNvSpPr/>
          <p:nvPr/>
        </p:nvSpPr>
        <p:spPr bwMode="auto">
          <a:xfrm rot="0" flipH="0" flipV="0">
            <a:off x="3260803" y="5678034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86056263" name="TextBox 22"/>
          <p:cNvSpPr txBox="1"/>
          <p:nvPr/>
        </p:nvSpPr>
        <p:spPr bwMode="auto">
          <a:xfrm rot="0" flipH="0" flipV="0">
            <a:off x="3260803" y="5581595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1.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Physisch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29680375" name="Freeform 24"/>
          <p:cNvSpPr/>
          <p:nvPr/>
        </p:nvSpPr>
        <p:spPr bwMode="auto">
          <a:xfrm rot="0" flipH="0" flipV="0">
            <a:off x="3260803" y="930681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06257768" name="TextBox 25"/>
          <p:cNvSpPr txBox="1"/>
          <p:nvPr/>
        </p:nvSpPr>
        <p:spPr bwMode="auto">
          <a:xfrm rot="0" flipH="0" flipV="0">
            <a:off x="3260803" y="834240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7.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Anmeldung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81383750" name="TextBox 26"/>
          <p:cNvSpPr txBox="1"/>
          <p:nvPr/>
        </p:nvSpPr>
        <p:spPr bwMode="auto">
          <a:xfrm rot="0" flipH="0" flipV="0">
            <a:off x="2901681" y="265166"/>
            <a:ext cx="3152629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OSI-Modell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96772804" name="TextBox 27"/>
          <p:cNvSpPr txBox="1"/>
          <p:nvPr/>
        </p:nvSpPr>
        <p:spPr bwMode="auto">
          <a:xfrm rot="0" flipH="0" flipV="0">
            <a:off x="6226771" y="265166"/>
            <a:ext cx="3117992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TCP/IP-Modell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81958183" name="Freeform 29"/>
          <p:cNvSpPr/>
          <p:nvPr/>
        </p:nvSpPr>
        <p:spPr bwMode="auto">
          <a:xfrm rot="0" flipH="0" flipV="0">
            <a:off x="6442562" y="3306610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960759645" name="TextBox 30"/>
          <p:cNvSpPr txBox="1"/>
          <p:nvPr/>
        </p:nvSpPr>
        <p:spPr bwMode="auto">
          <a:xfrm rot="0" flipH="0" flipV="0">
            <a:off x="6442562" y="3210170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Transport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/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57091880" name="Freeform 32"/>
          <p:cNvSpPr/>
          <p:nvPr/>
        </p:nvSpPr>
        <p:spPr bwMode="auto">
          <a:xfrm rot="0" flipH="0" flipV="0">
            <a:off x="6442562" y="4100089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52449305" name="TextBox 33"/>
          <p:cNvSpPr txBox="1"/>
          <p:nvPr/>
        </p:nvSpPr>
        <p:spPr bwMode="auto">
          <a:xfrm rot="0" flipH="0" flipV="0">
            <a:off x="6442562" y="4003649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Internet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/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732322514" name="Freeform 35"/>
          <p:cNvSpPr/>
          <p:nvPr/>
        </p:nvSpPr>
        <p:spPr bwMode="auto">
          <a:xfrm rot="0" flipH="0" flipV="0">
            <a:off x="6442562" y="4893568"/>
            <a:ext cx="2488632" cy="1473169"/>
          </a:xfrm>
          <a:custGeom>
            <a:avLst/>
            <a:gdLst/>
            <a:ahLst/>
            <a:cxnLst/>
            <a:rect l="l" t="t" r="r" b="b"/>
            <a:pathLst>
              <a:path w="983164" h="581993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535330"/>
                </a:lnTo>
                <a:cubicBezTo>
                  <a:pt x="983164" y="561101"/>
                  <a:pt x="962272" y="581993"/>
                  <a:pt x="936500" y="581993"/>
                </a:cubicBezTo>
                <a:lnTo>
                  <a:pt x="46664" y="581993"/>
                </a:lnTo>
                <a:cubicBezTo>
                  <a:pt x="20892" y="581993"/>
                  <a:pt x="0" y="561101"/>
                  <a:pt x="0" y="535330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11886769" name="TextBox 36"/>
          <p:cNvSpPr txBox="1"/>
          <p:nvPr/>
        </p:nvSpPr>
        <p:spPr bwMode="auto">
          <a:xfrm rot="0" flipH="0" flipV="0">
            <a:off x="6442562" y="4797128"/>
            <a:ext cx="2488632" cy="1569610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Netzzugang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/>
            </a: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6317310" name="AutoShape 3"/>
          <p:cNvSpPr/>
          <p:nvPr/>
        </p:nvSpPr>
        <p:spPr bwMode="auto">
          <a:xfrm>
            <a:off x="0" y="3429000"/>
            <a:ext cx="5582330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267208603" name="AutoShape 4"/>
          <p:cNvSpPr/>
          <p:nvPr/>
        </p:nvSpPr>
        <p:spPr bwMode="auto">
          <a:xfrm>
            <a:off x="6697573" y="3429000"/>
            <a:ext cx="5494427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567675751" name="Freeform 5"/>
          <p:cNvSpPr/>
          <p:nvPr/>
        </p:nvSpPr>
        <p:spPr bwMode="auto">
          <a:xfrm rot="0" flipH="0" flipV="0">
            <a:off x="641813" y="2829264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27564928" name="TextBox 6"/>
          <p:cNvSpPr txBox="1"/>
          <p:nvPr/>
        </p:nvSpPr>
        <p:spPr bwMode="auto">
          <a:xfrm rot="0" flipH="0" flipV="0">
            <a:off x="4139930" y="4095409"/>
            <a:ext cx="3957924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Router</a:t>
            </a:r>
            <a:endParaRPr/>
          </a:p>
        </p:txBody>
      </p:sp>
      <p:sp>
        <p:nvSpPr>
          <p:cNvPr id="1398907663" name="Freeform 10"/>
          <p:cNvSpPr/>
          <p:nvPr/>
        </p:nvSpPr>
        <p:spPr bwMode="auto">
          <a:xfrm rot="0" flipH="0" flipV="0">
            <a:off x="3691750" y="2829264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1" y="0"/>
                </a:lnTo>
                <a:lnTo>
                  <a:pt x="1199471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119535709" name="Freeform 11"/>
          <p:cNvSpPr/>
          <p:nvPr/>
        </p:nvSpPr>
        <p:spPr bwMode="auto">
          <a:xfrm rot="0" flipH="0" flipV="0">
            <a:off x="698306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7570388" name="Freeform 12"/>
          <p:cNvSpPr/>
          <p:nvPr/>
        </p:nvSpPr>
        <p:spPr bwMode="auto">
          <a:xfrm rot="0" flipH="0" flipV="0">
            <a:off x="799271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58286313" name="Freeform 13"/>
          <p:cNvSpPr/>
          <p:nvPr/>
        </p:nvSpPr>
        <p:spPr bwMode="auto">
          <a:xfrm rot="0" flipH="0" flipV="0">
            <a:off x="1102166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68286754" name="Freeform 15"/>
          <p:cNvSpPr/>
          <p:nvPr/>
        </p:nvSpPr>
        <p:spPr bwMode="auto">
          <a:xfrm rot="0" flipH="0" flipV="0">
            <a:off x="1001201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86057026" name="AutoShape 16"/>
          <p:cNvSpPr/>
          <p:nvPr/>
        </p:nvSpPr>
        <p:spPr bwMode="auto">
          <a:xfrm>
            <a:off x="0" y="2762302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95477985" name="AutoShape 17"/>
          <p:cNvSpPr/>
          <p:nvPr/>
        </p:nvSpPr>
        <p:spPr bwMode="auto">
          <a:xfrm>
            <a:off x="-7787" y="4095410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019457270" name="AutoShape 18"/>
          <p:cNvSpPr/>
          <p:nvPr/>
        </p:nvSpPr>
        <p:spPr bwMode="auto">
          <a:xfrm>
            <a:off x="6609670" y="3019425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28853958" name="AutoShape 19"/>
          <p:cNvSpPr/>
          <p:nvPr/>
        </p:nvSpPr>
        <p:spPr bwMode="auto">
          <a:xfrm>
            <a:off x="6601884" y="3837895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pic>
        <p:nvPicPr>
          <p:cNvPr id="70302668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758875" y="3086100"/>
            <a:ext cx="621370" cy="642686"/>
          </a:xfrm>
          <a:prstGeom prst="rect">
            <a:avLst/>
          </a:prstGeom>
        </p:spPr>
      </p:pic>
      <p:grpSp>
        <p:nvGrpSpPr>
          <p:cNvPr id="1586542122" name=""/>
          <p:cNvGrpSpPr/>
          <p:nvPr/>
        </p:nvGrpSpPr>
        <p:grpSpPr bwMode="auto">
          <a:xfrm>
            <a:off x="1873591" y="2075866"/>
            <a:ext cx="1838622" cy="1952866"/>
            <a:chOff x="0" y="0"/>
            <a:chExt cx="1838622" cy="1952866"/>
          </a:xfrm>
        </p:grpSpPr>
        <p:sp>
          <p:nvSpPr>
            <p:cNvPr id="1802848257" name="TextBox 7"/>
            <p:cNvSpPr txBox="1"/>
            <p:nvPr/>
          </p:nvSpPr>
          <p:spPr bwMode="auto">
            <a:xfrm rot="0">
              <a:off x="0" y="0"/>
              <a:ext cx="1838623" cy="4387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MTU = 4000</a:t>
              </a:r>
              <a:endParaRPr/>
            </a:p>
          </p:txBody>
        </p:sp>
        <p:sp>
          <p:nvSpPr>
            <p:cNvPr id="1005215678" name="Freeform 9"/>
            <p:cNvSpPr/>
            <p:nvPr/>
          </p:nvSpPr>
          <p:spPr bwMode="auto">
            <a:xfrm rot="0" flipH="0" flipV="0">
              <a:off x="294837" y="753396"/>
              <a:ext cx="1199470" cy="1199470"/>
            </a:xfrm>
            <a:custGeom>
              <a:avLst/>
              <a:gdLst/>
              <a:ahLst/>
              <a:cxnLst/>
              <a:rect l="l" t="t" r="r" b="b"/>
              <a:pathLst>
                <a:path w="1199470" h="1199470" fill="norm" stroke="1" extrusionOk="0">
                  <a:moveTo>
                    <a:pt x="0" y="0"/>
                  </a:moveTo>
                  <a:lnTo>
                    <a:pt x="1199470" y="0"/>
                  </a:lnTo>
                  <a:lnTo>
                    <a:pt x="1199470" y="1199470"/>
                  </a:lnTo>
                  <a:lnTo>
                    <a:pt x="0" y="11994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</p:grpSp>
      <p:grpSp>
        <p:nvGrpSpPr>
          <p:cNvPr id="390982759" name=""/>
          <p:cNvGrpSpPr/>
          <p:nvPr/>
        </p:nvGrpSpPr>
        <p:grpSpPr bwMode="auto">
          <a:xfrm>
            <a:off x="8483107" y="2333041"/>
            <a:ext cx="1838622" cy="1438857"/>
            <a:chOff x="0" y="0"/>
            <a:chExt cx="1838622" cy="1438857"/>
          </a:xfrm>
        </p:grpSpPr>
        <p:sp>
          <p:nvSpPr>
            <p:cNvPr id="953742224" name="TextBox 8"/>
            <p:cNvSpPr txBox="1"/>
            <p:nvPr/>
          </p:nvSpPr>
          <p:spPr bwMode="auto">
            <a:xfrm rot="0">
              <a:off x="0" y="0"/>
              <a:ext cx="1838623" cy="4387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MTU = 1500</a:t>
              </a:r>
              <a:endParaRPr/>
            </a:p>
          </p:txBody>
        </p:sp>
        <p:sp>
          <p:nvSpPr>
            <p:cNvPr id="180798507" name="Freeform 14"/>
            <p:cNvSpPr/>
            <p:nvPr/>
          </p:nvSpPr>
          <p:spPr bwMode="auto">
            <a:xfrm rot="0" flipH="0" flipV="0">
              <a:off x="519260" y="753057"/>
              <a:ext cx="685800" cy="685800"/>
            </a:xfrm>
            <a:custGeom>
              <a:avLst/>
              <a:gdLst/>
              <a:ahLst/>
              <a:cxnLst/>
              <a:rect l="l" t="t" r="r" b="b"/>
              <a:pathLst>
                <a:path w="685800" h="685800" fill="norm" stroke="1" extrusionOk="0">
                  <a:moveTo>
                    <a:pt x="0" y="0"/>
                  </a:moveTo>
                  <a:lnTo>
                    <a:pt x="685800" y="0"/>
                  </a:lnTo>
                  <a:lnTo>
                    <a:pt x="6858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6624450" name="AutoShape 2"/>
          <p:cNvSpPr/>
          <p:nvPr/>
        </p:nvSpPr>
        <p:spPr bwMode="auto">
          <a:xfrm flipV="1">
            <a:off x="4945785" y="1093840"/>
            <a:ext cx="0" cy="398161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901137415" name="Freeform 4"/>
          <p:cNvSpPr/>
          <p:nvPr/>
        </p:nvSpPr>
        <p:spPr bwMode="auto">
          <a:xfrm rot="0" flipH="0" flipV="0">
            <a:off x="3076538" y="1813844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905326655" name="TextBox 5"/>
          <p:cNvSpPr txBox="1"/>
          <p:nvPr/>
        </p:nvSpPr>
        <p:spPr bwMode="auto">
          <a:xfrm rot="0" flipH="0" flipV="0">
            <a:off x="3076538" y="1717404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Anmeldung</a:t>
            </a:r>
            <a:endParaRPr sz="1400"/>
          </a:p>
        </p:txBody>
      </p:sp>
      <p:sp>
        <p:nvSpPr>
          <p:cNvPr id="1178297561" name="AutoShape 6"/>
          <p:cNvSpPr/>
          <p:nvPr/>
        </p:nvSpPr>
        <p:spPr bwMode="auto">
          <a:xfrm flipH="1">
            <a:off x="3697603" y="2502549"/>
            <a:ext cx="0" cy="2572906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216749345" name="Freeform 8"/>
          <p:cNvSpPr/>
          <p:nvPr/>
        </p:nvSpPr>
        <p:spPr bwMode="auto">
          <a:xfrm rot="0" flipH="0" flipV="0">
            <a:off x="3076538" y="2897947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396949578" name="TextBox 9"/>
          <p:cNvSpPr txBox="1"/>
          <p:nvPr/>
        </p:nvSpPr>
        <p:spPr bwMode="auto">
          <a:xfrm rot="0" flipH="0" flipV="0">
            <a:off x="3076538" y="2801507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Transport</a:t>
            </a:r>
            <a:endParaRPr sz="1400"/>
          </a:p>
        </p:txBody>
      </p:sp>
      <p:sp>
        <p:nvSpPr>
          <p:cNvPr id="2013335272" name="Freeform 11"/>
          <p:cNvSpPr/>
          <p:nvPr/>
        </p:nvSpPr>
        <p:spPr bwMode="auto">
          <a:xfrm rot="0" flipH="0" flipV="0">
            <a:off x="3076538" y="3986701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731273736" name="TextBox 12"/>
          <p:cNvSpPr txBox="1"/>
          <p:nvPr/>
        </p:nvSpPr>
        <p:spPr bwMode="auto">
          <a:xfrm rot="0" flipH="0" flipV="0">
            <a:off x="3076538" y="3890261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Internet</a:t>
            </a:r>
            <a:endParaRPr sz="1400"/>
          </a:p>
        </p:txBody>
      </p:sp>
      <p:sp>
        <p:nvSpPr>
          <p:cNvPr id="185901269" name="Freeform 14"/>
          <p:cNvSpPr/>
          <p:nvPr/>
        </p:nvSpPr>
        <p:spPr bwMode="auto">
          <a:xfrm rot="0" flipH="0" flipV="0">
            <a:off x="3076538" y="5075455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689800392" name="TextBox 15"/>
          <p:cNvSpPr txBox="1"/>
          <p:nvPr/>
        </p:nvSpPr>
        <p:spPr bwMode="auto">
          <a:xfrm rot="0" flipH="0" flipV="0">
            <a:off x="3076538" y="4979014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Netzzugang</a:t>
            </a:r>
            <a:endParaRPr sz="1400"/>
          </a:p>
        </p:txBody>
      </p:sp>
      <p:grpSp>
        <p:nvGrpSpPr>
          <p:cNvPr id="415339631" name="Group 16"/>
          <p:cNvGrpSpPr/>
          <p:nvPr/>
        </p:nvGrpSpPr>
        <p:grpSpPr bwMode="auto">
          <a:xfrm rot="0">
            <a:off x="5756301" y="2897948"/>
            <a:ext cx="992720" cy="688704"/>
            <a:chOff x="0" y="0"/>
            <a:chExt cx="392186" cy="272081"/>
          </a:xfrm>
        </p:grpSpPr>
        <p:sp>
          <p:nvSpPr>
            <p:cNvPr id="17" name="Freeform 17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220592176" name="Group 19"/>
          <p:cNvGrpSpPr/>
          <p:nvPr/>
        </p:nvGrpSpPr>
        <p:grpSpPr bwMode="auto">
          <a:xfrm rot="0">
            <a:off x="5756301" y="3986702"/>
            <a:ext cx="992720" cy="688704"/>
            <a:chOff x="0" y="0"/>
            <a:chExt cx="392186" cy="272081"/>
          </a:xfrm>
        </p:grpSpPr>
        <p:sp>
          <p:nvSpPr>
            <p:cNvPr id="20" name="Freeform 20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547509654" name="Group 22"/>
          <p:cNvGrpSpPr/>
          <p:nvPr/>
        </p:nvGrpSpPr>
        <p:grpSpPr bwMode="auto">
          <a:xfrm rot="0">
            <a:off x="5756301" y="5075456"/>
            <a:ext cx="992720" cy="688704"/>
            <a:chOff x="0" y="0"/>
            <a:chExt cx="392186" cy="272081"/>
          </a:xfrm>
        </p:grpSpPr>
        <p:sp>
          <p:nvSpPr>
            <p:cNvPr id="23" name="Freeform 23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881971888" name="Group 25"/>
          <p:cNvGrpSpPr/>
          <p:nvPr/>
        </p:nvGrpSpPr>
        <p:grpSpPr bwMode="auto">
          <a:xfrm rot="0">
            <a:off x="6939521" y="3986702"/>
            <a:ext cx="992720" cy="688704"/>
            <a:chOff x="0" y="0"/>
            <a:chExt cx="392186" cy="272081"/>
          </a:xfrm>
        </p:grpSpPr>
        <p:sp>
          <p:nvSpPr>
            <p:cNvPr id="26" name="Freeform 26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777433154" name="Group 28"/>
          <p:cNvGrpSpPr/>
          <p:nvPr/>
        </p:nvGrpSpPr>
        <p:grpSpPr bwMode="auto">
          <a:xfrm rot="0">
            <a:off x="6939521" y="5075456"/>
            <a:ext cx="992720" cy="688704"/>
            <a:chOff x="0" y="0"/>
            <a:chExt cx="392186" cy="272081"/>
          </a:xfrm>
        </p:grpSpPr>
        <p:sp>
          <p:nvSpPr>
            <p:cNvPr id="29" name="Freeform 29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097287266" name="Group 31"/>
          <p:cNvGrpSpPr/>
          <p:nvPr/>
        </p:nvGrpSpPr>
        <p:grpSpPr bwMode="auto">
          <a:xfrm rot="0">
            <a:off x="8122741" y="5075456"/>
            <a:ext cx="992720" cy="688704"/>
            <a:chOff x="0" y="0"/>
            <a:chExt cx="392186" cy="272081"/>
          </a:xfrm>
        </p:grpSpPr>
        <p:sp>
          <p:nvSpPr>
            <p:cNvPr id="32" name="Freeform 32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6668305" name="TextBox 2"/>
          <p:cNvSpPr txBox="1"/>
          <p:nvPr/>
        </p:nvSpPr>
        <p:spPr bwMode="auto">
          <a:xfrm rot="0" flipH="0" flipV="0">
            <a:off x="401956" y="1105376"/>
            <a:ext cx="2615247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Anmeldung</a:t>
            </a:r>
            <a:endParaRPr/>
          </a:p>
        </p:txBody>
      </p:sp>
      <p:grpSp>
        <p:nvGrpSpPr>
          <p:cNvPr id="1631746555" name="Group 3"/>
          <p:cNvGrpSpPr/>
          <p:nvPr/>
        </p:nvGrpSpPr>
        <p:grpSpPr bwMode="auto">
          <a:xfrm rot="0">
            <a:off x="5988903" y="1113736"/>
            <a:ext cx="3584990" cy="394128"/>
            <a:chOff x="0" y="0"/>
            <a:chExt cx="1416292" cy="155705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1416292" cy="155705"/>
            </a:xfrm>
            <a:custGeom>
              <a:avLst/>
              <a:gdLst/>
              <a:ahLst/>
              <a:cxnLst/>
              <a:rect l="l" t="t" r="r" b="b"/>
              <a:pathLst>
                <a:path w="1416292" h="155705" fill="norm" stroke="1" extrusionOk="0">
                  <a:moveTo>
                    <a:pt x="17276" y="0"/>
                  </a:moveTo>
                  <a:lnTo>
                    <a:pt x="1399016" y="0"/>
                  </a:lnTo>
                  <a:cubicBezTo>
                    <a:pt x="1403598" y="0"/>
                    <a:pt x="1407992" y="1820"/>
                    <a:pt x="1411232" y="5060"/>
                  </a:cubicBezTo>
                  <a:cubicBezTo>
                    <a:pt x="1414472" y="8300"/>
                    <a:pt x="1416292" y="12694"/>
                    <a:pt x="1416292" y="17276"/>
                  </a:cubicBezTo>
                  <a:lnTo>
                    <a:pt x="1416292" y="138429"/>
                  </a:lnTo>
                  <a:cubicBezTo>
                    <a:pt x="1416292" y="147970"/>
                    <a:pt x="1408557" y="155705"/>
                    <a:pt x="1399016" y="155705"/>
                  </a:cubicBezTo>
                  <a:lnTo>
                    <a:pt x="17276" y="155705"/>
                  </a:lnTo>
                  <a:cubicBezTo>
                    <a:pt x="7735" y="155705"/>
                    <a:pt x="0" y="147970"/>
                    <a:pt x="0" y="138429"/>
                  </a:cubicBezTo>
                  <a:lnTo>
                    <a:pt x="0" y="17276"/>
                  </a:lnTo>
                  <a:cubicBezTo>
                    <a:pt x="0" y="7735"/>
                    <a:pt x="7735" y="0"/>
                    <a:pt x="17276" y="0"/>
                  </a:cubicBezTo>
                  <a:close/>
                </a:path>
              </a:pathLst>
            </a:custGeom>
            <a:solidFill>
              <a:srgbClr val="FF5C00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38100"/>
              <a:ext cx="1416292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sp>
        <p:nvSpPr>
          <p:cNvPr id="1952499651" name="TextBox 6"/>
          <p:cNvSpPr txBox="1"/>
          <p:nvPr/>
        </p:nvSpPr>
        <p:spPr bwMode="auto">
          <a:xfrm rot="0" flipH="0" flipV="0">
            <a:off x="401956" y="3172728"/>
            <a:ext cx="2431532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IP-Schicht</a:t>
            </a:r>
            <a:endParaRPr/>
          </a:p>
        </p:txBody>
      </p:sp>
      <p:sp>
        <p:nvSpPr>
          <p:cNvPr id="29614350" name="TextBox 7"/>
          <p:cNvSpPr txBox="1"/>
          <p:nvPr/>
        </p:nvSpPr>
        <p:spPr bwMode="auto">
          <a:xfrm rot="0" flipH="0" flipV="0">
            <a:off x="401956" y="5245790"/>
            <a:ext cx="3169281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MAC-Unterschicht</a:t>
            </a:r>
            <a:endParaRPr/>
          </a:p>
        </p:txBody>
      </p:sp>
      <p:sp>
        <p:nvSpPr>
          <p:cNvPr id="810893682" name="TextBox 8"/>
          <p:cNvSpPr txBox="1"/>
          <p:nvPr/>
        </p:nvSpPr>
        <p:spPr bwMode="auto">
          <a:xfrm rot="0" flipH="0" flipV="0">
            <a:off x="6091970" y="668624"/>
            <a:ext cx="3482641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Anwendungsdaten</a:t>
            </a:r>
            <a:endParaRPr/>
          </a:p>
        </p:txBody>
      </p:sp>
      <p:grpSp>
        <p:nvGrpSpPr>
          <p:cNvPr id="698872816" name="Group 9"/>
          <p:cNvGrpSpPr/>
          <p:nvPr/>
        </p:nvGrpSpPr>
        <p:grpSpPr bwMode="auto">
          <a:xfrm rot="0">
            <a:off x="5988903" y="3181089"/>
            <a:ext cx="3584990" cy="394128"/>
            <a:chOff x="0" y="0"/>
            <a:chExt cx="1416292" cy="155705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1416292" cy="155705"/>
            </a:xfrm>
            <a:custGeom>
              <a:avLst/>
              <a:gdLst/>
              <a:ahLst/>
              <a:cxnLst/>
              <a:rect l="l" t="t" r="r" b="b"/>
              <a:pathLst>
                <a:path w="1416292" h="155705" fill="norm" stroke="1" extrusionOk="0">
                  <a:moveTo>
                    <a:pt x="17276" y="0"/>
                  </a:moveTo>
                  <a:lnTo>
                    <a:pt x="1399016" y="0"/>
                  </a:lnTo>
                  <a:cubicBezTo>
                    <a:pt x="1403598" y="0"/>
                    <a:pt x="1407992" y="1820"/>
                    <a:pt x="1411232" y="5060"/>
                  </a:cubicBezTo>
                  <a:cubicBezTo>
                    <a:pt x="1414472" y="8300"/>
                    <a:pt x="1416292" y="12694"/>
                    <a:pt x="1416292" y="17276"/>
                  </a:cubicBezTo>
                  <a:lnTo>
                    <a:pt x="1416292" y="138429"/>
                  </a:lnTo>
                  <a:cubicBezTo>
                    <a:pt x="1416292" y="147970"/>
                    <a:pt x="1408557" y="155705"/>
                    <a:pt x="1399016" y="155705"/>
                  </a:cubicBezTo>
                  <a:lnTo>
                    <a:pt x="17276" y="155705"/>
                  </a:lnTo>
                  <a:cubicBezTo>
                    <a:pt x="7735" y="155705"/>
                    <a:pt x="0" y="147970"/>
                    <a:pt x="0" y="138429"/>
                  </a:cubicBezTo>
                  <a:lnTo>
                    <a:pt x="0" y="17276"/>
                  </a:lnTo>
                  <a:cubicBezTo>
                    <a:pt x="0" y="7735"/>
                    <a:pt x="7735" y="0"/>
                    <a:pt x="17276" y="0"/>
                  </a:cubicBezTo>
                  <a:close/>
                </a:path>
              </a:pathLst>
            </a:custGeom>
            <a:solidFill>
              <a:srgbClr val="FF5C00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 bwMode="auto">
            <a:xfrm>
              <a:off x="0" y="-38100"/>
              <a:ext cx="1416292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845065448" name="Group 12"/>
          <p:cNvGrpSpPr/>
          <p:nvPr/>
        </p:nvGrpSpPr>
        <p:grpSpPr bwMode="auto">
          <a:xfrm rot="0">
            <a:off x="4986983" y="3181089"/>
            <a:ext cx="977991" cy="394128"/>
            <a:chOff x="0" y="0"/>
            <a:chExt cx="386367" cy="155705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386367" cy="155705"/>
            </a:xfrm>
            <a:custGeom>
              <a:avLst/>
              <a:gdLst/>
              <a:ahLst/>
              <a:cxnLst/>
              <a:rect l="l" t="t" r="r" b="b"/>
              <a:pathLst>
                <a:path w="386367" h="155705" fill="norm" stroke="1" extrusionOk="0">
                  <a:moveTo>
                    <a:pt x="63329" y="0"/>
                  </a:moveTo>
                  <a:lnTo>
                    <a:pt x="323038" y="0"/>
                  </a:lnTo>
                  <a:cubicBezTo>
                    <a:pt x="339834" y="0"/>
                    <a:pt x="355942" y="6672"/>
                    <a:pt x="367818" y="18549"/>
                  </a:cubicBezTo>
                  <a:cubicBezTo>
                    <a:pt x="379695" y="30425"/>
                    <a:pt x="386367" y="46533"/>
                    <a:pt x="386367" y="63329"/>
                  </a:cubicBezTo>
                  <a:lnTo>
                    <a:pt x="386367" y="92376"/>
                  </a:lnTo>
                  <a:cubicBezTo>
                    <a:pt x="386367" y="109172"/>
                    <a:pt x="379695" y="125280"/>
                    <a:pt x="367818" y="137156"/>
                  </a:cubicBezTo>
                  <a:cubicBezTo>
                    <a:pt x="355942" y="149033"/>
                    <a:pt x="339834" y="155705"/>
                    <a:pt x="323038" y="155705"/>
                  </a:cubicBezTo>
                  <a:lnTo>
                    <a:pt x="63329" y="155705"/>
                  </a:lnTo>
                  <a:cubicBezTo>
                    <a:pt x="46533" y="155705"/>
                    <a:pt x="30425" y="149033"/>
                    <a:pt x="18549" y="137156"/>
                  </a:cubicBezTo>
                  <a:cubicBezTo>
                    <a:pt x="6672" y="125280"/>
                    <a:pt x="0" y="109172"/>
                    <a:pt x="0" y="92376"/>
                  </a:cubicBezTo>
                  <a:lnTo>
                    <a:pt x="0" y="63329"/>
                  </a:lnTo>
                  <a:cubicBezTo>
                    <a:pt x="0" y="46533"/>
                    <a:pt x="6672" y="30425"/>
                    <a:pt x="18549" y="18549"/>
                  </a:cubicBezTo>
                  <a:cubicBezTo>
                    <a:pt x="30425" y="6672"/>
                    <a:pt x="46533" y="0"/>
                    <a:pt x="63329" y="0"/>
                  </a:cubicBezTo>
                  <a:close/>
                </a:path>
              </a:pathLst>
            </a:custGeom>
            <a:solidFill>
              <a:srgbClr val="FFA470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 bwMode="auto">
            <a:xfrm>
              <a:off x="0" y="-38100"/>
              <a:ext cx="386367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sp>
        <p:nvSpPr>
          <p:cNvPr id="439123297" name="TextBox 15"/>
          <p:cNvSpPr txBox="1"/>
          <p:nvPr/>
        </p:nvSpPr>
        <p:spPr bwMode="auto">
          <a:xfrm rot="0" flipH="0" flipV="0">
            <a:off x="6226772" y="2641338"/>
            <a:ext cx="3178606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Datenfeld</a:t>
            </a:r>
            <a:endParaRPr/>
          </a:p>
        </p:txBody>
      </p:sp>
      <p:sp>
        <p:nvSpPr>
          <p:cNvPr id="131035324" name="TextBox 16"/>
          <p:cNvSpPr txBox="1"/>
          <p:nvPr/>
        </p:nvSpPr>
        <p:spPr bwMode="auto">
          <a:xfrm rot="0" flipH="0" flipV="0">
            <a:off x="4572000" y="2641338"/>
            <a:ext cx="1569382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Kopfzeile</a:t>
            </a:r>
            <a:endParaRPr sz="1600"/>
          </a:p>
        </p:txBody>
      </p:sp>
      <p:sp>
        <p:nvSpPr>
          <p:cNvPr id="30400866" name="TextBox 17"/>
          <p:cNvSpPr txBox="1"/>
          <p:nvPr/>
        </p:nvSpPr>
        <p:spPr bwMode="auto">
          <a:xfrm rot="0" flipH="0" flipV="0">
            <a:off x="5356690" y="3739835"/>
            <a:ext cx="3799569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Das IP-Datagramm</a:t>
            </a:r>
            <a:endParaRPr/>
          </a:p>
        </p:txBody>
      </p:sp>
      <p:sp>
        <p:nvSpPr>
          <p:cNvPr id="624088117" name="AutoShape 18"/>
          <p:cNvSpPr/>
          <p:nvPr/>
        </p:nvSpPr>
        <p:spPr bwMode="auto">
          <a:xfrm>
            <a:off x="4986983" y="3689516"/>
            <a:ext cx="458691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858236826" name="AutoShape 19"/>
          <p:cNvSpPr/>
          <p:nvPr/>
        </p:nvSpPr>
        <p:spPr bwMode="auto">
          <a:xfrm>
            <a:off x="4986983" y="3066788"/>
            <a:ext cx="9779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316365713" name="AutoShape 20"/>
          <p:cNvSpPr/>
          <p:nvPr/>
        </p:nvSpPr>
        <p:spPr bwMode="auto">
          <a:xfrm>
            <a:off x="5988903" y="3066788"/>
            <a:ext cx="358499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grpSp>
        <p:nvGrpSpPr>
          <p:cNvPr id="62187202" name="Group 21"/>
          <p:cNvGrpSpPr/>
          <p:nvPr/>
        </p:nvGrpSpPr>
        <p:grpSpPr bwMode="auto">
          <a:xfrm rot="0">
            <a:off x="4986983" y="5252802"/>
            <a:ext cx="4586910" cy="394128"/>
            <a:chOff x="0" y="0"/>
            <a:chExt cx="6115880" cy="525504"/>
          </a:xfrm>
        </p:grpSpPr>
        <p:grpSp>
          <p:nvGrpSpPr>
            <p:cNvPr id="22" name="Group 22"/>
            <p:cNvGrpSpPr/>
            <p:nvPr/>
          </p:nvGrpSpPr>
          <p:grpSpPr bwMode="auto">
            <a:xfrm rot="0">
              <a:off x="1335893" y="0"/>
              <a:ext cx="4779986" cy="525504"/>
              <a:chOff x="0" y="0"/>
              <a:chExt cx="1416292" cy="155705"/>
            </a:xfrm>
          </p:grpSpPr>
          <p:sp>
            <p:nvSpPr>
              <p:cNvPr id="23" name="Freeform 23"/>
              <p:cNvSpPr/>
              <p:nvPr/>
            </p:nvSpPr>
            <p:spPr bwMode="auto">
              <a:xfrm rot="0" flipH="0" flipV="0">
                <a:off x="0" y="0"/>
                <a:ext cx="1416292" cy="155705"/>
              </a:xfrm>
              <a:custGeom>
                <a:avLst/>
                <a:gdLst/>
                <a:ahLst/>
                <a:cxnLst/>
                <a:rect l="l" t="t" r="r" b="b"/>
                <a:pathLst>
                  <a:path w="1416292" h="155705" fill="norm" stroke="1" extrusionOk="0">
                    <a:moveTo>
                      <a:pt x="17276" y="0"/>
                    </a:moveTo>
                    <a:lnTo>
                      <a:pt x="1399016" y="0"/>
                    </a:lnTo>
                    <a:cubicBezTo>
                      <a:pt x="1403598" y="0"/>
                      <a:pt x="1407992" y="1820"/>
                      <a:pt x="1411232" y="5060"/>
                    </a:cubicBezTo>
                    <a:cubicBezTo>
                      <a:pt x="1414472" y="8300"/>
                      <a:pt x="1416292" y="12694"/>
                      <a:pt x="1416292" y="17276"/>
                    </a:cubicBezTo>
                    <a:lnTo>
                      <a:pt x="1416292" y="138429"/>
                    </a:lnTo>
                    <a:cubicBezTo>
                      <a:pt x="1416292" y="147970"/>
                      <a:pt x="1408557" y="155705"/>
                      <a:pt x="1399016" y="155705"/>
                    </a:cubicBezTo>
                    <a:lnTo>
                      <a:pt x="17276" y="155705"/>
                    </a:lnTo>
                    <a:cubicBezTo>
                      <a:pt x="7735" y="155705"/>
                      <a:pt x="0" y="147970"/>
                      <a:pt x="0" y="138429"/>
                    </a:cubicBezTo>
                    <a:lnTo>
                      <a:pt x="0" y="17276"/>
                    </a:lnTo>
                    <a:cubicBezTo>
                      <a:pt x="0" y="7735"/>
                      <a:pt x="7735" y="0"/>
                      <a:pt x="17276" y="0"/>
                    </a:cubicBezTo>
                    <a:close/>
                  </a:path>
                </a:pathLst>
              </a:custGeom>
              <a:solidFill>
                <a:srgbClr val="FF5C0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4" name="TextBox 24"/>
              <p:cNvSpPr txBox="1"/>
              <p:nvPr/>
            </p:nvSpPr>
            <p:spPr bwMode="auto">
              <a:xfrm>
                <a:off x="0" y="-38100"/>
                <a:ext cx="1416292" cy="19380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19"/>
                  </a:lnSpc>
                  <a:defRPr/>
                </a:pPr>
                <a:endParaRPr/>
              </a:p>
            </p:txBody>
          </p:sp>
        </p:grpSp>
        <p:grpSp>
          <p:nvGrpSpPr>
            <p:cNvPr id="25" name="Group 25"/>
            <p:cNvGrpSpPr/>
            <p:nvPr/>
          </p:nvGrpSpPr>
          <p:grpSpPr bwMode="auto">
            <a:xfrm rot="0">
              <a:off x="0" y="0"/>
              <a:ext cx="1303988" cy="525504"/>
              <a:chOff x="0" y="0"/>
              <a:chExt cx="386367" cy="155705"/>
            </a:xfrm>
          </p:grpSpPr>
          <p:sp>
            <p:nvSpPr>
              <p:cNvPr id="26" name="Freeform 26"/>
              <p:cNvSpPr/>
              <p:nvPr/>
            </p:nvSpPr>
            <p:spPr bwMode="auto">
              <a:xfrm rot="0" flipH="0" flipV="0">
                <a:off x="0" y="0"/>
                <a:ext cx="386367" cy="155705"/>
              </a:xfrm>
              <a:custGeom>
                <a:avLst/>
                <a:gdLst/>
                <a:ahLst/>
                <a:cxnLst/>
                <a:rect l="l" t="t" r="r" b="b"/>
                <a:pathLst>
                  <a:path w="386367" h="155705" fill="norm" stroke="1" extrusionOk="0">
                    <a:moveTo>
                      <a:pt x="63329" y="0"/>
                    </a:moveTo>
                    <a:lnTo>
                      <a:pt x="323038" y="0"/>
                    </a:lnTo>
                    <a:cubicBezTo>
                      <a:pt x="339834" y="0"/>
                      <a:pt x="355942" y="6672"/>
                      <a:pt x="367818" y="18549"/>
                    </a:cubicBezTo>
                    <a:cubicBezTo>
                      <a:pt x="379695" y="30425"/>
                      <a:pt x="386367" y="46533"/>
                      <a:pt x="386367" y="63329"/>
                    </a:cubicBezTo>
                    <a:lnTo>
                      <a:pt x="386367" y="92376"/>
                    </a:lnTo>
                    <a:cubicBezTo>
                      <a:pt x="386367" y="109172"/>
                      <a:pt x="379695" y="125280"/>
                      <a:pt x="367818" y="137156"/>
                    </a:cubicBezTo>
                    <a:cubicBezTo>
                      <a:pt x="355942" y="149033"/>
                      <a:pt x="339834" y="155705"/>
                      <a:pt x="323038" y="155705"/>
                    </a:cubicBezTo>
                    <a:lnTo>
                      <a:pt x="63329" y="155705"/>
                    </a:lnTo>
                    <a:cubicBezTo>
                      <a:pt x="46533" y="155705"/>
                      <a:pt x="30425" y="149033"/>
                      <a:pt x="18549" y="137156"/>
                    </a:cubicBezTo>
                    <a:cubicBezTo>
                      <a:pt x="6672" y="125280"/>
                      <a:pt x="0" y="109172"/>
                      <a:pt x="0" y="92376"/>
                    </a:cubicBezTo>
                    <a:lnTo>
                      <a:pt x="0" y="63329"/>
                    </a:lnTo>
                    <a:cubicBezTo>
                      <a:pt x="0" y="46533"/>
                      <a:pt x="6672" y="30425"/>
                      <a:pt x="18549" y="18549"/>
                    </a:cubicBezTo>
                    <a:cubicBezTo>
                      <a:pt x="30425" y="6672"/>
                      <a:pt x="46533" y="0"/>
                      <a:pt x="63329" y="0"/>
                    </a:cubicBezTo>
                    <a:close/>
                  </a:path>
                </a:pathLst>
              </a:custGeom>
              <a:solidFill>
                <a:srgbClr val="FFA47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7" name="TextBox 27"/>
              <p:cNvSpPr txBox="1"/>
              <p:nvPr/>
            </p:nvSpPr>
            <p:spPr bwMode="auto">
              <a:xfrm>
                <a:off x="0" y="-38100"/>
                <a:ext cx="386367" cy="19380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19"/>
                  </a:lnSpc>
                  <a:defRPr/>
                </a:pPr>
                <a:endParaRPr/>
              </a:p>
            </p:txBody>
          </p:sp>
        </p:grpSp>
      </p:grpSp>
      <p:sp>
        <p:nvSpPr>
          <p:cNvPr id="1762585141" name="TextBox 28"/>
          <p:cNvSpPr txBox="1"/>
          <p:nvPr/>
        </p:nvSpPr>
        <p:spPr bwMode="auto">
          <a:xfrm rot="0" flipH="0" flipV="0">
            <a:off x="5475978" y="4713051"/>
            <a:ext cx="3792885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Rahmen-Datenfeld</a:t>
            </a:r>
            <a:endParaRPr/>
          </a:p>
        </p:txBody>
      </p:sp>
      <p:sp>
        <p:nvSpPr>
          <p:cNvPr id="226686767" name="TextBox 29"/>
          <p:cNvSpPr txBox="1"/>
          <p:nvPr/>
        </p:nvSpPr>
        <p:spPr bwMode="auto">
          <a:xfrm rot="0" flipH="0" flipV="0">
            <a:off x="3438544" y="4713050"/>
            <a:ext cx="2038511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Kopfzeile</a:t>
            </a:r>
            <a:endParaRPr sz="1600"/>
          </a:p>
        </p:txBody>
      </p:sp>
      <p:sp>
        <p:nvSpPr>
          <p:cNvPr id="1310929872" name="TextBox 30"/>
          <p:cNvSpPr txBox="1"/>
          <p:nvPr/>
        </p:nvSpPr>
        <p:spPr bwMode="auto">
          <a:xfrm rot="0" flipH="0" flipV="0">
            <a:off x="4886651" y="5811549"/>
            <a:ext cx="4778499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Der Rahmen (Ethernet)</a:t>
            </a:r>
            <a:endParaRPr/>
          </a:p>
        </p:txBody>
      </p:sp>
      <p:sp>
        <p:nvSpPr>
          <p:cNvPr id="969762047" name="AutoShape 31"/>
          <p:cNvSpPr/>
          <p:nvPr/>
        </p:nvSpPr>
        <p:spPr bwMode="auto">
          <a:xfrm>
            <a:off x="3980417" y="5761230"/>
            <a:ext cx="660004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56967739" name="AutoShape 32"/>
          <p:cNvSpPr/>
          <p:nvPr/>
        </p:nvSpPr>
        <p:spPr bwMode="auto">
          <a:xfrm>
            <a:off x="3980417" y="5138502"/>
            <a:ext cx="9779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507355995" name="AutoShape 33"/>
          <p:cNvSpPr/>
          <p:nvPr/>
        </p:nvSpPr>
        <p:spPr bwMode="auto">
          <a:xfrm flipV="1">
            <a:off x="4986983" y="5138502"/>
            <a:ext cx="458691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grpSp>
        <p:nvGrpSpPr>
          <p:cNvPr id="329110002" name="Group 34"/>
          <p:cNvGrpSpPr/>
          <p:nvPr/>
        </p:nvGrpSpPr>
        <p:grpSpPr bwMode="auto">
          <a:xfrm rot="0">
            <a:off x="3980417" y="5252802"/>
            <a:ext cx="977991" cy="394128"/>
            <a:chOff x="0" y="0"/>
            <a:chExt cx="386367" cy="155705"/>
          </a:xfrm>
        </p:grpSpPr>
        <p:sp>
          <p:nvSpPr>
            <p:cNvPr id="35" name="Freeform 35"/>
            <p:cNvSpPr/>
            <p:nvPr/>
          </p:nvSpPr>
          <p:spPr bwMode="auto">
            <a:xfrm rot="0" flipH="0" flipV="0">
              <a:off x="0" y="0"/>
              <a:ext cx="386367" cy="155705"/>
            </a:xfrm>
            <a:custGeom>
              <a:avLst/>
              <a:gdLst/>
              <a:ahLst/>
              <a:cxnLst/>
              <a:rect l="l" t="t" r="r" b="b"/>
              <a:pathLst>
                <a:path w="386367" h="155705" fill="norm" stroke="1" extrusionOk="0">
                  <a:moveTo>
                    <a:pt x="63329" y="0"/>
                  </a:moveTo>
                  <a:lnTo>
                    <a:pt x="323038" y="0"/>
                  </a:lnTo>
                  <a:cubicBezTo>
                    <a:pt x="339834" y="0"/>
                    <a:pt x="355942" y="6672"/>
                    <a:pt x="367818" y="18549"/>
                  </a:cubicBezTo>
                  <a:cubicBezTo>
                    <a:pt x="379695" y="30425"/>
                    <a:pt x="386367" y="46533"/>
                    <a:pt x="386367" y="63329"/>
                  </a:cubicBezTo>
                  <a:lnTo>
                    <a:pt x="386367" y="92376"/>
                  </a:lnTo>
                  <a:cubicBezTo>
                    <a:pt x="386367" y="109172"/>
                    <a:pt x="379695" y="125280"/>
                    <a:pt x="367818" y="137156"/>
                  </a:cubicBezTo>
                  <a:cubicBezTo>
                    <a:pt x="355942" y="149033"/>
                    <a:pt x="339834" y="155705"/>
                    <a:pt x="323038" y="155705"/>
                  </a:cubicBezTo>
                  <a:lnTo>
                    <a:pt x="63329" y="155705"/>
                  </a:lnTo>
                  <a:cubicBezTo>
                    <a:pt x="46533" y="155705"/>
                    <a:pt x="30425" y="149033"/>
                    <a:pt x="18549" y="137156"/>
                  </a:cubicBezTo>
                  <a:cubicBezTo>
                    <a:pt x="6672" y="125280"/>
                    <a:pt x="0" y="109172"/>
                    <a:pt x="0" y="92376"/>
                  </a:cubicBezTo>
                  <a:lnTo>
                    <a:pt x="0" y="63329"/>
                  </a:lnTo>
                  <a:cubicBezTo>
                    <a:pt x="0" y="46533"/>
                    <a:pt x="6672" y="30425"/>
                    <a:pt x="18549" y="18549"/>
                  </a:cubicBezTo>
                  <a:cubicBezTo>
                    <a:pt x="30425" y="6672"/>
                    <a:pt x="46533" y="0"/>
                    <a:pt x="63329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 bwMode="auto">
            <a:xfrm>
              <a:off x="0" y="-38100"/>
              <a:ext cx="386367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064899410" name="Group 37"/>
          <p:cNvGrpSpPr/>
          <p:nvPr/>
        </p:nvGrpSpPr>
        <p:grpSpPr bwMode="auto">
          <a:xfrm rot="0">
            <a:off x="9602468" y="5252802"/>
            <a:ext cx="977991" cy="394128"/>
            <a:chOff x="0" y="0"/>
            <a:chExt cx="386367" cy="155705"/>
          </a:xfrm>
        </p:grpSpPr>
        <p:sp>
          <p:nvSpPr>
            <p:cNvPr id="38" name="Freeform 38"/>
            <p:cNvSpPr/>
            <p:nvPr/>
          </p:nvSpPr>
          <p:spPr bwMode="auto">
            <a:xfrm rot="0" flipH="0" flipV="0">
              <a:off x="0" y="0"/>
              <a:ext cx="386367" cy="155705"/>
            </a:xfrm>
            <a:custGeom>
              <a:avLst/>
              <a:gdLst/>
              <a:ahLst/>
              <a:cxnLst/>
              <a:rect l="l" t="t" r="r" b="b"/>
              <a:pathLst>
                <a:path w="386367" h="155705" fill="norm" stroke="1" extrusionOk="0">
                  <a:moveTo>
                    <a:pt x="63329" y="0"/>
                  </a:moveTo>
                  <a:lnTo>
                    <a:pt x="323038" y="0"/>
                  </a:lnTo>
                  <a:cubicBezTo>
                    <a:pt x="339834" y="0"/>
                    <a:pt x="355942" y="6672"/>
                    <a:pt x="367818" y="18549"/>
                  </a:cubicBezTo>
                  <a:cubicBezTo>
                    <a:pt x="379695" y="30425"/>
                    <a:pt x="386367" y="46533"/>
                    <a:pt x="386367" y="63329"/>
                  </a:cubicBezTo>
                  <a:lnTo>
                    <a:pt x="386367" y="92376"/>
                  </a:lnTo>
                  <a:cubicBezTo>
                    <a:pt x="386367" y="109172"/>
                    <a:pt x="379695" y="125280"/>
                    <a:pt x="367818" y="137156"/>
                  </a:cubicBezTo>
                  <a:cubicBezTo>
                    <a:pt x="355942" y="149033"/>
                    <a:pt x="339834" y="155705"/>
                    <a:pt x="323038" y="155705"/>
                  </a:cubicBezTo>
                  <a:lnTo>
                    <a:pt x="63329" y="155705"/>
                  </a:lnTo>
                  <a:cubicBezTo>
                    <a:pt x="46533" y="155705"/>
                    <a:pt x="30425" y="149033"/>
                    <a:pt x="18549" y="137156"/>
                  </a:cubicBezTo>
                  <a:cubicBezTo>
                    <a:pt x="6672" y="125280"/>
                    <a:pt x="0" y="109172"/>
                    <a:pt x="0" y="92376"/>
                  </a:cubicBezTo>
                  <a:lnTo>
                    <a:pt x="0" y="63329"/>
                  </a:lnTo>
                  <a:cubicBezTo>
                    <a:pt x="0" y="46533"/>
                    <a:pt x="6672" y="30425"/>
                    <a:pt x="18549" y="18549"/>
                  </a:cubicBezTo>
                  <a:cubicBezTo>
                    <a:pt x="30425" y="6672"/>
                    <a:pt x="46533" y="0"/>
                    <a:pt x="63329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 bwMode="auto">
            <a:xfrm>
              <a:off x="0" y="-38100"/>
              <a:ext cx="386367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sp>
        <p:nvSpPr>
          <p:cNvPr id="1616199352" name="TextBox 40"/>
          <p:cNvSpPr txBox="1"/>
          <p:nvPr/>
        </p:nvSpPr>
        <p:spPr bwMode="auto">
          <a:xfrm rot="0" flipH="0" flipV="0">
            <a:off x="9665149" y="4294231"/>
            <a:ext cx="2282319" cy="355959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spAutoFit/>
          </a:bodyPr>
          <a:lstStyle/>
          <a:p>
            <a:pPr algn="l">
              <a:lnSpc>
                <a:spcPts val="2800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Frame Check Sequenz</a:t>
            </a:r>
            <a:endParaRPr sz="1400"/>
          </a:p>
        </p:txBody>
      </p:sp>
      <p:sp>
        <p:nvSpPr>
          <p:cNvPr id="1308495510" name="AutoShape 41"/>
          <p:cNvSpPr/>
          <p:nvPr/>
        </p:nvSpPr>
        <p:spPr bwMode="auto">
          <a:xfrm>
            <a:off x="9602468" y="5138502"/>
            <a:ext cx="9779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0253952" name="AutoShape 2"/>
          <p:cNvSpPr/>
          <p:nvPr/>
        </p:nvSpPr>
        <p:spPr bwMode="auto">
          <a:xfrm flipH="0" flipV="1">
            <a:off x="5515268" y="2366774"/>
            <a:ext cx="0" cy="305775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372480201" name="Freeform 4"/>
          <p:cNvSpPr/>
          <p:nvPr/>
        </p:nvSpPr>
        <p:spPr bwMode="auto">
          <a:xfrm rot="0" flipH="0" flipV="0">
            <a:off x="4126344" y="1842742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2094639850" name="Freeform 9"/>
          <p:cNvSpPr/>
          <p:nvPr/>
        </p:nvSpPr>
        <p:spPr bwMode="auto">
          <a:xfrm rot="0" flipH="0" flipV="0">
            <a:off x="4126344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984508365" name="TextBox 10"/>
          <p:cNvSpPr txBox="1"/>
          <p:nvPr/>
        </p:nvSpPr>
        <p:spPr bwMode="auto">
          <a:xfrm rot="0" flipH="0" flipV="0">
            <a:off x="4126344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Nutzlast</a:t>
            </a:r>
            <a:endParaRPr sz="1100"/>
          </a:p>
        </p:txBody>
      </p:sp>
      <p:sp>
        <p:nvSpPr>
          <p:cNvPr id="1323983522" name="Freeform 12"/>
          <p:cNvSpPr/>
          <p:nvPr/>
        </p:nvSpPr>
        <p:spPr bwMode="auto">
          <a:xfrm rot="0" flipH="0" flipV="0">
            <a:off x="3092124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701785653" name="TextBox 13"/>
          <p:cNvSpPr txBox="1"/>
          <p:nvPr/>
        </p:nvSpPr>
        <p:spPr bwMode="auto">
          <a:xfrm rot="0" flipH="0" flipV="0">
            <a:off x="3092124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Antragsteller.</a:t>
            </a:r>
            <a:endParaRPr sz="1100"/>
          </a:p>
        </p:txBody>
      </p:sp>
      <p:sp>
        <p:nvSpPr>
          <p:cNvPr id="2133468813" name="Freeform 15"/>
          <p:cNvSpPr/>
          <p:nvPr/>
        </p:nvSpPr>
        <p:spPr bwMode="auto">
          <a:xfrm rot="0" flipH="0" flipV="0">
            <a:off x="2061526" y="2974311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224852991" name="TextBox 16"/>
          <p:cNvSpPr txBox="1"/>
          <p:nvPr/>
        </p:nvSpPr>
        <p:spPr bwMode="auto">
          <a:xfrm rot="0" flipH="0" flipV="0">
            <a:off x="2061526" y="2908699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Transport</a:t>
            </a:r>
            <a:endParaRPr sz="1100"/>
          </a:p>
        </p:txBody>
      </p:sp>
      <p:sp>
        <p:nvSpPr>
          <p:cNvPr id="1867085107" name="Freeform 18"/>
          <p:cNvSpPr/>
          <p:nvPr/>
        </p:nvSpPr>
        <p:spPr bwMode="auto">
          <a:xfrm rot="0" flipH="0" flipV="0">
            <a:off x="3188180" y="2974311"/>
            <a:ext cx="1833496" cy="470033"/>
          </a:xfrm>
          <a:custGeom>
            <a:avLst/>
            <a:gdLst/>
            <a:ahLst/>
            <a:cxnLst/>
            <a:rect l="l" t="t" r="r" b="b"/>
            <a:pathLst>
              <a:path w="798509" h="204705" fill="norm" stroke="1" extrusionOk="0">
                <a:moveTo>
                  <a:pt x="57455" y="0"/>
                </a:moveTo>
                <a:lnTo>
                  <a:pt x="741054" y="0"/>
                </a:lnTo>
                <a:cubicBezTo>
                  <a:pt x="772786" y="0"/>
                  <a:pt x="798509" y="25723"/>
                  <a:pt x="798509" y="57455"/>
                </a:cubicBezTo>
                <a:lnTo>
                  <a:pt x="798509" y="147250"/>
                </a:lnTo>
                <a:cubicBezTo>
                  <a:pt x="798509" y="162488"/>
                  <a:pt x="792456" y="177102"/>
                  <a:pt x="781681" y="187877"/>
                </a:cubicBezTo>
                <a:cubicBezTo>
                  <a:pt x="770906" y="198652"/>
                  <a:pt x="756292" y="204705"/>
                  <a:pt x="741054" y="204705"/>
                </a:cubicBezTo>
                <a:lnTo>
                  <a:pt x="57455" y="204705"/>
                </a:lnTo>
                <a:cubicBezTo>
                  <a:pt x="25723" y="204705"/>
                  <a:pt x="0" y="178982"/>
                  <a:pt x="0" y="147250"/>
                </a:cubicBezTo>
                <a:lnTo>
                  <a:pt x="0" y="57455"/>
                </a:lnTo>
                <a:cubicBezTo>
                  <a:pt x="0" y="25723"/>
                  <a:pt x="25723" y="0"/>
                  <a:pt x="57455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2033270717" name="TextBox 19"/>
          <p:cNvSpPr txBox="1"/>
          <p:nvPr/>
        </p:nvSpPr>
        <p:spPr bwMode="auto">
          <a:xfrm rot="0" flipH="0" flipV="0">
            <a:off x="3188180" y="2908699"/>
            <a:ext cx="1833496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Daten</a:t>
            </a:r>
            <a:endParaRPr sz="1100"/>
          </a:p>
        </p:txBody>
      </p:sp>
      <p:sp>
        <p:nvSpPr>
          <p:cNvPr id="1614165007" name="Freeform 21"/>
          <p:cNvSpPr/>
          <p:nvPr/>
        </p:nvSpPr>
        <p:spPr bwMode="auto">
          <a:xfrm rot="0" flipH="0" flipV="0">
            <a:off x="1027306" y="3540096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155090801" name="TextBox 22"/>
          <p:cNvSpPr txBox="1"/>
          <p:nvPr/>
        </p:nvSpPr>
        <p:spPr bwMode="auto">
          <a:xfrm rot="0" flipH="0" flipV="0">
            <a:off x="1027306" y="347448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Internet</a:t>
            </a:r>
            <a:endParaRPr sz="1100"/>
          </a:p>
        </p:txBody>
      </p:sp>
      <p:sp>
        <p:nvSpPr>
          <p:cNvPr id="691675583" name="Freeform 24"/>
          <p:cNvSpPr/>
          <p:nvPr/>
        </p:nvSpPr>
        <p:spPr bwMode="auto">
          <a:xfrm rot="0" flipH="0" flipV="0">
            <a:off x="2250018" y="3540096"/>
            <a:ext cx="2771660" cy="470033"/>
          </a:xfrm>
          <a:custGeom>
            <a:avLst/>
            <a:gdLst/>
            <a:ahLst/>
            <a:cxnLst/>
            <a:rect l="l" t="t" r="r" b="b"/>
            <a:pathLst>
              <a:path w="1207090" h="204705" fill="norm" stroke="1" extrusionOk="0">
                <a:moveTo>
                  <a:pt x="38007" y="0"/>
                </a:moveTo>
                <a:lnTo>
                  <a:pt x="1169083" y="0"/>
                </a:lnTo>
                <a:cubicBezTo>
                  <a:pt x="1190073" y="0"/>
                  <a:pt x="1207090" y="17016"/>
                  <a:pt x="1207090" y="38007"/>
                </a:cubicBezTo>
                <a:lnTo>
                  <a:pt x="1207090" y="166698"/>
                </a:lnTo>
                <a:cubicBezTo>
                  <a:pt x="1207090" y="187689"/>
                  <a:pt x="1190073" y="204705"/>
                  <a:pt x="1169083" y="204705"/>
                </a:cubicBezTo>
                <a:lnTo>
                  <a:pt x="38007" y="204705"/>
                </a:lnTo>
                <a:cubicBezTo>
                  <a:pt x="17016" y="204705"/>
                  <a:pt x="0" y="187689"/>
                  <a:pt x="0" y="166698"/>
                </a:cubicBezTo>
                <a:lnTo>
                  <a:pt x="0" y="38007"/>
                </a:lnTo>
                <a:cubicBezTo>
                  <a:pt x="0" y="17016"/>
                  <a:pt x="17016" y="0"/>
                  <a:pt x="3800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636432487" name="TextBox 25"/>
          <p:cNvSpPr txBox="1"/>
          <p:nvPr/>
        </p:nvSpPr>
        <p:spPr bwMode="auto">
          <a:xfrm rot="0" flipH="0" flipV="0">
            <a:off x="2250018" y="3474483"/>
            <a:ext cx="2771660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Segment</a:t>
            </a:r>
            <a:endParaRPr sz="1100"/>
          </a:p>
        </p:txBody>
      </p:sp>
      <p:sp>
        <p:nvSpPr>
          <p:cNvPr id="1395392871" name="Freeform 27"/>
          <p:cNvSpPr/>
          <p:nvPr/>
        </p:nvSpPr>
        <p:spPr bwMode="auto">
          <a:xfrm rot="0" flipH="0" flipV="0">
            <a:off x="132123" y="4097767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624517125" name="TextBox 28"/>
          <p:cNvSpPr txBox="1"/>
          <p:nvPr/>
        </p:nvSpPr>
        <p:spPr bwMode="auto">
          <a:xfrm rot="0" flipH="0" flipV="0">
            <a:off x="132123" y="4032155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Zugang</a:t>
            </a:r>
            <a:endParaRPr sz="1100"/>
          </a:p>
        </p:txBody>
      </p:sp>
      <p:sp>
        <p:nvSpPr>
          <p:cNvPr id="1783091923" name="Freeform 30"/>
          <p:cNvSpPr/>
          <p:nvPr/>
        </p:nvSpPr>
        <p:spPr bwMode="auto">
          <a:xfrm rot="0" flipH="0" flipV="0">
            <a:off x="1311854" y="4105881"/>
            <a:ext cx="3709823" cy="470033"/>
          </a:xfrm>
          <a:custGeom>
            <a:avLst/>
            <a:gdLst/>
            <a:ahLst/>
            <a:cxnLst/>
            <a:rect l="l" t="t" r="r" b="b"/>
            <a:pathLst>
              <a:path w="1615671" h="204705" fill="norm" stroke="1" extrusionOk="0">
                <a:moveTo>
                  <a:pt x="28396" y="0"/>
                </a:moveTo>
                <a:lnTo>
                  <a:pt x="1587275" y="0"/>
                </a:lnTo>
                <a:cubicBezTo>
                  <a:pt x="1594806" y="0"/>
                  <a:pt x="1602029" y="2992"/>
                  <a:pt x="1607354" y="8317"/>
                </a:cubicBezTo>
                <a:cubicBezTo>
                  <a:pt x="1612679" y="13642"/>
                  <a:pt x="1615671" y="20865"/>
                  <a:pt x="1615671" y="28396"/>
                </a:cubicBezTo>
                <a:lnTo>
                  <a:pt x="1615671" y="176309"/>
                </a:lnTo>
                <a:cubicBezTo>
                  <a:pt x="1615671" y="183840"/>
                  <a:pt x="1612679" y="191063"/>
                  <a:pt x="1607354" y="196388"/>
                </a:cubicBezTo>
                <a:cubicBezTo>
                  <a:pt x="1602029" y="201713"/>
                  <a:pt x="1594806" y="204705"/>
                  <a:pt x="1587275" y="204705"/>
                </a:cubicBezTo>
                <a:lnTo>
                  <a:pt x="28396" y="204705"/>
                </a:lnTo>
                <a:cubicBezTo>
                  <a:pt x="20865" y="204705"/>
                  <a:pt x="13642" y="201713"/>
                  <a:pt x="8317" y="196388"/>
                </a:cubicBezTo>
                <a:cubicBezTo>
                  <a:pt x="2992" y="191063"/>
                  <a:pt x="0" y="183840"/>
                  <a:pt x="0" y="176309"/>
                </a:cubicBezTo>
                <a:lnTo>
                  <a:pt x="0" y="28396"/>
                </a:lnTo>
                <a:cubicBezTo>
                  <a:pt x="0" y="20865"/>
                  <a:pt x="2992" y="13642"/>
                  <a:pt x="8317" y="8317"/>
                </a:cubicBezTo>
                <a:cubicBezTo>
                  <a:pt x="13642" y="2992"/>
                  <a:pt x="20865" y="0"/>
                  <a:pt x="28396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283907110" name="TextBox 31"/>
          <p:cNvSpPr txBox="1"/>
          <p:nvPr/>
        </p:nvSpPr>
        <p:spPr bwMode="auto">
          <a:xfrm rot="0" flipH="0" flipV="0">
            <a:off x="1311854" y="4040267"/>
            <a:ext cx="3709823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Paket</a:t>
            </a:r>
            <a:endParaRPr sz="1100"/>
          </a:p>
        </p:txBody>
      </p:sp>
      <p:grpSp>
        <p:nvGrpSpPr>
          <p:cNvPr id="1956942079" name="Group 32"/>
          <p:cNvGrpSpPr/>
          <p:nvPr/>
        </p:nvGrpSpPr>
        <p:grpSpPr bwMode="auto">
          <a:xfrm rot="0" flipH="0" flipV="0">
            <a:off x="376979" y="5236100"/>
            <a:ext cx="4644700" cy="660984"/>
            <a:chOff x="0" y="0"/>
            <a:chExt cx="4644700" cy="660984"/>
          </a:xfrm>
        </p:grpSpPr>
        <p:sp>
          <p:nvSpPr>
            <p:cNvPr id="33" name="Freeform 33"/>
            <p:cNvSpPr/>
            <p:nvPr/>
          </p:nvSpPr>
          <p:spPr bwMode="auto">
            <a:xfrm rot="0" flipH="0" flipV="0">
              <a:off x="0" y="0"/>
              <a:ext cx="4644700" cy="660984"/>
            </a:xfrm>
            <a:custGeom>
              <a:avLst/>
              <a:gdLst/>
              <a:ahLst/>
              <a:cxnLst/>
              <a:rect l="l" t="t" r="r" b="b"/>
              <a:pathLst>
                <a:path w="2022820" h="287867" fill="norm" stroke="1" extrusionOk="0">
                  <a:moveTo>
                    <a:pt x="22680" y="0"/>
                  </a:moveTo>
                  <a:lnTo>
                    <a:pt x="2000140" y="0"/>
                  </a:lnTo>
                  <a:cubicBezTo>
                    <a:pt x="2012666" y="0"/>
                    <a:pt x="2022820" y="10154"/>
                    <a:pt x="2022820" y="22680"/>
                  </a:cubicBezTo>
                  <a:lnTo>
                    <a:pt x="2022820" y="265186"/>
                  </a:lnTo>
                  <a:cubicBezTo>
                    <a:pt x="2022820" y="271202"/>
                    <a:pt x="2020431" y="276970"/>
                    <a:pt x="2016177" y="281224"/>
                  </a:cubicBezTo>
                  <a:cubicBezTo>
                    <a:pt x="2011924" y="285477"/>
                    <a:pt x="2006155" y="287867"/>
                    <a:pt x="2000140" y="287867"/>
                  </a:cubicBezTo>
                  <a:lnTo>
                    <a:pt x="22680" y="287867"/>
                  </a:lnTo>
                  <a:cubicBezTo>
                    <a:pt x="16665" y="287867"/>
                    <a:pt x="10896" y="285477"/>
                    <a:pt x="6643" y="281224"/>
                  </a:cubicBezTo>
                  <a:cubicBezTo>
                    <a:pt x="2390" y="276970"/>
                    <a:pt x="0" y="271202"/>
                    <a:pt x="0" y="265186"/>
                  </a:cubicBezTo>
                  <a:lnTo>
                    <a:pt x="0" y="22680"/>
                  </a:lnTo>
                  <a:cubicBezTo>
                    <a:pt x="0" y="16665"/>
                    <a:pt x="2390" y="10896"/>
                    <a:pt x="6643" y="6643"/>
                  </a:cubicBezTo>
                  <a:cubicBezTo>
                    <a:pt x="10896" y="2390"/>
                    <a:pt x="16665" y="0"/>
                    <a:pt x="226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defRPr/>
              </a:pPr>
              <a:endParaRPr sz="1100"/>
            </a:p>
          </p:txBody>
        </p:sp>
        <p:sp>
          <p:nvSpPr>
            <p:cNvPr id="34" name="TextBox 34"/>
            <p:cNvSpPr txBox="1"/>
            <p:nvPr/>
          </p:nvSpPr>
          <p:spPr bwMode="auto">
            <a:xfrm>
              <a:off x="0" y="-65612"/>
              <a:ext cx="4644700" cy="726597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1001000011001100100111011011011010101010010</a:t>
              </a:r>
              <a:endParaRPr sz="1100"/>
            </a:p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101010101010101010101010101011010110101001</a:t>
              </a:r>
              <a:endParaRPr sz="1100"/>
            </a:p>
          </p:txBody>
        </p:sp>
      </p:grpSp>
      <p:sp>
        <p:nvSpPr>
          <p:cNvPr id="1116739492" name="Freeform 36"/>
          <p:cNvSpPr/>
          <p:nvPr/>
        </p:nvSpPr>
        <p:spPr bwMode="auto">
          <a:xfrm rot="0" flipH="0" flipV="0">
            <a:off x="11198080" y="1842742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209220826" name="Freeform 39"/>
          <p:cNvSpPr/>
          <p:nvPr/>
        </p:nvSpPr>
        <p:spPr bwMode="auto">
          <a:xfrm rot="0" flipH="0" flipV="0">
            <a:off x="11198080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22464328" name="TextBox 40"/>
          <p:cNvSpPr txBox="1"/>
          <p:nvPr/>
        </p:nvSpPr>
        <p:spPr bwMode="auto">
          <a:xfrm rot="0" flipH="0" flipV="0">
            <a:off x="11198080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Nutzlast</a:t>
            </a:r>
            <a:endParaRPr sz="1100"/>
          </a:p>
        </p:txBody>
      </p:sp>
      <p:sp>
        <p:nvSpPr>
          <p:cNvPr id="1555661665" name="Freeform 42"/>
          <p:cNvSpPr/>
          <p:nvPr/>
        </p:nvSpPr>
        <p:spPr bwMode="auto">
          <a:xfrm rot="0" flipH="0" flipV="0">
            <a:off x="10163860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286542748" name="TextBox 43"/>
          <p:cNvSpPr txBox="1"/>
          <p:nvPr/>
        </p:nvSpPr>
        <p:spPr bwMode="auto">
          <a:xfrm rot="0" flipH="0" flipV="0">
            <a:off x="10163860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Antragsteller.</a:t>
            </a:r>
            <a:endParaRPr sz="1100"/>
          </a:p>
        </p:txBody>
      </p:sp>
      <p:sp>
        <p:nvSpPr>
          <p:cNvPr id="738889458" name="Freeform 45"/>
          <p:cNvSpPr/>
          <p:nvPr/>
        </p:nvSpPr>
        <p:spPr bwMode="auto">
          <a:xfrm rot="0" flipH="0" flipV="0">
            <a:off x="9133263" y="2974311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049431658" name="TextBox 46"/>
          <p:cNvSpPr txBox="1"/>
          <p:nvPr/>
        </p:nvSpPr>
        <p:spPr bwMode="auto">
          <a:xfrm rot="0" flipH="0" flipV="0">
            <a:off x="9133263" y="2908699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Transport</a:t>
            </a:r>
            <a:endParaRPr sz="1100"/>
          </a:p>
        </p:txBody>
      </p:sp>
      <p:sp>
        <p:nvSpPr>
          <p:cNvPr id="614045784" name="Freeform 48"/>
          <p:cNvSpPr/>
          <p:nvPr/>
        </p:nvSpPr>
        <p:spPr bwMode="auto">
          <a:xfrm rot="0" flipH="0" flipV="0">
            <a:off x="10259917" y="2974311"/>
            <a:ext cx="1833496" cy="470033"/>
          </a:xfrm>
          <a:custGeom>
            <a:avLst/>
            <a:gdLst/>
            <a:ahLst/>
            <a:cxnLst/>
            <a:rect l="l" t="t" r="r" b="b"/>
            <a:pathLst>
              <a:path w="798509" h="204705" fill="norm" stroke="1" extrusionOk="0">
                <a:moveTo>
                  <a:pt x="57455" y="0"/>
                </a:moveTo>
                <a:lnTo>
                  <a:pt x="741054" y="0"/>
                </a:lnTo>
                <a:cubicBezTo>
                  <a:pt x="772786" y="0"/>
                  <a:pt x="798509" y="25723"/>
                  <a:pt x="798509" y="57455"/>
                </a:cubicBezTo>
                <a:lnTo>
                  <a:pt x="798509" y="147250"/>
                </a:lnTo>
                <a:cubicBezTo>
                  <a:pt x="798509" y="162488"/>
                  <a:pt x="792456" y="177102"/>
                  <a:pt x="781681" y="187877"/>
                </a:cubicBezTo>
                <a:cubicBezTo>
                  <a:pt x="770906" y="198652"/>
                  <a:pt x="756292" y="204705"/>
                  <a:pt x="741054" y="204705"/>
                </a:cubicBezTo>
                <a:lnTo>
                  <a:pt x="57455" y="204705"/>
                </a:lnTo>
                <a:cubicBezTo>
                  <a:pt x="25723" y="204705"/>
                  <a:pt x="0" y="178982"/>
                  <a:pt x="0" y="147250"/>
                </a:cubicBezTo>
                <a:lnTo>
                  <a:pt x="0" y="57455"/>
                </a:lnTo>
                <a:cubicBezTo>
                  <a:pt x="0" y="25723"/>
                  <a:pt x="25723" y="0"/>
                  <a:pt x="57455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475411546" name="TextBox 49"/>
          <p:cNvSpPr txBox="1"/>
          <p:nvPr/>
        </p:nvSpPr>
        <p:spPr bwMode="auto">
          <a:xfrm rot="0" flipH="0" flipV="0">
            <a:off x="10259917" y="2908699"/>
            <a:ext cx="1833496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Daten</a:t>
            </a:r>
            <a:endParaRPr sz="1100"/>
          </a:p>
        </p:txBody>
      </p:sp>
      <p:sp>
        <p:nvSpPr>
          <p:cNvPr id="1446181723" name="Freeform 51"/>
          <p:cNvSpPr/>
          <p:nvPr/>
        </p:nvSpPr>
        <p:spPr bwMode="auto">
          <a:xfrm rot="0" flipH="0" flipV="0">
            <a:off x="8099043" y="3540096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2092723253" name="TextBox 52"/>
          <p:cNvSpPr txBox="1"/>
          <p:nvPr/>
        </p:nvSpPr>
        <p:spPr bwMode="auto">
          <a:xfrm rot="0" flipH="0" flipV="0">
            <a:off x="8099043" y="347448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Internet</a:t>
            </a:r>
            <a:endParaRPr sz="1100"/>
          </a:p>
        </p:txBody>
      </p:sp>
      <p:sp>
        <p:nvSpPr>
          <p:cNvPr id="1652061333" name="Freeform 54"/>
          <p:cNvSpPr/>
          <p:nvPr/>
        </p:nvSpPr>
        <p:spPr bwMode="auto">
          <a:xfrm rot="0" flipH="0" flipV="0">
            <a:off x="9321754" y="3540096"/>
            <a:ext cx="2771660" cy="470033"/>
          </a:xfrm>
          <a:custGeom>
            <a:avLst/>
            <a:gdLst/>
            <a:ahLst/>
            <a:cxnLst/>
            <a:rect l="l" t="t" r="r" b="b"/>
            <a:pathLst>
              <a:path w="1207090" h="204705" fill="norm" stroke="1" extrusionOk="0">
                <a:moveTo>
                  <a:pt x="38007" y="0"/>
                </a:moveTo>
                <a:lnTo>
                  <a:pt x="1169083" y="0"/>
                </a:lnTo>
                <a:cubicBezTo>
                  <a:pt x="1190073" y="0"/>
                  <a:pt x="1207090" y="17016"/>
                  <a:pt x="1207090" y="38007"/>
                </a:cubicBezTo>
                <a:lnTo>
                  <a:pt x="1207090" y="166698"/>
                </a:lnTo>
                <a:cubicBezTo>
                  <a:pt x="1207090" y="187689"/>
                  <a:pt x="1190073" y="204705"/>
                  <a:pt x="1169083" y="204705"/>
                </a:cubicBezTo>
                <a:lnTo>
                  <a:pt x="38007" y="204705"/>
                </a:lnTo>
                <a:cubicBezTo>
                  <a:pt x="17016" y="204705"/>
                  <a:pt x="0" y="187689"/>
                  <a:pt x="0" y="166698"/>
                </a:cubicBezTo>
                <a:lnTo>
                  <a:pt x="0" y="38007"/>
                </a:lnTo>
                <a:cubicBezTo>
                  <a:pt x="0" y="17016"/>
                  <a:pt x="17016" y="0"/>
                  <a:pt x="3800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820295960" name="TextBox 55"/>
          <p:cNvSpPr txBox="1"/>
          <p:nvPr/>
        </p:nvSpPr>
        <p:spPr bwMode="auto">
          <a:xfrm rot="0" flipH="0" flipV="0">
            <a:off x="9321754" y="3474483"/>
            <a:ext cx="2771660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Segment</a:t>
            </a:r>
            <a:endParaRPr sz="1100"/>
          </a:p>
        </p:txBody>
      </p:sp>
      <p:sp>
        <p:nvSpPr>
          <p:cNvPr id="1702395186" name="Freeform 57"/>
          <p:cNvSpPr/>
          <p:nvPr/>
        </p:nvSpPr>
        <p:spPr bwMode="auto">
          <a:xfrm rot="0" flipH="0" flipV="0">
            <a:off x="7203709" y="4105881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93491135" name="TextBox 58"/>
          <p:cNvSpPr txBox="1"/>
          <p:nvPr/>
        </p:nvSpPr>
        <p:spPr bwMode="auto">
          <a:xfrm rot="0" flipH="0" flipV="0">
            <a:off x="7203709" y="4040267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Zugang</a:t>
            </a:r>
            <a:endParaRPr sz="1100"/>
          </a:p>
        </p:txBody>
      </p:sp>
      <p:sp>
        <p:nvSpPr>
          <p:cNvPr id="111859181" name="Freeform 60"/>
          <p:cNvSpPr/>
          <p:nvPr/>
        </p:nvSpPr>
        <p:spPr bwMode="auto">
          <a:xfrm rot="0" flipH="0" flipV="0">
            <a:off x="8383591" y="4105881"/>
            <a:ext cx="3709823" cy="470033"/>
          </a:xfrm>
          <a:custGeom>
            <a:avLst/>
            <a:gdLst/>
            <a:ahLst/>
            <a:cxnLst/>
            <a:rect l="l" t="t" r="r" b="b"/>
            <a:pathLst>
              <a:path w="1615671" h="204705" fill="norm" stroke="1" extrusionOk="0">
                <a:moveTo>
                  <a:pt x="28396" y="0"/>
                </a:moveTo>
                <a:lnTo>
                  <a:pt x="1587275" y="0"/>
                </a:lnTo>
                <a:cubicBezTo>
                  <a:pt x="1594806" y="0"/>
                  <a:pt x="1602029" y="2992"/>
                  <a:pt x="1607354" y="8317"/>
                </a:cubicBezTo>
                <a:cubicBezTo>
                  <a:pt x="1612679" y="13642"/>
                  <a:pt x="1615671" y="20865"/>
                  <a:pt x="1615671" y="28396"/>
                </a:cubicBezTo>
                <a:lnTo>
                  <a:pt x="1615671" y="176309"/>
                </a:lnTo>
                <a:cubicBezTo>
                  <a:pt x="1615671" y="183840"/>
                  <a:pt x="1612679" y="191063"/>
                  <a:pt x="1607354" y="196388"/>
                </a:cubicBezTo>
                <a:cubicBezTo>
                  <a:pt x="1602029" y="201713"/>
                  <a:pt x="1594806" y="204705"/>
                  <a:pt x="1587275" y="204705"/>
                </a:cubicBezTo>
                <a:lnTo>
                  <a:pt x="28396" y="204705"/>
                </a:lnTo>
                <a:cubicBezTo>
                  <a:pt x="20865" y="204705"/>
                  <a:pt x="13642" y="201713"/>
                  <a:pt x="8317" y="196388"/>
                </a:cubicBezTo>
                <a:cubicBezTo>
                  <a:pt x="2992" y="191063"/>
                  <a:pt x="0" y="183840"/>
                  <a:pt x="0" y="176309"/>
                </a:cubicBezTo>
                <a:lnTo>
                  <a:pt x="0" y="28396"/>
                </a:lnTo>
                <a:cubicBezTo>
                  <a:pt x="0" y="20865"/>
                  <a:pt x="2992" y="13642"/>
                  <a:pt x="8317" y="8317"/>
                </a:cubicBezTo>
                <a:cubicBezTo>
                  <a:pt x="13642" y="2992"/>
                  <a:pt x="20865" y="0"/>
                  <a:pt x="28396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298537603" name="TextBox 61"/>
          <p:cNvSpPr txBox="1"/>
          <p:nvPr/>
        </p:nvSpPr>
        <p:spPr bwMode="auto">
          <a:xfrm rot="0" flipH="0" flipV="0">
            <a:off x="8383591" y="4040267"/>
            <a:ext cx="3709823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Paket</a:t>
            </a:r>
            <a:endParaRPr sz="1100"/>
          </a:p>
        </p:txBody>
      </p:sp>
      <p:grpSp>
        <p:nvGrpSpPr>
          <p:cNvPr id="1174956510" name="Group 62"/>
          <p:cNvGrpSpPr/>
          <p:nvPr/>
        </p:nvGrpSpPr>
        <p:grpSpPr bwMode="auto">
          <a:xfrm rot="0" flipH="0" flipV="0">
            <a:off x="7448715" y="5236100"/>
            <a:ext cx="4644700" cy="660984"/>
            <a:chOff x="0" y="0"/>
            <a:chExt cx="4644700" cy="660984"/>
          </a:xfrm>
        </p:grpSpPr>
        <p:sp>
          <p:nvSpPr>
            <p:cNvPr id="63" name="Freeform 63"/>
            <p:cNvSpPr/>
            <p:nvPr/>
          </p:nvSpPr>
          <p:spPr bwMode="auto">
            <a:xfrm rot="0" flipH="0" flipV="0">
              <a:off x="0" y="0"/>
              <a:ext cx="4644700" cy="660984"/>
            </a:xfrm>
            <a:custGeom>
              <a:avLst/>
              <a:gdLst/>
              <a:ahLst/>
              <a:cxnLst/>
              <a:rect l="l" t="t" r="r" b="b"/>
              <a:pathLst>
                <a:path w="2022820" h="287867" fill="norm" stroke="1" extrusionOk="0">
                  <a:moveTo>
                    <a:pt x="22680" y="0"/>
                  </a:moveTo>
                  <a:lnTo>
                    <a:pt x="2000140" y="0"/>
                  </a:lnTo>
                  <a:cubicBezTo>
                    <a:pt x="2012666" y="0"/>
                    <a:pt x="2022820" y="10154"/>
                    <a:pt x="2022820" y="22680"/>
                  </a:cubicBezTo>
                  <a:lnTo>
                    <a:pt x="2022820" y="265186"/>
                  </a:lnTo>
                  <a:cubicBezTo>
                    <a:pt x="2022820" y="271202"/>
                    <a:pt x="2020431" y="276970"/>
                    <a:pt x="2016177" y="281224"/>
                  </a:cubicBezTo>
                  <a:cubicBezTo>
                    <a:pt x="2011924" y="285477"/>
                    <a:pt x="2006155" y="287867"/>
                    <a:pt x="2000140" y="287867"/>
                  </a:cubicBezTo>
                  <a:lnTo>
                    <a:pt x="22680" y="287867"/>
                  </a:lnTo>
                  <a:cubicBezTo>
                    <a:pt x="16665" y="287867"/>
                    <a:pt x="10896" y="285477"/>
                    <a:pt x="6643" y="281224"/>
                  </a:cubicBezTo>
                  <a:cubicBezTo>
                    <a:pt x="2390" y="276970"/>
                    <a:pt x="0" y="271202"/>
                    <a:pt x="0" y="265186"/>
                  </a:cubicBezTo>
                  <a:lnTo>
                    <a:pt x="0" y="22680"/>
                  </a:lnTo>
                  <a:cubicBezTo>
                    <a:pt x="0" y="16665"/>
                    <a:pt x="2390" y="10896"/>
                    <a:pt x="6643" y="6643"/>
                  </a:cubicBezTo>
                  <a:cubicBezTo>
                    <a:pt x="10896" y="2390"/>
                    <a:pt x="16665" y="0"/>
                    <a:pt x="226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defRPr/>
              </a:pPr>
              <a:endParaRPr sz="1100"/>
            </a:p>
          </p:txBody>
        </p:sp>
        <p:sp>
          <p:nvSpPr>
            <p:cNvPr id="64" name="TextBox 64"/>
            <p:cNvSpPr txBox="1"/>
            <p:nvPr/>
          </p:nvSpPr>
          <p:spPr bwMode="auto">
            <a:xfrm>
              <a:off x="0" y="-65612"/>
              <a:ext cx="4644700" cy="726597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1001000011001100100111011011011010101010010</a:t>
              </a:r>
              <a:endParaRPr sz="1100"/>
            </a:p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101010101010101010101010101011010110101001</a:t>
              </a:r>
              <a:endParaRPr sz="1100"/>
            </a:p>
          </p:txBody>
        </p:sp>
      </p:grpSp>
      <p:sp>
        <p:nvSpPr>
          <p:cNvPr id="1673446723" name="Freeform 65"/>
          <p:cNvSpPr/>
          <p:nvPr/>
        </p:nvSpPr>
        <p:spPr bwMode="auto">
          <a:xfrm rot="0" flipH="0" flipV="0">
            <a:off x="5202930" y="5444638"/>
            <a:ext cx="1770222" cy="196333"/>
          </a:xfrm>
          <a:custGeom>
            <a:avLst/>
            <a:gdLst/>
            <a:ahLst/>
            <a:cxnLst/>
            <a:rect l="l" t="t" r="r" b="b"/>
            <a:pathLst>
              <a:path w="1951473" h="216436" fill="norm" stroke="1" extrusionOk="0">
                <a:moveTo>
                  <a:pt x="0" y="0"/>
                </a:moveTo>
                <a:lnTo>
                  <a:pt x="1951472" y="0"/>
                </a:lnTo>
                <a:lnTo>
                  <a:pt x="1951472" y="216436"/>
                </a:lnTo>
                <a:lnTo>
                  <a:pt x="0" y="2164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331933665" name="TextBox 66"/>
          <p:cNvSpPr txBox="1"/>
          <p:nvPr/>
        </p:nvSpPr>
        <p:spPr bwMode="auto">
          <a:xfrm rot="0" flipH="0" flipV="0">
            <a:off x="251478" y="816775"/>
            <a:ext cx="3420407" cy="1244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1" algn="l">
              <a:lnSpc>
                <a:spcPts val="1960"/>
              </a:lnSpc>
              <a:defRPr/>
            </a:pPr>
            <a:r>
              <a:rPr sz="1100" b="1" lang="en-US">
                <a:solidFill>
                  <a:srgbClr val="000000"/>
                </a:solidFill>
                <a:latin typeface="IBM Plex Sans Bold"/>
              </a:rPr>
              <a:t>Peer-to-Peer-Kommunikation</a:t>
            </a:r>
            <a:endParaRPr lang="en-US" sz="1100" b="1">
              <a:solidFill>
                <a:srgbClr val="000000"/>
              </a:solidFill>
              <a:latin typeface="IBM Plex Sans Bold"/>
              <a:ea typeface="IBM Plex Sans Bold"/>
              <a:cs typeface="IBM Plex Sans Bold"/>
            </a:endParaRPr>
          </a:p>
          <a:p>
            <a:pPr algn="l" lvl="1">
              <a:lnSpc>
                <a:spcPts val="1959"/>
              </a:lnSpc>
            </a:pPr>
          </a:p>
          <a:p>
            <a:pPr algn="l" lvl="1">
              <a:lnSpc>
                <a:spcPts val="1960"/>
              </a:lnSpc>
            </a:pPr>
            <a:r>
              <a:rPr sz="1100" b="1" lang="en-US">
                <a:solidFill>
                  <a:srgbClr val="000000"/>
                </a:solidFill>
                <a:latin typeface="IBM Plex Sans Bold"/>
              </a:rPr>
              <a:t>Verkapselung</a:t>
            </a:r>
          </a:p>
          <a:p>
            <a:pPr algn="l" lvl="1">
              <a:lnSpc>
                <a:spcPts val="1959"/>
              </a:lnSpc>
            </a:pPr>
          </a:p>
          <a:p>
            <a:pPr algn="l" lvl="1">
              <a:lnSpc>
                <a:spcPts val="1960"/>
              </a:lnSpc>
            </a:pPr>
            <a:r>
              <a:rPr sz="1100" b="1" lang="en-US">
                <a:solidFill>
                  <a:srgbClr val="000000"/>
                </a:solidFill>
                <a:latin typeface="IBM Plex Sans Bold"/>
              </a:rPr>
              <a:t>Entkapselung</a:t>
            </a:r>
          </a:p>
        </p:txBody>
      </p:sp>
      <p:sp>
        <p:nvSpPr>
          <p:cNvPr id="1364220958" name="TextBox 67"/>
          <p:cNvSpPr txBox="1"/>
          <p:nvPr/>
        </p:nvSpPr>
        <p:spPr bwMode="auto">
          <a:xfrm rot="0" flipH="0" flipV="0">
            <a:off x="1311853" y="4832652"/>
            <a:ext cx="1999629" cy="267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defRPr/>
            </a:pPr>
            <a:r>
              <a:rPr sz="1000" b="1" lang="en-US">
                <a:solidFill>
                  <a:srgbClr val="000000"/>
                </a:solidFill>
                <a:latin typeface="IBM Plex Sans Bold"/>
              </a:rPr>
              <a:t>Rahmen</a:t>
            </a:r>
            <a:endParaRPr sz="1100"/>
          </a:p>
        </p:txBody>
      </p:sp>
      <p:sp>
        <p:nvSpPr>
          <p:cNvPr id="1238769371" name="TextBox 68"/>
          <p:cNvSpPr txBox="1"/>
          <p:nvPr/>
        </p:nvSpPr>
        <p:spPr bwMode="auto">
          <a:xfrm rot="0" flipH="0" flipV="0">
            <a:off x="8460344" y="4832652"/>
            <a:ext cx="2708543" cy="267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defRPr/>
            </a:pPr>
            <a:r>
              <a:rPr sz="1000" b="1" lang="en-US">
                <a:solidFill>
                  <a:srgbClr val="000000"/>
                </a:solidFill>
                <a:latin typeface="IBM Plex Sans Bold"/>
              </a:rPr>
              <a:t>Rahmen</a:t>
            </a:r>
            <a:endParaRPr sz="1100"/>
          </a:p>
        </p:txBody>
      </p:sp>
      <p:sp>
        <p:nvSpPr>
          <p:cNvPr id="539693356" name="TextBox 69"/>
          <p:cNvSpPr txBox="1"/>
          <p:nvPr/>
        </p:nvSpPr>
        <p:spPr bwMode="auto">
          <a:xfrm rot="0" flipH="0" flipV="0">
            <a:off x="5395041" y="5688567"/>
            <a:ext cx="1425651" cy="267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defRPr/>
            </a:pPr>
            <a:r>
              <a:rPr sz="1000" b="1" lang="en-US">
                <a:solidFill>
                  <a:srgbClr val="000000"/>
                </a:solidFill>
                <a:latin typeface="IBM Plex Sans Bold"/>
              </a:rPr>
              <a:t>Binärer Strom</a:t>
            </a:r>
            <a:endParaRPr sz="1100"/>
          </a:p>
        </p:txBody>
      </p:sp>
      <p:sp>
        <p:nvSpPr>
          <p:cNvPr id="246373296" name="AutoShape 70"/>
          <p:cNvSpPr/>
          <p:nvPr/>
        </p:nvSpPr>
        <p:spPr bwMode="auto">
          <a:xfrm flipH="1" flipV="0">
            <a:off x="5451924" y="1119167"/>
            <a:ext cx="5820152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8518712" name="AutoShape 71"/>
          <p:cNvSpPr/>
          <p:nvPr/>
        </p:nvSpPr>
        <p:spPr bwMode="auto">
          <a:xfrm flipH="1" flipV="0">
            <a:off x="5586821" y="2053367"/>
            <a:ext cx="5519589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452439034" name="AutoShape 72"/>
          <p:cNvSpPr/>
          <p:nvPr/>
        </p:nvSpPr>
        <p:spPr bwMode="auto">
          <a:xfrm flipH="1" flipV="0">
            <a:off x="5490764" y="2619154"/>
            <a:ext cx="4581425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63380358" name="AutoShape 73"/>
          <p:cNvSpPr/>
          <p:nvPr/>
        </p:nvSpPr>
        <p:spPr bwMode="auto">
          <a:xfrm flipH="1" flipV="0">
            <a:off x="5395043" y="3184939"/>
            <a:ext cx="3646548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471883121" name="AutoShape 74"/>
          <p:cNvSpPr/>
          <p:nvPr/>
        </p:nvSpPr>
        <p:spPr bwMode="auto">
          <a:xfrm flipH="1" flipV="0">
            <a:off x="5298986" y="3750721"/>
            <a:ext cx="2708385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036063964" name="AutoShape 75"/>
          <p:cNvSpPr/>
          <p:nvPr/>
        </p:nvSpPr>
        <p:spPr bwMode="auto">
          <a:xfrm flipH="1" flipV="0">
            <a:off x="5202930" y="4316508"/>
            <a:ext cx="1770222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915765640" name="AutoShape 76"/>
          <p:cNvSpPr/>
          <p:nvPr/>
        </p:nvSpPr>
        <p:spPr bwMode="auto">
          <a:xfrm flipH="0" flipV="1">
            <a:off x="6484140" y="2366774"/>
            <a:ext cx="0" cy="305775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grpSp>
        <p:nvGrpSpPr>
          <p:cNvPr id="925345533" name=""/>
          <p:cNvGrpSpPr/>
          <p:nvPr/>
        </p:nvGrpSpPr>
        <p:grpSpPr bwMode="auto">
          <a:xfrm>
            <a:off x="4126343" y="778855"/>
            <a:ext cx="7967070" cy="1533920"/>
            <a:chOff x="0" y="0"/>
            <a:chExt cx="7967070" cy="1533920"/>
          </a:xfrm>
        </p:grpSpPr>
        <p:sp>
          <p:nvSpPr>
            <p:cNvPr id="1534832854" name="TextBox 5"/>
            <p:cNvSpPr txBox="1"/>
            <p:nvPr/>
          </p:nvSpPr>
          <p:spPr bwMode="auto">
            <a:xfrm rot="0" flipH="0" flipV="0">
              <a:off x="0" y="998274"/>
              <a:ext cx="895334" cy="535646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Hello</a:t>
              </a:r>
              <a:endParaRPr sz="1100"/>
            </a:p>
          </p:txBody>
        </p:sp>
        <p:sp>
          <p:nvSpPr>
            <p:cNvPr id="1029916751" name="Freeform 6"/>
            <p:cNvSpPr/>
            <p:nvPr/>
          </p:nvSpPr>
          <p:spPr bwMode="auto">
            <a:xfrm rot="0" flipH="0" flipV="0">
              <a:off x="134895" y="0"/>
              <a:ext cx="594769" cy="758986"/>
            </a:xfrm>
            <a:custGeom>
              <a:avLst/>
              <a:gdLst/>
              <a:ahLst/>
              <a:cxnLst/>
              <a:rect l="l" t="t" r="r" b="b"/>
              <a:pathLst>
                <a:path w="655667" h="836698" fill="norm" stroke="1" extrusionOk="0">
                  <a:moveTo>
                    <a:pt x="0" y="0"/>
                  </a:moveTo>
                  <a:lnTo>
                    <a:pt x="655667" y="0"/>
                  </a:lnTo>
                  <a:lnTo>
                    <a:pt x="655667" y="836698"/>
                  </a:lnTo>
                  <a:lnTo>
                    <a:pt x="0" y="836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159799805" name="Freeform 7"/>
            <p:cNvSpPr/>
            <p:nvPr/>
          </p:nvSpPr>
          <p:spPr bwMode="auto">
            <a:xfrm rot="0" flipH="0" flipV="0">
              <a:off x="7206633" y="0"/>
              <a:ext cx="594769" cy="758986"/>
            </a:xfrm>
            <a:custGeom>
              <a:avLst/>
              <a:gdLst/>
              <a:ahLst/>
              <a:cxnLst/>
              <a:rect l="l" t="t" r="r" b="b"/>
              <a:pathLst>
                <a:path w="655667" h="836698" fill="norm" stroke="1" extrusionOk="0">
                  <a:moveTo>
                    <a:pt x="0" y="0"/>
                  </a:moveTo>
                  <a:lnTo>
                    <a:pt x="655667" y="0"/>
                  </a:lnTo>
                  <a:lnTo>
                    <a:pt x="655667" y="836698"/>
                  </a:lnTo>
                  <a:lnTo>
                    <a:pt x="0" y="836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994718762" name="TextBox 37"/>
            <p:cNvSpPr txBox="1"/>
            <p:nvPr/>
          </p:nvSpPr>
          <p:spPr bwMode="auto">
            <a:xfrm rot="0" flipH="0" flipV="0">
              <a:off x="7071735" y="998274"/>
              <a:ext cx="895334" cy="535646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Hello</a:t>
              </a:r>
              <a:endParaRPr sz="11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3313390" name="TextBox 21"/>
          <p:cNvSpPr txBox="1"/>
          <p:nvPr/>
        </p:nvSpPr>
        <p:spPr bwMode="auto">
          <a:xfrm rot="0" flipH="0" flipV="0">
            <a:off x="1876970" y="964420"/>
            <a:ext cx="1690948" cy="320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 Bold"/>
              </a:rPr>
              <a:t>Klasse:</a:t>
            </a:r>
            <a:endParaRPr/>
          </a:p>
        </p:txBody>
      </p:sp>
      <p:sp>
        <p:nvSpPr>
          <p:cNvPr id="85694550" name="TextBox 57"/>
          <p:cNvSpPr txBox="1"/>
          <p:nvPr/>
        </p:nvSpPr>
        <p:spPr bwMode="auto">
          <a:xfrm rot="0" flipH="0" flipV="0">
            <a:off x="8438931" y="1258010"/>
            <a:ext cx="1496810" cy="427079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Maximale Anzahl von Subnetzen :</a:t>
            </a:r>
            <a:endParaRPr sz="1400"/>
          </a:p>
        </p:txBody>
      </p:sp>
      <p:sp>
        <p:nvSpPr>
          <p:cNvPr id="584695179" name="TextBox 58"/>
          <p:cNvSpPr txBox="1"/>
          <p:nvPr/>
        </p:nvSpPr>
        <p:spPr bwMode="auto">
          <a:xfrm rot="0" flipH="0" flipV="0">
            <a:off x="10285471" y="1258010"/>
            <a:ext cx="1693093" cy="427079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Maximale Anzahl von Hosts pro Subnetz :</a:t>
            </a:r>
            <a:endParaRPr sz="1400"/>
          </a:p>
        </p:txBody>
      </p:sp>
      <p:grpSp>
        <p:nvGrpSpPr>
          <p:cNvPr id="432274291" name=""/>
          <p:cNvGrpSpPr/>
          <p:nvPr/>
        </p:nvGrpSpPr>
        <p:grpSpPr bwMode="auto">
          <a:xfrm>
            <a:off x="15756" y="1884044"/>
            <a:ext cx="11357245" cy="4072888"/>
            <a:chOff x="0" y="0"/>
            <a:chExt cx="11357245" cy="4072888"/>
          </a:xfrm>
        </p:grpSpPr>
        <p:grpSp>
          <p:nvGrpSpPr>
            <p:cNvPr id="25814898" name="Group 2"/>
            <p:cNvGrpSpPr/>
            <p:nvPr/>
          </p:nvGrpSpPr>
          <p:grpSpPr bwMode="auto">
            <a:xfrm rot="0">
              <a:off x="3819132" y="293369"/>
              <a:ext cx="4302051" cy="518160"/>
              <a:chOff x="0" y="0"/>
              <a:chExt cx="1699575" cy="204705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1699575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699576" h="204705" fill="norm" stroke="1" extrusionOk="0">
                    <a:moveTo>
                      <a:pt x="26994" y="0"/>
                    </a:moveTo>
                    <a:lnTo>
                      <a:pt x="1672582" y="0"/>
                    </a:lnTo>
                    <a:cubicBezTo>
                      <a:pt x="1679741" y="0"/>
                      <a:pt x="1686607" y="2844"/>
                      <a:pt x="1691670" y="7906"/>
                    </a:cubicBezTo>
                    <a:cubicBezTo>
                      <a:pt x="1696732" y="12969"/>
                      <a:pt x="1699576" y="19835"/>
                      <a:pt x="1699576" y="26994"/>
                    </a:cubicBezTo>
                    <a:lnTo>
                      <a:pt x="1699576" y="177711"/>
                    </a:lnTo>
                    <a:cubicBezTo>
                      <a:pt x="1699576" y="192619"/>
                      <a:pt x="1687490" y="204705"/>
                      <a:pt x="1672582" y="204705"/>
                    </a:cubicBezTo>
                    <a:lnTo>
                      <a:pt x="26994" y="204705"/>
                    </a:lnTo>
                    <a:cubicBezTo>
                      <a:pt x="12086" y="204705"/>
                      <a:pt x="0" y="192619"/>
                      <a:pt x="0" y="177711"/>
                    </a:cubicBezTo>
                    <a:lnTo>
                      <a:pt x="0" y="26994"/>
                    </a:lnTo>
                    <a:cubicBezTo>
                      <a:pt x="0" y="12086"/>
                      <a:pt x="12086" y="0"/>
                      <a:pt x="269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" name="TextBox 4"/>
              <p:cNvSpPr txBox="1"/>
              <p:nvPr/>
            </p:nvSpPr>
            <p:spPr bwMode="auto">
              <a:xfrm>
                <a:off x="0" y="-28575"/>
                <a:ext cx="1699575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hostid</a:t>
                </a:r>
                <a:endParaRPr/>
              </a:p>
            </p:txBody>
          </p:sp>
        </p:grpSp>
        <p:grpSp>
          <p:nvGrpSpPr>
            <p:cNvPr id="298986141" name="Group 5"/>
            <p:cNvGrpSpPr/>
            <p:nvPr/>
          </p:nvGrpSpPr>
          <p:grpSpPr bwMode="auto">
            <a:xfrm rot="0">
              <a:off x="2372415" y="293369"/>
              <a:ext cx="1408617" cy="518160"/>
              <a:chOff x="0" y="0"/>
              <a:chExt cx="556491" cy="204705"/>
            </a:xfrm>
          </p:grpSpPr>
          <p:sp>
            <p:nvSpPr>
              <p:cNvPr id="6" name="Freeform 6"/>
              <p:cNvSpPr/>
              <p:nvPr/>
            </p:nvSpPr>
            <p:spPr bwMode="auto">
              <a:xfrm rot="0" flipH="0" flipV="0">
                <a:off x="0" y="0"/>
                <a:ext cx="556491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556491" h="204705" fill="norm" stroke="1" extrusionOk="0">
                    <a:moveTo>
                      <a:pt x="82442" y="0"/>
                    </a:moveTo>
                    <a:lnTo>
                      <a:pt x="474049" y="0"/>
                    </a:lnTo>
                    <a:cubicBezTo>
                      <a:pt x="495914" y="0"/>
                      <a:pt x="516883" y="8686"/>
                      <a:pt x="532344" y="24147"/>
                    </a:cubicBezTo>
                    <a:cubicBezTo>
                      <a:pt x="547805" y="39607"/>
                      <a:pt x="556491" y="60577"/>
                      <a:pt x="556491" y="82442"/>
                    </a:cubicBezTo>
                    <a:lnTo>
                      <a:pt x="556491" y="122263"/>
                    </a:lnTo>
                    <a:cubicBezTo>
                      <a:pt x="556491" y="144128"/>
                      <a:pt x="547805" y="165098"/>
                      <a:pt x="532344" y="180558"/>
                    </a:cubicBezTo>
                    <a:cubicBezTo>
                      <a:pt x="516883" y="196019"/>
                      <a:pt x="495914" y="204705"/>
                      <a:pt x="474049" y="204705"/>
                    </a:cubicBezTo>
                    <a:lnTo>
                      <a:pt x="82442" y="204705"/>
                    </a:lnTo>
                    <a:cubicBezTo>
                      <a:pt x="60577" y="204705"/>
                      <a:pt x="39607" y="196019"/>
                      <a:pt x="24147" y="180558"/>
                    </a:cubicBezTo>
                    <a:cubicBezTo>
                      <a:pt x="8686" y="165098"/>
                      <a:pt x="0" y="144128"/>
                      <a:pt x="0" y="122263"/>
                    </a:cubicBezTo>
                    <a:lnTo>
                      <a:pt x="0" y="82442"/>
                    </a:lnTo>
                    <a:cubicBezTo>
                      <a:pt x="0" y="60577"/>
                      <a:pt x="8686" y="39607"/>
                      <a:pt x="24147" y="24147"/>
                    </a:cubicBezTo>
                    <a:cubicBezTo>
                      <a:pt x="39607" y="8686"/>
                      <a:pt x="60577" y="0"/>
                      <a:pt x="8244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 bwMode="auto">
              <a:xfrm>
                <a:off x="0" y="-28575"/>
                <a:ext cx="556491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989457338" name="Group 8"/>
            <p:cNvGrpSpPr/>
            <p:nvPr/>
          </p:nvGrpSpPr>
          <p:grpSpPr bwMode="auto">
            <a:xfrm rot="0">
              <a:off x="1861213" y="293369"/>
              <a:ext cx="473102" cy="518160"/>
              <a:chOff x="0" y="0"/>
              <a:chExt cx="186905" cy="204705"/>
            </a:xfrm>
          </p:grpSpPr>
          <p:sp>
            <p:nvSpPr>
              <p:cNvPr id="9" name="Freeform 9"/>
              <p:cNvSpPr/>
              <p:nvPr/>
            </p:nvSpPr>
            <p:spPr bwMode="auto">
              <a:xfrm rot="0" flipH="0" flipV="0">
                <a:off x="0" y="0"/>
                <a:ext cx="186905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86905" h="204705" fill="norm" stroke="1" extrusionOk="0">
                    <a:moveTo>
                      <a:pt x="93452" y="0"/>
                    </a:moveTo>
                    <a:lnTo>
                      <a:pt x="93452" y="0"/>
                    </a:lnTo>
                    <a:cubicBezTo>
                      <a:pt x="145065" y="0"/>
                      <a:pt x="186905" y="41840"/>
                      <a:pt x="186905" y="93452"/>
                    </a:cubicBezTo>
                    <a:lnTo>
                      <a:pt x="186905" y="111253"/>
                    </a:lnTo>
                    <a:cubicBezTo>
                      <a:pt x="186905" y="136038"/>
                      <a:pt x="177059" y="159808"/>
                      <a:pt x="159533" y="177333"/>
                    </a:cubicBezTo>
                    <a:cubicBezTo>
                      <a:pt x="142007" y="194859"/>
                      <a:pt x="118237" y="204705"/>
                      <a:pt x="93452" y="204705"/>
                    </a:cubicBezTo>
                    <a:lnTo>
                      <a:pt x="93452" y="204705"/>
                    </a:lnTo>
                    <a:cubicBezTo>
                      <a:pt x="41840" y="204705"/>
                      <a:pt x="0" y="162865"/>
                      <a:pt x="0" y="111253"/>
                    </a:cubicBezTo>
                    <a:lnTo>
                      <a:pt x="0" y="93452"/>
                    </a:lnTo>
                    <a:cubicBezTo>
                      <a:pt x="0" y="68667"/>
                      <a:pt x="9846" y="44897"/>
                      <a:pt x="27372" y="27372"/>
                    </a:cubicBezTo>
                    <a:cubicBezTo>
                      <a:pt x="44897" y="9846"/>
                      <a:pt x="68667" y="0"/>
                      <a:pt x="934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 bwMode="auto">
              <a:xfrm>
                <a:off x="0" y="-28575"/>
                <a:ext cx="186905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0</a:t>
                </a:r>
                <a:endParaRPr/>
              </a:p>
            </p:txBody>
          </p:sp>
        </p:grpSp>
        <p:grpSp>
          <p:nvGrpSpPr>
            <p:cNvPr id="2006233770" name="Group 11"/>
            <p:cNvGrpSpPr/>
            <p:nvPr/>
          </p:nvGrpSpPr>
          <p:grpSpPr bwMode="auto">
            <a:xfrm rot="0">
              <a:off x="5265849" y="1108709"/>
              <a:ext cx="2855334" cy="518160"/>
              <a:chOff x="0" y="0"/>
              <a:chExt cx="1128033" cy="204705"/>
            </a:xfrm>
          </p:grpSpPr>
          <p:sp>
            <p:nvSpPr>
              <p:cNvPr id="12" name="Freeform 12"/>
              <p:cNvSpPr/>
              <p:nvPr/>
            </p:nvSpPr>
            <p:spPr bwMode="auto">
              <a:xfrm rot="0" flipH="0" flipV="0">
                <a:off x="0" y="0"/>
                <a:ext cx="1128033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128033" h="204705" fill="norm" stroke="1" extrusionOk="0">
                    <a:moveTo>
                      <a:pt x="40671" y="0"/>
                    </a:moveTo>
                    <a:lnTo>
                      <a:pt x="1087362" y="0"/>
                    </a:lnTo>
                    <a:cubicBezTo>
                      <a:pt x="1109824" y="0"/>
                      <a:pt x="1128033" y="18209"/>
                      <a:pt x="1128033" y="40671"/>
                    </a:cubicBezTo>
                    <a:lnTo>
                      <a:pt x="1128033" y="164034"/>
                    </a:lnTo>
                    <a:cubicBezTo>
                      <a:pt x="1128033" y="186496"/>
                      <a:pt x="1109824" y="204705"/>
                      <a:pt x="1087362" y="204705"/>
                    </a:cubicBezTo>
                    <a:lnTo>
                      <a:pt x="40671" y="204705"/>
                    </a:lnTo>
                    <a:cubicBezTo>
                      <a:pt x="18209" y="204705"/>
                      <a:pt x="0" y="186496"/>
                      <a:pt x="0" y="164034"/>
                    </a:cubicBezTo>
                    <a:lnTo>
                      <a:pt x="0" y="40671"/>
                    </a:lnTo>
                    <a:cubicBezTo>
                      <a:pt x="0" y="18209"/>
                      <a:pt x="18209" y="0"/>
                      <a:pt x="4067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 bwMode="auto">
              <a:xfrm>
                <a:off x="0" y="-28575"/>
                <a:ext cx="1128033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hostid</a:t>
                </a:r>
                <a:endParaRPr/>
              </a:p>
            </p:txBody>
          </p:sp>
        </p:grpSp>
        <p:grpSp>
          <p:nvGrpSpPr>
            <p:cNvPr id="228970262" name="Group 14"/>
            <p:cNvGrpSpPr/>
            <p:nvPr/>
          </p:nvGrpSpPr>
          <p:grpSpPr bwMode="auto">
            <a:xfrm rot="0">
              <a:off x="2562915" y="1108709"/>
              <a:ext cx="2664834" cy="518160"/>
              <a:chOff x="0" y="0"/>
              <a:chExt cx="1052774" cy="204705"/>
            </a:xfrm>
          </p:grpSpPr>
          <p:sp>
            <p:nvSpPr>
              <p:cNvPr id="15" name="Freeform 15"/>
              <p:cNvSpPr/>
              <p:nvPr/>
            </p:nvSpPr>
            <p:spPr bwMode="auto">
              <a:xfrm rot="0" flipH="0" flipV="0">
                <a:off x="0" y="0"/>
                <a:ext cx="1052774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052774" h="204705" fill="norm" stroke="1" extrusionOk="0">
                    <a:moveTo>
                      <a:pt x="43578" y="0"/>
                    </a:moveTo>
                    <a:lnTo>
                      <a:pt x="1009196" y="0"/>
                    </a:lnTo>
                    <a:cubicBezTo>
                      <a:pt x="1020753" y="0"/>
                      <a:pt x="1031838" y="4591"/>
                      <a:pt x="1040010" y="12764"/>
                    </a:cubicBezTo>
                    <a:cubicBezTo>
                      <a:pt x="1048183" y="20936"/>
                      <a:pt x="1052774" y="32021"/>
                      <a:pt x="1052774" y="43578"/>
                    </a:cubicBezTo>
                    <a:lnTo>
                      <a:pt x="1052774" y="161127"/>
                    </a:lnTo>
                    <a:cubicBezTo>
                      <a:pt x="1052774" y="185194"/>
                      <a:pt x="1033263" y="204705"/>
                      <a:pt x="1009196" y="204705"/>
                    </a:cubicBezTo>
                    <a:lnTo>
                      <a:pt x="43578" y="204705"/>
                    </a:lnTo>
                    <a:cubicBezTo>
                      <a:pt x="19511" y="204705"/>
                      <a:pt x="0" y="185194"/>
                      <a:pt x="0" y="161127"/>
                    </a:cubicBezTo>
                    <a:lnTo>
                      <a:pt x="0" y="43578"/>
                    </a:lnTo>
                    <a:cubicBezTo>
                      <a:pt x="0" y="19511"/>
                      <a:pt x="19511" y="0"/>
                      <a:pt x="4357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 bwMode="auto">
              <a:xfrm>
                <a:off x="0" y="-28575"/>
                <a:ext cx="1052774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253399489" name="Group 17"/>
            <p:cNvGrpSpPr/>
            <p:nvPr/>
          </p:nvGrpSpPr>
          <p:grpSpPr bwMode="auto">
            <a:xfrm rot="0">
              <a:off x="1861213" y="1108709"/>
              <a:ext cx="663602" cy="518160"/>
              <a:chOff x="0" y="0"/>
              <a:chExt cx="262164" cy="204705"/>
            </a:xfrm>
          </p:grpSpPr>
          <p:sp>
            <p:nvSpPr>
              <p:cNvPr id="18" name="Freeform 18"/>
              <p:cNvSpPr/>
              <p:nvPr/>
            </p:nvSpPr>
            <p:spPr bwMode="auto">
              <a:xfrm rot="0" flipH="0" flipV="0">
                <a:off x="0" y="0"/>
                <a:ext cx="262164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262164" h="204705" fill="norm" stroke="1" extrusionOk="0">
                    <a:moveTo>
                      <a:pt x="102353" y="0"/>
                    </a:moveTo>
                    <a:lnTo>
                      <a:pt x="159811" y="0"/>
                    </a:lnTo>
                    <a:cubicBezTo>
                      <a:pt x="216339" y="0"/>
                      <a:pt x="262164" y="45825"/>
                      <a:pt x="262164" y="102353"/>
                    </a:cubicBezTo>
                    <a:lnTo>
                      <a:pt x="262164" y="102353"/>
                    </a:lnTo>
                    <a:cubicBezTo>
                      <a:pt x="262164" y="129498"/>
                      <a:pt x="251380" y="155532"/>
                      <a:pt x="232185" y="174727"/>
                    </a:cubicBezTo>
                    <a:cubicBezTo>
                      <a:pt x="212991" y="193921"/>
                      <a:pt x="186957" y="204705"/>
                      <a:pt x="159811" y="204705"/>
                    </a:cubicBezTo>
                    <a:lnTo>
                      <a:pt x="102353" y="204705"/>
                    </a:lnTo>
                    <a:cubicBezTo>
                      <a:pt x="45825" y="204705"/>
                      <a:pt x="0" y="158880"/>
                      <a:pt x="0" y="102353"/>
                    </a:cubicBezTo>
                    <a:lnTo>
                      <a:pt x="0" y="102353"/>
                    </a:lnTo>
                    <a:cubicBezTo>
                      <a:pt x="0" y="45825"/>
                      <a:pt x="45825" y="0"/>
                      <a:pt x="10235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 bwMode="auto">
              <a:xfrm>
                <a:off x="0" y="-28575"/>
                <a:ext cx="262164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10</a:t>
                </a:r>
                <a:endParaRPr/>
              </a:p>
            </p:txBody>
          </p:sp>
        </p:grpSp>
        <p:sp>
          <p:nvSpPr>
            <p:cNvPr id="1049861385" name="TextBox 22"/>
            <p:cNvSpPr txBox="1"/>
            <p:nvPr/>
          </p:nvSpPr>
          <p:spPr bwMode="auto">
            <a:xfrm rot="-5400000" flipH="0" flipV="0">
              <a:off x="-1149500" y="1149500"/>
              <a:ext cx="2619402" cy="32040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unicast</a:t>
              </a:r>
              <a:endParaRPr/>
            </a:p>
          </p:txBody>
        </p:sp>
        <p:sp>
          <p:nvSpPr>
            <p:cNvPr id="1527567418" name="TextBox 23"/>
            <p:cNvSpPr txBox="1"/>
            <p:nvPr/>
          </p:nvSpPr>
          <p:spPr bwMode="auto">
            <a:xfrm rot="0">
              <a:off x="865876" y="32575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A</a:t>
              </a:r>
              <a:endParaRPr/>
            </a:p>
          </p:txBody>
        </p:sp>
        <p:sp>
          <p:nvSpPr>
            <p:cNvPr id="1603746806" name="TextBox 24"/>
            <p:cNvSpPr txBox="1"/>
            <p:nvPr/>
          </p:nvSpPr>
          <p:spPr bwMode="auto">
            <a:xfrm rot="0">
              <a:off x="865876" y="114109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B</a:t>
              </a:r>
              <a:endParaRPr/>
            </a:p>
          </p:txBody>
        </p:sp>
        <p:sp>
          <p:nvSpPr>
            <p:cNvPr id="31391673" name="TextBox 25"/>
            <p:cNvSpPr txBox="1"/>
            <p:nvPr/>
          </p:nvSpPr>
          <p:spPr bwMode="auto">
            <a:xfrm rot="0">
              <a:off x="865876" y="195643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C</a:t>
              </a:r>
              <a:endParaRPr/>
            </a:p>
          </p:txBody>
        </p:sp>
        <p:sp>
          <p:nvSpPr>
            <p:cNvPr id="1220100703" name="TextBox 26"/>
            <p:cNvSpPr txBox="1"/>
            <p:nvPr/>
          </p:nvSpPr>
          <p:spPr bwMode="auto">
            <a:xfrm rot="0">
              <a:off x="865876" y="2771775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D</a:t>
              </a:r>
              <a:endParaRPr/>
            </a:p>
          </p:txBody>
        </p:sp>
        <p:sp>
          <p:nvSpPr>
            <p:cNvPr id="2101753087" name="TextBox 27"/>
            <p:cNvSpPr txBox="1"/>
            <p:nvPr/>
          </p:nvSpPr>
          <p:spPr bwMode="auto">
            <a:xfrm rot="0">
              <a:off x="865876" y="358711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E</a:t>
              </a:r>
              <a:endParaRPr/>
            </a:p>
          </p:txBody>
        </p:sp>
        <p:grpSp>
          <p:nvGrpSpPr>
            <p:cNvPr id="1557327651" name="Group 28"/>
            <p:cNvGrpSpPr/>
            <p:nvPr/>
          </p:nvGrpSpPr>
          <p:grpSpPr bwMode="auto">
            <a:xfrm rot="0">
              <a:off x="6712566" y="1922144"/>
              <a:ext cx="1408617" cy="518160"/>
              <a:chOff x="0" y="0"/>
              <a:chExt cx="556491" cy="204705"/>
            </a:xfrm>
          </p:grpSpPr>
          <p:sp>
            <p:nvSpPr>
              <p:cNvPr id="29" name="Freeform 29"/>
              <p:cNvSpPr/>
              <p:nvPr/>
            </p:nvSpPr>
            <p:spPr bwMode="auto">
              <a:xfrm rot="0" flipH="0" flipV="0">
                <a:off x="0" y="0"/>
                <a:ext cx="556491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556491" h="204705" fill="norm" stroke="1" extrusionOk="0">
                    <a:moveTo>
                      <a:pt x="82442" y="0"/>
                    </a:moveTo>
                    <a:lnTo>
                      <a:pt x="474049" y="0"/>
                    </a:lnTo>
                    <a:cubicBezTo>
                      <a:pt x="495914" y="0"/>
                      <a:pt x="516883" y="8686"/>
                      <a:pt x="532344" y="24147"/>
                    </a:cubicBezTo>
                    <a:cubicBezTo>
                      <a:pt x="547805" y="39607"/>
                      <a:pt x="556491" y="60577"/>
                      <a:pt x="556491" y="82442"/>
                    </a:cubicBezTo>
                    <a:lnTo>
                      <a:pt x="556491" y="122263"/>
                    </a:lnTo>
                    <a:cubicBezTo>
                      <a:pt x="556491" y="144128"/>
                      <a:pt x="547805" y="165098"/>
                      <a:pt x="532344" y="180558"/>
                    </a:cubicBezTo>
                    <a:cubicBezTo>
                      <a:pt x="516883" y="196019"/>
                      <a:pt x="495914" y="204705"/>
                      <a:pt x="474049" y="204705"/>
                    </a:cubicBezTo>
                    <a:lnTo>
                      <a:pt x="82442" y="204705"/>
                    </a:lnTo>
                    <a:cubicBezTo>
                      <a:pt x="60577" y="204705"/>
                      <a:pt x="39607" y="196019"/>
                      <a:pt x="24147" y="180558"/>
                    </a:cubicBezTo>
                    <a:cubicBezTo>
                      <a:pt x="8686" y="165098"/>
                      <a:pt x="0" y="144128"/>
                      <a:pt x="0" y="122263"/>
                    </a:cubicBezTo>
                    <a:lnTo>
                      <a:pt x="0" y="82442"/>
                    </a:lnTo>
                    <a:cubicBezTo>
                      <a:pt x="0" y="60577"/>
                      <a:pt x="8686" y="39607"/>
                      <a:pt x="24147" y="24147"/>
                    </a:cubicBezTo>
                    <a:cubicBezTo>
                      <a:pt x="39607" y="8686"/>
                      <a:pt x="60577" y="0"/>
                      <a:pt x="8244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0" name="TextBox 30"/>
              <p:cNvSpPr txBox="1"/>
              <p:nvPr/>
            </p:nvSpPr>
            <p:spPr bwMode="auto">
              <a:xfrm>
                <a:off x="0" y="-28575"/>
                <a:ext cx="556491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hostid</a:t>
                </a:r>
                <a:endParaRPr/>
              </a:p>
            </p:txBody>
          </p:sp>
        </p:grpSp>
        <p:grpSp>
          <p:nvGrpSpPr>
            <p:cNvPr id="705782021" name="Group 31"/>
            <p:cNvGrpSpPr/>
            <p:nvPr/>
          </p:nvGrpSpPr>
          <p:grpSpPr bwMode="auto">
            <a:xfrm rot="0">
              <a:off x="2703268" y="1922144"/>
              <a:ext cx="3971198" cy="518160"/>
              <a:chOff x="0" y="0"/>
              <a:chExt cx="1568869" cy="204705"/>
            </a:xfrm>
          </p:grpSpPr>
          <p:sp>
            <p:nvSpPr>
              <p:cNvPr id="32" name="Freeform 32"/>
              <p:cNvSpPr/>
              <p:nvPr/>
            </p:nvSpPr>
            <p:spPr bwMode="auto">
              <a:xfrm rot="0" flipH="0" flipV="0">
                <a:off x="0" y="0"/>
                <a:ext cx="1568869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568869" h="204705" fill="norm" stroke="1" extrusionOk="0">
                    <a:moveTo>
                      <a:pt x="29243" y="0"/>
                    </a:moveTo>
                    <a:lnTo>
                      <a:pt x="1539626" y="0"/>
                    </a:lnTo>
                    <a:cubicBezTo>
                      <a:pt x="1555776" y="0"/>
                      <a:pt x="1568869" y="13092"/>
                      <a:pt x="1568869" y="29243"/>
                    </a:cubicBezTo>
                    <a:lnTo>
                      <a:pt x="1568869" y="175462"/>
                    </a:lnTo>
                    <a:cubicBezTo>
                      <a:pt x="1568869" y="191613"/>
                      <a:pt x="1555776" y="204705"/>
                      <a:pt x="1539626" y="204705"/>
                    </a:cubicBezTo>
                    <a:lnTo>
                      <a:pt x="29243" y="204705"/>
                    </a:lnTo>
                    <a:cubicBezTo>
                      <a:pt x="13092" y="204705"/>
                      <a:pt x="0" y="191613"/>
                      <a:pt x="0" y="175462"/>
                    </a:cubicBezTo>
                    <a:lnTo>
                      <a:pt x="0" y="29243"/>
                    </a:lnTo>
                    <a:cubicBezTo>
                      <a:pt x="0" y="13092"/>
                      <a:pt x="13092" y="0"/>
                      <a:pt x="2924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3" name="TextBox 33"/>
              <p:cNvSpPr txBox="1"/>
              <p:nvPr/>
            </p:nvSpPr>
            <p:spPr bwMode="auto">
              <a:xfrm>
                <a:off x="0" y="-28575"/>
                <a:ext cx="1568869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973352030" name="Group 34"/>
            <p:cNvGrpSpPr/>
            <p:nvPr/>
          </p:nvGrpSpPr>
          <p:grpSpPr bwMode="auto">
            <a:xfrm rot="0">
              <a:off x="1861213" y="1922144"/>
              <a:ext cx="803955" cy="518160"/>
              <a:chOff x="0" y="0"/>
              <a:chExt cx="317612" cy="204705"/>
            </a:xfrm>
          </p:grpSpPr>
          <p:sp>
            <p:nvSpPr>
              <p:cNvPr id="35" name="Freeform 35"/>
              <p:cNvSpPr/>
              <p:nvPr/>
            </p:nvSpPr>
            <p:spPr bwMode="auto">
              <a:xfrm rot="0" flipH="0" flipV="0">
                <a:off x="0" y="0"/>
                <a:ext cx="317612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317612" h="204705" fill="norm" stroke="1" extrusionOk="0">
                    <a:moveTo>
                      <a:pt x="102353" y="0"/>
                    </a:moveTo>
                    <a:lnTo>
                      <a:pt x="215259" y="0"/>
                    </a:lnTo>
                    <a:cubicBezTo>
                      <a:pt x="242405" y="0"/>
                      <a:pt x="268439" y="10784"/>
                      <a:pt x="287633" y="29978"/>
                    </a:cubicBezTo>
                    <a:cubicBezTo>
                      <a:pt x="306828" y="49173"/>
                      <a:pt x="317612" y="75207"/>
                      <a:pt x="317612" y="102353"/>
                    </a:cubicBezTo>
                    <a:lnTo>
                      <a:pt x="317612" y="102353"/>
                    </a:lnTo>
                    <a:cubicBezTo>
                      <a:pt x="317612" y="158880"/>
                      <a:pt x="271787" y="204705"/>
                      <a:pt x="215259" y="204705"/>
                    </a:cubicBezTo>
                    <a:lnTo>
                      <a:pt x="102353" y="204705"/>
                    </a:lnTo>
                    <a:cubicBezTo>
                      <a:pt x="45825" y="204705"/>
                      <a:pt x="0" y="158880"/>
                      <a:pt x="0" y="102353"/>
                    </a:cubicBezTo>
                    <a:lnTo>
                      <a:pt x="0" y="102353"/>
                    </a:lnTo>
                    <a:cubicBezTo>
                      <a:pt x="0" y="45825"/>
                      <a:pt x="45825" y="0"/>
                      <a:pt x="10235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6" name="TextBox 36"/>
              <p:cNvSpPr txBox="1"/>
              <p:nvPr/>
            </p:nvSpPr>
            <p:spPr bwMode="auto">
              <a:xfrm>
                <a:off x="0" y="-28575"/>
                <a:ext cx="317612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110</a:t>
                </a:r>
                <a:endParaRPr/>
              </a:p>
            </p:txBody>
          </p:sp>
        </p:grpSp>
        <p:grpSp>
          <p:nvGrpSpPr>
            <p:cNvPr id="1356703754" name="Group 37"/>
            <p:cNvGrpSpPr/>
            <p:nvPr/>
          </p:nvGrpSpPr>
          <p:grpSpPr bwMode="auto">
            <a:xfrm rot="0">
              <a:off x="2897217" y="2739389"/>
              <a:ext cx="5223966" cy="518160"/>
              <a:chOff x="0" y="0"/>
              <a:chExt cx="2063790" cy="204705"/>
            </a:xfrm>
          </p:grpSpPr>
          <p:sp>
            <p:nvSpPr>
              <p:cNvPr id="38" name="Freeform 38"/>
              <p:cNvSpPr/>
              <p:nvPr/>
            </p:nvSpPr>
            <p:spPr bwMode="auto">
              <a:xfrm rot="0" flipH="0" flipV="0">
                <a:off x="0" y="0"/>
                <a:ext cx="2063790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2063790" h="204705" fill="norm" stroke="1" extrusionOk="0">
                    <a:moveTo>
                      <a:pt x="22230" y="0"/>
                    </a:moveTo>
                    <a:lnTo>
                      <a:pt x="2041559" y="0"/>
                    </a:lnTo>
                    <a:cubicBezTo>
                      <a:pt x="2053837" y="0"/>
                      <a:pt x="2063790" y="9953"/>
                      <a:pt x="2063790" y="22230"/>
                    </a:cubicBezTo>
                    <a:lnTo>
                      <a:pt x="2063790" y="182475"/>
                    </a:lnTo>
                    <a:cubicBezTo>
                      <a:pt x="2063790" y="188371"/>
                      <a:pt x="2061447" y="194025"/>
                      <a:pt x="2057278" y="198194"/>
                    </a:cubicBezTo>
                    <a:cubicBezTo>
                      <a:pt x="2053110" y="202363"/>
                      <a:pt x="2047455" y="204705"/>
                      <a:pt x="2041559" y="204705"/>
                    </a:cubicBezTo>
                    <a:lnTo>
                      <a:pt x="22230" y="204705"/>
                    </a:lnTo>
                    <a:cubicBezTo>
                      <a:pt x="9953" y="204705"/>
                      <a:pt x="0" y="194752"/>
                      <a:pt x="0" y="182475"/>
                    </a:cubicBezTo>
                    <a:lnTo>
                      <a:pt x="0" y="22230"/>
                    </a:lnTo>
                    <a:cubicBezTo>
                      <a:pt x="0" y="9953"/>
                      <a:pt x="9953" y="0"/>
                      <a:pt x="2223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9" name="TextBox 39"/>
              <p:cNvSpPr txBox="1"/>
              <p:nvPr/>
            </p:nvSpPr>
            <p:spPr bwMode="auto">
              <a:xfrm>
                <a:off x="0" y="-28575"/>
                <a:ext cx="2063790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multicast</a:t>
                </a:r>
                <a:endParaRPr/>
              </a:p>
            </p:txBody>
          </p:sp>
        </p:grpSp>
        <p:grpSp>
          <p:nvGrpSpPr>
            <p:cNvPr id="2056830987" name="Group 40"/>
            <p:cNvGrpSpPr/>
            <p:nvPr/>
          </p:nvGrpSpPr>
          <p:grpSpPr bwMode="auto">
            <a:xfrm rot="0">
              <a:off x="1861213" y="2739389"/>
              <a:ext cx="1002619" cy="518160"/>
              <a:chOff x="0" y="0"/>
              <a:chExt cx="396096" cy="204705"/>
            </a:xfrm>
          </p:grpSpPr>
          <p:sp>
            <p:nvSpPr>
              <p:cNvPr id="41" name="Freeform 41"/>
              <p:cNvSpPr/>
              <p:nvPr/>
            </p:nvSpPr>
            <p:spPr bwMode="auto">
              <a:xfrm rot="0" flipH="0" flipV="0">
                <a:off x="0" y="0"/>
                <a:ext cx="396096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396096" h="204705" fill="norm" stroke="1" extrusionOk="0">
                    <a:moveTo>
                      <a:pt x="102353" y="0"/>
                    </a:moveTo>
                    <a:lnTo>
                      <a:pt x="293744" y="0"/>
                    </a:lnTo>
                    <a:cubicBezTo>
                      <a:pt x="350272" y="0"/>
                      <a:pt x="396096" y="45825"/>
                      <a:pt x="396096" y="102353"/>
                    </a:cubicBezTo>
                    <a:lnTo>
                      <a:pt x="396096" y="102353"/>
                    </a:lnTo>
                    <a:cubicBezTo>
                      <a:pt x="396096" y="129498"/>
                      <a:pt x="385313" y="155532"/>
                      <a:pt x="366118" y="174727"/>
                    </a:cubicBezTo>
                    <a:cubicBezTo>
                      <a:pt x="346923" y="193921"/>
                      <a:pt x="320889" y="204705"/>
                      <a:pt x="293744" y="204705"/>
                    </a:cubicBezTo>
                    <a:lnTo>
                      <a:pt x="102353" y="204705"/>
                    </a:lnTo>
                    <a:cubicBezTo>
                      <a:pt x="45825" y="204705"/>
                      <a:pt x="0" y="158880"/>
                      <a:pt x="0" y="102353"/>
                    </a:cubicBezTo>
                    <a:lnTo>
                      <a:pt x="0" y="102353"/>
                    </a:lnTo>
                    <a:cubicBezTo>
                      <a:pt x="0" y="45825"/>
                      <a:pt x="45825" y="0"/>
                      <a:pt x="10235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2" name="TextBox 42"/>
              <p:cNvSpPr txBox="1"/>
              <p:nvPr/>
            </p:nvSpPr>
            <p:spPr bwMode="auto">
              <a:xfrm>
                <a:off x="0" y="-28575"/>
                <a:ext cx="396096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1110</a:t>
                </a:r>
                <a:endParaRPr/>
              </a:p>
            </p:txBody>
          </p:sp>
        </p:grpSp>
        <p:grpSp>
          <p:nvGrpSpPr>
            <p:cNvPr id="1514108163" name="Group 43"/>
            <p:cNvGrpSpPr/>
            <p:nvPr/>
          </p:nvGrpSpPr>
          <p:grpSpPr bwMode="auto">
            <a:xfrm rot="0">
              <a:off x="3076723" y="3554728"/>
              <a:ext cx="5044460" cy="518160"/>
              <a:chOff x="0" y="0"/>
              <a:chExt cx="1992873" cy="204705"/>
            </a:xfrm>
          </p:grpSpPr>
          <p:sp>
            <p:nvSpPr>
              <p:cNvPr id="44" name="Freeform 44"/>
              <p:cNvSpPr/>
              <p:nvPr/>
            </p:nvSpPr>
            <p:spPr bwMode="auto">
              <a:xfrm rot="0" flipH="0" flipV="0">
                <a:off x="0" y="0"/>
                <a:ext cx="1992873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992873" h="204705" fill="norm" stroke="1" extrusionOk="0">
                    <a:moveTo>
                      <a:pt x="23021" y="0"/>
                    </a:moveTo>
                    <a:lnTo>
                      <a:pt x="1969852" y="0"/>
                    </a:lnTo>
                    <a:cubicBezTo>
                      <a:pt x="1982566" y="0"/>
                      <a:pt x="1992873" y="10307"/>
                      <a:pt x="1992873" y="23021"/>
                    </a:cubicBezTo>
                    <a:lnTo>
                      <a:pt x="1992873" y="181684"/>
                    </a:lnTo>
                    <a:cubicBezTo>
                      <a:pt x="1992873" y="194398"/>
                      <a:pt x="1982566" y="204705"/>
                      <a:pt x="1969852" y="204705"/>
                    </a:cubicBezTo>
                    <a:lnTo>
                      <a:pt x="23021" y="204705"/>
                    </a:lnTo>
                    <a:cubicBezTo>
                      <a:pt x="10307" y="204705"/>
                      <a:pt x="0" y="194398"/>
                      <a:pt x="0" y="181684"/>
                    </a:cubicBezTo>
                    <a:lnTo>
                      <a:pt x="0" y="23021"/>
                    </a:lnTo>
                    <a:cubicBezTo>
                      <a:pt x="0" y="10307"/>
                      <a:pt x="10307" y="0"/>
                      <a:pt x="2302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5" name="TextBox 45"/>
              <p:cNvSpPr txBox="1"/>
              <p:nvPr/>
            </p:nvSpPr>
            <p:spPr bwMode="auto">
              <a:xfrm>
                <a:off x="0" y="-28575"/>
                <a:ext cx="1992873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reserved</a:t>
                </a:r>
                <a:endParaRPr/>
              </a:p>
            </p:txBody>
          </p:sp>
        </p:grpSp>
        <p:grpSp>
          <p:nvGrpSpPr>
            <p:cNvPr id="2011440286" name="Group 46"/>
            <p:cNvGrpSpPr/>
            <p:nvPr/>
          </p:nvGrpSpPr>
          <p:grpSpPr bwMode="auto">
            <a:xfrm rot="0">
              <a:off x="1861213" y="3554728"/>
              <a:ext cx="1177623" cy="518160"/>
              <a:chOff x="0" y="0"/>
              <a:chExt cx="465234" cy="204705"/>
            </a:xfrm>
          </p:grpSpPr>
          <p:sp>
            <p:nvSpPr>
              <p:cNvPr id="47" name="Freeform 47"/>
              <p:cNvSpPr/>
              <p:nvPr/>
            </p:nvSpPr>
            <p:spPr bwMode="auto">
              <a:xfrm rot="0" flipH="0" flipV="0">
                <a:off x="0" y="0"/>
                <a:ext cx="465234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465234" h="204705" fill="norm" stroke="1" extrusionOk="0">
                    <a:moveTo>
                      <a:pt x="98613" y="0"/>
                    </a:moveTo>
                    <a:lnTo>
                      <a:pt x="366621" y="0"/>
                    </a:lnTo>
                    <a:cubicBezTo>
                      <a:pt x="421084" y="0"/>
                      <a:pt x="465234" y="44150"/>
                      <a:pt x="465234" y="98613"/>
                    </a:cubicBezTo>
                    <a:lnTo>
                      <a:pt x="465234" y="106092"/>
                    </a:lnTo>
                    <a:cubicBezTo>
                      <a:pt x="465234" y="132246"/>
                      <a:pt x="454844" y="157328"/>
                      <a:pt x="436351" y="175822"/>
                    </a:cubicBezTo>
                    <a:cubicBezTo>
                      <a:pt x="417857" y="194315"/>
                      <a:pt x="392775" y="204705"/>
                      <a:pt x="366621" y="204705"/>
                    </a:cubicBezTo>
                    <a:lnTo>
                      <a:pt x="98613" y="204705"/>
                    </a:lnTo>
                    <a:cubicBezTo>
                      <a:pt x="44150" y="204705"/>
                      <a:pt x="0" y="160555"/>
                      <a:pt x="0" y="106092"/>
                    </a:cubicBezTo>
                    <a:lnTo>
                      <a:pt x="0" y="98613"/>
                    </a:lnTo>
                    <a:cubicBezTo>
                      <a:pt x="0" y="44150"/>
                      <a:pt x="44150" y="0"/>
                      <a:pt x="9861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8" name="TextBox 48"/>
              <p:cNvSpPr txBox="1"/>
              <p:nvPr/>
            </p:nvSpPr>
            <p:spPr bwMode="auto">
              <a:xfrm>
                <a:off x="0" y="-28575"/>
                <a:ext cx="465234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11110</a:t>
                </a:r>
                <a:endParaRPr/>
              </a:p>
            </p:txBody>
          </p:sp>
        </p:grpSp>
        <p:sp>
          <p:nvSpPr>
            <p:cNvPr id="1953086313" name="TextBox 49"/>
            <p:cNvSpPr txBox="1"/>
            <p:nvPr/>
          </p:nvSpPr>
          <p:spPr bwMode="auto">
            <a:xfrm rot="0">
              <a:off x="1861213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31</a:t>
              </a:r>
              <a:endParaRPr/>
            </a:p>
          </p:txBody>
        </p:sp>
        <p:sp>
          <p:nvSpPr>
            <p:cNvPr id="849369090" name="TextBox 50"/>
            <p:cNvSpPr txBox="1"/>
            <p:nvPr/>
          </p:nvSpPr>
          <p:spPr bwMode="auto">
            <a:xfrm rot="0">
              <a:off x="3239789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24</a:t>
              </a:r>
              <a:endParaRPr/>
            </a:p>
          </p:txBody>
        </p:sp>
        <p:sp>
          <p:nvSpPr>
            <p:cNvPr id="1031524452" name="TextBox 51"/>
            <p:cNvSpPr txBox="1"/>
            <p:nvPr/>
          </p:nvSpPr>
          <p:spPr bwMode="auto">
            <a:xfrm rot="0">
              <a:off x="3857232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23</a:t>
              </a:r>
              <a:endParaRPr/>
            </a:p>
          </p:txBody>
        </p:sp>
        <p:sp>
          <p:nvSpPr>
            <p:cNvPr id="667804501" name="TextBox 52"/>
            <p:cNvSpPr txBox="1"/>
            <p:nvPr/>
          </p:nvSpPr>
          <p:spPr bwMode="auto">
            <a:xfrm rot="0">
              <a:off x="4688867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16</a:t>
              </a:r>
              <a:endParaRPr/>
            </a:p>
          </p:txBody>
        </p:sp>
        <p:sp>
          <p:nvSpPr>
            <p:cNvPr id="271945333" name="TextBox 53"/>
            <p:cNvSpPr txBox="1"/>
            <p:nvPr/>
          </p:nvSpPr>
          <p:spPr bwMode="auto">
            <a:xfrm rot="0">
              <a:off x="5306310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15</a:t>
              </a:r>
              <a:endParaRPr/>
            </a:p>
          </p:txBody>
        </p:sp>
        <p:sp>
          <p:nvSpPr>
            <p:cNvPr id="884027772" name="TextBox 54"/>
            <p:cNvSpPr txBox="1"/>
            <p:nvPr/>
          </p:nvSpPr>
          <p:spPr bwMode="auto">
            <a:xfrm rot="0">
              <a:off x="6133223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8</a:t>
              </a:r>
              <a:endParaRPr/>
            </a:p>
          </p:txBody>
        </p:sp>
        <p:sp>
          <p:nvSpPr>
            <p:cNvPr id="2048753811" name="TextBox 55"/>
            <p:cNvSpPr txBox="1"/>
            <p:nvPr/>
          </p:nvSpPr>
          <p:spPr bwMode="auto">
            <a:xfrm rot="0">
              <a:off x="6750666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7</a:t>
              </a:r>
              <a:endParaRPr/>
            </a:p>
          </p:txBody>
        </p:sp>
        <p:sp>
          <p:nvSpPr>
            <p:cNvPr id="619022150" name="TextBox 56"/>
            <p:cNvSpPr txBox="1"/>
            <p:nvPr/>
          </p:nvSpPr>
          <p:spPr bwMode="auto">
            <a:xfrm rot="0">
              <a:off x="7618041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0</a:t>
              </a:r>
              <a:endParaRPr/>
            </a:p>
          </p:txBody>
        </p:sp>
        <p:sp>
          <p:nvSpPr>
            <p:cNvPr id="47383722" name="TextBox 59"/>
            <p:cNvSpPr txBox="1"/>
            <p:nvPr/>
          </p:nvSpPr>
          <p:spPr bwMode="auto">
            <a:xfrm rot="0">
              <a:off x="8673633" y="363537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2^7</a:t>
              </a:r>
              <a:endParaRPr/>
            </a:p>
          </p:txBody>
        </p:sp>
        <p:sp>
          <p:nvSpPr>
            <p:cNvPr id="1528418996" name="TextBox 60"/>
            <p:cNvSpPr txBox="1"/>
            <p:nvPr/>
          </p:nvSpPr>
          <p:spPr bwMode="auto">
            <a:xfrm rot="0">
              <a:off x="8673633" y="1178877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2^14</a:t>
              </a:r>
              <a:endParaRPr/>
            </a:p>
          </p:txBody>
        </p:sp>
        <p:sp>
          <p:nvSpPr>
            <p:cNvPr id="137426651" name="TextBox 61"/>
            <p:cNvSpPr txBox="1"/>
            <p:nvPr/>
          </p:nvSpPr>
          <p:spPr bwMode="auto">
            <a:xfrm rot="0">
              <a:off x="8673633" y="1992312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2^21</a:t>
              </a:r>
              <a:endParaRPr/>
            </a:p>
          </p:txBody>
        </p:sp>
        <p:sp>
          <p:nvSpPr>
            <p:cNvPr id="1566352107" name="TextBox 62"/>
            <p:cNvSpPr txBox="1"/>
            <p:nvPr/>
          </p:nvSpPr>
          <p:spPr bwMode="auto">
            <a:xfrm rot="0">
              <a:off x="10591702" y="335279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2^24</a:t>
              </a:r>
              <a:endParaRPr/>
            </a:p>
          </p:txBody>
        </p:sp>
        <p:sp>
          <p:nvSpPr>
            <p:cNvPr id="1013989257" name="TextBox 63"/>
            <p:cNvSpPr txBox="1"/>
            <p:nvPr/>
          </p:nvSpPr>
          <p:spPr bwMode="auto">
            <a:xfrm rot="0">
              <a:off x="10591702" y="1150619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2^16</a:t>
              </a:r>
              <a:endParaRPr/>
            </a:p>
          </p:txBody>
        </p:sp>
        <p:sp>
          <p:nvSpPr>
            <p:cNvPr id="956305049" name="TextBox 64"/>
            <p:cNvSpPr txBox="1"/>
            <p:nvPr/>
          </p:nvSpPr>
          <p:spPr bwMode="auto">
            <a:xfrm rot="0">
              <a:off x="10591702" y="1964054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2^8</a:t>
              </a:r>
              <a:endParaRPr/>
            </a:p>
          </p:txBody>
        </p:sp>
        <p:sp>
          <p:nvSpPr>
            <p:cNvPr id="1519416077" name=""/>
            <p:cNvSpPr/>
            <p:nvPr/>
          </p:nvSpPr>
          <p:spPr bwMode="auto">
            <a:xfrm rot="10799989" flipH="0" flipV="0">
              <a:off x="489332" y="340542"/>
              <a:ext cx="281989" cy="1554078"/>
            </a:xfrm>
            <a:prstGeom prst="rightBrace">
              <a:avLst>
                <a:gd name="adj1" fmla="val 8333"/>
                <a:gd name="adj2" fmla="val 50000"/>
              </a:avLst>
            </a:prstGeom>
            <a:ln w="28575" cap="flat" cmpd="sng" algn="ctr">
              <a:solidFill>
                <a:schemeClr val="tx1"/>
              </a:solidFill>
              <a:prstDash val="solid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874082434" name=""/>
          <p:cNvGrpSpPr/>
          <p:nvPr/>
        </p:nvGrpSpPr>
        <p:grpSpPr bwMode="auto">
          <a:xfrm>
            <a:off x="1206936" y="3148012"/>
            <a:ext cx="9778124" cy="734493"/>
            <a:chOff x="0" y="0"/>
            <a:chExt cx="9778124" cy="734493"/>
          </a:xfrm>
        </p:grpSpPr>
        <p:grpSp>
          <p:nvGrpSpPr>
            <p:cNvPr id="1312271464" name="Group 2"/>
            <p:cNvGrpSpPr/>
            <p:nvPr/>
          </p:nvGrpSpPr>
          <p:grpSpPr bwMode="auto">
            <a:xfrm rot="0">
              <a:off x="5318069" y="0"/>
              <a:ext cx="4460055" cy="734494"/>
              <a:chOff x="0" y="0"/>
              <a:chExt cx="1761997" cy="290170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1761997" cy="290170"/>
              </a:xfrm>
              <a:custGeom>
                <a:avLst/>
                <a:gdLst/>
                <a:ahLst/>
                <a:cxnLst/>
                <a:rect l="l" t="t" r="r" b="b"/>
                <a:pathLst>
                  <a:path w="1761997" h="290170" fill="norm" stroke="1" extrusionOk="0">
                    <a:moveTo>
                      <a:pt x="26038" y="0"/>
                    </a:moveTo>
                    <a:lnTo>
                      <a:pt x="1735960" y="0"/>
                    </a:lnTo>
                    <a:cubicBezTo>
                      <a:pt x="1742865" y="0"/>
                      <a:pt x="1749488" y="2743"/>
                      <a:pt x="1754371" y="7626"/>
                    </a:cubicBezTo>
                    <a:cubicBezTo>
                      <a:pt x="1759254" y="12509"/>
                      <a:pt x="1761997" y="19132"/>
                      <a:pt x="1761997" y="26038"/>
                    </a:cubicBezTo>
                    <a:lnTo>
                      <a:pt x="1761997" y="264133"/>
                    </a:lnTo>
                    <a:cubicBezTo>
                      <a:pt x="1761997" y="278513"/>
                      <a:pt x="1750340" y="290170"/>
                      <a:pt x="1735960" y="290170"/>
                    </a:cubicBezTo>
                    <a:lnTo>
                      <a:pt x="26038" y="290170"/>
                    </a:lnTo>
                    <a:cubicBezTo>
                      <a:pt x="19132" y="290170"/>
                      <a:pt x="12509" y="287427"/>
                      <a:pt x="7626" y="282544"/>
                    </a:cubicBezTo>
                    <a:cubicBezTo>
                      <a:pt x="2743" y="277661"/>
                      <a:pt x="0" y="271039"/>
                      <a:pt x="0" y="264133"/>
                    </a:cubicBezTo>
                    <a:lnTo>
                      <a:pt x="0" y="26038"/>
                    </a:lnTo>
                    <a:cubicBezTo>
                      <a:pt x="0" y="19132"/>
                      <a:pt x="2743" y="12509"/>
                      <a:pt x="7626" y="7626"/>
                    </a:cubicBezTo>
                    <a:cubicBezTo>
                      <a:pt x="12509" y="2743"/>
                      <a:pt x="19132" y="0"/>
                      <a:pt x="2603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" name="TextBox 4"/>
              <p:cNvSpPr txBox="1"/>
              <p:nvPr/>
            </p:nvSpPr>
            <p:spPr bwMode="auto">
              <a:xfrm>
                <a:off x="0" y="-28575"/>
                <a:ext cx="1761997" cy="31874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                      hostid</a:t>
                </a:r>
                <a:endParaRPr/>
              </a:p>
            </p:txBody>
          </p:sp>
        </p:grpSp>
        <p:grpSp>
          <p:nvGrpSpPr>
            <p:cNvPr id="603500390" name="Group 5"/>
            <p:cNvGrpSpPr/>
            <p:nvPr/>
          </p:nvGrpSpPr>
          <p:grpSpPr bwMode="auto">
            <a:xfrm rot="0">
              <a:off x="1096065" y="0"/>
              <a:ext cx="4162493" cy="734494"/>
              <a:chOff x="0" y="0"/>
              <a:chExt cx="1644442" cy="290170"/>
            </a:xfrm>
          </p:grpSpPr>
          <p:sp>
            <p:nvSpPr>
              <p:cNvPr id="6" name="Freeform 6"/>
              <p:cNvSpPr/>
              <p:nvPr/>
            </p:nvSpPr>
            <p:spPr bwMode="auto">
              <a:xfrm rot="0" flipH="0" flipV="0">
                <a:off x="0" y="0"/>
                <a:ext cx="1644442" cy="290170"/>
              </a:xfrm>
              <a:custGeom>
                <a:avLst/>
                <a:gdLst/>
                <a:ahLst/>
                <a:cxnLst/>
                <a:rect l="l" t="t" r="r" b="b"/>
                <a:pathLst>
                  <a:path w="1644442" h="290170" fill="norm" stroke="1" extrusionOk="0">
                    <a:moveTo>
                      <a:pt x="27899" y="0"/>
                    </a:moveTo>
                    <a:lnTo>
                      <a:pt x="1616543" y="0"/>
                    </a:lnTo>
                    <a:cubicBezTo>
                      <a:pt x="1631951" y="0"/>
                      <a:pt x="1644442" y="12491"/>
                      <a:pt x="1644442" y="27899"/>
                    </a:cubicBezTo>
                    <a:lnTo>
                      <a:pt x="1644442" y="262272"/>
                    </a:lnTo>
                    <a:cubicBezTo>
                      <a:pt x="1644442" y="277680"/>
                      <a:pt x="1631951" y="290170"/>
                      <a:pt x="1616543" y="290170"/>
                    </a:cubicBezTo>
                    <a:lnTo>
                      <a:pt x="27899" y="290170"/>
                    </a:lnTo>
                    <a:cubicBezTo>
                      <a:pt x="12491" y="290170"/>
                      <a:pt x="0" y="277680"/>
                      <a:pt x="0" y="262272"/>
                    </a:cubicBezTo>
                    <a:lnTo>
                      <a:pt x="0" y="27899"/>
                    </a:lnTo>
                    <a:cubicBezTo>
                      <a:pt x="0" y="12491"/>
                      <a:pt x="12491" y="0"/>
                      <a:pt x="2789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 bwMode="auto">
              <a:xfrm>
                <a:off x="0" y="-28575"/>
                <a:ext cx="1644442" cy="31874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583818189" name="Group 8"/>
            <p:cNvGrpSpPr/>
            <p:nvPr/>
          </p:nvGrpSpPr>
          <p:grpSpPr bwMode="auto">
            <a:xfrm rot="0">
              <a:off x="0" y="0"/>
              <a:ext cx="1036552" cy="734494"/>
              <a:chOff x="0" y="0"/>
              <a:chExt cx="409502" cy="290170"/>
            </a:xfrm>
          </p:grpSpPr>
          <p:sp>
            <p:nvSpPr>
              <p:cNvPr id="9" name="Freeform 9"/>
              <p:cNvSpPr/>
              <p:nvPr/>
            </p:nvSpPr>
            <p:spPr bwMode="auto">
              <a:xfrm rot="0" flipH="0" flipV="0">
                <a:off x="0" y="0"/>
                <a:ext cx="409502" cy="290170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290170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178137"/>
                    </a:lnTo>
                    <a:cubicBezTo>
                      <a:pt x="409502" y="240011"/>
                      <a:pt x="359343" y="290170"/>
                      <a:pt x="297468" y="290170"/>
                    </a:cubicBezTo>
                    <a:lnTo>
                      <a:pt x="112034" y="290170"/>
                    </a:lnTo>
                    <a:cubicBezTo>
                      <a:pt x="82321" y="290170"/>
                      <a:pt x="53824" y="278367"/>
                      <a:pt x="32814" y="257357"/>
                    </a:cubicBezTo>
                    <a:cubicBezTo>
                      <a:pt x="11804" y="236346"/>
                      <a:pt x="0" y="207850"/>
                      <a:pt x="0" y="17813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 bwMode="auto">
              <a:xfrm>
                <a:off x="0" y="-28575"/>
                <a:ext cx="409502" cy="31874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10</a:t>
                </a:r>
                <a:endParaRPr/>
              </a:p>
            </p:txBody>
          </p:sp>
        </p:grpSp>
        <p:grpSp>
          <p:nvGrpSpPr>
            <p:cNvPr id="731155965" name="Group 11"/>
            <p:cNvGrpSpPr/>
            <p:nvPr/>
          </p:nvGrpSpPr>
          <p:grpSpPr bwMode="auto">
            <a:xfrm rot="0">
              <a:off x="5394269" y="76199"/>
              <a:ext cx="1630737" cy="582094"/>
              <a:chOff x="0" y="0"/>
              <a:chExt cx="644242" cy="229963"/>
            </a:xfrm>
          </p:grpSpPr>
          <p:sp>
            <p:nvSpPr>
              <p:cNvPr id="12" name="Freeform 12"/>
              <p:cNvSpPr/>
              <p:nvPr/>
            </p:nvSpPr>
            <p:spPr bwMode="auto">
              <a:xfrm rot="0" flipH="0" flipV="0">
                <a:off x="0" y="0"/>
                <a:ext cx="644242" cy="229963"/>
              </a:xfrm>
              <a:custGeom>
                <a:avLst/>
                <a:gdLst/>
                <a:ahLst/>
                <a:cxnLst/>
                <a:rect l="l" t="t" r="r" b="b"/>
                <a:pathLst>
                  <a:path w="644242" h="229963" fill="norm" stroke="1" extrusionOk="0">
                    <a:moveTo>
                      <a:pt x="71212" y="0"/>
                    </a:moveTo>
                    <a:lnTo>
                      <a:pt x="573029" y="0"/>
                    </a:lnTo>
                    <a:cubicBezTo>
                      <a:pt x="612359" y="0"/>
                      <a:pt x="644242" y="31883"/>
                      <a:pt x="644242" y="71212"/>
                    </a:cubicBezTo>
                    <a:lnTo>
                      <a:pt x="644242" y="158751"/>
                    </a:lnTo>
                    <a:cubicBezTo>
                      <a:pt x="644242" y="198080"/>
                      <a:pt x="612359" y="229963"/>
                      <a:pt x="573029" y="229963"/>
                    </a:cubicBezTo>
                    <a:lnTo>
                      <a:pt x="71212" y="229963"/>
                    </a:lnTo>
                    <a:cubicBezTo>
                      <a:pt x="31883" y="229963"/>
                      <a:pt x="0" y="198080"/>
                      <a:pt x="0" y="158751"/>
                    </a:cubicBezTo>
                    <a:lnTo>
                      <a:pt x="0" y="71212"/>
                    </a:lnTo>
                    <a:cubicBezTo>
                      <a:pt x="0" y="31883"/>
                      <a:pt x="31883" y="0"/>
                      <a:pt x="7121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 bwMode="auto">
              <a:xfrm>
                <a:off x="0" y="-28575"/>
                <a:ext cx="644242" cy="258538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subnetid</a:t>
                </a: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3095398" name="AutoShape 2"/>
          <p:cNvSpPr/>
          <p:nvPr/>
        </p:nvSpPr>
        <p:spPr bwMode="auto">
          <a:xfrm flipV="1">
            <a:off x="9092137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68279638" name="AutoShape 3"/>
          <p:cNvSpPr/>
          <p:nvPr/>
        </p:nvSpPr>
        <p:spPr bwMode="auto">
          <a:xfrm flipV="1">
            <a:off x="3099863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914643356" name="Freeform 4"/>
          <p:cNvSpPr/>
          <p:nvPr/>
        </p:nvSpPr>
        <p:spPr bwMode="auto">
          <a:xfrm rot="0" flipH="0" flipV="0">
            <a:off x="958170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1" y="0"/>
                </a:lnTo>
                <a:lnTo>
                  <a:pt x="1136731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63491454" name="Freeform 5"/>
          <p:cNvSpPr/>
          <p:nvPr/>
        </p:nvSpPr>
        <p:spPr bwMode="auto">
          <a:xfrm rot="0" flipH="0" flipV="0">
            <a:off x="10101787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3884700" name="TextBox 6"/>
          <p:cNvSpPr txBox="1"/>
          <p:nvPr/>
        </p:nvSpPr>
        <p:spPr bwMode="auto">
          <a:xfrm rot="0">
            <a:off x="603265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Übertragende Maschine</a:t>
            </a:r>
            <a:endParaRPr/>
          </a:p>
        </p:txBody>
      </p:sp>
      <p:sp>
        <p:nvSpPr>
          <p:cNvPr id="907907981" name="TextBox 7"/>
          <p:cNvSpPr txBox="1"/>
          <p:nvPr/>
        </p:nvSpPr>
        <p:spPr bwMode="auto">
          <a:xfrm rot="0">
            <a:off x="9746882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Empfangsmaschine</a:t>
            </a:r>
            <a:endParaRPr/>
          </a:p>
        </p:txBody>
      </p:sp>
      <p:sp>
        <p:nvSpPr>
          <p:cNvPr id="380560299" name="AutoShape 8"/>
          <p:cNvSpPr/>
          <p:nvPr/>
        </p:nvSpPr>
        <p:spPr bwMode="auto">
          <a:xfrm flipH="1">
            <a:off x="3099863" y="2914668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333826444" name="AutoShape 9"/>
          <p:cNvSpPr/>
          <p:nvPr/>
        </p:nvSpPr>
        <p:spPr bwMode="auto">
          <a:xfrm flipH="1" flipV="1">
            <a:off x="3099863" y="1436053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565875459" name="AutoShape 10"/>
          <p:cNvSpPr/>
          <p:nvPr/>
        </p:nvSpPr>
        <p:spPr bwMode="auto">
          <a:xfrm flipH="1" flipV="1">
            <a:off x="3099863" y="4393264"/>
            <a:ext cx="5992274" cy="102870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1036614020" name=""/>
          <p:cNvGrpSpPr/>
          <p:nvPr/>
        </p:nvGrpSpPr>
        <p:grpSpPr bwMode="auto">
          <a:xfrm>
            <a:off x="5464036" y="1765350"/>
            <a:ext cx="1170543" cy="3325324"/>
            <a:chOff x="0" y="0"/>
            <a:chExt cx="1170543" cy="3325324"/>
          </a:xfrm>
        </p:grpSpPr>
        <p:sp>
          <p:nvSpPr>
            <p:cNvPr id="1513756760" name=""/>
            <p:cNvSpPr txBox="1"/>
            <p:nvPr/>
          </p:nvSpPr>
          <p:spPr bwMode="auto">
            <a:xfrm rot="0" flipH="0" flipV="0">
              <a:off x="102720" y="1546442"/>
              <a:ext cx="72406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ACK 1</a:t>
              </a:r>
              <a:endParaRPr/>
            </a:p>
          </p:txBody>
        </p:sp>
        <p:sp>
          <p:nvSpPr>
            <p:cNvPr id="271017964" name=""/>
            <p:cNvSpPr txBox="1"/>
            <p:nvPr/>
          </p:nvSpPr>
          <p:spPr bwMode="auto">
            <a:xfrm rot="0" flipH="0" flipV="0">
              <a:off x="0" y="0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1</a:t>
              </a:r>
              <a:endParaRPr/>
            </a:p>
          </p:txBody>
        </p:sp>
        <p:sp>
          <p:nvSpPr>
            <p:cNvPr id="187756255" name=""/>
            <p:cNvSpPr txBox="1"/>
            <p:nvPr/>
          </p:nvSpPr>
          <p:spPr bwMode="auto">
            <a:xfrm rot="0" flipH="0" flipV="0">
              <a:off x="0" y="2959204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2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6873908" name="AutoShape 2"/>
          <p:cNvSpPr/>
          <p:nvPr/>
        </p:nvSpPr>
        <p:spPr bwMode="auto">
          <a:xfrm flipV="1">
            <a:off x="9092137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83169163" name="AutoShape 3"/>
          <p:cNvSpPr/>
          <p:nvPr/>
        </p:nvSpPr>
        <p:spPr bwMode="auto">
          <a:xfrm flipV="1">
            <a:off x="3099863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78015405" name="Freeform 4"/>
          <p:cNvSpPr/>
          <p:nvPr/>
        </p:nvSpPr>
        <p:spPr bwMode="auto">
          <a:xfrm rot="0" flipH="0" flipV="0">
            <a:off x="958170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1" y="0"/>
                </a:lnTo>
                <a:lnTo>
                  <a:pt x="1136731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44235932" name="Freeform 5"/>
          <p:cNvSpPr/>
          <p:nvPr/>
        </p:nvSpPr>
        <p:spPr bwMode="auto">
          <a:xfrm rot="0" flipH="0" flipV="0">
            <a:off x="10101787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99039781" name="TextBox 6"/>
          <p:cNvSpPr txBox="1"/>
          <p:nvPr/>
        </p:nvSpPr>
        <p:spPr bwMode="auto">
          <a:xfrm rot="0">
            <a:off x="603265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Übertragende Maschine</a:t>
            </a:r>
            <a:endParaRPr/>
          </a:p>
        </p:txBody>
      </p:sp>
      <p:sp>
        <p:nvSpPr>
          <p:cNvPr id="372843320" name="TextBox 7"/>
          <p:cNvSpPr txBox="1"/>
          <p:nvPr/>
        </p:nvSpPr>
        <p:spPr bwMode="auto">
          <a:xfrm rot="0">
            <a:off x="9746882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Empfangsmaschine</a:t>
            </a:r>
            <a:endParaRPr/>
          </a:p>
        </p:txBody>
      </p:sp>
      <p:sp>
        <p:nvSpPr>
          <p:cNvPr id="839148436" name="AutoShape 8"/>
          <p:cNvSpPr/>
          <p:nvPr/>
        </p:nvSpPr>
        <p:spPr bwMode="auto">
          <a:xfrm flipH="1">
            <a:off x="3099863" y="4844307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121276044" name="AutoShape 9"/>
          <p:cNvSpPr/>
          <p:nvPr/>
        </p:nvSpPr>
        <p:spPr bwMode="auto">
          <a:xfrm flipH="1" flipV="1">
            <a:off x="3099863" y="988977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513037684" name="AutoShape 10"/>
          <p:cNvSpPr/>
          <p:nvPr/>
        </p:nvSpPr>
        <p:spPr bwMode="auto">
          <a:xfrm flipH="1" flipV="1">
            <a:off x="3099863" y="3363230"/>
            <a:ext cx="5992274" cy="102870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42909003" name="AutoShape 11"/>
          <p:cNvSpPr/>
          <p:nvPr/>
        </p:nvSpPr>
        <p:spPr bwMode="auto">
          <a:xfrm flipV="1">
            <a:off x="3276076" y="1120685"/>
            <a:ext cx="0" cy="2191804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988899995" name="TextBox 12"/>
          <p:cNvSpPr txBox="1"/>
          <p:nvPr/>
        </p:nvSpPr>
        <p:spPr bwMode="auto">
          <a:xfrm rot="0">
            <a:off x="3373738" y="2068840"/>
            <a:ext cx="1846542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Zeitschaltuhr</a:t>
            </a:r>
            <a:endParaRPr/>
          </a:p>
        </p:txBody>
      </p:sp>
      <p:grpSp>
        <p:nvGrpSpPr>
          <p:cNvPr id="1346248651" name=""/>
          <p:cNvGrpSpPr/>
          <p:nvPr/>
        </p:nvGrpSpPr>
        <p:grpSpPr bwMode="auto">
          <a:xfrm>
            <a:off x="5464036" y="1318275"/>
            <a:ext cx="1170543" cy="4221450"/>
            <a:chOff x="0" y="0"/>
            <a:chExt cx="1170543" cy="4221450"/>
          </a:xfrm>
        </p:grpSpPr>
        <p:sp>
          <p:nvSpPr>
            <p:cNvPr id="447652547" name=""/>
            <p:cNvSpPr txBox="1"/>
            <p:nvPr/>
          </p:nvSpPr>
          <p:spPr bwMode="auto">
            <a:xfrm rot="0" flipH="0" flipV="0">
              <a:off x="269930" y="3855330"/>
              <a:ext cx="72406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ACK 1</a:t>
              </a:r>
              <a:endParaRPr/>
            </a:p>
          </p:txBody>
        </p:sp>
        <p:sp>
          <p:nvSpPr>
            <p:cNvPr id="349435816" name=""/>
            <p:cNvSpPr txBox="1"/>
            <p:nvPr/>
          </p:nvSpPr>
          <p:spPr bwMode="auto">
            <a:xfrm rot="0" flipH="0" flipV="0">
              <a:off x="0" y="0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1</a:t>
              </a:r>
              <a:endParaRPr/>
            </a:p>
          </p:txBody>
        </p:sp>
        <p:sp>
          <p:nvSpPr>
            <p:cNvPr id="732806733" name=""/>
            <p:cNvSpPr txBox="1"/>
            <p:nvPr/>
          </p:nvSpPr>
          <p:spPr bwMode="auto">
            <a:xfrm rot="0" flipH="0" flipV="0">
              <a:off x="0" y="2432796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1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4985113" name="AutoShape 2"/>
          <p:cNvSpPr/>
          <p:nvPr/>
        </p:nvSpPr>
        <p:spPr bwMode="auto">
          <a:xfrm flipV="1">
            <a:off x="9092137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61777118" name="AutoShape 3"/>
          <p:cNvSpPr/>
          <p:nvPr/>
        </p:nvSpPr>
        <p:spPr bwMode="auto">
          <a:xfrm flipV="1">
            <a:off x="3099863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76045574" name="Freeform 4"/>
          <p:cNvSpPr/>
          <p:nvPr/>
        </p:nvSpPr>
        <p:spPr bwMode="auto">
          <a:xfrm rot="0" flipH="0" flipV="0">
            <a:off x="958170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1" y="0"/>
                </a:lnTo>
                <a:lnTo>
                  <a:pt x="1136731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78273019" name="Freeform 5"/>
          <p:cNvSpPr/>
          <p:nvPr/>
        </p:nvSpPr>
        <p:spPr bwMode="auto">
          <a:xfrm rot="0" flipH="0" flipV="0">
            <a:off x="10101787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17167931" name="TextBox 6"/>
          <p:cNvSpPr txBox="1"/>
          <p:nvPr/>
        </p:nvSpPr>
        <p:spPr bwMode="auto">
          <a:xfrm rot="0">
            <a:off x="603265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Übertragende Maschine</a:t>
            </a:r>
            <a:endParaRPr/>
          </a:p>
        </p:txBody>
      </p:sp>
      <p:sp>
        <p:nvSpPr>
          <p:cNvPr id="1851118139" name="TextBox 7"/>
          <p:cNvSpPr txBox="1"/>
          <p:nvPr/>
        </p:nvSpPr>
        <p:spPr bwMode="auto">
          <a:xfrm rot="0">
            <a:off x="9746882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Empfangsmaschine</a:t>
            </a:r>
            <a:endParaRPr/>
          </a:p>
        </p:txBody>
      </p:sp>
      <p:sp>
        <p:nvSpPr>
          <p:cNvPr id="890158885" name="AutoShape 8"/>
          <p:cNvSpPr/>
          <p:nvPr/>
        </p:nvSpPr>
        <p:spPr bwMode="auto">
          <a:xfrm flipH="1">
            <a:off x="3099863" y="2914668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382900791" name="AutoShape 9"/>
          <p:cNvSpPr/>
          <p:nvPr/>
        </p:nvSpPr>
        <p:spPr bwMode="auto">
          <a:xfrm flipH="1" flipV="1">
            <a:off x="3099863" y="1436053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094969365" name="AutoShape 10"/>
          <p:cNvSpPr/>
          <p:nvPr/>
        </p:nvSpPr>
        <p:spPr bwMode="auto">
          <a:xfrm flipH="1" flipV="1">
            <a:off x="3099863" y="4393264"/>
            <a:ext cx="5992274" cy="102870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1732618324" name=""/>
          <p:cNvGrpSpPr/>
          <p:nvPr/>
        </p:nvGrpSpPr>
        <p:grpSpPr bwMode="auto">
          <a:xfrm>
            <a:off x="5464216" y="1600802"/>
            <a:ext cx="1655644" cy="3764191"/>
            <a:chOff x="0" y="0"/>
            <a:chExt cx="1655644" cy="3764191"/>
          </a:xfrm>
        </p:grpSpPr>
        <p:sp>
          <p:nvSpPr>
            <p:cNvPr id="2037122530" name=""/>
            <p:cNvSpPr txBox="1"/>
            <p:nvPr/>
          </p:nvSpPr>
          <p:spPr bwMode="auto">
            <a:xfrm rot="0" flipH="0" flipV="0">
              <a:off x="102539" y="1436489"/>
              <a:ext cx="1409074" cy="914760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/>
                <a:t>SYN</a:t>
              </a:r>
              <a:br>
                <a:rPr lang="fr-FR"/>
              </a:br>
              <a:r>
                <a:rPr lang="fr-FR"/>
                <a:t>ACK = C+1</a:t>
              </a:r>
              <a:br>
                <a:rPr lang="fr-FR"/>
              </a:br>
              <a:r>
                <a:rPr lang="fr-FR"/>
                <a:t>Sequence = S</a:t>
              </a:r>
              <a:endParaRPr/>
            </a:p>
          </p:txBody>
        </p:sp>
        <p:sp>
          <p:nvSpPr>
            <p:cNvPr id="1797716726" name=""/>
            <p:cNvSpPr txBox="1"/>
            <p:nvPr/>
          </p:nvSpPr>
          <p:spPr bwMode="auto">
            <a:xfrm rot="0" flipH="0" flipV="0">
              <a:off x="113278" y="0"/>
              <a:ext cx="1425929" cy="640440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/>
                <a:t>SYN </a:t>
              </a:r>
              <a:br>
                <a:rPr lang="fr-FR"/>
              </a:br>
              <a:r>
                <a:rPr lang="fr-FR"/>
                <a:t>Sequence = C</a:t>
              </a:r>
              <a:endParaRPr/>
            </a:p>
          </p:txBody>
        </p:sp>
        <p:sp>
          <p:nvSpPr>
            <p:cNvPr id="663857974" name=""/>
            <p:cNvSpPr txBox="1"/>
            <p:nvPr/>
          </p:nvSpPr>
          <p:spPr bwMode="auto">
            <a:xfrm rot="0" flipH="0" flipV="0">
              <a:off x="0" y="3123751"/>
              <a:ext cx="1655644" cy="640440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/>
                <a:t>ACK = S+1</a:t>
              </a:r>
              <a:endParaRPr lang="fr-FR"/>
            </a:p>
            <a:p>
              <a:pPr algn="ctr">
                <a:defRPr/>
              </a:pPr>
              <a:r>
                <a:rPr lang="fr-FR"/>
                <a:t>Sequence = C+1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6269243" name="AutoShape 2"/>
          <p:cNvSpPr/>
          <p:nvPr/>
        </p:nvSpPr>
        <p:spPr bwMode="auto">
          <a:xfrm flipV="1">
            <a:off x="9089793" y="1563196"/>
            <a:ext cx="0" cy="5012247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80780427" name="AutoShape 3"/>
          <p:cNvSpPr/>
          <p:nvPr/>
        </p:nvSpPr>
        <p:spPr bwMode="auto">
          <a:xfrm flipV="1">
            <a:off x="3097519" y="1563196"/>
            <a:ext cx="0" cy="5012247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408166161" name="Freeform 4"/>
          <p:cNvSpPr/>
          <p:nvPr/>
        </p:nvSpPr>
        <p:spPr bwMode="auto">
          <a:xfrm rot="0" flipH="0" flipV="0">
            <a:off x="955825" y="2562774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84880472" name="Freeform 5"/>
          <p:cNvSpPr/>
          <p:nvPr/>
        </p:nvSpPr>
        <p:spPr bwMode="auto">
          <a:xfrm rot="0" flipH="0" flipV="0">
            <a:off x="10099443" y="2562774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08531058" name="AutoShape 6"/>
          <p:cNvSpPr/>
          <p:nvPr/>
        </p:nvSpPr>
        <p:spPr bwMode="auto">
          <a:xfrm flipH="1">
            <a:off x="3097519" y="3106010"/>
            <a:ext cx="5992274" cy="55752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504807003" name="AutoShape 7"/>
          <p:cNvSpPr/>
          <p:nvPr/>
        </p:nvSpPr>
        <p:spPr bwMode="auto">
          <a:xfrm flipH="1" flipV="1">
            <a:off x="3097519" y="2467748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469188468" name="Group 8"/>
          <p:cNvGrpSpPr/>
          <p:nvPr/>
        </p:nvGrpSpPr>
        <p:grpSpPr bwMode="auto">
          <a:xfrm rot="0" flipH="0" flipV="0">
            <a:off x="5170363" y="282557"/>
            <a:ext cx="1108363" cy="713488"/>
            <a:chOff x="0" y="0"/>
            <a:chExt cx="1108363" cy="713488"/>
          </a:xfrm>
        </p:grpSpPr>
        <p:sp>
          <p:nvSpPr>
            <p:cNvPr id="9" name="Freeform 9"/>
            <p:cNvSpPr/>
            <p:nvPr/>
          </p:nvSpPr>
          <p:spPr bwMode="auto">
            <a:xfrm rot="0" flipH="0" flipV="0">
              <a:off x="0" y="0"/>
              <a:ext cx="1108363" cy="713488"/>
            </a:xfrm>
            <a:custGeom>
              <a:avLst/>
              <a:gdLst/>
              <a:ahLst/>
              <a:cxnLst/>
              <a:rect l="l" t="t" r="r" b="b"/>
              <a:pathLst>
                <a:path w="685377" h="281872" fill="norm" stroke="1" extrusionOk="0">
                  <a:moveTo>
                    <a:pt x="0" y="0"/>
                  </a:moveTo>
                  <a:lnTo>
                    <a:pt x="685377" y="0"/>
                  </a:lnTo>
                  <a:lnTo>
                    <a:pt x="685377" y="281872"/>
                  </a:lnTo>
                  <a:lnTo>
                    <a:pt x="0" y="2818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 bwMode="auto">
            <a:xfrm>
              <a:off x="0" y="-72330"/>
              <a:ext cx="1108363" cy="785819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894857132" name="TextBox 11"/>
          <p:cNvSpPr txBox="1"/>
          <p:nvPr/>
        </p:nvSpPr>
        <p:spPr bwMode="auto">
          <a:xfrm rot="0">
            <a:off x="600920" y="4255664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Übertragende Maschine</a:t>
            </a:r>
            <a:endParaRPr/>
          </a:p>
        </p:txBody>
      </p:sp>
      <p:sp>
        <p:nvSpPr>
          <p:cNvPr id="1710619020" name="TextBox 12"/>
          <p:cNvSpPr txBox="1"/>
          <p:nvPr/>
        </p:nvSpPr>
        <p:spPr bwMode="auto">
          <a:xfrm rot="0">
            <a:off x="9744538" y="4255664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Empfangsmaschine</a:t>
            </a:r>
            <a:endParaRPr/>
          </a:p>
        </p:txBody>
      </p:sp>
      <p:sp>
        <p:nvSpPr>
          <p:cNvPr id="1005367434" name="TextBox 13"/>
          <p:cNvSpPr txBox="1"/>
          <p:nvPr/>
        </p:nvSpPr>
        <p:spPr bwMode="auto">
          <a:xfrm rot="0">
            <a:off x="3500121" y="282557"/>
            <a:ext cx="5189947" cy="622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2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3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4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5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6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7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8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9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/>
            </a:r>
            <a:endParaRPr/>
          </a:p>
        </p:txBody>
      </p:sp>
      <p:sp>
        <p:nvSpPr>
          <p:cNvPr id="435561383" name="AutoShape 14"/>
          <p:cNvSpPr/>
          <p:nvPr/>
        </p:nvSpPr>
        <p:spPr bwMode="auto">
          <a:xfrm>
            <a:off x="5170363" y="1143824"/>
            <a:ext cx="138172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2133905179" name="AutoShape 15"/>
          <p:cNvSpPr/>
          <p:nvPr/>
        </p:nvSpPr>
        <p:spPr bwMode="auto">
          <a:xfrm flipH="1" flipV="1">
            <a:off x="3099863" y="3787245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856303858" name="AutoShape 16"/>
          <p:cNvSpPr/>
          <p:nvPr/>
        </p:nvSpPr>
        <p:spPr bwMode="auto">
          <a:xfrm flipH="1" flipV="1">
            <a:off x="3097519" y="4077194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975474165" name="AutoShape 17"/>
          <p:cNvSpPr/>
          <p:nvPr/>
        </p:nvSpPr>
        <p:spPr bwMode="auto">
          <a:xfrm flipH="1" flipV="1">
            <a:off x="3101086" y="4363095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279234235" name="AutoShape 18"/>
          <p:cNvSpPr/>
          <p:nvPr/>
        </p:nvSpPr>
        <p:spPr bwMode="auto">
          <a:xfrm flipH="1">
            <a:off x="3096195" y="5001457"/>
            <a:ext cx="5992274" cy="55752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2091158" name="Freeform 2"/>
          <p:cNvSpPr/>
          <p:nvPr/>
        </p:nvSpPr>
        <p:spPr bwMode="auto">
          <a:xfrm rot="0" flipH="0" flipV="0">
            <a:off x="228600" y="1825219"/>
            <a:ext cx="545211" cy="1371600"/>
          </a:xfrm>
          <a:custGeom>
            <a:avLst/>
            <a:gdLst/>
            <a:ahLst/>
            <a:cxnLst/>
            <a:rect l="l" t="t" r="r" b="b"/>
            <a:pathLst>
              <a:path w="545211" h="1371600" fill="norm" stroke="1" extrusionOk="0">
                <a:moveTo>
                  <a:pt x="0" y="0"/>
                </a:moveTo>
                <a:lnTo>
                  <a:pt x="545211" y="0"/>
                </a:lnTo>
                <a:lnTo>
                  <a:pt x="545211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47560542" name="Freeform 3"/>
          <p:cNvSpPr/>
          <p:nvPr/>
        </p:nvSpPr>
        <p:spPr bwMode="auto">
          <a:xfrm rot="0" flipH="0" flipV="0">
            <a:off x="773811" y="778490"/>
            <a:ext cx="2755514" cy="1732529"/>
          </a:xfrm>
          <a:custGeom>
            <a:avLst/>
            <a:gdLst/>
            <a:ahLst/>
            <a:cxnLst/>
            <a:rect l="l" t="t" r="r" b="b"/>
            <a:pathLst>
              <a:path w="2755514" h="1732529" fill="norm" stroke="1" extrusionOk="0">
                <a:moveTo>
                  <a:pt x="0" y="0"/>
                </a:moveTo>
                <a:lnTo>
                  <a:pt x="2755514" y="0"/>
                </a:lnTo>
                <a:lnTo>
                  <a:pt x="2755514" y="1732529"/>
                </a:lnTo>
                <a:lnTo>
                  <a:pt x="0" y="17325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737730918" name="TextBox 4"/>
          <p:cNvSpPr txBox="1"/>
          <p:nvPr/>
        </p:nvSpPr>
        <p:spPr bwMode="auto">
          <a:xfrm rot="0" flipH="0" flipV="0">
            <a:off x="1385043" y="1190729"/>
            <a:ext cx="1848701" cy="444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Ich schicke den Brief</a:t>
            </a:r>
            <a:endParaRPr sz="1100"/>
          </a:p>
        </p:txBody>
      </p:sp>
      <p:sp>
        <p:nvSpPr>
          <p:cNvPr id="1925096076" name="Freeform 6"/>
          <p:cNvSpPr/>
          <p:nvPr/>
        </p:nvSpPr>
        <p:spPr bwMode="auto">
          <a:xfrm rot="0" flipH="0" flipV="0">
            <a:off x="228600" y="4707910"/>
            <a:ext cx="545211" cy="1371599"/>
          </a:xfrm>
          <a:custGeom>
            <a:avLst/>
            <a:gdLst/>
            <a:ahLst/>
            <a:cxnLst/>
            <a:rect l="l" t="t" r="r" b="b"/>
            <a:pathLst>
              <a:path w="726948" h="1828800" fill="norm" stroke="1" extrusionOk="0">
                <a:moveTo>
                  <a:pt x="0" y="0"/>
                </a:moveTo>
                <a:lnTo>
                  <a:pt x="726948" y="0"/>
                </a:lnTo>
                <a:lnTo>
                  <a:pt x="726948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744322642" name="Freeform 7"/>
          <p:cNvSpPr/>
          <p:nvPr/>
        </p:nvSpPr>
        <p:spPr bwMode="auto">
          <a:xfrm rot="0" flipH="0" flipV="0">
            <a:off x="773811" y="3661180"/>
            <a:ext cx="2755513" cy="1732528"/>
          </a:xfrm>
          <a:custGeom>
            <a:avLst/>
            <a:gdLst/>
            <a:ahLst/>
            <a:cxnLst/>
            <a:rect l="l" t="t" r="r" b="b"/>
            <a:pathLst>
              <a:path w="3674018" h="2310039" fill="norm" stroke="1" extrusionOk="0">
                <a:moveTo>
                  <a:pt x="0" y="0"/>
                </a:moveTo>
                <a:lnTo>
                  <a:pt x="3674018" y="0"/>
                </a:lnTo>
                <a:lnTo>
                  <a:pt x="3674018" y="2310039"/>
                </a:lnTo>
                <a:lnTo>
                  <a:pt x="0" y="23100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753070807" name="TextBox 8"/>
          <p:cNvSpPr txBox="1"/>
          <p:nvPr/>
        </p:nvSpPr>
        <p:spPr bwMode="auto">
          <a:xfrm rot="0" flipH="0" flipV="0">
            <a:off x="1385043" y="4085326"/>
            <a:ext cx="1848342" cy="444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Ich schicke den Brief</a:t>
            </a:r>
            <a:endParaRPr sz="1000"/>
          </a:p>
        </p:txBody>
      </p:sp>
      <p:sp>
        <p:nvSpPr>
          <p:cNvPr id="1828137124" name="Freeform 10"/>
          <p:cNvSpPr/>
          <p:nvPr/>
        </p:nvSpPr>
        <p:spPr bwMode="auto">
          <a:xfrm rot="0" flipH="0" flipV="0">
            <a:off x="11418188" y="4707910"/>
            <a:ext cx="545211" cy="1371599"/>
          </a:xfrm>
          <a:custGeom>
            <a:avLst/>
            <a:gdLst/>
            <a:ahLst/>
            <a:cxnLst/>
            <a:rect l="l" t="t" r="r" b="b"/>
            <a:pathLst>
              <a:path w="726948" h="1828800" fill="norm" stroke="1" extrusionOk="0">
                <a:moveTo>
                  <a:pt x="0" y="0"/>
                </a:moveTo>
                <a:lnTo>
                  <a:pt x="726948" y="0"/>
                </a:lnTo>
                <a:lnTo>
                  <a:pt x="726948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527824777" name="Freeform 11"/>
          <p:cNvSpPr/>
          <p:nvPr/>
        </p:nvSpPr>
        <p:spPr bwMode="auto">
          <a:xfrm rot="0" flipH="1" flipV="0">
            <a:off x="8662674" y="3661180"/>
            <a:ext cx="2755513" cy="1732528"/>
          </a:xfrm>
          <a:custGeom>
            <a:avLst/>
            <a:gdLst/>
            <a:ahLst/>
            <a:cxnLst/>
            <a:rect l="l" t="t" r="r" b="b"/>
            <a:pathLst>
              <a:path w="3674018" h="2310039" fill="norm" stroke="1" extrusionOk="0">
                <a:moveTo>
                  <a:pt x="3674018" y="0"/>
                </a:moveTo>
                <a:lnTo>
                  <a:pt x="0" y="0"/>
                </a:lnTo>
                <a:lnTo>
                  <a:pt x="0" y="2310039"/>
                </a:lnTo>
                <a:lnTo>
                  <a:pt x="3674018" y="2310039"/>
                </a:lnTo>
                <a:lnTo>
                  <a:pt x="3674018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/>
        </p:txBody>
      </p:sp>
      <p:sp>
        <p:nvSpPr>
          <p:cNvPr id="375040382" name="TextBox 12"/>
          <p:cNvSpPr txBox="1"/>
          <p:nvPr/>
        </p:nvSpPr>
        <p:spPr bwMode="auto">
          <a:xfrm rot="0" flipH="0" flipV="0">
            <a:off x="8994532" y="4094851"/>
            <a:ext cx="1847982" cy="444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 Italics"/>
              </a:rPr>
              <a:t>Ich erhalte den Brief</a:t>
            </a:r>
            <a:endParaRPr/>
          </a:p>
        </p:txBody>
      </p:sp>
      <p:sp>
        <p:nvSpPr>
          <p:cNvPr id="1607193006" name="Freeform 14"/>
          <p:cNvSpPr/>
          <p:nvPr/>
        </p:nvSpPr>
        <p:spPr bwMode="auto">
          <a:xfrm rot="0" flipH="0" flipV="0">
            <a:off x="9816519" y="1530454"/>
            <a:ext cx="2146879" cy="914400"/>
          </a:xfrm>
          <a:custGeom>
            <a:avLst/>
            <a:gdLst/>
            <a:ahLst/>
            <a:cxnLst/>
            <a:rect l="l" t="t" r="r" b="b"/>
            <a:pathLst>
              <a:path w="848150" h="361244" fill="norm" stroke="1" extrusionOk="0">
                <a:moveTo>
                  <a:pt x="54092" y="0"/>
                </a:moveTo>
                <a:lnTo>
                  <a:pt x="794058" y="0"/>
                </a:lnTo>
                <a:cubicBezTo>
                  <a:pt x="808404" y="0"/>
                  <a:pt x="822163" y="5699"/>
                  <a:pt x="832307" y="15843"/>
                </a:cubicBezTo>
                <a:cubicBezTo>
                  <a:pt x="842451" y="25987"/>
                  <a:pt x="848150" y="39746"/>
                  <a:pt x="848150" y="54092"/>
                </a:cubicBezTo>
                <a:lnTo>
                  <a:pt x="848150" y="307152"/>
                </a:lnTo>
                <a:cubicBezTo>
                  <a:pt x="848150" y="321498"/>
                  <a:pt x="842451" y="335257"/>
                  <a:pt x="832307" y="345401"/>
                </a:cubicBezTo>
                <a:cubicBezTo>
                  <a:pt x="822163" y="355545"/>
                  <a:pt x="808404" y="361244"/>
                  <a:pt x="794058" y="361244"/>
                </a:cubicBezTo>
                <a:lnTo>
                  <a:pt x="54092" y="361244"/>
                </a:lnTo>
                <a:cubicBezTo>
                  <a:pt x="39746" y="361244"/>
                  <a:pt x="25987" y="355545"/>
                  <a:pt x="15843" y="345401"/>
                </a:cubicBezTo>
                <a:cubicBezTo>
                  <a:pt x="5699" y="335257"/>
                  <a:pt x="0" y="321498"/>
                  <a:pt x="0" y="307152"/>
                </a:cubicBezTo>
                <a:lnTo>
                  <a:pt x="0" y="54092"/>
                </a:lnTo>
                <a:cubicBezTo>
                  <a:pt x="0" y="39746"/>
                  <a:pt x="5699" y="25987"/>
                  <a:pt x="15843" y="15843"/>
                </a:cubicBezTo>
                <a:cubicBezTo>
                  <a:pt x="25987" y="5699"/>
                  <a:pt x="39746" y="0"/>
                  <a:pt x="54092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/>
        </p:txBody>
      </p:sp>
      <p:sp>
        <p:nvSpPr>
          <p:cNvPr id="453446377" name="TextBox 15"/>
          <p:cNvSpPr txBox="1"/>
          <p:nvPr/>
        </p:nvSpPr>
        <p:spPr bwMode="auto">
          <a:xfrm rot="0" flipH="0" flipV="0">
            <a:off x="9816518" y="1585410"/>
            <a:ext cx="2146878" cy="859442"/>
          </a:xfrm>
          <a:prstGeom prst="rect">
            <a:avLst/>
          </a:prstGeom>
        </p:spPr>
        <p:txBody>
          <a:bodyPr vertOverflow="overflow" horzOverflow="overflow" vert="horz" wrap="square" lIns="50798" tIns="50798" rIns="50798" bIns="50798" numCol="1" spcCol="0" rtlCol="0" fromWordArt="0" anchor="t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Zustellung nach bestem Wissen und Gewissen</a:t>
            </a:r>
            <a:endParaRPr sz="1200"/>
          </a:p>
        </p:txBody>
      </p:sp>
      <p:sp>
        <p:nvSpPr>
          <p:cNvPr id="1637063721" name="AutoShape 16"/>
          <p:cNvSpPr/>
          <p:nvPr/>
        </p:nvSpPr>
        <p:spPr bwMode="auto">
          <a:xfrm flipH="1" flipV="1">
            <a:off x="3529325" y="1987655"/>
            <a:ext cx="628719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342521817" name="AutoShape 17"/>
          <p:cNvSpPr/>
          <p:nvPr/>
        </p:nvSpPr>
        <p:spPr bwMode="auto">
          <a:xfrm flipH="1">
            <a:off x="3529325" y="4870345"/>
            <a:ext cx="513335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4511193" name="TextBox 2"/>
          <p:cNvSpPr txBox="1"/>
          <p:nvPr/>
        </p:nvSpPr>
        <p:spPr bwMode="auto">
          <a:xfrm rot="0">
            <a:off x="361947" y="1963609"/>
            <a:ext cx="2040934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Schichtschnittstelle</a:t>
            </a:r>
            <a:endParaRPr lang="en-US" sz="1800" i="1">
              <a:solidFill>
                <a:srgbClr val="000000"/>
              </a:solidFill>
              <a:latin typeface="IBM Plex Sans Italics"/>
              <a:ea typeface="IBM Plex Sans Italics"/>
              <a:cs typeface="IBM Plex Sans Italics"/>
            </a:endParaRPr>
          </a:p>
          <a:p>
            <a:pPr algn="l">
              <a:lnSpc>
                <a:spcPct val="100000"/>
              </a:lnSpc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(N)/(N + 1)</a:t>
            </a:r>
          </a:p>
        </p:txBody>
      </p:sp>
      <p:sp>
        <p:nvSpPr>
          <p:cNvPr id="1727074284" name="TextBox 3"/>
          <p:cNvSpPr txBox="1"/>
          <p:nvPr/>
        </p:nvSpPr>
        <p:spPr bwMode="auto">
          <a:xfrm rot="0" flipH="0" flipV="0">
            <a:off x="10465521" y="2155759"/>
            <a:ext cx="1565991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Dienstleistung (N)</a:t>
            </a:r>
            <a:endParaRPr/>
          </a:p>
        </p:txBody>
      </p:sp>
      <p:sp>
        <p:nvSpPr>
          <p:cNvPr id="898486797" name="Freeform 5"/>
          <p:cNvSpPr/>
          <p:nvPr/>
        </p:nvSpPr>
        <p:spPr bwMode="auto">
          <a:xfrm rot="0" flipH="0" flipV="0">
            <a:off x="3788167" y="577509"/>
            <a:ext cx="3244063" cy="1321686"/>
          </a:xfrm>
          <a:custGeom>
            <a:avLst/>
            <a:gdLst/>
            <a:ahLst/>
            <a:cxnLst/>
            <a:rect l="l" t="t" r="r" b="b"/>
            <a:pathLst>
              <a:path w="1281606" h="522148" fill="norm" stroke="1" extrusionOk="0">
                <a:moveTo>
                  <a:pt x="35797" y="0"/>
                </a:moveTo>
                <a:lnTo>
                  <a:pt x="1245808" y="0"/>
                </a:lnTo>
                <a:cubicBezTo>
                  <a:pt x="1255302" y="0"/>
                  <a:pt x="1264408" y="3771"/>
                  <a:pt x="1271121" y="10485"/>
                </a:cubicBezTo>
                <a:cubicBezTo>
                  <a:pt x="1277834" y="17198"/>
                  <a:pt x="1281606" y="26303"/>
                  <a:pt x="1281606" y="35797"/>
                </a:cubicBezTo>
                <a:lnTo>
                  <a:pt x="1281606" y="486350"/>
                </a:lnTo>
                <a:cubicBezTo>
                  <a:pt x="1281606" y="506121"/>
                  <a:pt x="1265579" y="522148"/>
                  <a:pt x="1245808" y="522148"/>
                </a:cubicBezTo>
                <a:lnTo>
                  <a:pt x="35797" y="522148"/>
                </a:lnTo>
                <a:cubicBezTo>
                  <a:pt x="16027" y="522148"/>
                  <a:pt x="0" y="506121"/>
                  <a:pt x="0" y="486350"/>
                </a:cubicBezTo>
                <a:lnTo>
                  <a:pt x="0" y="35797"/>
                </a:lnTo>
                <a:cubicBezTo>
                  <a:pt x="0" y="16027"/>
                  <a:pt x="16027" y="0"/>
                  <a:pt x="3579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335906071" name="TextBox 6"/>
          <p:cNvSpPr txBox="1"/>
          <p:nvPr/>
        </p:nvSpPr>
        <p:spPr bwMode="auto">
          <a:xfrm rot="0" flipH="0" flipV="0">
            <a:off x="3788167" y="505179"/>
            <a:ext cx="3244063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Schicht (N + 1)</a:t>
            </a:r>
            <a:endParaRPr/>
          </a:p>
        </p:txBody>
      </p:sp>
      <p:sp>
        <p:nvSpPr>
          <p:cNvPr id="549043708" name="Freeform 8"/>
          <p:cNvSpPr/>
          <p:nvPr/>
        </p:nvSpPr>
        <p:spPr bwMode="auto">
          <a:xfrm rot="0" flipH="0" flipV="0">
            <a:off x="3788167" y="2768156"/>
            <a:ext cx="3244063" cy="1321686"/>
          </a:xfrm>
          <a:custGeom>
            <a:avLst/>
            <a:gdLst/>
            <a:ahLst/>
            <a:cxnLst/>
            <a:rect l="l" t="t" r="r" b="b"/>
            <a:pathLst>
              <a:path w="1281606" h="522148" fill="norm" stroke="1" extrusionOk="0">
                <a:moveTo>
                  <a:pt x="35797" y="0"/>
                </a:moveTo>
                <a:lnTo>
                  <a:pt x="1245808" y="0"/>
                </a:lnTo>
                <a:cubicBezTo>
                  <a:pt x="1255302" y="0"/>
                  <a:pt x="1264408" y="3771"/>
                  <a:pt x="1271121" y="10485"/>
                </a:cubicBezTo>
                <a:cubicBezTo>
                  <a:pt x="1277834" y="17198"/>
                  <a:pt x="1281606" y="26303"/>
                  <a:pt x="1281606" y="35797"/>
                </a:cubicBezTo>
                <a:lnTo>
                  <a:pt x="1281606" y="486350"/>
                </a:lnTo>
                <a:cubicBezTo>
                  <a:pt x="1281606" y="506121"/>
                  <a:pt x="1265579" y="522148"/>
                  <a:pt x="1245808" y="522148"/>
                </a:cubicBezTo>
                <a:lnTo>
                  <a:pt x="35797" y="522148"/>
                </a:lnTo>
                <a:cubicBezTo>
                  <a:pt x="16027" y="522148"/>
                  <a:pt x="0" y="506121"/>
                  <a:pt x="0" y="486350"/>
                </a:cubicBezTo>
                <a:lnTo>
                  <a:pt x="0" y="35797"/>
                </a:lnTo>
                <a:cubicBezTo>
                  <a:pt x="0" y="16027"/>
                  <a:pt x="16027" y="0"/>
                  <a:pt x="3579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966068285" name="TextBox 9"/>
          <p:cNvSpPr txBox="1"/>
          <p:nvPr/>
        </p:nvSpPr>
        <p:spPr bwMode="auto">
          <a:xfrm rot="0" flipH="0" flipV="0">
            <a:off x="3788167" y="2695826"/>
            <a:ext cx="3244063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Schicht (N)</a:t>
            </a:r>
            <a:endParaRPr/>
          </a:p>
        </p:txBody>
      </p:sp>
      <p:sp>
        <p:nvSpPr>
          <p:cNvPr id="1042713721" name="Freeform 11"/>
          <p:cNvSpPr/>
          <p:nvPr/>
        </p:nvSpPr>
        <p:spPr bwMode="auto">
          <a:xfrm rot="0" flipH="0" flipV="0">
            <a:off x="3788167" y="4956617"/>
            <a:ext cx="3244063" cy="1321686"/>
          </a:xfrm>
          <a:custGeom>
            <a:avLst/>
            <a:gdLst/>
            <a:ahLst/>
            <a:cxnLst/>
            <a:rect l="l" t="t" r="r" b="b"/>
            <a:pathLst>
              <a:path w="1281606" h="522148" fill="norm" stroke="1" extrusionOk="0">
                <a:moveTo>
                  <a:pt x="35797" y="0"/>
                </a:moveTo>
                <a:lnTo>
                  <a:pt x="1245808" y="0"/>
                </a:lnTo>
                <a:cubicBezTo>
                  <a:pt x="1255302" y="0"/>
                  <a:pt x="1264408" y="3771"/>
                  <a:pt x="1271121" y="10485"/>
                </a:cubicBezTo>
                <a:cubicBezTo>
                  <a:pt x="1277834" y="17198"/>
                  <a:pt x="1281606" y="26303"/>
                  <a:pt x="1281606" y="35797"/>
                </a:cubicBezTo>
                <a:lnTo>
                  <a:pt x="1281606" y="486350"/>
                </a:lnTo>
                <a:cubicBezTo>
                  <a:pt x="1281606" y="506121"/>
                  <a:pt x="1265579" y="522148"/>
                  <a:pt x="1245808" y="522148"/>
                </a:cubicBezTo>
                <a:lnTo>
                  <a:pt x="35797" y="522148"/>
                </a:lnTo>
                <a:cubicBezTo>
                  <a:pt x="16027" y="522148"/>
                  <a:pt x="0" y="506121"/>
                  <a:pt x="0" y="486350"/>
                </a:cubicBezTo>
                <a:lnTo>
                  <a:pt x="0" y="35797"/>
                </a:lnTo>
                <a:cubicBezTo>
                  <a:pt x="0" y="16027"/>
                  <a:pt x="16027" y="0"/>
                  <a:pt x="3579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879290277" name="TextBox 12"/>
          <p:cNvSpPr txBox="1"/>
          <p:nvPr/>
        </p:nvSpPr>
        <p:spPr bwMode="auto">
          <a:xfrm rot="0" flipH="0" flipV="0">
            <a:off x="3788167" y="4884287"/>
            <a:ext cx="3244063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Schicht (N - 1)</a:t>
            </a:r>
            <a:endParaRPr/>
          </a:p>
        </p:txBody>
      </p:sp>
      <p:grpSp>
        <p:nvGrpSpPr>
          <p:cNvPr id="1297539750" name="Group 13"/>
          <p:cNvGrpSpPr/>
          <p:nvPr/>
        </p:nvGrpSpPr>
        <p:grpSpPr bwMode="auto">
          <a:xfrm rot="0">
            <a:off x="3291313" y="2079352"/>
            <a:ext cx="4237774" cy="508651"/>
            <a:chOff x="0" y="0"/>
            <a:chExt cx="1674182" cy="200949"/>
          </a:xfrm>
        </p:grpSpPr>
        <p:sp>
          <p:nvSpPr>
            <p:cNvPr id="14" name="Freeform 14"/>
            <p:cNvSpPr/>
            <p:nvPr/>
          </p:nvSpPr>
          <p:spPr bwMode="auto">
            <a:xfrm rot="0" flipH="0" flipV="0">
              <a:off x="0" y="0"/>
              <a:ext cx="1674182" cy="200949"/>
            </a:xfrm>
            <a:custGeom>
              <a:avLst/>
              <a:gdLst/>
              <a:ahLst/>
              <a:cxnLst/>
              <a:rect l="l" t="t" r="r" b="b"/>
              <a:pathLst>
                <a:path w="1674182" h="200949" fill="norm" stroke="1" extrusionOk="0">
                  <a:moveTo>
                    <a:pt x="27403" y="0"/>
                  </a:moveTo>
                  <a:lnTo>
                    <a:pt x="1646779" y="0"/>
                  </a:lnTo>
                  <a:cubicBezTo>
                    <a:pt x="1661913" y="0"/>
                    <a:pt x="1674182" y="12269"/>
                    <a:pt x="1674182" y="27403"/>
                  </a:cubicBezTo>
                  <a:lnTo>
                    <a:pt x="1674182" y="173545"/>
                  </a:lnTo>
                  <a:cubicBezTo>
                    <a:pt x="1674182" y="188680"/>
                    <a:pt x="1661913" y="200949"/>
                    <a:pt x="1646779" y="200949"/>
                  </a:cubicBezTo>
                  <a:lnTo>
                    <a:pt x="27403" y="200949"/>
                  </a:lnTo>
                  <a:cubicBezTo>
                    <a:pt x="12269" y="200949"/>
                    <a:pt x="0" y="188680"/>
                    <a:pt x="0" y="173545"/>
                  </a:cubicBezTo>
                  <a:lnTo>
                    <a:pt x="0" y="27403"/>
                  </a:lnTo>
                  <a:cubicBezTo>
                    <a:pt x="0" y="12269"/>
                    <a:pt x="12269" y="0"/>
                    <a:pt x="27403" y="0"/>
                  </a:cubicBezTo>
                  <a:close/>
                </a:path>
              </a:pathLst>
            </a:custGeom>
            <a:solidFill>
              <a:srgbClr val="FF5C00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15" name="TextBox 15"/>
            <p:cNvSpPr txBox="1"/>
            <p:nvPr/>
          </p:nvSpPr>
          <p:spPr bwMode="auto">
            <a:xfrm>
              <a:off x="0" y="-28575"/>
              <a:ext cx="1674182" cy="22952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113109189" name="Group 16"/>
          <p:cNvGrpSpPr/>
          <p:nvPr/>
        </p:nvGrpSpPr>
        <p:grpSpPr bwMode="auto">
          <a:xfrm rot="0">
            <a:off x="3291313" y="4270818"/>
            <a:ext cx="4237774" cy="508651"/>
            <a:chOff x="0" y="0"/>
            <a:chExt cx="1674182" cy="200949"/>
          </a:xfrm>
        </p:grpSpPr>
        <p:sp>
          <p:nvSpPr>
            <p:cNvPr id="17" name="Freeform 17"/>
            <p:cNvSpPr/>
            <p:nvPr/>
          </p:nvSpPr>
          <p:spPr bwMode="auto">
            <a:xfrm rot="0" flipH="0" flipV="0">
              <a:off x="0" y="0"/>
              <a:ext cx="1674182" cy="200949"/>
            </a:xfrm>
            <a:custGeom>
              <a:avLst/>
              <a:gdLst/>
              <a:ahLst/>
              <a:cxnLst/>
              <a:rect l="l" t="t" r="r" b="b"/>
              <a:pathLst>
                <a:path w="1674182" h="200949" fill="norm" stroke="1" extrusionOk="0">
                  <a:moveTo>
                    <a:pt x="27403" y="0"/>
                  </a:moveTo>
                  <a:lnTo>
                    <a:pt x="1646779" y="0"/>
                  </a:lnTo>
                  <a:cubicBezTo>
                    <a:pt x="1661913" y="0"/>
                    <a:pt x="1674182" y="12269"/>
                    <a:pt x="1674182" y="27403"/>
                  </a:cubicBezTo>
                  <a:lnTo>
                    <a:pt x="1674182" y="173545"/>
                  </a:lnTo>
                  <a:cubicBezTo>
                    <a:pt x="1674182" y="188680"/>
                    <a:pt x="1661913" y="200949"/>
                    <a:pt x="1646779" y="200949"/>
                  </a:cubicBezTo>
                  <a:lnTo>
                    <a:pt x="27403" y="200949"/>
                  </a:lnTo>
                  <a:cubicBezTo>
                    <a:pt x="12269" y="200949"/>
                    <a:pt x="0" y="188680"/>
                    <a:pt x="0" y="173545"/>
                  </a:cubicBezTo>
                  <a:lnTo>
                    <a:pt x="0" y="27403"/>
                  </a:lnTo>
                  <a:cubicBezTo>
                    <a:pt x="0" y="12269"/>
                    <a:pt x="12269" y="0"/>
                    <a:pt x="27403" y="0"/>
                  </a:cubicBezTo>
                  <a:close/>
                </a:path>
              </a:pathLst>
            </a:custGeom>
            <a:solidFill>
              <a:srgbClr val="FF5C00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18" name="TextBox 18"/>
            <p:cNvSpPr txBox="1"/>
            <p:nvPr/>
          </p:nvSpPr>
          <p:spPr bwMode="auto">
            <a:xfrm>
              <a:off x="0" y="-28575"/>
              <a:ext cx="1674182" cy="22952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sp>
        <p:nvSpPr>
          <p:cNvPr id="1441946292" name="AutoShape 19"/>
          <p:cNvSpPr/>
          <p:nvPr/>
        </p:nvSpPr>
        <p:spPr bwMode="auto">
          <a:xfrm flipH="1">
            <a:off x="4847335" y="4089843"/>
            <a:ext cx="0" cy="86677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311271177" name="AutoShape 20"/>
          <p:cNvSpPr/>
          <p:nvPr/>
        </p:nvSpPr>
        <p:spPr bwMode="auto">
          <a:xfrm flipH="1" flipV="1">
            <a:off x="5979926" y="4089843"/>
            <a:ext cx="0" cy="86677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616295575" name="AutoShape 21"/>
          <p:cNvSpPr/>
          <p:nvPr/>
        </p:nvSpPr>
        <p:spPr bwMode="auto">
          <a:xfrm flipH="1">
            <a:off x="4843905" y="1881320"/>
            <a:ext cx="0" cy="904714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471516957" name="AutoShape 22"/>
          <p:cNvSpPr/>
          <p:nvPr/>
        </p:nvSpPr>
        <p:spPr bwMode="auto">
          <a:xfrm flipH="1" flipV="1">
            <a:off x="5976495" y="1919259"/>
            <a:ext cx="0" cy="86677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349319425" name="TextBox 23"/>
          <p:cNvSpPr txBox="1"/>
          <p:nvPr/>
        </p:nvSpPr>
        <p:spPr bwMode="auto">
          <a:xfrm rot="0">
            <a:off x="10183531" y="4345754"/>
            <a:ext cx="1847260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Dienst (N - 1)</a:t>
            </a:r>
            <a:endParaRPr/>
          </a:p>
        </p:txBody>
      </p:sp>
      <p:sp>
        <p:nvSpPr>
          <p:cNvPr id="1590677200" name="AutoShape 24"/>
          <p:cNvSpPr/>
          <p:nvPr/>
        </p:nvSpPr>
        <p:spPr bwMode="auto">
          <a:xfrm flipH="1" flipV="1">
            <a:off x="2400367" y="2333677"/>
            <a:ext cx="786268" cy="3413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29394446" name="TextBox 25"/>
          <p:cNvSpPr txBox="1"/>
          <p:nvPr/>
        </p:nvSpPr>
        <p:spPr bwMode="auto">
          <a:xfrm rot="0">
            <a:off x="465593" y="4155075"/>
            <a:ext cx="2040934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Schichtschnittstelle</a:t>
            </a:r>
            <a:endParaRPr sz="1600"/>
          </a:p>
          <a:p>
            <a:pPr algn="l">
              <a:lnSpc>
                <a:spcPct val="100000"/>
              </a:lnSpc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(N - 1)/(N)</a:t>
            </a:r>
          </a:p>
        </p:txBody>
      </p:sp>
      <p:sp>
        <p:nvSpPr>
          <p:cNvPr id="1684270513" name="AutoShape 26"/>
          <p:cNvSpPr/>
          <p:nvPr/>
        </p:nvSpPr>
        <p:spPr bwMode="auto">
          <a:xfrm flipH="1" flipV="1">
            <a:off x="2504012" y="4525144"/>
            <a:ext cx="787301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213793423" name="TextBox 27"/>
          <p:cNvSpPr txBox="1"/>
          <p:nvPr/>
        </p:nvSpPr>
        <p:spPr bwMode="auto">
          <a:xfrm rot="0" flipH="0" flipV="0">
            <a:off x="7529085" y="1739625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Benutzer von</a:t>
            </a:r>
            <a:endParaRPr sz="1400"/>
          </a:p>
        </p:txBody>
      </p:sp>
      <p:sp>
        <p:nvSpPr>
          <p:cNvPr id="1294423356" name="TextBox 28"/>
          <p:cNvSpPr txBox="1"/>
          <p:nvPr/>
        </p:nvSpPr>
        <p:spPr bwMode="auto">
          <a:xfrm rot="0" flipH="0" flipV="0">
            <a:off x="7529085" y="2549901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Anbieter von</a:t>
            </a:r>
            <a:endParaRPr sz="1400"/>
          </a:p>
        </p:txBody>
      </p:sp>
      <p:sp>
        <p:nvSpPr>
          <p:cNvPr id="1335698139" name="TextBox 29"/>
          <p:cNvSpPr txBox="1"/>
          <p:nvPr/>
        </p:nvSpPr>
        <p:spPr bwMode="auto">
          <a:xfrm rot="0" flipH="0" flipV="0">
            <a:off x="7529085" y="3931092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Benutzer von</a:t>
            </a:r>
            <a:endParaRPr sz="1400"/>
          </a:p>
        </p:txBody>
      </p:sp>
      <p:sp>
        <p:nvSpPr>
          <p:cNvPr id="552912891" name="TextBox 30"/>
          <p:cNvSpPr txBox="1"/>
          <p:nvPr/>
        </p:nvSpPr>
        <p:spPr bwMode="auto">
          <a:xfrm rot="0" flipH="0" flipV="0">
            <a:off x="7529085" y="4741367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Anbieter von</a:t>
            </a:r>
            <a:endParaRPr sz="1400"/>
          </a:p>
        </p:txBody>
      </p:sp>
      <p:sp>
        <p:nvSpPr>
          <p:cNvPr id="970185868" name="AutoShape 31"/>
          <p:cNvSpPr/>
          <p:nvPr/>
        </p:nvSpPr>
        <p:spPr bwMode="auto">
          <a:xfrm flipH="1">
            <a:off x="9371539" y="2484490"/>
            <a:ext cx="984936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947566611" name="AutoShape 32"/>
          <p:cNvSpPr/>
          <p:nvPr/>
        </p:nvSpPr>
        <p:spPr bwMode="auto">
          <a:xfrm flipH="1" flipV="1">
            <a:off x="9371539" y="1928539"/>
            <a:ext cx="984936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63807424" name="AutoShape 33"/>
          <p:cNvSpPr/>
          <p:nvPr/>
        </p:nvSpPr>
        <p:spPr bwMode="auto">
          <a:xfrm flipH="1" flipV="1">
            <a:off x="9371539" y="4120006"/>
            <a:ext cx="788382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723692500" name="AutoShape 34"/>
          <p:cNvSpPr/>
          <p:nvPr/>
        </p:nvSpPr>
        <p:spPr bwMode="auto">
          <a:xfrm flipH="1">
            <a:off x="9371539" y="4675956"/>
            <a:ext cx="788419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9072972" name="TextBox 2"/>
          <p:cNvSpPr txBox="1"/>
          <p:nvPr/>
        </p:nvSpPr>
        <p:spPr bwMode="auto">
          <a:xfrm rot="0">
            <a:off x="2700700" y="856201"/>
            <a:ext cx="2038776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 Italics"/>
              </a:rPr>
              <a:t>Gastgeber A</a:t>
            </a:r>
            <a:endParaRPr/>
          </a:p>
        </p:txBody>
      </p:sp>
      <p:sp>
        <p:nvSpPr>
          <p:cNvPr id="1118521974" name="Freeform 4"/>
          <p:cNvSpPr/>
          <p:nvPr/>
        </p:nvSpPr>
        <p:spPr bwMode="auto">
          <a:xfrm rot="0" flipH="0" flipV="0">
            <a:off x="270217" y="3034039"/>
            <a:ext cx="2147448" cy="1321686"/>
          </a:xfrm>
          <a:custGeom>
            <a:avLst/>
            <a:gdLst/>
            <a:ahLst/>
            <a:cxnLst/>
            <a:rect l="l" t="t" r="r" b="b"/>
            <a:pathLst>
              <a:path w="848375" h="522148" fill="norm" stroke="1" extrusionOk="0">
                <a:moveTo>
                  <a:pt x="54078" y="0"/>
                </a:moveTo>
                <a:lnTo>
                  <a:pt x="794297" y="0"/>
                </a:lnTo>
                <a:cubicBezTo>
                  <a:pt x="824164" y="0"/>
                  <a:pt x="848375" y="24211"/>
                  <a:pt x="848375" y="54078"/>
                </a:cubicBezTo>
                <a:lnTo>
                  <a:pt x="848375" y="468070"/>
                </a:lnTo>
                <a:cubicBezTo>
                  <a:pt x="848375" y="497936"/>
                  <a:pt x="824164" y="522148"/>
                  <a:pt x="794297" y="522148"/>
                </a:cubicBezTo>
                <a:lnTo>
                  <a:pt x="54078" y="522148"/>
                </a:lnTo>
                <a:cubicBezTo>
                  <a:pt x="24211" y="522148"/>
                  <a:pt x="0" y="497936"/>
                  <a:pt x="0" y="468070"/>
                </a:cubicBezTo>
                <a:lnTo>
                  <a:pt x="0" y="54078"/>
                </a:lnTo>
                <a:cubicBezTo>
                  <a:pt x="0" y="24211"/>
                  <a:pt x="24211" y="0"/>
                  <a:pt x="54078" y="0"/>
                </a:cubicBezTo>
                <a:close/>
              </a:path>
            </a:pathLst>
          </a:custGeom>
          <a:solidFill>
            <a:srgbClr val="FF5C00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1637959771" name="TextBox 5"/>
          <p:cNvSpPr txBox="1"/>
          <p:nvPr/>
        </p:nvSpPr>
        <p:spPr bwMode="auto">
          <a:xfrm rot="0" flipH="0" flipV="0">
            <a:off x="270217" y="2961709"/>
            <a:ext cx="2147448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Schicht (N)</a:t>
            </a:r>
            <a:endParaRPr sz="1400"/>
          </a:p>
        </p:txBody>
      </p:sp>
      <p:grpSp>
        <p:nvGrpSpPr>
          <p:cNvPr id="1795392852" name="Group 6"/>
          <p:cNvGrpSpPr/>
          <p:nvPr/>
        </p:nvGrpSpPr>
        <p:grpSpPr bwMode="auto">
          <a:xfrm rot="0">
            <a:off x="2646186" y="3034040"/>
            <a:ext cx="2147449" cy="1321686"/>
            <a:chOff x="0" y="0"/>
            <a:chExt cx="848375" cy="522148"/>
          </a:xfrm>
        </p:grpSpPr>
        <p:sp>
          <p:nvSpPr>
            <p:cNvPr id="7" name="Freeform 7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 sz="1400"/>
            </a:p>
          </p:txBody>
        </p:sp>
        <p:sp>
          <p:nvSpPr>
            <p:cNvPr id="8" name="TextBox 8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 sz="1400"/>
            </a:p>
          </p:txBody>
        </p:sp>
      </p:grpSp>
      <p:grpSp>
        <p:nvGrpSpPr>
          <p:cNvPr id="1440653894" name="Group 9"/>
          <p:cNvGrpSpPr/>
          <p:nvPr/>
        </p:nvGrpSpPr>
        <p:grpSpPr bwMode="auto">
          <a:xfrm rot="0">
            <a:off x="5022235" y="3034040"/>
            <a:ext cx="2147449" cy="1321686"/>
            <a:chOff x="0" y="0"/>
            <a:chExt cx="848375" cy="522148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5C0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 sz="1400"/>
            </a:p>
          </p:txBody>
        </p:sp>
        <p:sp>
          <p:nvSpPr>
            <p:cNvPr id="11" name="TextBox 11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 sz="1400"/>
            </a:p>
          </p:txBody>
        </p:sp>
      </p:grpSp>
      <p:sp>
        <p:nvSpPr>
          <p:cNvPr id="1985138361" name="Freeform 13"/>
          <p:cNvSpPr/>
          <p:nvPr/>
        </p:nvSpPr>
        <p:spPr bwMode="auto">
          <a:xfrm rot="0" flipH="0" flipV="0">
            <a:off x="2844369" y="3440517"/>
            <a:ext cx="1751081" cy="508729"/>
          </a:xfrm>
          <a:custGeom>
            <a:avLst/>
            <a:gdLst/>
            <a:ahLst/>
            <a:cxnLst/>
            <a:rect l="l" t="t" r="r" b="b"/>
            <a:pathLst>
              <a:path w="691762" h="200914" fill="norm" stroke="1" extrusionOk="0">
                <a:moveTo>
                  <a:pt x="691762" y="100457"/>
                </a:moveTo>
                <a:lnTo>
                  <a:pt x="691762" y="100457"/>
                </a:lnTo>
                <a:cubicBezTo>
                  <a:pt x="691762" y="155938"/>
                  <a:pt x="646786" y="200914"/>
                  <a:pt x="591305" y="200914"/>
                </a:cubicBezTo>
                <a:lnTo>
                  <a:pt x="100457" y="200914"/>
                </a:lnTo>
                <a:cubicBezTo>
                  <a:pt x="44976" y="200914"/>
                  <a:pt x="0" y="155938"/>
                  <a:pt x="0" y="100457"/>
                </a:cubicBezTo>
                <a:lnTo>
                  <a:pt x="0" y="100457"/>
                </a:lnTo>
                <a:cubicBezTo>
                  <a:pt x="0" y="44976"/>
                  <a:pt x="44976" y="0"/>
                  <a:pt x="100457" y="0"/>
                </a:cubicBezTo>
                <a:lnTo>
                  <a:pt x="591305" y="0"/>
                </a:lnTo>
                <a:cubicBezTo>
                  <a:pt x="617948" y="0"/>
                  <a:pt x="643499" y="10584"/>
                  <a:pt x="662339" y="29423"/>
                </a:cubicBezTo>
                <a:cubicBezTo>
                  <a:pt x="681178" y="48263"/>
                  <a:pt x="691762" y="73814"/>
                  <a:pt x="691762" y="100457"/>
                </a:cubicBezTo>
                <a:close/>
              </a:path>
            </a:pathLst>
          </a:custGeom>
          <a:solidFill>
            <a:srgbClr val="FF5C00"/>
          </a:solidFill>
          <a:ln w="38100" cap="rnd">
            <a:solidFill>
              <a:srgbClr val="FF5C00"/>
            </a:solidFill>
            <a:prstDash val="solid"/>
            <a:round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1900139837" name="TextBox 14"/>
          <p:cNvSpPr txBox="1"/>
          <p:nvPr/>
        </p:nvSpPr>
        <p:spPr bwMode="auto">
          <a:xfrm rot="0" flipH="0" flipV="0">
            <a:off x="2844369" y="3368163"/>
            <a:ext cx="1751081" cy="581083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Entität (N)</a:t>
            </a:r>
            <a:endParaRPr sz="1400"/>
          </a:p>
        </p:txBody>
      </p:sp>
      <p:grpSp>
        <p:nvGrpSpPr>
          <p:cNvPr id="1249814811" name="Group 15"/>
          <p:cNvGrpSpPr/>
          <p:nvPr/>
        </p:nvGrpSpPr>
        <p:grpSpPr bwMode="auto">
          <a:xfrm rot="0">
            <a:off x="7398284" y="3034040"/>
            <a:ext cx="2147449" cy="1321686"/>
            <a:chOff x="0" y="0"/>
            <a:chExt cx="848375" cy="522148"/>
          </a:xfrm>
        </p:grpSpPr>
        <p:sp>
          <p:nvSpPr>
            <p:cNvPr id="16" name="Freeform 16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 sz="1400"/>
            </a:p>
          </p:txBody>
        </p:sp>
        <p:sp>
          <p:nvSpPr>
            <p:cNvPr id="17" name="TextBox 17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 sz="1400"/>
            </a:p>
          </p:txBody>
        </p:sp>
      </p:grpSp>
      <p:sp>
        <p:nvSpPr>
          <p:cNvPr id="1385632130" name="Freeform 19"/>
          <p:cNvSpPr/>
          <p:nvPr/>
        </p:nvSpPr>
        <p:spPr bwMode="auto">
          <a:xfrm rot="0" flipH="0" flipV="0">
            <a:off x="9774333" y="3034039"/>
            <a:ext cx="2147448" cy="1321686"/>
          </a:xfrm>
          <a:custGeom>
            <a:avLst/>
            <a:gdLst/>
            <a:ahLst/>
            <a:cxnLst/>
            <a:rect l="l" t="t" r="r" b="b"/>
            <a:pathLst>
              <a:path w="848375" h="522148" fill="norm" stroke="1" extrusionOk="0">
                <a:moveTo>
                  <a:pt x="54078" y="0"/>
                </a:moveTo>
                <a:lnTo>
                  <a:pt x="794297" y="0"/>
                </a:lnTo>
                <a:cubicBezTo>
                  <a:pt x="824164" y="0"/>
                  <a:pt x="848375" y="24211"/>
                  <a:pt x="848375" y="54078"/>
                </a:cubicBezTo>
                <a:lnTo>
                  <a:pt x="848375" y="468070"/>
                </a:lnTo>
                <a:cubicBezTo>
                  <a:pt x="848375" y="497936"/>
                  <a:pt x="824164" y="522148"/>
                  <a:pt x="794297" y="522148"/>
                </a:cubicBezTo>
                <a:lnTo>
                  <a:pt x="54078" y="522148"/>
                </a:lnTo>
                <a:cubicBezTo>
                  <a:pt x="24211" y="522148"/>
                  <a:pt x="0" y="497936"/>
                  <a:pt x="0" y="468070"/>
                </a:cubicBezTo>
                <a:lnTo>
                  <a:pt x="0" y="54078"/>
                </a:lnTo>
                <a:cubicBezTo>
                  <a:pt x="0" y="24211"/>
                  <a:pt x="24211" y="0"/>
                  <a:pt x="54078" y="0"/>
                </a:cubicBezTo>
                <a:close/>
              </a:path>
            </a:pathLst>
          </a:custGeom>
          <a:solidFill>
            <a:srgbClr val="FF5C00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660717729" name="TextBox 20"/>
          <p:cNvSpPr txBox="1"/>
          <p:nvPr/>
        </p:nvSpPr>
        <p:spPr bwMode="auto">
          <a:xfrm rot="0" flipH="0" flipV="0">
            <a:off x="9774333" y="2961709"/>
            <a:ext cx="2147448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Schicht (N + 1)</a:t>
            </a:r>
            <a:endParaRPr sz="1400"/>
          </a:p>
        </p:txBody>
      </p:sp>
      <p:grpSp>
        <p:nvGrpSpPr>
          <p:cNvPr id="1011144573" name="Group 21"/>
          <p:cNvGrpSpPr/>
          <p:nvPr/>
        </p:nvGrpSpPr>
        <p:grpSpPr bwMode="auto">
          <a:xfrm rot="0">
            <a:off x="2646186" y="1483143"/>
            <a:ext cx="2147449" cy="1321686"/>
            <a:chOff x="0" y="0"/>
            <a:chExt cx="848375" cy="522148"/>
          </a:xfrm>
        </p:grpSpPr>
        <p:sp>
          <p:nvSpPr>
            <p:cNvPr id="22" name="Freeform 22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23" name="TextBox 23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1329078135" name="Group 24"/>
          <p:cNvGrpSpPr/>
          <p:nvPr/>
        </p:nvGrpSpPr>
        <p:grpSpPr bwMode="auto">
          <a:xfrm rot="0">
            <a:off x="2646186" y="4584326"/>
            <a:ext cx="2147449" cy="1321686"/>
            <a:chOff x="0" y="0"/>
            <a:chExt cx="848375" cy="522148"/>
          </a:xfrm>
        </p:grpSpPr>
        <p:sp>
          <p:nvSpPr>
            <p:cNvPr id="25" name="Freeform 25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26" name="TextBox 26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834896928" name="Group 27"/>
          <p:cNvGrpSpPr/>
          <p:nvPr/>
        </p:nvGrpSpPr>
        <p:grpSpPr bwMode="auto">
          <a:xfrm rot="0">
            <a:off x="7398284" y="1483448"/>
            <a:ext cx="2147449" cy="1321686"/>
            <a:chOff x="0" y="0"/>
            <a:chExt cx="848375" cy="522148"/>
          </a:xfrm>
        </p:grpSpPr>
        <p:sp>
          <p:nvSpPr>
            <p:cNvPr id="28" name="Freeform 28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29" name="TextBox 29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1637651610" name="Group 30"/>
          <p:cNvGrpSpPr/>
          <p:nvPr/>
        </p:nvGrpSpPr>
        <p:grpSpPr bwMode="auto">
          <a:xfrm rot="0">
            <a:off x="7398284" y="4584631"/>
            <a:ext cx="2147449" cy="1321686"/>
            <a:chOff x="0" y="0"/>
            <a:chExt cx="848375" cy="522148"/>
          </a:xfrm>
        </p:grpSpPr>
        <p:sp>
          <p:nvSpPr>
            <p:cNvPr id="31" name="Freeform 31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32" name="TextBox 32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sp>
        <p:nvSpPr>
          <p:cNvPr id="2079829486" name="Freeform 34"/>
          <p:cNvSpPr/>
          <p:nvPr/>
        </p:nvSpPr>
        <p:spPr bwMode="auto">
          <a:xfrm rot="0" flipH="0" flipV="0">
            <a:off x="7596466" y="3440517"/>
            <a:ext cx="1751081" cy="508729"/>
          </a:xfrm>
          <a:custGeom>
            <a:avLst/>
            <a:gdLst/>
            <a:ahLst/>
            <a:cxnLst/>
            <a:rect l="l" t="t" r="r" b="b"/>
            <a:pathLst>
              <a:path w="691762" h="200914" fill="norm" stroke="1" extrusionOk="0">
                <a:moveTo>
                  <a:pt x="691762" y="100457"/>
                </a:moveTo>
                <a:lnTo>
                  <a:pt x="691762" y="100457"/>
                </a:lnTo>
                <a:cubicBezTo>
                  <a:pt x="691762" y="155938"/>
                  <a:pt x="646786" y="200914"/>
                  <a:pt x="591305" y="200914"/>
                </a:cubicBezTo>
                <a:lnTo>
                  <a:pt x="100457" y="200914"/>
                </a:lnTo>
                <a:cubicBezTo>
                  <a:pt x="44976" y="200914"/>
                  <a:pt x="0" y="155938"/>
                  <a:pt x="0" y="100457"/>
                </a:cubicBezTo>
                <a:lnTo>
                  <a:pt x="0" y="100457"/>
                </a:lnTo>
                <a:cubicBezTo>
                  <a:pt x="0" y="44976"/>
                  <a:pt x="44976" y="0"/>
                  <a:pt x="100457" y="0"/>
                </a:cubicBezTo>
                <a:lnTo>
                  <a:pt x="591305" y="0"/>
                </a:lnTo>
                <a:cubicBezTo>
                  <a:pt x="617948" y="0"/>
                  <a:pt x="643499" y="10584"/>
                  <a:pt x="662339" y="29423"/>
                </a:cubicBezTo>
                <a:cubicBezTo>
                  <a:pt x="681178" y="48263"/>
                  <a:pt x="691762" y="73814"/>
                  <a:pt x="691762" y="100457"/>
                </a:cubicBezTo>
                <a:close/>
              </a:path>
            </a:pathLst>
          </a:custGeom>
          <a:solidFill>
            <a:srgbClr val="FF5C00"/>
          </a:solidFill>
          <a:ln w="38100" cap="rnd">
            <a:solidFill>
              <a:srgbClr val="FF5C00"/>
            </a:solidFill>
            <a:prstDash val="solid"/>
            <a:round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844608764" name="TextBox 35"/>
          <p:cNvSpPr txBox="1"/>
          <p:nvPr/>
        </p:nvSpPr>
        <p:spPr bwMode="auto">
          <a:xfrm rot="0" flipH="0" flipV="0">
            <a:off x="7596466" y="3368163"/>
            <a:ext cx="1751081" cy="581083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Entität (N)</a:t>
            </a:r>
            <a:endParaRPr sz="1400"/>
          </a:p>
        </p:txBody>
      </p:sp>
      <p:sp>
        <p:nvSpPr>
          <p:cNvPr id="717466732" name="AutoShape 36"/>
          <p:cNvSpPr/>
          <p:nvPr/>
        </p:nvSpPr>
        <p:spPr bwMode="auto">
          <a:xfrm flipH="1" flipV="1">
            <a:off x="4595452" y="3694883"/>
            <a:ext cx="300101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120100942" name="TextBox 37"/>
          <p:cNvSpPr txBox="1"/>
          <p:nvPr/>
        </p:nvSpPr>
        <p:spPr bwMode="auto">
          <a:xfrm rot="0">
            <a:off x="7452798" y="854965"/>
            <a:ext cx="2038776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 Italics"/>
              </a:rPr>
              <a:t>Gastgeber B</a:t>
            </a:r>
            <a:endParaRPr/>
          </a:p>
        </p:txBody>
      </p:sp>
      <p:sp>
        <p:nvSpPr>
          <p:cNvPr id="1066106652" name="TextBox 38"/>
          <p:cNvSpPr txBox="1"/>
          <p:nvPr/>
        </p:nvSpPr>
        <p:spPr bwMode="auto">
          <a:xfrm rot="0">
            <a:off x="324732" y="1955072"/>
            <a:ext cx="2039494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Obere Schichten</a:t>
            </a:r>
            <a:endParaRPr sz="1400"/>
          </a:p>
        </p:txBody>
      </p:sp>
      <p:sp>
        <p:nvSpPr>
          <p:cNvPr id="382844289" name="TextBox 39"/>
          <p:cNvSpPr txBox="1"/>
          <p:nvPr/>
        </p:nvSpPr>
        <p:spPr bwMode="auto">
          <a:xfrm rot="0">
            <a:off x="324732" y="5056255"/>
            <a:ext cx="2039494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Untere Schichten</a:t>
            </a:r>
            <a:endParaRPr sz="1400"/>
          </a:p>
        </p:txBody>
      </p:sp>
      <p:sp>
        <p:nvSpPr>
          <p:cNvPr id="371275828" name="TextBox 40"/>
          <p:cNvSpPr txBox="1"/>
          <p:nvPr/>
        </p:nvSpPr>
        <p:spPr bwMode="auto">
          <a:xfrm rot="0">
            <a:off x="5076749" y="2132338"/>
            <a:ext cx="2040214" cy="213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400" b="1" i="1" lang="en-US">
                <a:solidFill>
                  <a:srgbClr val="000000"/>
                </a:solidFill>
                <a:latin typeface="IBM Plex Sans Bold Italics"/>
              </a:rPr>
              <a:t>Dienstleistung primitiv (N)</a:t>
            </a:r>
            <a:endParaRPr sz="1200"/>
          </a:p>
        </p:txBody>
      </p:sp>
      <p:sp>
        <p:nvSpPr>
          <p:cNvPr id="335922075" name="TextBox 41"/>
          <p:cNvSpPr txBox="1"/>
          <p:nvPr/>
        </p:nvSpPr>
        <p:spPr bwMode="auto">
          <a:xfrm rot="0">
            <a:off x="5076749" y="4527174"/>
            <a:ext cx="2040215" cy="488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 Bold Italics"/>
              </a:rPr>
              <a:t>Dienst primitiv</a:t>
            </a:r>
            <a:endParaRPr lang="en-US" sz="1600" b="1" i="1">
              <a:solidFill>
                <a:srgbClr val="000000"/>
              </a:solidFill>
              <a:latin typeface="IBM Plex Sans Bold Italics"/>
              <a:ea typeface="IBM Plex Sans Bold Italics"/>
              <a:cs typeface="IBM Plex Sans Bold Italics"/>
            </a:endParaRPr>
          </a:p>
          <a:p>
            <a:pPr algn="ctr">
              <a:lnSpc>
                <a:spcPct val="100000"/>
              </a:lnSpc>
            </a:pPr>
            <a:r>
              <a:rPr sz="1600" b="1" i="1" lang="en-US">
                <a:solidFill>
                  <a:srgbClr val="000000"/>
                </a:solidFill>
                <a:latin typeface="IBM Plex Sans Bold Italics"/>
              </a:rPr>
              <a:t>(N - 1)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774607694" name=""/>
          <p:cNvCxnSpPr/>
          <p:nvPr/>
        </p:nvCxnSpPr>
        <p:spPr bwMode="auto">
          <a:xfrm flipH="0" flipV="0">
            <a:off x="4939095" y="1143000"/>
            <a:ext cx="0" cy="4909038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7545127" name=""/>
          <p:cNvCxnSpPr/>
          <p:nvPr/>
        </p:nvCxnSpPr>
        <p:spPr bwMode="auto">
          <a:xfrm flipH="0" flipV="0">
            <a:off x="7245611" y="1294128"/>
            <a:ext cx="0" cy="4909037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1468642" name=""/>
          <p:cNvCxnSpPr/>
          <p:nvPr/>
        </p:nvCxnSpPr>
        <p:spPr bwMode="auto">
          <a:xfrm flipH="0" flipV="0">
            <a:off x="2606203" y="1175985"/>
            <a:ext cx="0" cy="4909037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8745344" name=""/>
          <p:cNvCxnSpPr/>
          <p:nvPr/>
        </p:nvCxnSpPr>
        <p:spPr bwMode="auto">
          <a:xfrm flipH="0" flipV="1">
            <a:off x="447692" y="2066192"/>
            <a:ext cx="8975480" cy="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9256425" name=""/>
          <p:cNvCxnSpPr/>
          <p:nvPr/>
        </p:nvCxnSpPr>
        <p:spPr bwMode="auto">
          <a:xfrm rot="0" flipH="0" flipV="0">
            <a:off x="484326" y="3429000"/>
            <a:ext cx="9085487" cy="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9778937" name=""/>
          <p:cNvCxnSpPr/>
          <p:nvPr/>
        </p:nvCxnSpPr>
        <p:spPr bwMode="auto">
          <a:xfrm flipH="0" flipV="1">
            <a:off x="352442" y="4791807"/>
            <a:ext cx="9224596" cy="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9360843" name="Group 3"/>
          <p:cNvGrpSpPr/>
          <p:nvPr/>
        </p:nvGrpSpPr>
        <p:grpSpPr bwMode="auto">
          <a:xfrm rot="0">
            <a:off x="2934517" y="3241484"/>
            <a:ext cx="1658343" cy="375032"/>
            <a:chOff x="0" y="0"/>
            <a:chExt cx="655148" cy="148161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grpSp>
        <p:nvGrpSpPr>
          <p:cNvPr id="69720069" name="Group 6"/>
          <p:cNvGrpSpPr/>
          <p:nvPr/>
        </p:nvGrpSpPr>
        <p:grpSpPr bwMode="auto">
          <a:xfrm rot="0">
            <a:off x="2934517" y="4640313"/>
            <a:ext cx="1658343" cy="375032"/>
            <a:chOff x="0" y="0"/>
            <a:chExt cx="655148" cy="148161"/>
          </a:xfrm>
        </p:grpSpPr>
        <p:sp>
          <p:nvSpPr>
            <p:cNvPr id="7" name="Freeform 7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grpSp>
        <p:nvGrpSpPr>
          <p:cNvPr id="1809793421" name="Group 9"/>
          <p:cNvGrpSpPr/>
          <p:nvPr/>
        </p:nvGrpSpPr>
        <p:grpSpPr bwMode="auto">
          <a:xfrm rot="0">
            <a:off x="7602270" y="3241484"/>
            <a:ext cx="1658343" cy="375032"/>
            <a:chOff x="0" y="0"/>
            <a:chExt cx="655148" cy="148161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grpSp>
        <p:nvGrpSpPr>
          <p:cNvPr id="867971187" name="Group 12"/>
          <p:cNvGrpSpPr/>
          <p:nvPr/>
        </p:nvGrpSpPr>
        <p:grpSpPr bwMode="auto">
          <a:xfrm rot="0">
            <a:off x="7602270" y="4640313"/>
            <a:ext cx="1658343" cy="375032"/>
            <a:chOff x="0" y="0"/>
            <a:chExt cx="655148" cy="148161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sp>
        <p:nvSpPr>
          <p:cNvPr id="1196777875" name="AutoShape 15"/>
          <p:cNvSpPr/>
          <p:nvPr/>
        </p:nvSpPr>
        <p:spPr bwMode="auto">
          <a:xfrm flipH="1" flipV="1">
            <a:off x="9260614" y="3429000"/>
            <a:ext cx="942973" cy="362070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914268" name="TextBox 16"/>
          <p:cNvSpPr txBox="1"/>
          <p:nvPr/>
        </p:nvSpPr>
        <p:spPr bwMode="auto">
          <a:xfrm rot="0" flipH="0" flipV="0">
            <a:off x="10296545" y="3752969"/>
            <a:ext cx="1822661" cy="711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400" i="1" lang="en-US">
                <a:solidFill>
                  <a:srgbClr val="000000"/>
                </a:solidFill>
                <a:latin typeface="IBM Plex Sans Italics"/>
              </a:rPr>
              <a:t>Schnittstellen für den Dienstzugang</a:t>
            </a:r>
            <a:endParaRPr sz="1200"/>
          </a:p>
        </p:txBody>
      </p:sp>
      <p:sp>
        <p:nvSpPr>
          <p:cNvPr id="1014683467" name="AutoShape 17"/>
          <p:cNvSpPr/>
          <p:nvPr/>
        </p:nvSpPr>
        <p:spPr bwMode="auto">
          <a:xfrm flipH="1">
            <a:off x="9260614" y="4445120"/>
            <a:ext cx="942973" cy="382709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26880486" name="AutoShape 18"/>
          <p:cNvSpPr/>
          <p:nvPr/>
        </p:nvSpPr>
        <p:spPr bwMode="auto">
          <a:xfrm flipV="1">
            <a:off x="8431442" y="3069018"/>
            <a:ext cx="0" cy="722052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171290514" name="AutoShape 19"/>
          <p:cNvSpPr/>
          <p:nvPr/>
        </p:nvSpPr>
        <p:spPr bwMode="auto">
          <a:xfrm flipV="1">
            <a:off x="3763689" y="3067974"/>
            <a:ext cx="0" cy="722052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082589668" name="AutoShape 20"/>
          <p:cNvSpPr/>
          <p:nvPr/>
        </p:nvSpPr>
        <p:spPr bwMode="auto">
          <a:xfrm flipV="1">
            <a:off x="8426679" y="4467325"/>
            <a:ext cx="0" cy="722052"/>
          </a:xfrm>
          <a:prstGeom prst="line">
            <a:avLst/>
          </a:prstGeom>
          <a:ln w="47625" cap="flat">
            <a:solidFill>
              <a:srgbClr val="38B6FF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87001272" name="AutoShape 21"/>
          <p:cNvSpPr/>
          <p:nvPr/>
        </p:nvSpPr>
        <p:spPr bwMode="auto">
          <a:xfrm flipV="1">
            <a:off x="3758927" y="4466281"/>
            <a:ext cx="0" cy="722052"/>
          </a:xfrm>
          <a:prstGeom prst="line">
            <a:avLst/>
          </a:prstGeom>
          <a:ln w="47625" cap="flat">
            <a:solidFill>
              <a:srgbClr val="38B6FF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172352589" name="AutoShape 22"/>
          <p:cNvSpPr/>
          <p:nvPr/>
        </p:nvSpPr>
        <p:spPr bwMode="auto">
          <a:xfrm flipH="1">
            <a:off x="6986738" y="5189377"/>
            <a:ext cx="1179850" cy="368702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958998031" name="AutoShape 23"/>
          <p:cNvSpPr/>
          <p:nvPr/>
        </p:nvSpPr>
        <p:spPr bwMode="auto">
          <a:xfrm>
            <a:off x="3962544" y="5189377"/>
            <a:ext cx="1184412" cy="368702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67591687" name="AutoShape 24"/>
          <p:cNvSpPr/>
          <p:nvPr/>
        </p:nvSpPr>
        <p:spPr bwMode="auto">
          <a:xfrm flipH="0" flipV="1">
            <a:off x="3958296" y="2793999"/>
            <a:ext cx="1106640" cy="271917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274436306" name="AutoShape 25"/>
          <p:cNvSpPr/>
          <p:nvPr/>
        </p:nvSpPr>
        <p:spPr bwMode="auto">
          <a:xfrm flipH="1" flipV="1">
            <a:off x="7160437" y="2793999"/>
            <a:ext cx="938403" cy="320309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17225436" name="AutoShape 26"/>
          <p:cNvSpPr/>
          <p:nvPr/>
        </p:nvSpPr>
        <p:spPr bwMode="auto">
          <a:xfrm flipH="1">
            <a:off x="4374686" y="4118095"/>
            <a:ext cx="343099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349073375" name=""/>
          <p:cNvSpPr txBox="1"/>
          <p:nvPr/>
        </p:nvSpPr>
        <p:spPr bwMode="auto">
          <a:xfrm rot="0" flipH="0" flipV="0">
            <a:off x="493974" y="2570542"/>
            <a:ext cx="2028316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lang="en-US">
                <a:solidFill>
                  <a:srgbClr val="000000"/>
                </a:solidFill>
                <a:latin typeface="IBM Plex Sans"/>
              </a:rPr>
              <a:t>Schicht (N+1)</a:t>
            </a:r>
            <a:endParaRPr lang="en-US" sz="1100"/>
          </a:p>
        </p:txBody>
      </p:sp>
      <p:sp>
        <p:nvSpPr>
          <p:cNvPr id="1407865619" name=""/>
          <p:cNvSpPr txBox="1"/>
          <p:nvPr/>
        </p:nvSpPr>
        <p:spPr bwMode="auto">
          <a:xfrm rot="0" flipH="0" flipV="0">
            <a:off x="573234" y="3894638"/>
            <a:ext cx="1671353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lang="en-US">
                <a:solidFill>
                  <a:srgbClr val="000000"/>
                </a:solidFill>
                <a:latin typeface="IBM Plex Sans"/>
              </a:rPr>
              <a:t>Schicht (N)</a:t>
            </a:r>
            <a:endParaRPr lang="en-US" sz="1100"/>
          </a:p>
        </p:txBody>
      </p:sp>
      <p:sp>
        <p:nvSpPr>
          <p:cNvPr id="922973699" name=""/>
          <p:cNvSpPr txBox="1"/>
          <p:nvPr/>
        </p:nvSpPr>
        <p:spPr bwMode="auto">
          <a:xfrm rot="0" flipH="0" flipV="0">
            <a:off x="572514" y="5334622"/>
            <a:ext cx="1672073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lang="en-US">
                <a:solidFill>
                  <a:srgbClr val="000000"/>
                </a:solidFill>
                <a:latin typeface="IBM Plex Sans"/>
              </a:rPr>
              <a:t>Schicht (N-1)</a:t>
            </a:r>
            <a:endParaRPr lang="en-US" sz="1100"/>
          </a:p>
        </p:txBody>
      </p:sp>
      <p:sp>
        <p:nvSpPr>
          <p:cNvPr id="987891585" name=""/>
          <p:cNvSpPr txBox="1"/>
          <p:nvPr/>
        </p:nvSpPr>
        <p:spPr bwMode="auto">
          <a:xfrm rot="0" flipH="0" flipV="0">
            <a:off x="2689784" y="1175985"/>
            <a:ext cx="2096526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b="1" lang="en-US">
                <a:solidFill>
                  <a:srgbClr val="000000"/>
                </a:solidFill>
                <a:latin typeface="IBM Plex Sans Bold"/>
              </a:rPr>
              <a:t>System A</a:t>
            </a:r>
            <a:endParaRPr lang="en-US" sz="1100"/>
          </a:p>
        </p:txBody>
      </p:sp>
      <p:sp>
        <p:nvSpPr>
          <p:cNvPr id="391638270" name=""/>
          <p:cNvSpPr txBox="1"/>
          <p:nvPr/>
        </p:nvSpPr>
        <p:spPr bwMode="auto">
          <a:xfrm rot="0" flipH="0" flipV="0">
            <a:off x="7426192" y="1175985"/>
            <a:ext cx="2056675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b="1" lang="en-US">
                <a:solidFill>
                  <a:srgbClr val="000000"/>
                </a:solidFill>
                <a:latin typeface="IBM Plex Sans Bold"/>
              </a:rPr>
              <a:t>System B</a:t>
            </a:r>
            <a:endParaRPr lang="en-US" sz="1100"/>
          </a:p>
        </p:txBody>
      </p:sp>
      <p:sp>
        <p:nvSpPr>
          <p:cNvPr id="1601591867" name=""/>
          <p:cNvSpPr txBox="1"/>
          <p:nvPr/>
        </p:nvSpPr>
        <p:spPr bwMode="auto">
          <a:xfrm rot="0" flipH="0" flipV="0">
            <a:off x="7882288" y="3894998"/>
            <a:ext cx="1302044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einheit B</a:t>
            </a:r>
            <a:endParaRPr lang="en-US" sz="1000"/>
          </a:p>
        </p:txBody>
      </p:sp>
      <p:sp>
        <p:nvSpPr>
          <p:cNvPr id="990952879" name=""/>
          <p:cNvSpPr txBox="1"/>
          <p:nvPr/>
        </p:nvSpPr>
        <p:spPr bwMode="auto">
          <a:xfrm rot="0" flipH="0" flipV="0">
            <a:off x="2986331" y="3895358"/>
            <a:ext cx="1288964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einheit A</a:t>
            </a:r>
            <a:endParaRPr lang="en-US" sz="1000"/>
          </a:p>
        </p:txBody>
      </p:sp>
      <p:sp>
        <p:nvSpPr>
          <p:cNvPr id="83408133" name=""/>
          <p:cNvSpPr txBox="1"/>
          <p:nvPr/>
        </p:nvSpPr>
        <p:spPr bwMode="auto">
          <a:xfrm rot="0" flipH="0" flipV="0">
            <a:off x="5229373" y="5111165"/>
            <a:ext cx="1572561" cy="80274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b="1" lang="en-US">
                <a:solidFill>
                  <a:srgbClr val="38B6FF"/>
                </a:solidFill>
                <a:latin typeface="IBM Plex Sans Bold"/>
              </a:rPr>
              <a:t>Dienst der Schicht N-1</a:t>
            </a:r>
            <a:endParaRPr lang="en-US" sz="1000"/>
          </a:p>
        </p:txBody>
      </p:sp>
      <p:sp>
        <p:nvSpPr>
          <p:cNvPr id="174844479" name=""/>
          <p:cNvSpPr txBox="1"/>
          <p:nvPr/>
        </p:nvSpPr>
        <p:spPr bwMode="auto">
          <a:xfrm rot="0" flipH="0" flipV="0">
            <a:off x="5105958" y="2507240"/>
            <a:ext cx="1969169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b="1" lang="en-US">
                <a:solidFill>
                  <a:srgbClr val="FF5C00"/>
                </a:solidFill>
                <a:latin typeface="IBM Plex Sans Bold"/>
              </a:rPr>
              <a:t>Dienst der Schicht N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7862341" name="Freeform 2"/>
          <p:cNvSpPr/>
          <p:nvPr/>
        </p:nvSpPr>
        <p:spPr bwMode="auto">
          <a:xfrm rot="-5400000" flipH="0" flipV="0">
            <a:off x="2326421" y="2355139"/>
            <a:ext cx="165301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04179585" name="AutoShape 3"/>
          <p:cNvSpPr/>
          <p:nvPr/>
        </p:nvSpPr>
        <p:spPr bwMode="auto">
          <a:xfrm flipH="1" flipV="1">
            <a:off x="2440362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998638510" name="AutoShape 4"/>
          <p:cNvSpPr/>
          <p:nvPr/>
        </p:nvSpPr>
        <p:spPr bwMode="auto">
          <a:xfrm flipH="1" flipV="1">
            <a:off x="4888353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384412198" name="AutoShape 5"/>
          <p:cNvSpPr/>
          <p:nvPr/>
        </p:nvSpPr>
        <p:spPr bwMode="auto">
          <a:xfrm flipH="1" flipV="1">
            <a:off x="7336345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758599743" name="AutoShape 6"/>
          <p:cNvSpPr/>
          <p:nvPr/>
        </p:nvSpPr>
        <p:spPr bwMode="auto">
          <a:xfrm flipV="1">
            <a:off x="9797216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17002204" name="Group 7"/>
          <p:cNvGrpSpPr/>
          <p:nvPr/>
        </p:nvGrpSpPr>
        <p:grpSpPr bwMode="auto">
          <a:xfrm rot="0">
            <a:off x="3589133" y="1889338"/>
            <a:ext cx="156097" cy="156097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" name="TextBox 9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65531588" name="TextBox 10"/>
          <p:cNvSpPr txBox="1"/>
          <p:nvPr/>
        </p:nvSpPr>
        <p:spPr bwMode="auto">
          <a:xfrm rot="0">
            <a:off x="1421153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10101100</a:t>
            </a:r>
            <a:endParaRPr/>
          </a:p>
        </p:txBody>
      </p:sp>
      <p:sp>
        <p:nvSpPr>
          <p:cNvPr id="1981031987" name="TextBox 11"/>
          <p:cNvSpPr txBox="1"/>
          <p:nvPr/>
        </p:nvSpPr>
        <p:spPr bwMode="auto">
          <a:xfrm rot="0">
            <a:off x="3869144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00010000</a:t>
            </a:r>
            <a:endParaRPr/>
          </a:p>
        </p:txBody>
      </p:sp>
      <p:sp>
        <p:nvSpPr>
          <p:cNvPr id="1650731071" name="TextBox 12"/>
          <p:cNvSpPr txBox="1"/>
          <p:nvPr/>
        </p:nvSpPr>
        <p:spPr bwMode="auto">
          <a:xfrm rot="0">
            <a:off x="6317136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11111110</a:t>
            </a:r>
            <a:endParaRPr/>
          </a:p>
        </p:txBody>
      </p:sp>
      <p:sp>
        <p:nvSpPr>
          <p:cNvPr id="1287744357" name="TextBox 13"/>
          <p:cNvSpPr txBox="1"/>
          <p:nvPr/>
        </p:nvSpPr>
        <p:spPr bwMode="auto">
          <a:xfrm rot="0">
            <a:off x="8763720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00000001</a:t>
            </a:r>
            <a:endParaRPr/>
          </a:p>
        </p:txBody>
      </p:sp>
      <p:sp>
        <p:nvSpPr>
          <p:cNvPr id="1839610993" name="TextBox 14"/>
          <p:cNvSpPr txBox="1"/>
          <p:nvPr/>
        </p:nvSpPr>
        <p:spPr bwMode="auto">
          <a:xfrm rot="0">
            <a:off x="6398803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254</a:t>
            </a:r>
            <a:endParaRPr/>
          </a:p>
        </p:txBody>
      </p:sp>
      <p:sp>
        <p:nvSpPr>
          <p:cNvPr id="255822673" name="TextBox 15"/>
          <p:cNvSpPr txBox="1"/>
          <p:nvPr/>
        </p:nvSpPr>
        <p:spPr bwMode="auto">
          <a:xfrm rot="0">
            <a:off x="8845387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</a:t>
            </a:r>
            <a:endParaRPr/>
          </a:p>
        </p:txBody>
      </p:sp>
      <p:sp>
        <p:nvSpPr>
          <p:cNvPr id="1038299435" name="TextBox 16"/>
          <p:cNvSpPr txBox="1"/>
          <p:nvPr/>
        </p:nvSpPr>
        <p:spPr bwMode="auto">
          <a:xfrm rot="0">
            <a:off x="3952932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16</a:t>
            </a:r>
            <a:endParaRPr/>
          </a:p>
        </p:txBody>
      </p:sp>
      <p:sp>
        <p:nvSpPr>
          <p:cNvPr id="1753627551" name="TextBox 17"/>
          <p:cNvSpPr txBox="1"/>
          <p:nvPr/>
        </p:nvSpPr>
        <p:spPr bwMode="auto">
          <a:xfrm rot="0">
            <a:off x="1506348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172</a:t>
            </a:r>
            <a:endParaRPr/>
          </a:p>
        </p:txBody>
      </p:sp>
      <p:grpSp>
        <p:nvGrpSpPr>
          <p:cNvPr id="120737645" name="Group 18"/>
          <p:cNvGrpSpPr/>
          <p:nvPr/>
        </p:nvGrpSpPr>
        <p:grpSpPr bwMode="auto">
          <a:xfrm rot="0">
            <a:off x="6037565" y="1889338"/>
            <a:ext cx="156097" cy="156097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" name="TextBox 20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grpSp>
        <p:nvGrpSpPr>
          <p:cNvPr id="1764059444" name="Group 21"/>
          <p:cNvGrpSpPr/>
          <p:nvPr/>
        </p:nvGrpSpPr>
        <p:grpSpPr bwMode="auto">
          <a:xfrm rot="0">
            <a:off x="8483437" y="1889338"/>
            <a:ext cx="156097" cy="156097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3" name="TextBox 23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535976658" name="Freeform 24"/>
          <p:cNvSpPr/>
          <p:nvPr/>
        </p:nvSpPr>
        <p:spPr bwMode="auto">
          <a:xfrm rot="-5400000" flipH="0" flipV="0">
            <a:off x="4805703" y="2355139"/>
            <a:ext cx="165301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04573927" name="TextBox 25"/>
          <p:cNvSpPr txBox="1"/>
          <p:nvPr/>
        </p:nvSpPr>
        <p:spPr bwMode="auto">
          <a:xfrm rot="0">
            <a:off x="1389863" y="3543499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 Byte</a:t>
            </a:r>
            <a:endParaRPr/>
          </a:p>
        </p:txBody>
      </p:sp>
      <p:sp>
        <p:nvSpPr>
          <p:cNvPr id="347645678" name="TextBox 26"/>
          <p:cNvSpPr txBox="1"/>
          <p:nvPr/>
        </p:nvSpPr>
        <p:spPr bwMode="auto">
          <a:xfrm rot="0">
            <a:off x="3871265" y="3543499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8 Bits</a:t>
            </a:r>
            <a:endParaRPr/>
          </a:p>
        </p:txBody>
      </p:sp>
      <p:sp>
        <p:nvSpPr>
          <p:cNvPr id="1671545064" name="TextBox 27"/>
          <p:cNvSpPr txBox="1"/>
          <p:nvPr/>
        </p:nvSpPr>
        <p:spPr bwMode="auto">
          <a:xfrm rot="0">
            <a:off x="3234838" y="3543499"/>
            <a:ext cx="864688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=</a:t>
            </a:r>
            <a:endParaRPr/>
          </a:p>
        </p:txBody>
      </p:sp>
      <p:sp>
        <p:nvSpPr>
          <p:cNvPr id="1170933170" name="TextBox 29"/>
          <p:cNvSpPr txBox="1"/>
          <p:nvPr/>
        </p:nvSpPr>
        <p:spPr bwMode="auto">
          <a:xfrm rot="0">
            <a:off x="4064040" y="5003065"/>
            <a:ext cx="4098738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32 Bits (4 * 8), oder 4 Bytes</a:t>
            </a:r>
            <a:endParaRPr/>
          </a:p>
        </p:txBody>
      </p:sp>
      <p:sp>
        <p:nvSpPr>
          <p:cNvPr id="335658007" name=""/>
          <p:cNvSpPr/>
          <p:nvPr/>
        </p:nvSpPr>
        <p:spPr bwMode="auto">
          <a:xfrm rot="5399976" flipH="0" flipV="0">
            <a:off x="5929718" y="159577"/>
            <a:ext cx="442882" cy="8440904"/>
          </a:xfrm>
          <a:prstGeom prst="rightBrace">
            <a:avLst>
              <a:gd name="adj1" fmla="val 8333"/>
              <a:gd name="adj2" fmla="val 50000"/>
            </a:avLst>
          </a:prstGeom>
          <a:ln w="3809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4521658" name="Freeform 2"/>
          <p:cNvSpPr/>
          <p:nvPr/>
        </p:nvSpPr>
        <p:spPr bwMode="auto">
          <a:xfrm rot="0" flipH="0" flipV="0">
            <a:off x="2541247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852669908" name="Freeform 3"/>
          <p:cNvSpPr/>
          <p:nvPr/>
        </p:nvSpPr>
        <p:spPr bwMode="auto">
          <a:xfrm rot="0" flipH="0" flipV="0">
            <a:off x="5496265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394891612" name="Freeform 4"/>
          <p:cNvSpPr/>
          <p:nvPr/>
        </p:nvSpPr>
        <p:spPr bwMode="auto">
          <a:xfrm rot="0" flipH="0" flipV="0">
            <a:off x="4020570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227929414" name="Freeform 5"/>
          <p:cNvSpPr/>
          <p:nvPr/>
        </p:nvSpPr>
        <p:spPr bwMode="auto">
          <a:xfrm rot="0" flipH="0" flipV="0">
            <a:off x="6971960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572633106" name="Freeform 6"/>
          <p:cNvSpPr/>
          <p:nvPr/>
        </p:nvSpPr>
        <p:spPr bwMode="auto">
          <a:xfrm rot="0" flipH="0" flipV="0">
            <a:off x="9926978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240110555" name="Freeform 7"/>
          <p:cNvSpPr/>
          <p:nvPr/>
        </p:nvSpPr>
        <p:spPr bwMode="auto">
          <a:xfrm rot="0" flipH="0" flipV="0">
            <a:off x="8451283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grpSp>
        <p:nvGrpSpPr>
          <p:cNvPr id="1789008524" name="Group 8"/>
          <p:cNvGrpSpPr/>
          <p:nvPr/>
        </p:nvGrpSpPr>
        <p:grpSpPr bwMode="auto">
          <a:xfrm rot="0">
            <a:off x="1065552" y="1846862"/>
            <a:ext cx="1199470" cy="1247095"/>
            <a:chOff x="0" y="0"/>
            <a:chExt cx="1599293" cy="1662793"/>
          </a:xfrm>
        </p:grpSpPr>
        <p:sp>
          <p:nvSpPr>
            <p:cNvPr id="9" name="Freeform 9"/>
            <p:cNvSpPr/>
            <p:nvPr/>
          </p:nvSpPr>
          <p:spPr bwMode="auto">
            <a:xfrm rot="0" flipH="0" flipV="0">
              <a:off x="0" y="63500"/>
              <a:ext cx="1599293" cy="1599293"/>
            </a:xfrm>
            <a:custGeom>
              <a:avLst/>
              <a:gdLst/>
              <a:ahLst/>
              <a:cxnLst/>
              <a:rect l="l" t="t" r="r" b="b"/>
              <a:pathLst>
                <a:path w="1599293" h="1599293" fill="norm" stroke="1" extrusionOk="0">
                  <a:moveTo>
                    <a:pt x="0" y="0"/>
                  </a:moveTo>
                  <a:lnTo>
                    <a:pt x="1599293" y="0"/>
                  </a:lnTo>
                  <a:lnTo>
                    <a:pt x="1599293" y="1599293"/>
                  </a:lnTo>
                  <a:lnTo>
                    <a:pt x="0" y="1599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10" name="AutoShape 10"/>
            <p:cNvSpPr/>
            <p:nvPr/>
          </p:nvSpPr>
          <p:spPr bwMode="auto">
            <a:xfrm flipV="1">
              <a:off x="571107" y="31750"/>
              <a:ext cx="456729" cy="454315"/>
            </a:xfrm>
            <a:prstGeom prst="line">
              <a:avLst/>
            </a:prstGeom>
            <a:grpFill/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1" name="AutoShape 11"/>
            <p:cNvSpPr/>
            <p:nvPr/>
          </p:nvSpPr>
          <p:spPr bwMode="auto">
            <a:xfrm flipV="1">
              <a:off x="400927" y="31750"/>
              <a:ext cx="1198367" cy="0"/>
            </a:xfrm>
            <a:prstGeom prst="line">
              <a:avLst/>
            </a:prstGeom>
            <a:grpFill/>
            <a:ln w="635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" name="AutoShape 12"/>
            <p:cNvSpPr/>
            <p:nvPr/>
          </p:nvSpPr>
          <p:spPr bwMode="auto">
            <a:xfrm flipV="1">
              <a:off x="0" y="499350"/>
              <a:ext cx="1198367" cy="0"/>
            </a:xfrm>
            <a:prstGeom prst="line">
              <a:avLst/>
            </a:prstGeom>
            <a:grpFill/>
            <a:ln w="6350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3" name="AutoShape 13"/>
            <p:cNvSpPr/>
            <p:nvPr/>
          </p:nvSpPr>
          <p:spPr bwMode="auto">
            <a:xfrm flipV="1">
              <a:off x="582191" y="467600"/>
              <a:ext cx="0" cy="1195193"/>
            </a:xfrm>
            <a:prstGeom prst="line">
              <a:avLst/>
            </a:prstGeom>
            <a:grpFill/>
            <a:ln w="635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929971631" name="Freeform 14"/>
          <p:cNvSpPr/>
          <p:nvPr/>
        </p:nvSpPr>
        <p:spPr bwMode="auto">
          <a:xfrm rot="-5400000" flipH="0" flipV="0">
            <a:off x="4441925" y="1355204"/>
            <a:ext cx="353132" cy="4154488"/>
          </a:xfrm>
          <a:custGeom>
            <a:avLst/>
            <a:gdLst/>
            <a:ahLst/>
            <a:cxnLst/>
            <a:rect l="l" t="t" r="r" b="b"/>
            <a:pathLst>
              <a:path w="353132" h="4154488" fill="norm" stroke="1" extrusionOk="0">
                <a:moveTo>
                  <a:pt x="0" y="0"/>
                </a:moveTo>
                <a:lnTo>
                  <a:pt x="353132" y="0"/>
                </a:lnTo>
                <a:lnTo>
                  <a:pt x="353132" y="4154488"/>
                </a:lnTo>
                <a:lnTo>
                  <a:pt x="0" y="41544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617093119" name="TextBox 15"/>
          <p:cNvSpPr txBox="1"/>
          <p:nvPr/>
        </p:nvSpPr>
        <p:spPr bwMode="auto">
          <a:xfrm rot="0" flipH="0" flipV="0">
            <a:off x="2589952" y="3628062"/>
            <a:ext cx="4093384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Hersteller-ID</a:t>
            </a:r>
            <a:endParaRPr/>
          </a:p>
        </p:txBody>
      </p:sp>
      <p:sp>
        <p:nvSpPr>
          <p:cNvPr id="1850298457" name="TextBox 16"/>
          <p:cNvSpPr txBox="1"/>
          <p:nvPr/>
        </p:nvSpPr>
        <p:spPr bwMode="auto">
          <a:xfrm rot="0" flipH="0" flipV="0">
            <a:off x="1665285" y="4612024"/>
            <a:ext cx="7532955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Lokale Adresse: 1 / Eindeutige Adresse: 0</a:t>
            </a:r>
            <a:endParaRPr/>
          </a:p>
        </p:txBody>
      </p:sp>
      <p:sp>
        <p:nvSpPr>
          <p:cNvPr id="826259970" name="TextBox 17"/>
          <p:cNvSpPr txBox="1"/>
          <p:nvPr/>
        </p:nvSpPr>
        <p:spPr bwMode="auto">
          <a:xfrm rot="0">
            <a:off x="2840791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Bits</a:t>
            </a:r>
            <a:endParaRPr/>
          </a:p>
        </p:txBody>
      </p:sp>
      <p:sp>
        <p:nvSpPr>
          <p:cNvPr id="1083840385" name="AutoShape 18"/>
          <p:cNvSpPr/>
          <p:nvPr/>
        </p:nvSpPr>
        <p:spPr bwMode="auto">
          <a:xfrm flipH="1">
            <a:off x="4320114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647388868" name="AutoShape 19"/>
          <p:cNvSpPr/>
          <p:nvPr/>
        </p:nvSpPr>
        <p:spPr bwMode="auto">
          <a:xfrm flipH="1">
            <a:off x="2840791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473674156" name="AutoShape 20"/>
          <p:cNvSpPr/>
          <p:nvPr/>
        </p:nvSpPr>
        <p:spPr bwMode="auto">
          <a:xfrm flipH="1">
            <a:off x="7271504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35948683" name="AutoShape 21"/>
          <p:cNvSpPr/>
          <p:nvPr/>
        </p:nvSpPr>
        <p:spPr bwMode="auto">
          <a:xfrm flipH="1">
            <a:off x="5792181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4220732" name="AutoShape 22"/>
          <p:cNvSpPr/>
          <p:nvPr/>
        </p:nvSpPr>
        <p:spPr bwMode="auto">
          <a:xfrm flipH="1">
            <a:off x="10226522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851662018" name="AutoShape 23"/>
          <p:cNvSpPr/>
          <p:nvPr/>
        </p:nvSpPr>
        <p:spPr bwMode="auto">
          <a:xfrm flipH="1">
            <a:off x="8747199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687712311" name="TextBox 24"/>
          <p:cNvSpPr txBox="1"/>
          <p:nvPr/>
        </p:nvSpPr>
        <p:spPr bwMode="auto">
          <a:xfrm rot="0">
            <a:off x="4320114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Bits</a:t>
            </a:r>
            <a:endParaRPr/>
          </a:p>
        </p:txBody>
      </p:sp>
      <p:sp>
        <p:nvSpPr>
          <p:cNvPr id="1498556502" name="TextBox 25"/>
          <p:cNvSpPr txBox="1"/>
          <p:nvPr/>
        </p:nvSpPr>
        <p:spPr bwMode="auto">
          <a:xfrm rot="0">
            <a:off x="5782335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Bits</a:t>
            </a:r>
            <a:endParaRPr/>
          </a:p>
        </p:txBody>
      </p:sp>
      <p:sp>
        <p:nvSpPr>
          <p:cNvPr id="150259205" name="TextBox 26"/>
          <p:cNvSpPr txBox="1"/>
          <p:nvPr/>
        </p:nvSpPr>
        <p:spPr bwMode="auto">
          <a:xfrm rot="0">
            <a:off x="7261658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Bits</a:t>
            </a:r>
            <a:endParaRPr/>
          </a:p>
        </p:txBody>
      </p:sp>
      <p:sp>
        <p:nvSpPr>
          <p:cNvPr id="1607740587" name="TextBox 27"/>
          <p:cNvSpPr txBox="1"/>
          <p:nvPr/>
        </p:nvSpPr>
        <p:spPr bwMode="auto">
          <a:xfrm rot="0">
            <a:off x="8747199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Bits</a:t>
            </a:r>
            <a:endParaRPr/>
          </a:p>
        </p:txBody>
      </p:sp>
      <p:sp>
        <p:nvSpPr>
          <p:cNvPr id="1327535982" name="TextBox 28"/>
          <p:cNvSpPr txBox="1"/>
          <p:nvPr/>
        </p:nvSpPr>
        <p:spPr bwMode="auto">
          <a:xfrm rot="0">
            <a:off x="10226522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Bits</a:t>
            </a:r>
            <a:endParaRPr/>
          </a:p>
        </p:txBody>
      </p:sp>
      <p:sp>
        <p:nvSpPr>
          <p:cNvPr id="2142251041" name="AutoShape 29"/>
          <p:cNvSpPr/>
          <p:nvPr/>
        </p:nvSpPr>
        <p:spPr bwMode="auto">
          <a:xfrm flipV="1">
            <a:off x="1748483" y="3093957"/>
            <a:ext cx="0" cy="14262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965925134" name="TextBox 30"/>
          <p:cNvSpPr txBox="1"/>
          <p:nvPr/>
        </p:nvSpPr>
        <p:spPr bwMode="auto">
          <a:xfrm rot="0" flipH="0" flipV="0">
            <a:off x="1184403" y="5266074"/>
            <a:ext cx="7085444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Übertragung: allgemein 1 / gerichtet 0</a:t>
            </a:r>
            <a:endParaRPr/>
          </a:p>
        </p:txBody>
      </p:sp>
      <p:sp>
        <p:nvSpPr>
          <p:cNvPr id="890036025" name="AutoShape 31"/>
          <p:cNvSpPr/>
          <p:nvPr/>
        </p:nvSpPr>
        <p:spPr bwMode="auto">
          <a:xfrm flipH="1" flipV="1">
            <a:off x="1272363" y="3093957"/>
            <a:ext cx="11895" cy="208033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5007830" name="Freeform 2"/>
          <p:cNvSpPr/>
          <p:nvPr/>
        </p:nvSpPr>
        <p:spPr bwMode="auto">
          <a:xfrm rot="-5399978" flipH="0" flipV="0">
            <a:off x="2326420" y="2355138"/>
            <a:ext cx="165300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2167891" name="AutoShape 3"/>
          <p:cNvSpPr/>
          <p:nvPr/>
        </p:nvSpPr>
        <p:spPr bwMode="auto">
          <a:xfrm flipH="1" flipV="1">
            <a:off x="2440361" y="2218543"/>
            <a:ext cx="0" cy="38457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336890053" name="AutoShape 4"/>
          <p:cNvSpPr/>
          <p:nvPr/>
        </p:nvSpPr>
        <p:spPr bwMode="auto">
          <a:xfrm flipH="1" flipV="1">
            <a:off x="4888352" y="2218543"/>
            <a:ext cx="0" cy="38457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58535534" name="AutoShape 5"/>
          <p:cNvSpPr/>
          <p:nvPr/>
        </p:nvSpPr>
        <p:spPr bwMode="auto">
          <a:xfrm flipH="1" flipV="1">
            <a:off x="7336344" y="2218543"/>
            <a:ext cx="0" cy="38457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511229898" name="AutoShape 6"/>
          <p:cNvSpPr/>
          <p:nvPr/>
        </p:nvSpPr>
        <p:spPr bwMode="auto">
          <a:xfrm flipV="1">
            <a:off x="9797216" y="2218543"/>
            <a:ext cx="0" cy="38457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1040177696" name="Group 7"/>
          <p:cNvGrpSpPr/>
          <p:nvPr/>
        </p:nvGrpSpPr>
        <p:grpSpPr bwMode="auto">
          <a:xfrm rot="0">
            <a:off x="3589133" y="1889337"/>
            <a:ext cx="156096" cy="156096"/>
            <a:chOff x="0" y="0"/>
            <a:chExt cx="812799" cy="812799"/>
          </a:xfrm>
        </p:grpSpPr>
        <p:sp>
          <p:nvSpPr>
            <p:cNvPr id="1839748171" name="Freeform 8"/>
            <p:cNvSpPr/>
            <p:nvPr/>
          </p:nvSpPr>
          <p:spPr bwMode="auto">
            <a:xfrm rot="0" flipH="0" flipV="0"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4397303" name="TextBox 9"/>
            <p:cNvSpPr txBox="1"/>
            <p:nvPr/>
          </p:nvSpPr>
          <p:spPr bwMode="auto">
            <a:xfrm>
              <a:off x="76199" y="47624"/>
              <a:ext cx="660399" cy="688974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8"/>
                </a:lnSpc>
                <a:defRPr/>
              </a:pPr>
              <a:endParaRPr/>
            </a:p>
          </p:txBody>
        </p:sp>
      </p:grpSp>
      <p:sp>
        <p:nvSpPr>
          <p:cNvPr id="914391527" name="TextBox 10"/>
          <p:cNvSpPr txBox="1"/>
          <p:nvPr/>
        </p:nvSpPr>
        <p:spPr bwMode="auto">
          <a:xfrm rot="0">
            <a:off x="1421152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10101100</a:t>
            </a:r>
            <a:endParaRPr/>
          </a:p>
        </p:txBody>
      </p:sp>
      <p:sp>
        <p:nvSpPr>
          <p:cNvPr id="460966606" name="TextBox 11"/>
          <p:cNvSpPr txBox="1"/>
          <p:nvPr/>
        </p:nvSpPr>
        <p:spPr bwMode="auto">
          <a:xfrm rot="0">
            <a:off x="3869143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00010000</a:t>
            </a:r>
            <a:endParaRPr/>
          </a:p>
        </p:txBody>
      </p:sp>
      <p:sp>
        <p:nvSpPr>
          <p:cNvPr id="1819902819" name="TextBox 12"/>
          <p:cNvSpPr txBox="1"/>
          <p:nvPr/>
        </p:nvSpPr>
        <p:spPr bwMode="auto">
          <a:xfrm rot="0">
            <a:off x="6317136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11111110</a:t>
            </a:r>
            <a:endParaRPr/>
          </a:p>
        </p:txBody>
      </p:sp>
      <p:sp>
        <p:nvSpPr>
          <p:cNvPr id="1339178806" name="TextBox 13"/>
          <p:cNvSpPr txBox="1"/>
          <p:nvPr/>
        </p:nvSpPr>
        <p:spPr bwMode="auto">
          <a:xfrm rot="0">
            <a:off x="8763720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00000001</a:t>
            </a:r>
            <a:endParaRPr/>
          </a:p>
        </p:txBody>
      </p:sp>
      <p:sp>
        <p:nvSpPr>
          <p:cNvPr id="300328749" name="TextBox 14"/>
          <p:cNvSpPr txBox="1"/>
          <p:nvPr/>
        </p:nvSpPr>
        <p:spPr bwMode="auto">
          <a:xfrm rot="0">
            <a:off x="6398803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254</a:t>
            </a:r>
            <a:endParaRPr/>
          </a:p>
        </p:txBody>
      </p:sp>
      <p:sp>
        <p:nvSpPr>
          <p:cNvPr id="1439251287" name="TextBox 15"/>
          <p:cNvSpPr txBox="1"/>
          <p:nvPr/>
        </p:nvSpPr>
        <p:spPr bwMode="auto">
          <a:xfrm rot="0">
            <a:off x="8845386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</a:t>
            </a:r>
            <a:endParaRPr/>
          </a:p>
        </p:txBody>
      </p:sp>
      <p:sp>
        <p:nvSpPr>
          <p:cNvPr id="333932856" name="TextBox 16"/>
          <p:cNvSpPr txBox="1"/>
          <p:nvPr/>
        </p:nvSpPr>
        <p:spPr bwMode="auto">
          <a:xfrm rot="0">
            <a:off x="3952931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16</a:t>
            </a:r>
            <a:endParaRPr/>
          </a:p>
        </p:txBody>
      </p:sp>
      <p:sp>
        <p:nvSpPr>
          <p:cNvPr id="1485150649" name="TextBox 17"/>
          <p:cNvSpPr txBox="1"/>
          <p:nvPr/>
        </p:nvSpPr>
        <p:spPr bwMode="auto">
          <a:xfrm rot="0">
            <a:off x="1506348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172</a:t>
            </a:r>
            <a:endParaRPr/>
          </a:p>
        </p:txBody>
      </p:sp>
      <p:grpSp>
        <p:nvGrpSpPr>
          <p:cNvPr id="211147890" name="Group 18"/>
          <p:cNvGrpSpPr/>
          <p:nvPr/>
        </p:nvGrpSpPr>
        <p:grpSpPr bwMode="auto">
          <a:xfrm rot="0">
            <a:off x="6037565" y="1889337"/>
            <a:ext cx="156096" cy="156096"/>
            <a:chOff x="0" y="0"/>
            <a:chExt cx="812799" cy="812799"/>
          </a:xfrm>
        </p:grpSpPr>
        <p:sp>
          <p:nvSpPr>
            <p:cNvPr id="744266653" name="Freeform 19"/>
            <p:cNvSpPr/>
            <p:nvPr/>
          </p:nvSpPr>
          <p:spPr bwMode="auto">
            <a:xfrm rot="0" flipH="0" flipV="0"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21914560" name="TextBox 20"/>
            <p:cNvSpPr txBox="1"/>
            <p:nvPr/>
          </p:nvSpPr>
          <p:spPr bwMode="auto">
            <a:xfrm>
              <a:off x="76199" y="47624"/>
              <a:ext cx="660399" cy="688974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8"/>
                </a:lnSpc>
                <a:defRPr/>
              </a:pPr>
              <a:endParaRPr/>
            </a:p>
          </p:txBody>
        </p:sp>
      </p:grpSp>
      <p:grpSp>
        <p:nvGrpSpPr>
          <p:cNvPr id="1731214260" name="Group 21"/>
          <p:cNvGrpSpPr/>
          <p:nvPr/>
        </p:nvGrpSpPr>
        <p:grpSpPr bwMode="auto">
          <a:xfrm rot="0">
            <a:off x="8483437" y="1889337"/>
            <a:ext cx="156096" cy="156096"/>
            <a:chOff x="0" y="0"/>
            <a:chExt cx="812799" cy="812799"/>
          </a:xfrm>
        </p:grpSpPr>
        <p:sp>
          <p:nvSpPr>
            <p:cNvPr id="1364283425" name="Freeform 22"/>
            <p:cNvSpPr/>
            <p:nvPr/>
          </p:nvSpPr>
          <p:spPr bwMode="auto">
            <a:xfrm rot="0" flipH="0" flipV="0"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54185778" name="TextBox 23"/>
            <p:cNvSpPr txBox="1"/>
            <p:nvPr/>
          </p:nvSpPr>
          <p:spPr bwMode="auto">
            <a:xfrm>
              <a:off x="76199" y="47624"/>
              <a:ext cx="660399" cy="688974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8"/>
                </a:lnSpc>
                <a:defRPr/>
              </a:pPr>
              <a:endParaRPr/>
            </a:p>
          </p:txBody>
        </p:sp>
      </p:grpSp>
      <p:sp>
        <p:nvSpPr>
          <p:cNvPr id="628824283" name="Freeform 24"/>
          <p:cNvSpPr/>
          <p:nvPr/>
        </p:nvSpPr>
        <p:spPr bwMode="auto">
          <a:xfrm rot="-5399978" flipH="0" flipV="0">
            <a:off x="4805703" y="2355138"/>
            <a:ext cx="165300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93660138" name="TextBox 25"/>
          <p:cNvSpPr txBox="1"/>
          <p:nvPr/>
        </p:nvSpPr>
        <p:spPr bwMode="auto">
          <a:xfrm rot="0">
            <a:off x="1389862" y="3543498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 Byte</a:t>
            </a:r>
            <a:endParaRPr/>
          </a:p>
        </p:txBody>
      </p:sp>
      <p:sp>
        <p:nvSpPr>
          <p:cNvPr id="1082251532" name="TextBox 26"/>
          <p:cNvSpPr txBox="1"/>
          <p:nvPr/>
        </p:nvSpPr>
        <p:spPr bwMode="auto">
          <a:xfrm rot="0">
            <a:off x="3871265" y="3543498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8 Bits</a:t>
            </a:r>
            <a:endParaRPr/>
          </a:p>
        </p:txBody>
      </p:sp>
      <p:sp>
        <p:nvSpPr>
          <p:cNvPr id="1659519931" name="TextBox 27"/>
          <p:cNvSpPr txBox="1"/>
          <p:nvPr/>
        </p:nvSpPr>
        <p:spPr bwMode="auto">
          <a:xfrm rot="0">
            <a:off x="3234837" y="3543498"/>
            <a:ext cx="864687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=</a:t>
            </a:r>
            <a:endParaRPr/>
          </a:p>
        </p:txBody>
      </p:sp>
      <p:sp>
        <p:nvSpPr>
          <p:cNvPr id="1036591651" name="TextBox 29"/>
          <p:cNvSpPr txBox="1"/>
          <p:nvPr/>
        </p:nvSpPr>
        <p:spPr bwMode="auto">
          <a:xfrm rot="0">
            <a:off x="4064040" y="5003064"/>
            <a:ext cx="4098737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32 Bits (4 * 8), oder 4 Bytes</a:t>
            </a:r>
            <a:endParaRPr/>
          </a:p>
        </p:txBody>
      </p:sp>
      <p:sp>
        <p:nvSpPr>
          <p:cNvPr id="1757370390" name=""/>
          <p:cNvSpPr/>
          <p:nvPr/>
        </p:nvSpPr>
        <p:spPr bwMode="auto">
          <a:xfrm rot="5399943" flipH="0" flipV="0">
            <a:off x="5929718" y="159576"/>
            <a:ext cx="442881" cy="8440903"/>
          </a:xfrm>
          <a:prstGeom prst="rightBrace">
            <a:avLst>
              <a:gd name="adj1" fmla="val 8333"/>
              <a:gd name="adj2" fmla="val 50000"/>
            </a:avLst>
          </a:prstGeom>
          <a:ln w="3809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7206920" name="AutoShape 2"/>
          <p:cNvSpPr/>
          <p:nvPr/>
        </p:nvSpPr>
        <p:spPr bwMode="auto">
          <a:xfrm>
            <a:off x="2416524" y="1657693"/>
            <a:ext cx="1278660" cy="63972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grpSp>
        <p:nvGrpSpPr>
          <p:cNvPr id="65092999" name="Group 3"/>
          <p:cNvGrpSpPr/>
          <p:nvPr/>
        </p:nvGrpSpPr>
        <p:grpSpPr bwMode="auto">
          <a:xfrm rot="0">
            <a:off x="3228736" y="1875447"/>
            <a:ext cx="6807765" cy="3922206"/>
            <a:chOff x="0" y="0"/>
            <a:chExt cx="2189518" cy="1261462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2189518" cy="1261462"/>
            </a:xfrm>
            <a:custGeom>
              <a:avLst/>
              <a:gdLst/>
              <a:ahLst/>
              <a:cxnLst/>
              <a:rect l="l" t="t" r="r" b="b"/>
              <a:pathLst>
                <a:path w="2189518" h="1261463" fill="norm" stroke="1" extrusionOk="0">
                  <a:moveTo>
                    <a:pt x="1094759" y="0"/>
                  </a:moveTo>
                  <a:cubicBezTo>
                    <a:pt x="490140" y="0"/>
                    <a:pt x="0" y="282388"/>
                    <a:pt x="0" y="630731"/>
                  </a:cubicBezTo>
                  <a:cubicBezTo>
                    <a:pt x="0" y="979075"/>
                    <a:pt x="490140" y="1261463"/>
                    <a:pt x="1094759" y="1261463"/>
                  </a:cubicBezTo>
                  <a:cubicBezTo>
                    <a:pt x="1699378" y="1261463"/>
                    <a:pt x="2189518" y="979075"/>
                    <a:pt x="2189518" y="630731"/>
                  </a:cubicBezTo>
                  <a:cubicBezTo>
                    <a:pt x="2189518" y="282388"/>
                    <a:pt x="1699378" y="0"/>
                    <a:pt x="10947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205267" y="89687"/>
              <a:ext cx="1778983" cy="105351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408570713" name="Freeform 6"/>
          <p:cNvSpPr/>
          <p:nvPr/>
        </p:nvSpPr>
        <p:spPr bwMode="auto">
          <a:xfrm rot="0" flipH="0" flipV="0">
            <a:off x="7471489" y="2102057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377089976" name="Freeform 7"/>
          <p:cNvSpPr/>
          <p:nvPr/>
        </p:nvSpPr>
        <p:spPr bwMode="auto">
          <a:xfrm rot="0" flipH="0" flipV="0">
            <a:off x="4574674" y="3668257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745320960" name="Freeform 8"/>
          <p:cNvSpPr/>
          <p:nvPr/>
        </p:nvSpPr>
        <p:spPr bwMode="auto">
          <a:xfrm rot="0" flipH="0" flipV="0">
            <a:off x="7157173" y="3836550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40737509" name="Freeform 9"/>
          <p:cNvSpPr/>
          <p:nvPr/>
        </p:nvSpPr>
        <p:spPr bwMode="auto">
          <a:xfrm rot="0" flipH="0" flipV="0">
            <a:off x="3695185" y="1506881"/>
            <a:ext cx="1155617" cy="1581068"/>
          </a:xfrm>
          <a:custGeom>
            <a:avLst/>
            <a:gdLst/>
            <a:ahLst/>
            <a:cxnLst/>
            <a:rect l="l" t="t" r="r" b="b"/>
            <a:pathLst>
              <a:path w="1155617" h="1581068" fill="norm" stroke="1" extrusionOk="0">
                <a:moveTo>
                  <a:pt x="0" y="0"/>
                </a:moveTo>
                <a:lnTo>
                  <a:pt x="1155617" y="0"/>
                </a:lnTo>
                <a:lnTo>
                  <a:pt x="1155617" y="1581068"/>
                </a:lnTo>
                <a:lnTo>
                  <a:pt x="0" y="15810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051535860" name="Freeform 10"/>
          <p:cNvSpPr/>
          <p:nvPr/>
        </p:nvSpPr>
        <p:spPr bwMode="auto">
          <a:xfrm rot="0" flipH="0" flipV="0">
            <a:off x="480744" y="406437"/>
            <a:ext cx="2363722" cy="1890978"/>
          </a:xfrm>
          <a:custGeom>
            <a:avLst/>
            <a:gdLst/>
            <a:ahLst/>
            <a:cxnLst/>
            <a:rect l="l" t="t" r="r" b="b"/>
            <a:pathLst>
              <a:path w="2363722" h="1890978" fill="norm" stroke="1" extrusionOk="0">
                <a:moveTo>
                  <a:pt x="0" y="0"/>
                </a:moveTo>
                <a:lnTo>
                  <a:pt x="2363723" y="0"/>
                </a:lnTo>
                <a:lnTo>
                  <a:pt x="2363723" y="1890978"/>
                </a:lnTo>
                <a:lnTo>
                  <a:pt x="0" y="18909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150430821" name="TextBox 11"/>
          <p:cNvSpPr txBox="1"/>
          <p:nvPr/>
        </p:nvSpPr>
        <p:spPr bwMode="auto">
          <a:xfrm rot="0" flipH="0" flipV="0">
            <a:off x="2881274" y="293451"/>
            <a:ext cx="2885216" cy="711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Server mit Routing und Fernzugriff</a:t>
            </a:r>
            <a:endParaRPr sz="1400"/>
          </a:p>
        </p:txBody>
      </p:sp>
      <p:sp>
        <p:nvSpPr>
          <p:cNvPr id="270777721" name="TextBox 12"/>
          <p:cNvSpPr txBox="1"/>
          <p:nvPr/>
        </p:nvSpPr>
        <p:spPr bwMode="auto">
          <a:xfrm rot="0">
            <a:off x="443937" y="1084606"/>
            <a:ext cx="2437338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2500" lang="en-US">
                <a:solidFill>
                  <a:srgbClr val="FFFFFF"/>
                </a:solidFill>
                <a:latin typeface="IBM Plex Sans"/>
              </a:rPr>
              <a:t>INTERNET</a:t>
            </a:r>
            <a:endParaRPr/>
          </a:p>
        </p:txBody>
      </p:sp>
      <p:sp>
        <p:nvSpPr>
          <p:cNvPr id="306055063" name="AutoShape 13"/>
          <p:cNvSpPr/>
          <p:nvPr/>
        </p:nvSpPr>
        <p:spPr bwMode="auto">
          <a:xfrm flipH="1">
            <a:off x="4850802" y="1657693"/>
            <a:ext cx="969235" cy="99474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99339975" name="AutoShape 14"/>
          <p:cNvSpPr/>
          <p:nvPr/>
        </p:nvSpPr>
        <p:spPr bwMode="auto">
          <a:xfrm>
            <a:off x="4850802" y="2888733"/>
            <a:ext cx="2177193" cy="116694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468096446" name="AutoShape 15"/>
          <p:cNvSpPr/>
          <p:nvPr/>
        </p:nvSpPr>
        <p:spPr bwMode="auto">
          <a:xfrm>
            <a:off x="4704637" y="3087949"/>
            <a:ext cx="176812" cy="58030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791753069" name="AutoShape 16"/>
          <p:cNvSpPr/>
          <p:nvPr/>
        </p:nvSpPr>
        <p:spPr bwMode="auto">
          <a:xfrm>
            <a:off x="5003202" y="2676021"/>
            <a:ext cx="2269881" cy="5230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385289681" name="TextBox 17"/>
          <p:cNvSpPr txBox="1"/>
          <p:nvPr/>
        </p:nvSpPr>
        <p:spPr bwMode="auto">
          <a:xfrm rot="0">
            <a:off x="784219" y="2679680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157.54.130.1</a:t>
            </a:r>
            <a:endParaRPr/>
          </a:p>
        </p:txBody>
      </p:sp>
      <p:sp>
        <p:nvSpPr>
          <p:cNvPr id="714608489" name="TextBox 18"/>
          <p:cNvSpPr txBox="1"/>
          <p:nvPr/>
        </p:nvSpPr>
        <p:spPr bwMode="auto">
          <a:xfrm rot="0">
            <a:off x="5433421" y="1317969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</a:t>
            </a:r>
            <a:endParaRPr/>
          </a:p>
        </p:txBody>
      </p:sp>
      <p:sp>
        <p:nvSpPr>
          <p:cNvPr id="2082800330" name="TextBox 19"/>
          <p:cNvSpPr txBox="1"/>
          <p:nvPr/>
        </p:nvSpPr>
        <p:spPr bwMode="auto">
          <a:xfrm rot="0">
            <a:off x="1662605" y="5608740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192.168.20.122</a:t>
            </a:r>
            <a:endParaRPr/>
          </a:p>
        </p:txBody>
      </p:sp>
      <p:sp>
        <p:nvSpPr>
          <p:cNvPr id="2119244138" name="TextBox 20"/>
          <p:cNvSpPr txBox="1"/>
          <p:nvPr/>
        </p:nvSpPr>
        <p:spPr bwMode="auto">
          <a:xfrm rot="0">
            <a:off x="8293905" y="6111837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192.168.20.121</a:t>
            </a:r>
            <a:endParaRPr/>
          </a:p>
        </p:txBody>
      </p:sp>
      <p:sp>
        <p:nvSpPr>
          <p:cNvPr id="1048185865" name="TextBox 21"/>
          <p:cNvSpPr txBox="1"/>
          <p:nvPr/>
        </p:nvSpPr>
        <p:spPr bwMode="auto">
          <a:xfrm rot="0">
            <a:off x="9455946" y="1957690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192.168.20.120</a:t>
            </a:r>
            <a:endParaRPr/>
          </a:p>
        </p:txBody>
      </p:sp>
      <p:sp>
        <p:nvSpPr>
          <p:cNvPr id="613413971" name="AutoShape 22"/>
          <p:cNvSpPr/>
          <p:nvPr/>
        </p:nvSpPr>
        <p:spPr bwMode="auto">
          <a:xfrm flipV="1">
            <a:off x="8608221" y="2297415"/>
            <a:ext cx="986989" cy="52993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28025596" name="AutoShape 23"/>
          <p:cNvSpPr/>
          <p:nvPr/>
        </p:nvSpPr>
        <p:spPr bwMode="auto">
          <a:xfrm flipH="1">
            <a:off x="2693852" y="2297415"/>
            <a:ext cx="1001333" cy="420365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45322443" name="AutoShape 24"/>
          <p:cNvSpPr/>
          <p:nvPr/>
        </p:nvSpPr>
        <p:spPr bwMode="auto">
          <a:xfrm flipH="1">
            <a:off x="3653982" y="4880552"/>
            <a:ext cx="1050656" cy="766289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85837891" name="AutoShape 25"/>
          <p:cNvSpPr/>
          <p:nvPr/>
        </p:nvSpPr>
        <p:spPr bwMode="auto">
          <a:xfrm flipH="1" flipV="1">
            <a:off x="8123559" y="5287136"/>
            <a:ext cx="689717" cy="862802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06085056" name="TextBox 26"/>
          <p:cNvSpPr txBox="1"/>
          <p:nvPr/>
        </p:nvSpPr>
        <p:spPr bwMode="auto">
          <a:xfrm rot="0" flipH="0" flipV="0">
            <a:off x="4179309" y="5925740"/>
            <a:ext cx="4289827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 Italics"/>
              </a:rPr>
              <a:t>Privates Netz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8697055" name="Freeform 2"/>
          <p:cNvSpPr/>
          <p:nvPr/>
        </p:nvSpPr>
        <p:spPr bwMode="auto">
          <a:xfrm rot="0" flipH="0" flipV="0">
            <a:off x="189341" y="2747905"/>
            <a:ext cx="1894226" cy="1515381"/>
          </a:xfrm>
          <a:custGeom>
            <a:avLst/>
            <a:gdLst/>
            <a:ahLst/>
            <a:cxnLst/>
            <a:rect l="l" t="t" r="r" b="b"/>
            <a:pathLst>
              <a:path w="1894226" h="1515381" fill="norm" stroke="1" extrusionOk="0">
                <a:moveTo>
                  <a:pt x="0" y="0"/>
                </a:moveTo>
                <a:lnTo>
                  <a:pt x="1894226" y="0"/>
                </a:lnTo>
                <a:lnTo>
                  <a:pt x="1894226" y="1515381"/>
                </a:lnTo>
                <a:lnTo>
                  <a:pt x="0" y="15153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65436210" name="AutoShape 3"/>
          <p:cNvSpPr/>
          <p:nvPr/>
        </p:nvSpPr>
        <p:spPr bwMode="auto">
          <a:xfrm flipH="1">
            <a:off x="7561904" y="0"/>
            <a:ext cx="0" cy="685800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55602506" name="AutoShape 4"/>
          <p:cNvSpPr/>
          <p:nvPr/>
        </p:nvSpPr>
        <p:spPr bwMode="auto">
          <a:xfrm flipH="1">
            <a:off x="7561904" y="746964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67075063" name="AutoShape 5"/>
          <p:cNvSpPr/>
          <p:nvPr/>
        </p:nvSpPr>
        <p:spPr bwMode="auto">
          <a:xfrm flipH="1">
            <a:off x="7561904" y="2111937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41258787" name="AutoShape 6"/>
          <p:cNvSpPr/>
          <p:nvPr/>
        </p:nvSpPr>
        <p:spPr bwMode="auto">
          <a:xfrm flipH="1">
            <a:off x="7561904" y="3452812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645654728" name="AutoShape 7"/>
          <p:cNvSpPr/>
          <p:nvPr/>
        </p:nvSpPr>
        <p:spPr bwMode="auto">
          <a:xfrm flipH="1">
            <a:off x="7561904" y="4746634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09452702" name="AutoShape 8"/>
          <p:cNvSpPr/>
          <p:nvPr/>
        </p:nvSpPr>
        <p:spPr bwMode="auto">
          <a:xfrm flipH="1">
            <a:off x="7561904" y="6148388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03485624" name="Freeform 9"/>
          <p:cNvSpPr/>
          <p:nvPr/>
        </p:nvSpPr>
        <p:spPr bwMode="auto">
          <a:xfrm rot="0" flipH="0" flipV="0">
            <a:off x="8546610" y="5632451"/>
            <a:ext cx="750074" cy="957171"/>
          </a:xfrm>
          <a:custGeom>
            <a:avLst/>
            <a:gdLst/>
            <a:ahLst/>
            <a:cxnLst/>
            <a:rect l="l" t="t" r="r" b="b"/>
            <a:pathLst>
              <a:path w="750074" h="957171" fill="norm" stroke="1" extrusionOk="0">
                <a:moveTo>
                  <a:pt x="0" y="0"/>
                </a:moveTo>
                <a:lnTo>
                  <a:pt x="750074" y="0"/>
                </a:lnTo>
                <a:lnTo>
                  <a:pt x="750074" y="957170"/>
                </a:lnTo>
                <a:lnTo>
                  <a:pt x="0" y="9571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24254007" name="Freeform 10"/>
          <p:cNvSpPr/>
          <p:nvPr/>
        </p:nvSpPr>
        <p:spPr bwMode="auto">
          <a:xfrm rot="0" flipH="0" flipV="0">
            <a:off x="8546610" y="4291861"/>
            <a:ext cx="750074" cy="957171"/>
          </a:xfrm>
          <a:custGeom>
            <a:avLst/>
            <a:gdLst/>
            <a:ahLst/>
            <a:cxnLst/>
            <a:rect l="l" t="t" r="r" b="b"/>
            <a:pathLst>
              <a:path w="750074" h="957171" fill="norm" stroke="1" extrusionOk="0">
                <a:moveTo>
                  <a:pt x="0" y="0"/>
                </a:moveTo>
                <a:lnTo>
                  <a:pt x="750074" y="0"/>
                </a:lnTo>
                <a:lnTo>
                  <a:pt x="750074" y="957171"/>
                </a:lnTo>
                <a:lnTo>
                  <a:pt x="0" y="9571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246315518" name="Freeform 11"/>
          <p:cNvSpPr/>
          <p:nvPr/>
        </p:nvSpPr>
        <p:spPr bwMode="auto">
          <a:xfrm rot="0" flipH="0" flipV="0">
            <a:off x="8571844" y="2950700"/>
            <a:ext cx="699605" cy="957171"/>
          </a:xfrm>
          <a:custGeom>
            <a:avLst/>
            <a:gdLst/>
            <a:ahLst/>
            <a:cxnLst/>
            <a:rect l="l" t="t" r="r" b="b"/>
            <a:pathLst>
              <a:path w="699605" h="957171" fill="norm" stroke="1" extrusionOk="0">
                <a:moveTo>
                  <a:pt x="0" y="0"/>
                </a:moveTo>
                <a:lnTo>
                  <a:pt x="699605" y="0"/>
                </a:lnTo>
                <a:lnTo>
                  <a:pt x="699605" y="957171"/>
                </a:lnTo>
                <a:lnTo>
                  <a:pt x="0" y="9571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308367304" name="Freeform 12"/>
          <p:cNvSpPr/>
          <p:nvPr/>
        </p:nvSpPr>
        <p:spPr bwMode="auto">
          <a:xfrm rot="0" flipH="0" flipV="0">
            <a:off x="8571844" y="1609539"/>
            <a:ext cx="699605" cy="957171"/>
          </a:xfrm>
          <a:custGeom>
            <a:avLst/>
            <a:gdLst/>
            <a:ahLst/>
            <a:cxnLst/>
            <a:rect l="l" t="t" r="r" b="b"/>
            <a:pathLst>
              <a:path w="699605" h="957171" fill="norm" stroke="1" extrusionOk="0">
                <a:moveTo>
                  <a:pt x="0" y="0"/>
                </a:moveTo>
                <a:lnTo>
                  <a:pt x="699605" y="0"/>
                </a:lnTo>
                <a:lnTo>
                  <a:pt x="699605" y="957171"/>
                </a:lnTo>
                <a:lnTo>
                  <a:pt x="0" y="9571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2003883888" name="Freeform 13"/>
          <p:cNvSpPr/>
          <p:nvPr/>
        </p:nvSpPr>
        <p:spPr bwMode="auto">
          <a:xfrm rot="0" flipH="0" flipV="0">
            <a:off x="8571844" y="268379"/>
            <a:ext cx="699605" cy="957171"/>
          </a:xfrm>
          <a:custGeom>
            <a:avLst/>
            <a:gdLst/>
            <a:ahLst/>
            <a:cxnLst/>
            <a:rect l="l" t="t" r="r" b="b"/>
            <a:pathLst>
              <a:path w="699605" h="957171" fill="norm" stroke="1" extrusionOk="0">
                <a:moveTo>
                  <a:pt x="0" y="0"/>
                </a:moveTo>
                <a:lnTo>
                  <a:pt x="699605" y="0"/>
                </a:lnTo>
                <a:lnTo>
                  <a:pt x="699605" y="957170"/>
                </a:lnTo>
                <a:lnTo>
                  <a:pt x="0" y="9571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991967043" name="AutoShape 14"/>
          <p:cNvSpPr/>
          <p:nvPr/>
        </p:nvSpPr>
        <p:spPr bwMode="auto">
          <a:xfrm flipH="1">
            <a:off x="4260647" y="0"/>
            <a:ext cx="0" cy="685800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97846116" name="Freeform 15"/>
          <p:cNvSpPr/>
          <p:nvPr/>
        </p:nvSpPr>
        <p:spPr bwMode="auto">
          <a:xfrm rot="0" flipH="0" flipV="0">
            <a:off x="3881355" y="2824166"/>
            <a:ext cx="1015760" cy="1191190"/>
          </a:xfrm>
          <a:custGeom>
            <a:avLst/>
            <a:gdLst/>
            <a:ahLst/>
            <a:cxnLst/>
            <a:rect l="l" t="t" r="r" b="b"/>
            <a:pathLst>
              <a:path w="1015760" h="1191190" fill="norm" stroke="1" extrusionOk="0">
                <a:moveTo>
                  <a:pt x="0" y="0"/>
                </a:moveTo>
                <a:lnTo>
                  <a:pt x="1015760" y="0"/>
                </a:lnTo>
                <a:lnTo>
                  <a:pt x="1015760" y="1191189"/>
                </a:lnTo>
                <a:lnTo>
                  <a:pt x="0" y="11911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516202541" name="TextBox 16"/>
          <p:cNvSpPr txBox="1"/>
          <p:nvPr/>
        </p:nvSpPr>
        <p:spPr bwMode="auto">
          <a:xfrm rot="0">
            <a:off x="159844" y="3291438"/>
            <a:ext cx="1953219" cy="338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4"/>
              </a:lnSpc>
              <a:defRPr/>
            </a:pPr>
            <a:r>
              <a:rPr sz="2000" lang="en-US">
                <a:solidFill>
                  <a:srgbClr val="FFFFFF"/>
                </a:solidFill>
                <a:latin typeface="IBM Plex Sans"/>
              </a:rPr>
              <a:t>INTERNET</a:t>
            </a:r>
            <a:endParaRPr/>
          </a:p>
        </p:txBody>
      </p:sp>
      <p:sp>
        <p:nvSpPr>
          <p:cNvPr id="1789084269" name="TextBox 17"/>
          <p:cNvSpPr txBox="1"/>
          <p:nvPr/>
        </p:nvSpPr>
        <p:spPr bwMode="auto">
          <a:xfrm rot="0">
            <a:off x="4433915" y="6317699"/>
            <a:ext cx="2342448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b="1" i="1" lang="en-US">
                <a:solidFill>
                  <a:srgbClr val="000000"/>
                </a:solidFill>
                <a:latin typeface="IBM Plex Sans Bold Italics"/>
              </a:rPr>
              <a:t>Unternehmen</a:t>
            </a:r>
            <a:endParaRPr/>
          </a:p>
        </p:txBody>
      </p:sp>
      <p:sp>
        <p:nvSpPr>
          <p:cNvPr id="1058383903" name="AutoShape 18"/>
          <p:cNvSpPr/>
          <p:nvPr/>
        </p:nvSpPr>
        <p:spPr bwMode="auto">
          <a:xfrm flipH="1">
            <a:off x="4897115" y="3452812"/>
            <a:ext cx="2657528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45949398" name="TextBox 19"/>
          <p:cNvSpPr txBox="1"/>
          <p:nvPr/>
        </p:nvSpPr>
        <p:spPr bwMode="auto">
          <a:xfrm rot="0" flipH="0" flipV="0">
            <a:off x="4389233" y="4100409"/>
            <a:ext cx="2431810" cy="488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Gateway</a:t>
            </a:r>
            <a:endParaRPr lang="en-US" sz="1600" i="1">
              <a:solidFill>
                <a:srgbClr val="000000"/>
              </a:solidFill>
              <a:latin typeface="IBM Plex Sans Italics"/>
              <a:ea typeface="IBM Plex Sans Italics"/>
              <a:cs typeface="IBM Plex Sans Italics"/>
            </a:endParaRPr>
          </a:p>
          <a:p>
            <a:pPr algn="l">
              <a:lnSpc>
                <a:spcPct val="100000"/>
              </a:lnSpc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(Router oder Firewall)</a:t>
            </a:r>
          </a:p>
        </p:txBody>
      </p:sp>
      <p:sp>
        <p:nvSpPr>
          <p:cNvPr id="1918356144" name="TextBox 20"/>
          <p:cNvSpPr txBox="1"/>
          <p:nvPr/>
        </p:nvSpPr>
        <p:spPr bwMode="auto">
          <a:xfrm rot="0">
            <a:off x="9500839" y="324369"/>
            <a:ext cx="2343168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Webserver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IP-Adresse 192.168.1.20</a:t>
            </a:r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HTTP-Anschluss: 80</a:t>
            </a:r>
          </a:p>
        </p:txBody>
      </p:sp>
      <p:sp>
        <p:nvSpPr>
          <p:cNvPr id="2035226425" name="TextBox 21"/>
          <p:cNvSpPr txBox="1"/>
          <p:nvPr/>
        </p:nvSpPr>
        <p:spPr bwMode="auto">
          <a:xfrm rot="0">
            <a:off x="9500839" y="1665531"/>
            <a:ext cx="2343168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Extranet-Server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IP-Adresse 192.168.1.30</a:t>
            </a:r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HTTP-Anschluss: 80</a:t>
            </a:r>
          </a:p>
        </p:txBody>
      </p:sp>
      <p:sp>
        <p:nvSpPr>
          <p:cNvPr id="706364853" name="TextBox 22"/>
          <p:cNvSpPr txBox="1"/>
          <p:nvPr/>
        </p:nvSpPr>
        <p:spPr bwMode="auto">
          <a:xfrm rot="0">
            <a:off x="9500839" y="3006693"/>
            <a:ext cx="2343168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Intranet-Server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IP-Adresse 192.168.1.40</a:t>
            </a:r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HTTP-Anschluss: 80</a:t>
            </a:r>
          </a:p>
        </p:txBody>
      </p:sp>
      <p:sp>
        <p:nvSpPr>
          <p:cNvPr id="1756933045" name="TextBox 23"/>
          <p:cNvSpPr txBox="1"/>
          <p:nvPr/>
        </p:nvSpPr>
        <p:spPr bwMode="auto">
          <a:xfrm rot="0">
            <a:off x="9500839" y="4462152"/>
            <a:ext cx="2343168" cy="366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Computer der Firma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192.168.1.201</a:t>
            </a:r>
          </a:p>
        </p:txBody>
      </p:sp>
      <p:sp>
        <p:nvSpPr>
          <p:cNvPr id="1985710662" name="TextBox 24"/>
          <p:cNvSpPr txBox="1"/>
          <p:nvPr/>
        </p:nvSpPr>
        <p:spPr bwMode="auto">
          <a:xfrm rot="0">
            <a:off x="9500839" y="5863904"/>
            <a:ext cx="2343168" cy="366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Computer der Firma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192.168.1.202</a:t>
            </a:r>
          </a:p>
        </p:txBody>
      </p:sp>
      <p:sp>
        <p:nvSpPr>
          <p:cNvPr id="9859076" name="AutoShape 25"/>
          <p:cNvSpPr/>
          <p:nvPr/>
        </p:nvSpPr>
        <p:spPr bwMode="auto">
          <a:xfrm flipH="1">
            <a:off x="2083567" y="3709943"/>
            <a:ext cx="1770109" cy="0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50187373" name="AutoShape 26"/>
          <p:cNvSpPr/>
          <p:nvPr/>
        </p:nvSpPr>
        <p:spPr bwMode="auto">
          <a:xfrm flipH="1">
            <a:off x="2083567" y="3386423"/>
            <a:ext cx="1797788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52894489" name="AutoShape 27"/>
          <p:cNvSpPr/>
          <p:nvPr/>
        </p:nvSpPr>
        <p:spPr bwMode="auto">
          <a:xfrm flipH="1">
            <a:off x="5021459" y="2795873"/>
            <a:ext cx="1797788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05600472" name="AutoShape 28"/>
          <p:cNvSpPr/>
          <p:nvPr/>
        </p:nvSpPr>
        <p:spPr bwMode="auto">
          <a:xfrm flipH="1">
            <a:off x="5021459" y="3188938"/>
            <a:ext cx="2287673" cy="0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94984479" name="AutoShape 29"/>
          <p:cNvSpPr/>
          <p:nvPr/>
        </p:nvSpPr>
        <p:spPr bwMode="auto">
          <a:xfrm>
            <a:off x="6819246" y="928537"/>
            <a:ext cx="0" cy="1867336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86308961" name="AutoShape 30"/>
          <p:cNvSpPr/>
          <p:nvPr/>
        </p:nvSpPr>
        <p:spPr bwMode="auto">
          <a:xfrm flipH="1" flipV="1">
            <a:off x="6819246" y="928537"/>
            <a:ext cx="1752598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571591726" name="AutoShape 31"/>
          <p:cNvSpPr/>
          <p:nvPr/>
        </p:nvSpPr>
        <p:spPr bwMode="auto">
          <a:xfrm flipH="1" flipV="1">
            <a:off x="7309132" y="2363641"/>
            <a:ext cx="0" cy="825297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921194199" name="AutoShape 32"/>
          <p:cNvSpPr/>
          <p:nvPr/>
        </p:nvSpPr>
        <p:spPr bwMode="auto">
          <a:xfrm>
            <a:off x="7309132" y="2363641"/>
            <a:ext cx="1262713" cy="0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657502601" name="TextBox 33"/>
          <p:cNvSpPr txBox="1"/>
          <p:nvPr/>
        </p:nvSpPr>
        <p:spPr bwMode="auto">
          <a:xfrm rot="0">
            <a:off x="4967490" y="3495152"/>
            <a:ext cx="1679283" cy="213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192.168.1.254</a:t>
            </a:r>
            <a:endParaRPr/>
          </a:p>
        </p:txBody>
      </p:sp>
      <p:sp>
        <p:nvSpPr>
          <p:cNvPr id="1335013771" name="TextBox 34"/>
          <p:cNvSpPr txBox="1"/>
          <p:nvPr/>
        </p:nvSpPr>
        <p:spPr bwMode="auto">
          <a:xfrm rot="0">
            <a:off x="2474021" y="3847101"/>
            <a:ext cx="1679283" cy="213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85.152.44.14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6407875" name="AutoShape 2"/>
          <p:cNvSpPr/>
          <p:nvPr/>
        </p:nvSpPr>
        <p:spPr bwMode="auto">
          <a:xfrm flipH="1" flipV="1">
            <a:off x="5717292" y="2788290"/>
            <a:ext cx="9525" cy="2179723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993284393" name="AutoShape 3"/>
          <p:cNvSpPr/>
          <p:nvPr/>
        </p:nvSpPr>
        <p:spPr bwMode="auto">
          <a:xfrm flipV="1">
            <a:off x="6465183" y="2788290"/>
            <a:ext cx="9525" cy="20990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412058187" name="Freeform 4"/>
          <p:cNvSpPr/>
          <p:nvPr/>
        </p:nvSpPr>
        <p:spPr bwMode="auto">
          <a:xfrm rot="0" flipH="0" flipV="0">
            <a:off x="5516285" y="4585915"/>
            <a:ext cx="1159430" cy="1586285"/>
          </a:xfrm>
          <a:custGeom>
            <a:avLst/>
            <a:gdLst/>
            <a:ahLst/>
            <a:cxnLst/>
            <a:rect l="l" t="t" r="r" b="b"/>
            <a:pathLst>
              <a:path w="1159430" h="1586285" fill="norm" stroke="1" extrusionOk="0">
                <a:moveTo>
                  <a:pt x="0" y="0"/>
                </a:moveTo>
                <a:lnTo>
                  <a:pt x="1159430" y="0"/>
                </a:lnTo>
                <a:lnTo>
                  <a:pt x="1159430" y="1586285"/>
                </a:lnTo>
                <a:lnTo>
                  <a:pt x="0" y="15862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000610852" name="AutoShape 5"/>
          <p:cNvSpPr/>
          <p:nvPr/>
        </p:nvSpPr>
        <p:spPr bwMode="auto">
          <a:xfrm>
            <a:off x="6654067" y="1402001"/>
            <a:ext cx="2906415" cy="143379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95795554" name="Freeform 6"/>
          <p:cNvSpPr/>
          <p:nvPr/>
        </p:nvSpPr>
        <p:spPr bwMode="auto">
          <a:xfrm rot="0" flipH="0" flipV="0">
            <a:off x="1752209" y="2492387"/>
            <a:ext cx="1758617" cy="629905"/>
          </a:xfrm>
          <a:custGeom>
            <a:avLst/>
            <a:gdLst/>
            <a:ahLst/>
            <a:cxnLst/>
            <a:rect l="l" t="t" r="r" b="b"/>
            <a:pathLst>
              <a:path w="1758617" h="629905" fill="norm" stroke="1" extrusionOk="0">
                <a:moveTo>
                  <a:pt x="0" y="0"/>
                </a:moveTo>
                <a:lnTo>
                  <a:pt x="1758618" y="0"/>
                </a:lnTo>
                <a:lnTo>
                  <a:pt x="1758618" y="629905"/>
                </a:lnTo>
                <a:lnTo>
                  <a:pt x="0" y="629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658411968" name="Freeform 7"/>
          <p:cNvSpPr/>
          <p:nvPr/>
        </p:nvSpPr>
        <p:spPr bwMode="auto">
          <a:xfrm rot="0" flipH="0" flipV="0">
            <a:off x="8681173" y="2492387"/>
            <a:ext cx="1758617" cy="629905"/>
          </a:xfrm>
          <a:custGeom>
            <a:avLst/>
            <a:gdLst/>
            <a:ahLst/>
            <a:cxnLst/>
            <a:rect l="l" t="t" r="r" b="b"/>
            <a:pathLst>
              <a:path w="1758617" h="629905" fill="norm" stroke="1" extrusionOk="0">
                <a:moveTo>
                  <a:pt x="0" y="0"/>
                </a:moveTo>
                <a:lnTo>
                  <a:pt x="1758618" y="0"/>
                </a:lnTo>
                <a:lnTo>
                  <a:pt x="1758618" y="629905"/>
                </a:lnTo>
                <a:lnTo>
                  <a:pt x="0" y="629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286706453" name="Freeform 8"/>
          <p:cNvSpPr/>
          <p:nvPr/>
        </p:nvSpPr>
        <p:spPr bwMode="auto">
          <a:xfrm rot="0" flipH="0" flipV="0">
            <a:off x="5537933" y="472245"/>
            <a:ext cx="1116134" cy="1308900"/>
          </a:xfrm>
          <a:custGeom>
            <a:avLst/>
            <a:gdLst/>
            <a:ahLst/>
            <a:cxnLst/>
            <a:rect l="l" t="t" r="r" b="b"/>
            <a:pathLst>
              <a:path w="1116134" h="1308900" fill="norm" stroke="1" extrusionOk="0">
                <a:moveTo>
                  <a:pt x="0" y="0"/>
                </a:moveTo>
                <a:lnTo>
                  <a:pt x="1116134" y="0"/>
                </a:lnTo>
                <a:lnTo>
                  <a:pt x="1116134" y="1308899"/>
                </a:lnTo>
                <a:lnTo>
                  <a:pt x="0" y="13088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507488977" name="AutoShape 9"/>
          <p:cNvSpPr/>
          <p:nvPr/>
        </p:nvSpPr>
        <p:spPr bwMode="auto">
          <a:xfrm flipH="1">
            <a:off x="3252318" y="1049695"/>
            <a:ext cx="2843682" cy="1442692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47814561" name="AutoShape 10"/>
          <p:cNvSpPr/>
          <p:nvPr/>
        </p:nvSpPr>
        <p:spPr bwMode="auto">
          <a:xfrm flipH="1">
            <a:off x="3510827" y="2807340"/>
            <a:ext cx="2215991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08089535" name="AutoShape 11"/>
          <p:cNvSpPr/>
          <p:nvPr/>
        </p:nvSpPr>
        <p:spPr bwMode="auto">
          <a:xfrm flipH="1">
            <a:off x="6465183" y="2807340"/>
            <a:ext cx="2215991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grpSp>
        <p:nvGrpSpPr>
          <p:cNvPr id="1726262968" name="Group 12"/>
          <p:cNvGrpSpPr/>
          <p:nvPr/>
        </p:nvGrpSpPr>
        <p:grpSpPr bwMode="auto">
          <a:xfrm rot="0">
            <a:off x="5220816" y="3429000"/>
            <a:ext cx="1750369" cy="1008452"/>
            <a:chOff x="0" y="0"/>
            <a:chExt cx="2189518" cy="1261462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2189518" cy="1261462"/>
            </a:xfrm>
            <a:custGeom>
              <a:avLst/>
              <a:gdLst/>
              <a:ahLst/>
              <a:cxnLst/>
              <a:rect l="l" t="t" r="r" b="b"/>
              <a:pathLst>
                <a:path w="2189518" h="1261463" fill="norm" stroke="1" extrusionOk="0">
                  <a:moveTo>
                    <a:pt x="1094759" y="0"/>
                  </a:moveTo>
                  <a:cubicBezTo>
                    <a:pt x="490140" y="0"/>
                    <a:pt x="0" y="282388"/>
                    <a:pt x="0" y="630731"/>
                  </a:cubicBezTo>
                  <a:cubicBezTo>
                    <a:pt x="0" y="979075"/>
                    <a:pt x="490140" y="1261463"/>
                    <a:pt x="1094759" y="1261463"/>
                  </a:cubicBezTo>
                  <a:cubicBezTo>
                    <a:pt x="1699378" y="1261463"/>
                    <a:pt x="2189518" y="979075"/>
                    <a:pt x="2189518" y="630731"/>
                  </a:cubicBezTo>
                  <a:cubicBezTo>
                    <a:pt x="2189518" y="282388"/>
                    <a:pt x="1699378" y="0"/>
                    <a:pt x="10947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 bwMode="auto">
            <a:xfrm>
              <a:off x="205267" y="89687"/>
              <a:ext cx="1778983" cy="105351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752085098" name="AutoShape 15"/>
          <p:cNvSpPr/>
          <p:nvPr/>
        </p:nvSpPr>
        <p:spPr bwMode="auto">
          <a:xfrm flipV="1">
            <a:off x="6474708" y="2788182"/>
            <a:ext cx="4762" cy="114504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08696850" name="AutoShape 16"/>
          <p:cNvSpPr/>
          <p:nvPr/>
        </p:nvSpPr>
        <p:spPr bwMode="auto">
          <a:xfrm flipV="1">
            <a:off x="5717292" y="2895337"/>
            <a:ext cx="0" cy="114505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1427564" name="TextBox 17"/>
          <p:cNvSpPr txBox="1"/>
          <p:nvPr/>
        </p:nvSpPr>
        <p:spPr bwMode="auto">
          <a:xfrm rot="0">
            <a:off x="7084998" y="3786859"/>
            <a:ext cx="1678924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defRPr/>
            </a:pPr>
            <a:r>
              <a:rPr sz="1600" b="1" i="1" lang="en-US">
                <a:solidFill>
                  <a:srgbClr val="FF5C00"/>
                </a:solidFill>
                <a:latin typeface="IBM Plex Sans Bold Italics"/>
              </a:rPr>
              <a:t>bond0</a:t>
            </a:r>
            <a:endParaRPr/>
          </a:p>
        </p:txBody>
      </p:sp>
      <p:grpSp>
        <p:nvGrpSpPr>
          <p:cNvPr id="143382956" name=""/>
          <p:cNvGrpSpPr/>
          <p:nvPr/>
        </p:nvGrpSpPr>
        <p:grpSpPr bwMode="auto">
          <a:xfrm>
            <a:off x="4396499" y="2605122"/>
            <a:ext cx="3527959" cy="366120"/>
            <a:chOff x="0" y="0"/>
            <a:chExt cx="3527959" cy="366120"/>
          </a:xfrm>
        </p:grpSpPr>
        <p:sp>
          <p:nvSpPr>
            <p:cNvPr id="2027082257" name=""/>
            <p:cNvSpPr txBox="1"/>
            <p:nvPr/>
          </p:nvSpPr>
          <p:spPr bwMode="auto">
            <a:xfrm rot="0" flipH="0" flipV="0">
              <a:off x="0" y="0"/>
              <a:ext cx="609876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eth0</a:t>
              </a:r>
              <a:endParaRPr/>
            </a:p>
          </p:txBody>
        </p:sp>
        <p:sp>
          <p:nvSpPr>
            <p:cNvPr id="734205544" name=""/>
            <p:cNvSpPr txBox="1"/>
            <p:nvPr/>
          </p:nvSpPr>
          <p:spPr bwMode="auto">
            <a:xfrm rot="0" flipH="0" flipV="0">
              <a:off x="2918083" y="0"/>
              <a:ext cx="609876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eth1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59468270" name=""/>
          <p:cNvGrpSpPr/>
          <p:nvPr/>
        </p:nvGrpSpPr>
        <p:grpSpPr bwMode="auto">
          <a:xfrm>
            <a:off x="1854148" y="2050468"/>
            <a:ext cx="8483701" cy="2757061"/>
            <a:chOff x="0" y="0"/>
            <a:chExt cx="8483701" cy="2757061"/>
          </a:xfrm>
        </p:grpSpPr>
        <p:grpSp>
          <p:nvGrpSpPr>
            <p:cNvPr id="598976294" name="Group 2"/>
            <p:cNvGrpSpPr/>
            <p:nvPr/>
          </p:nvGrpSpPr>
          <p:grpSpPr bwMode="auto">
            <a:xfrm rot="0">
              <a:off x="1065126" y="0"/>
              <a:ext cx="1036552" cy="871538"/>
              <a:chOff x="0" y="0"/>
              <a:chExt cx="409502" cy="344311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" name="TextBox 4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00</a:t>
                </a:r>
                <a:endParaRPr/>
              </a:p>
            </p:txBody>
          </p:sp>
        </p:grpSp>
        <p:grpSp>
          <p:nvGrpSpPr>
            <p:cNvPr id="1652068070" name="Group 5"/>
            <p:cNvGrpSpPr/>
            <p:nvPr/>
          </p:nvGrpSpPr>
          <p:grpSpPr bwMode="auto">
            <a:xfrm rot="0">
              <a:off x="2125884" y="0"/>
              <a:ext cx="1036552" cy="871538"/>
              <a:chOff x="0" y="0"/>
              <a:chExt cx="409502" cy="344311"/>
            </a:xfrm>
          </p:grpSpPr>
          <p:sp>
            <p:nvSpPr>
              <p:cNvPr id="6" name="Freeform 6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1E</a:t>
                </a:r>
                <a:endParaRPr/>
              </a:p>
            </p:txBody>
          </p:sp>
        </p:grpSp>
        <p:grpSp>
          <p:nvGrpSpPr>
            <p:cNvPr id="1413644435" name="Group 8"/>
            <p:cNvGrpSpPr/>
            <p:nvPr/>
          </p:nvGrpSpPr>
          <p:grpSpPr bwMode="auto">
            <a:xfrm rot="0">
              <a:off x="3191011" y="0"/>
              <a:ext cx="1036552" cy="871538"/>
              <a:chOff x="0" y="0"/>
              <a:chExt cx="409502" cy="344311"/>
            </a:xfrm>
          </p:grpSpPr>
          <p:sp>
            <p:nvSpPr>
              <p:cNvPr id="9" name="Freeform 9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33</a:t>
                </a:r>
                <a:endParaRPr/>
              </a:p>
            </p:txBody>
          </p:sp>
        </p:grpSp>
        <p:grpSp>
          <p:nvGrpSpPr>
            <p:cNvPr id="637544224" name="Group 11"/>
            <p:cNvGrpSpPr/>
            <p:nvPr/>
          </p:nvGrpSpPr>
          <p:grpSpPr bwMode="auto">
            <a:xfrm rot="0">
              <a:off x="4256138" y="0"/>
              <a:ext cx="1036552" cy="871538"/>
              <a:chOff x="0" y="0"/>
              <a:chExt cx="409502" cy="344311"/>
            </a:xfrm>
          </p:grpSpPr>
          <p:sp>
            <p:nvSpPr>
              <p:cNvPr id="12" name="Freeform 12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3B</a:t>
                </a:r>
                <a:endParaRPr/>
              </a:p>
            </p:txBody>
          </p:sp>
        </p:grpSp>
        <p:grpSp>
          <p:nvGrpSpPr>
            <p:cNvPr id="2020946288" name="Group 14"/>
            <p:cNvGrpSpPr/>
            <p:nvPr/>
          </p:nvGrpSpPr>
          <p:grpSpPr bwMode="auto">
            <a:xfrm rot="0">
              <a:off x="5316895" y="0"/>
              <a:ext cx="1036552" cy="871538"/>
              <a:chOff x="0" y="0"/>
              <a:chExt cx="409502" cy="344311"/>
            </a:xfrm>
          </p:grpSpPr>
          <p:sp>
            <p:nvSpPr>
              <p:cNvPr id="15" name="Freeform 15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5A</a:t>
                </a:r>
                <a:endParaRPr/>
              </a:p>
            </p:txBody>
          </p:sp>
        </p:grpSp>
        <p:grpSp>
          <p:nvGrpSpPr>
            <p:cNvPr id="447107092" name="Group 17"/>
            <p:cNvGrpSpPr/>
            <p:nvPr/>
          </p:nvGrpSpPr>
          <p:grpSpPr bwMode="auto">
            <a:xfrm rot="0">
              <a:off x="6382022" y="0"/>
              <a:ext cx="1036552" cy="871538"/>
              <a:chOff x="0" y="0"/>
              <a:chExt cx="409502" cy="344311"/>
            </a:xfrm>
          </p:grpSpPr>
          <p:sp>
            <p:nvSpPr>
              <p:cNvPr id="18" name="Freeform 18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94</a:t>
                </a:r>
                <a:endParaRPr/>
              </a:p>
            </p:txBody>
          </p:sp>
        </p:grpSp>
        <p:grpSp>
          <p:nvGrpSpPr>
            <p:cNvPr id="1484055883" name="Group 20"/>
            <p:cNvGrpSpPr/>
            <p:nvPr/>
          </p:nvGrpSpPr>
          <p:grpSpPr bwMode="auto">
            <a:xfrm rot="0">
              <a:off x="1065126" y="1885523"/>
              <a:ext cx="1036552" cy="871538"/>
              <a:chOff x="0" y="0"/>
              <a:chExt cx="409502" cy="344311"/>
            </a:xfrm>
          </p:grpSpPr>
          <p:sp>
            <p:nvSpPr>
              <p:cNvPr id="21" name="Freeform 21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22" name="TextBox 22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1E</a:t>
                </a:r>
                <a:endParaRPr/>
              </a:p>
            </p:txBody>
          </p:sp>
        </p:grpSp>
        <p:grpSp>
          <p:nvGrpSpPr>
            <p:cNvPr id="1203987877" name="Group 23"/>
            <p:cNvGrpSpPr/>
            <p:nvPr/>
          </p:nvGrpSpPr>
          <p:grpSpPr bwMode="auto">
            <a:xfrm rot="0">
              <a:off x="2125884" y="1885523"/>
              <a:ext cx="1036552" cy="871538"/>
              <a:chOff x="0" y="0"/>
              <a:chExt cx="409502" cy="344311"/>
            </a:xfrm>
          </p:grpSpPr>
          <p:sp>
            <p:nvSpPr>
              <p:cNvPr id="24" name="Freeform 24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25" name="TextBox 25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33</a:t>
                </a:r>
                <a:endParaRPr/>
              </a:p>
            </p:txBody>
          </p:sp>
        </p:grpSp>
        <p:grpSp>
          <p:nvGrpSpPr>
            <p:cNvPr id="990719398" name="Group 26"/>
            <p:cNvGrpSpPr/>
            <p:nvPr/>
          </p:nvGrpSpPr>
          <p:grpSpPr bwMode="auto">
            <a:xfrm rot="0">
              <a:off x="3191011" y="1885523"/>
              <a:ext cx="1036552" cy="871538"/>
              <a:chOff x="0" y="0"/>
              <a:chExt cx="409502" cy="344311"/>
            </a:xfrm>
          </p:grpSpPr>
          <p:sp>
            <p:nvSpPr>
              <p:cNvPr id="27" name="Freeform 27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28" name="TextBox 28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4900"/>
                  </a:lnSpc>
                  <a:spcBef>
                    <a:spcPts val="0"/>
                  </a:spcBef>
                  <a:defRPr/>
                </a:pPr>
                <a:r>
                  <a:rPr lang="en-US" sz="3500" u="none" strike="noStrike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FF</a:t>
                </a:r>
                <a:endParaRPr/>
              </a:p>
            </p:txBody>
          </p:sp>
        </p:grpSp>
        <p:grpSp>
          <p:nvGrpSpPr>
            <p:cNvPr id="1006228410" name="Group 29"/>
            <p:cNvGrpSpPr/>
            <p:nvPr/>
          </p:nvGrpSpPr>
          <p:grpSpPr bwMode="auto">
            <a:xfrm rot="0">
              <a:off x="4256138" y="1885523"/>
              <a:ext cx="1036552" cy="871538"/>
              <a:chOff x="0" y="0"/>
              <a:chExt cx="409502" cy="344311"/>
            </a:xfrm>
          </p:grpSpPr>
          <p:sp>
            <p:nvSpPr>
              <p:cNvPr id="30" name="Freeform 30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31" name="TextBox 31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4900"/>
                  </a:lnSpc>
                  <a:spcBef>
                    <a:spcPts val="0"/>
                  </a:spcBef>
                  <a:defRPr/>
                </a:pPr>
                <a:r>
                  <a:rPr lang="en-US" sz="3500" u="none" strike="noStrike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FE</a:t>
                </a:r>
                <a:endParaRPr/>
              </a:p>
            </p:txBody>
          </p:sp>
        </p:grpSp>
        <p:grpSp>
          <p:nvGrpSpPr>
            <p:cNvPr id="1777351301" name="Group 32"/>
            <p:cNvGrpSpPr/>
            <p:nvPr/>
          </p:nvGrpSpPr>
          <p:grpSpPr bwMode="auto">
            <a:xfrm rot="0">
              <a:off x="5316895" y="1885523"/>
              <a:ext cx="1036552" cy="871538"/>
              <a:chOff x="0" y="0"/>
              <a:chExt cx="409502" cy="344311"/>
            </a:xfrm>
          </p:grpSpPr>
          <p:sp>
            <p:nvSpPr>
              <p:cNvPr id="33" name="Freeform 33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4" name="TextBox 34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3B</a:t>
                </a:r>
                <a:endParaRPr/>
              </a:p>
            </p:txBody>
          </p:sp>
        </p:grpSp>
        <p:grpSp>
          <p:nvGrpSpPr>
            <p:cNvPr id="2116847467" name="Group 35"/>
            <p:cNvGrpSpPr/>
            <p:nvPr/>
          </p:nvGrpSpPr>
          <p:grpSpPr bwMode="auto">
            <a:xfrm rot="0">
              <a:off x="6382022" y="1885523"/>
              <a:ext cx="1036552" cy="871538"/>
              <a:chOff x="0" y="0"/>
              <a:chExt cx="409502" cy="344311"/>
            </a:xfrm>
          </p:grpSpPr>
          <p:sp>
            <p:nvSpPr>
              <p:cNvPr id="36" name="Freeform 36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7" name="TextBox 37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5A</a:t>
                </a:r>
                <a:endParaRPr/>
              </a:p>
            </p:txBody>
          </p:sp>
        </p:grpSp>
        <p:grpSp>
          <p:nvGrpSpPr>
            <p:cNvPr id="2095948480" name="Group 38"/>
            <p:cNvGrpSpPr/>
            <p:nvPr/>
          </p:nvGrpSpPr>
          <p:grpSpPr bwMode="auto">
            <a:xfrm rot="0">
              <a:off x="7447149" y="1885523"/>
              <a:ext cx="1036552" cy="871538"/>
              <a:chOff x="0" y="0"/>
              <a:chExt cx="409502" cy="344311"/>
            </a:xfrm>
          </p:grpSpPr>
          <p:sp>
            <p:nvSpPr>
              <p:cNvPr id="39" name="Freeform 39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0" name="TextBox 40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94</a:t>
                </a:r>
                <a:endParaRPr/>
              </a:p>
            </p:txBody>
          </p:sp>
        </p:grpSp>
        <p:grpSp>
          <p:nvGrpSpPr>
            <p:cNvPr id="2070664397" name="Group 41"/>
            <p:cNvGrpSpPr/>
            <p:nvPr/>
          </p:nvGrpSpPr>
          <p:grpSpPr bwMode="auto">
            <a:xfrm rot="0">
              <a:off x="0" y="1885523"/>
              <a:ext cx="1036552" cy="871538"/>
              <a:chOff x="0" y="0"/>
              <a:chExt cx="409502" cy="344311"/>
            </a:xfrm>
          </p:grpSpPr>
          <p:sp>
            <p:nvSpPr>
              <p:cNvPr id="42" name="Freeform 42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43" name="TextBox 43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02</a:t>
                </a:r>
                <a:endParaRPr/>
              </a:p>
            </p:txBody>
          </p:sp>
        </p:grpSp>
        <p:sp>
          <p:nvSpPr>
            <p:cNvPr id="2077385855" name="AutoShape 44"/>
            <p:cNvSpPr/>
            <p:nvPr/>
          </p:nvSpPr>
          <p:spPr bwMode="auto">
            <a:xfrm flipH="1">
              <a:off x="518275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32334341" name="AutoShape 45"/>
            <p:cNvSpPr/>
            <p:nvPr/>
          </p:nvSpPr>
          <p:spPr bwMode="auto">
            <a:xfrm flipH="1">
              <a:off x="1583402" y="871537"/>
              <a:ext cx="1060758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61952159" name="AutoShape 46"/>
            <p:cNvSpPr/>
            <p:nvPr/>
          </p:nvSpPr>
          <p:spPr bwMode="auto">
            <a:xfrm flipH="1">
              <a:off x="2644160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467780391" name="AutoShape 47"/>
            <p:cNvSpPr/>
            <p:nvPr/>
          </p:nvSpPr>
          <p:spPr bwMode="auto">
            <a:xfrm>
              <a:off x="4774412" y="871537"/>
              <a:ext cx="1060758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197325064" name="AutoShape 48"/>
            <p:cNvSpPr/>
            <p:nvPr/>
          </p:nvSpPr>
          <p:spPr bwMode="auto">
            <a:xfrm>
              <a:off x="5835171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631401943" name="AutoShape 49"/>
            <p:cNvSpPr/>
            <p:nvPr/>
          </p:nvSpPr>
          <p:spPr bwMode="auto">
            <a:xfrm>
              <a:off x="6900298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6003449" name="Freeform 2"/>
          <p:cNvSpPr/>
          <p:nvPr/>
        </p:nvSpPr>
        <p:spPr bwMode="auto">
          <a:xfrm rot="5400000" flipH="0" flipV="0">
            <a:off x="989769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19507702" name="Freeform 3"/>
          <p:cNvSpPr/>
          <p:nvPr/>
        </p:nvSpPr>
        <p:spPr bwMode="auto">
          <a:xfrm rot="5400000" flipH="0" flipV="0">
            <a:off x="1787474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38040553" name="Freeform 4"/>
          <p:cNvSpPr/>
          <p:nvPr/>
        </p:nvSpPr>
        <p:spPr bwMode="auto">
          <a:xfrm rot="5400000" flipH="0" flipV="0">
            <a:off x="258493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76983773" name="Freeform 5"/>
          <p:cNvSpPr/>
          <p:nvPr/>
        </p:nvSpPr>
        <p:spPr bwMode="auto">
          <a:xfrm rot="5400000" flipH="0" flipV="0">
            <a:off x="338263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692075231" name="Freeform 6"/>
          <p:cNvSpPr/>
          <p:nvPr/>
        </p:nvSpPr>
        <p:spPr bwMode="auto">
          <a:xfrm rot="5400000" flipH="0" flipV="0">
            <a:off x="596728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00813302" name="Freeform 7"/>
          <p:cNvSpPr/>
          <p:nvPr/>
        </p:nvSpPr>
        <p:spPr bwMode="auto">
          <a:xfrm rot="5400000" flipH="0" flipV="0">
            <a:off x="676499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667431727" name="AutoShape 8"/>
          <p:cNvSpPr/>
          <p:nvPr/>
        </p:nvSpPr>
        <p:spPr bwMode="auto">
          <a:xfrm flipH="1">
            <a:off x="1684676" y="2870735"/>
            <a:ext cx="0" cy="253870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653161869" name="AutoShape 9"/>
          <p:cNvSpPr/>
          <p:nvPr/>
        </p:nvSpPr>
        <p:spPr bwMode="auto">
          <a:xfrm flipH="1" flipV="1">
            <a:off x="4350142" y="1731987"/>
            <a:ext cx="1875097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59666786" name="AutoShape 10"/>
          <p:cNvSpPr/>
          <p:nvPr/>
        </p:nvSpPr>
        <p:spPr bwMode="auto">
          <a:xfrm>
            <a:off x="2506193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201333911" name="Freeform 11"/>
          <p:cNvSpPr/>
          <p:nvPr/>
        </p:nvSpPr>
        <p:spPr bwMode="auto">
          <a:xfrm rot="-5400000" flipH="0" flipV="0">
            <a:off x="5233025" y="616252"/>
            <a:ext cx="418866" cy="4927832"/>
          </a:xfrm>
          <a:custGeom>
            <a:avLst/>
            <a:gdLst/>
            <a:ahLst/>
            <a:cxnLst/>
            <a:rect l="l" t="t" r="r" b="b"/>
            <a:pathLst>
              <a:path w="418866" h="4927832" fill="norm" stroke="1" extrusionOk="0">
                <a:moveTo>
                  <a:pt x="0" y="0"/>
                </a:moveTo>
                <a:lnTo>
                  <a:pt x="418866" y="0"/>
                </a:lnTo>
                <a:lnTo>
                  <a:pt x="418866" y="4927832"/>
                </a:lnTo>
                <a:lnTo>
                  <a:pt x="0" y="4927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905417899" name="TextBox 12"/>
          <p:cNvSpPr txBox="1"/>
          <p:nvPr/>
        </p:nvSpPr>
        <p:spPr bwMode="auto">
          <a:xfrm rot="0">
            <a:off x="8840554" y="1113496"/>
            <a:ext cx="2506590" cy="122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 Bold Italics"/>
              </a:rPr>
              <a:t>IPv6-Header</a:t>
            </a:r>
            <a:endParaRPr sz="1600"/>
          </a:p>
          <a:p>
            <a:pPr algn="ctr">
              <a:lnSpc>
                <a:spcPts val="3220"/>
              </a:lnSpc>
            </a:pPr>
            <a:r>
              <a:rPr sz="2200" b="1" i="1" lang="en-US">
                <a:solidFill>
                  <a:srgbClr val="000000"/>
                </a:solidFill>
                <a:latin typeface="IBM Plex Sans Bold Italics"/>
              </a:rPr>
              <a:t>Hop-by-Hop-Optionen - </a:t>
            </a:r>
            <a:r>
              <a:rPr sz="2200" b="1" i="1" lang="en-US">
                <a:solidFill>
                  <a:srgbClr val="000000"/>
                </a:solidFill>
                <a:latin typeface="IBM Plex Sans Bold Italics"/>
              </a:rPr>
              <a:t>N Bytes</a:t>
            </a:r>
          </a:p>
        </p:txBody>
      </p:sp>
      <p:sp>
        <p:nvSpPr>
          <p:cNvPr id="1855594147" name="TextBox 13"/>
          <p:cNvSpPr txBox="1"/>
          <p:nvPr/>
        </p:nvSpPr>
        <p:spPr bwMode="auto">
          <a:xfrm rot="0" flipH="0" flipV="0">
            <a:off x="3726313" y="3381700"/>
            <a:ext cx="3287824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Option</a:t>
            </a:r>
            <a:endParaRPr/>
          </a:p>
        </p:txBody>
      </p:sp>
      <p:sp>
        <p:nvSpPr>
          <p:cNvPr id="659210542" name="TextBox 14"/>
          <p:cNvSpPr txBox="1"/>
          <p:nvPr/>
        </p:nvSpPr>
        <p:spPr bwMode="auto">
          <a:xfrm rot="0" flipH="0" flipV="0">
            <a:off x="1309634" y="5687569"/>
            <a:ext cx="2858367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Nächste Überschrift</a:t>
            </a:r>
            <a:endParaRPr/>
          </a:p>
        </p:txBody>
      </p:sp>
      <p:sp>
        <p:nvSpPr>
          <p:cNvPr id="204982917" name="TextBox 15"/>
          <p:cNvSpPr txBox="1"/>
          <p:nvPr/>
        </p:nvSpPr>
        <p:spPr bwMode="auto">
          <a:xfrm rot="0" flipH="0" flipV="0">
            <a:off x="2131152" y="4526016"/>
            <a:ext cx="2858367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Länge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6855636" name="Freeform 2"/>
          <p:cNvSpPr/>
          <p:nvPr/>
        </p:nvSpPr>
        <p:spPr bwMode="auto">
          <a:xfrm rot="5400000" flipH="0" flipV="0">
            <a:off x="299336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112511010" name="Freeform 3"/>
          <p:cNvSpPr/>
          <p:nvPr/>
        </p:nvSpPr>
        <p:spPr bwMode="auto">
          <a:xfrm rot="5400000" flipH="0" flipV="0">
            <a:off x="1097042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84715037" name="Freeform 4"/>
          <p:cNvSpPr/>
          <p:nvPr/>
        </p:nvSpPr>
        <p:spPr bwMode="auto">
          <a:xfrm rot="5400000" flipH="0" flipV="0">
            <a:off x="1897141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789937895" name="Freeform 5"/>
          <p:cNvSpPr/>
          <p:nvPr/>
        </p:nvSpPr>
        <p:spPr bwMode="auto">
          <a:xfrm rot="5400000" flipH="0" flipV="0">
            <a:off x="2694847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59288515" name="Freeform 6"/>
          <p:cNvSpPr/>
          <p:nvPr/>
        </p:nvSpPr>
        <p:spPr bwMode="auto">
          <a:xfrm rot="5400000" flipH="0" flipV="0">
            <a:off x="3492302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93867596" name="Freeform 7"/>
          <p:cNvSpPr/>
          <p:nvPr/>
        </p:nvSpPr>
        <p:spPr bwMode="auto">
          <a:xfrm rot="5400000" flipH="0" flipV="0">
            <a:off x="4290007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71888424" name="Freeform 8"/>
          <p:cNvSpPr/>
          <p:nvPr/>
        </p:nvSpPr>
        <p:spPr bwMode="auto">
          <a:xfrm rot="5400000" flipH="0" flipV="0">
            <a:off x="6874658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87318958" name="Freeform 9"/>
          <p:cNvSpPr/>
          <p:nvPr/>
        </p:nvSpPr>
        <p:spPr bwMode="auto">
          <a:xfrm rot="5400000" flipH="0" flipV="0">
            <a:off x="7672363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58189142" name="AutoShape 10"/>
          <p:cNvSpPr/>
          <p:nvPr/>
        </p:nvSpPr>
        <p:spPr bwMode="auto">
          <a:xfrm>
            <a:off x="1010912" y="2870735"/>
            <a:ext cx="0" cy="217648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2035318131" name="AutoShape 11"/>
          <p:cNvSpPr/>
          <p:nvPr/>
        </p:nvSpPr>
        <p:spPr bwMode="auto">
          <a:xfrm flipH="1" flipV="1">
            <a:off x="5257515" y="1731987"/>
            <a:ext cx="1875097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434826677" name="AutoShape 12"/>
          <p:cNvSpPr/>
          <p:nvPr/>
        </p:nvSpPr>
        <p:spPr bwMode="auto">
          <a:xfrm>
            <a:off x="1832429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972898078" name="Freeform 13"/>
          <p:cNvSpPr/>
          <p:nvPr/>
        </p:nvSpPr>
        <p:spPr bwMode="auto">
          <a:xfrm rot="-5400000" flipH="0" flipV="0">
            <a:off x="6140398" y="616252"/>
            <a:ext cx="418866" cy="4927832"/>
          </a:xfrm>
          <a:custGeom>
            <a:avLst/>
            <a:gdLst/>
            <a:ahLst/>
            <a:cxnLst/>
            <a:rect l="l" t="t" r="r" b="b"/>
            <a:pathLst>
              <a:path w="418866" h="4927832" fill="norm" stroke="1" extrusionOk="0">
                <a:moveTo>
                  <a:pt x="0" y="0"/>
                </a:moveTo>
                <a:lnTo>
                  <a:pt x="418866" y="0"/>
                </a:lnTo>
                <a:lnTo>
                  <a:pt x="418866" y="4927832"/>
                </a:lnTo>
                <a:lnTo>
                  <a:pt x="0" y="4927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740820845" name="TextBox 14"/>
          <p:cNvSpPr txBox="1"/>
          <p:nvPr/>
        </p:nvSpPr>
        <p:spPr bwMode="auto">
          <a:xfrm rot="0">
            <a:off x="9195478" y="1113497"/>
            <a:ext cx="2506231" cy="118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2300" b="1" i="1" lang="en-US">
                <a:solidFill>
                  <a:srgbClr val="000000"/>
                </a:solidFill>
                <a:latin typeface="IBM Plex Sans Bold Italics"/>
              </a:rPr>
              <a:t>IPv6-Header</a:t>
            </a:r>
            <a:endParaRPr/>
          </a:p>
          <a:p>
            <a:pPr algn="ctr">
              <a:lnSpc>
                <a:spcPts val="3220"/>
              </a:lnSpc>
            </a:pPr>
            <a:r>
              <a:rPr sz="2300" b="1" i="1" lang="en-US">
                <a:solidFill>
                  <a:srgbClr val="000000"/>
                </a:solidFill>
                <a:latin typeface="IBM Plex Sans Bold Italics"/>
              </a:rPr>
              <a:t>Routing-Option - </a:t>
            </a:r>
            <a:r>
              <a:rPr sz="2300" b="1" i="1" lang="en-US">
                <a:solidFill>
                  <a:srgbClr val="000000"/>
                </a:solidFill>
                <a:latin typeface="IBM Plex Sans Bold Italics"/>
              </a:rPr>
              <a:t>N Bytes</a:t>
            </a:r>
          </a:p>
        </p:txBody>
      </p:sp>
      <p:sp>
        <p:nvSpPr>
          <p:cNvPr id="1693240014" name="TextBox 15"/>
          <p:cNvSpPr txBox="1"/>
          <p:nvPr/>
        </p:nvSpPr>
        <p:spPr bwMode="auto">
          <a:xfrm rot="0" flipH="0" flipV="0">
            <a:off x="4984913" y="3381700"/>
            <a:ext cx="313026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Option</a:t>
            </a:r>
            <a:endParaRPr/>
          </a:p>
        </p:txBody>
      </p:sp>
      <p:sp>
        <p:nvSpPr>
          <p:cNvPr id="1578349752" name="TextBox 16"/>
          <p:cNvSpPr txBox="1"/>
          <p:nvPr/>
        </p:nvSpPr>
        <p:spPr bwMode="auto">
          <a:xfrm rot="0">
            <a:off x="171450" y="5142465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Nächste Überschrift</a:t>
            </a:r>
            <a:endParaRPr sz="1200"/>
          </a:p>
        </p:txBody>
      </p:sp>
      <p:sp>
        <p:nvSpPr>
          <p:cNvPr id="755572321" name="TextBox 17"/>
          <p:cNvSpPr txBox="1"/>
          <p:nvPr/>
        </p:nvSpPr>
        <p:spPr bwMode="auto">
          <a:xfrm rot="0">
            <a:off x="992967" y="4343136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Länge</a:t>
            </a:r>
            <a:endParaRPr sz="1200"/>
          </a:p>
        </p:txBody>
      </p:sp>
      <p:sp>
        <p:nvSpPr>
          <p:cNvPr id="2067157611" name="AutoShape 18"/>
          <p:cNvSpPr/>
          <p:nvPr/>
        </p:nvSpPr>
        <p:spPr bwMode="auto">
          <a:xfrm flipH="1">
            <a:off x="2612360" y="2870735"/>
            <a:ext cx="0" cy="299971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01695540" name="AutoShape 19"/>
          <p:cNvSpPr/>
          <p:nvPr/>
        </p:nvSpPr>
        <p:spPr bwMode="auto">
          <a:xfrm>
            <a:off x="3433877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898811227" name="TextBox 20"/>
          <p:cNvSpPr txBox="1"/>
          <p:nvPr/>
        </p:nvSpPr>
        <p:spPr bwMode="auto">
          <a:xfrm rot="0">
            <a:off x="1772897" y="5965699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Typ</a:t>
            </a:r>
            <a:endParaRPr sz="1200"/>
          </a:p>
        </p:txBody>
      </p:sp>
      <p:sp>
        <p:nvSpPr>
          <p:cNvPr id="340285442" name="TextBox 21"/>
          <p:cNvSpPr txBox="1"/>
          <p:nvPr/>
        </p:nvSpPr>
        <p:spPr bwMode="auto">
          <a:xfrm rot="0">
            <a:off x="2594415" y="4343136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Segment</a:t>
            </a:r>
            <a:endParaRPr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2057621" name="Freeform 2"/>
          <p:cNvSpPr/>
          <p:nvPr/>
        </p:nvSpPr>
        <p:spPr bwMode="auto">
          <a:xfrm rot="5400000" flipH="0" flipV="0">
            <a:off x="1293489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39185192" name="Freeform 3"/>
          <p:cNvSpPr/>
          <p:nvPr/>
        </p:nvSpPr>
        <p:spPr bwMode="auto">
          <a:xfrm rot="5400000" flipH="0" flipV="0">
            <a:off x="2091194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70948996" name="Freeform 4"/>
          <p:cNvSpPr/>
          <p:nvPr/>
        </p:nvSpPr>
        <p:spPr bwMode="auto">
          <a:xfrm rot="5400000" flipH="0" flipV="0">
            <a:off x="2891294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63791336" name="Freeform 5"/>
          <p:cNvSpPr/>
          <p:nvPr/>
        </p:nvSpPr>
        <p:spPr bwMode="auto">
          <a:xfrm rot="5400000" flipH="0" flipV="0">
            <a:off x="3688999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705628478" name="Freeform 6"/>
          <p:cNvSpPr/>
          <p:nvPr/>
        </p:nvSpPr>
        <p:spPr bwMode="auto">
          <a:xfrm rot="5400000" flipH="0" flipV="0">
            <a:off x="4486455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02888567" name="Freeform 7"/>
          <p:cNvSpPr/>
          <p:nvPr/>
        </p:nvSpPr>
        <p:spPr bwMode="auto">
          <a:xfrm rot="5400000" flipH="0" flipV="0">
            <a:off x="5284160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356158639" name="Freeform 8"/>
          <p:cNvSpPr/>
          <p:nvPr/>
        </p:nvSpPr>
        <p:spPr bwMode="auto">
          <a:xfrm rot="5400000" flipH="0" flipV="0">
            <a:off x="6084260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13205479" name="Freeform 9"/>
          <p:cNvSpPr/>
          <p:nvPr/>
        </p:nvSpPr>
        <p:spPr bwMode="auto">
          <a:xfrm rot="5400000" flipH="0" flipV="0">
            <a:off x="6881965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366074783" name="AutoShape 10"/>
          <p:cNvSpPr/>
          <p:nvPr/>
        </p:nvSpPr>
        <p:spPr bwMode="auto">
          <a:xfrm>
            <a:off x="2005065" y="2425020"/>
            <a:ext cx="0" cy="217648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391408172" name="AutoShape 11"/>
          <p:cNvSpPr/>
          <p:nvPr/>
        </p:nvSpPr>
        <p:spPr bwMode="auto">
          <a:xfrm>
            <a:off x="2826582" y="2425020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501511203" name="Freeform 12"/>
          <p:cNvSpPr/>
          <p:nvPr/>
        </p:nvSpPr>
        <p:spPr bwMode="auto">
          <a:xfrm rot="-5400000" flipH="0" flipV="0">
            <a:off x="6318119" y="986969"/>
            <a:ext cx="267179" cy="3143282"/>
          </a:xfrm>
          <a:custGeom>
            <a:avLst/>
            <a:gdLst/>
            <a:ahLst/>
            <a:cxnLst/>
            <a:rect l="l" t="t" r="r" b="b"/>
            <a:pathLst>
              <a:path w="267179" h="3143282" fill="norm" stroke="1" extrusionOk="0">
                <a:moveTo>
                  <a:pt x="0" y="0"/>
                </a:moveTo>
                <a:lnTo>
                  <a:pt x="267179" y="0"/>
                </a:lnTo>
                <a:lnTo>
                  <a:pt x="267179" y="3143282"/>
                </a:lnTo>
                <a:lnTo>
                  <a:pt x="0" y="31432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269819968" name="TextBox 13"/>
          <p:cNvSpPr txBox="1"/>
          <p:nvPr/>
        </p:nvSpPr>
        <p:spPr bwMode="auto">
          <a:xfrm rot="0">
            <a:off x="8520165" y="667781"/>
            <a:ext cx="2507310" cy="122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IPv6-Header</a:t>
            </a:r>
            <a:endParaRPr sz="1200"/>
          </a:p>
          <a:p>
            <a:pPr algn="ctr">
              <a:lnSpc>
                <a:spcPts val="3220"/>
              </a:lnSpc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Fragmentierungsoption - </a:t>
            </a: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8 Bytes</a:t>
            </a:r>
          </a:p>
        </p:txBody>
      </p:sp>
      <p:sp>
        <p:nvSpPr>
          <p:cNvPr id="326383263" name="TextBox 14"/>
          <p:cNvSpPr txBox="1"/>
          <p:nvPr/>
        </p:nvSpPr>
        <p:spPr bwMode="auto">
          <a:xfrm rot="0" flipH="0" flipV="0">
            <a:off x="5181361" y="2786117"/>
            <a:ext cx="2777949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Identifizierung</a:t>
            </a:r>
            <a:endParaRPr sz="1200"/>
          </a:p>
        </p:txBody>
      </p:sp>
      <p:sp>
        <p:nvSpPr>
          <p:cNvPr id="2052771362" name="TextBox 15"/>
          <p:cNvSpPr txBox="1"/>
          <p:nvPr/>
        </p:nvSpPr>
        <p:spPr bwMode="auto">
          <a:xfrm rot="0" flipH="0" flipV="0">
            <a:off x="1165602" y="4696750"/>
            <a:ext cx="168072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Nächste Überschrift</a:t>
            </a:r>
            <a:endParaRPr sz="1200"/>
          </a:p>
        </p:txBody>
      </p:sp>
      <p:sp>
        <p:nvSpPr>
          <p:cNvPr id="2108363755" name="TextBox 16"/>
          <p:cNvSpPr txBox="1"/>
          <p:nvPr/>
        </p:nvSpPr>
        <p:spPr bwMode="auto">
          <a:xfrm rot="0">
            <a:off x="1987119" y="3897423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Reserviert</a:t>
            </a:r>
            <a:endParaRPr sz="1200"/>
          </a:p>
        </p:txBody>
      </p:sp>
      <p:sp>
        <p:nvSpPr>
          <p:cNvPr id="851659974" name="AutoShape 17"/>
          <p:cNvSpPr/>
          <p:nvPr/>
        </p:nvSpPr>
        <p:spPr bwMode="auto">
          <a:xfrm flipH="1">
            <a:off x="3588569" y="2425020"/>
            <a:ext cx="17944" cy="263749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877664705" name="AutoShape 18"/>
          <p:cNvSpPr/>
          <p:nvPr/>
        </p:nvSpPr>
        <p:spPr bwMode="auto">
          <a:xfrm>
            <a:off x="4428030" y="2425020"/>
            <a:ext cx="0" cy="427773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05875953" name="TextBox 19"/>
          <p:cNvSpPr txBox="1"/>
          <p:nvPr/>
        </p:nvSpPr>
        <p:spPr bwMode="auto">
          <a:xfrm rot="0" flipH="0" flipV="0">
            <a:off x="2032890" y="5157923"/>
            <a:ext cx="3113154" cy="112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Versatz - 13 Bits</a:t>
            </a:r>
            <a:endParaRPr sz="1200"/>
          </a:p>
          <a:p>
            <a:pPr algn="ctr">
              <a:lnSpc>
                <a:spcPts val="2939"/>
              </a:lnSpc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Reserviert - </a:t>
            </a:r>
            <a:r>
              <a:rPr sz="1600" lang="en-US">
                <a:solidFill>
                  <a:srgbClr val="000000"/>
                </a:solidFill>
                <a:latin typeface="IBM Plex Sans"/>
              </a:rPr>
              <a:t>2 Bits</a:t>
            </a:r>
          </a:p>
          <a:p>
            <a:pPr algn="ctr">
              <a:lnSpc>
                <a:spcPts val="2939"/>
              </a:lnSpc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M - 1 Bit</a:t>
            </a:r>
          </a:p>
        </p:txBody>
      </p:sp>
      <p:sp>
        <p:nvSpPr>
          <p:cNvPr id="2105523813" name="AutoShape 20"/>
          <p:cNvSpPr/>
          <p:nvPr/>
        </p:nvSpPr>
        <p:spPr bwMode="auto">
          <a:xfrm flipH="1">
            <a:off x="3606513" y="2833743"/>
            <a:ext cx="821518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9094623" name="Freeform 2"/>
          <p:cNvSpPr/>
          <p:nvPr/>
        </p:nvSpPr>
        <p:spPr bwMode="auto">
          <a:xfrm rot="5400000" flipH="0" flipV="0">
            <a:off x="-107724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388389354" name="Freeform 3"/>
          <p:cNvSpPr/>
          <p:nvPr/>
        </p:nvSpPr>
        <p:spPr bwMode="auto">
          <a:xfrm rot="5400000" flipH="0" flipV="0">
            <a:off x="54402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64158428" name="Freeform 4"/>
          <p:cNvSpPr/>
          <p:nvPr/>
        </p:nvSpPr>
        <p:spPr bwMode="auto">
          <a:xfrm rot="5400000" flipH="0" flipV="0">
            <a:off x="1193347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37552644" name="Freeform 5"/>
          <p:cNvSpPr/>
          <p:nvPr/>
        </p:nvSpPr>
        <p:spPr bwMode="auto">
          <a:xfrm rot="5400000" flipH="0" flipV="0">
            <a:off x="1845097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19" y="0"/>
                </a:lnTo>
                <a:lnTo>
                  <a:pt x="1135519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73112069" name="Freeform 6"/>
          <p:cNvSpPr/>
          <p:nvPr/>
        </p:nvSpPr>
        <p:spPr bwMode="auto">
          <a:xfrm rot="5400000" flipH="0" flipV="0">
            <a:off x="2498803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37916384" name="Freeform 7"/>
          <p:cNvSpPr/>
          <p:nvPr/>
        </p:nvSpPr>
        <p:spPr bwMode="auto">
          <a:xfrm rot="5400000" flipH="0" flipV="0">
            <a:off x="3150552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317609216" name="Freeform 8"/>
          <p:cNvSpPr/>
          <p:nvPr/>
        </p:nvSpPr>
        <p:spPr bwMode="auto">
          <a:xfrm rot="5400000" flipH="0" flipV="0">
            <a:off x="3802098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19" y="0"/>
                </a:lnTo>
                <a:lnTo>
                  <a:pt x="1135519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28319885" name="Freeform 9"/>
          <p:cNvSpPr/>
          <p:nvPr/>
        </p:nvSpPr>
        <p:spPr bwMode="auto">
          <a:xfrm rot="5400000" flipH="0" flipV="0">
            <a:off x="4453847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58071426" name="Freeform 10"/>
          <p:cNvSpPr/>
          <p:nvPr/>
        </p:nvSpPr>
        <p:spPr bwMode="auto">
          <a:xfrm rot="5400000" flipH="0" flipV="0">
            <a:off x="510622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58331225" name="Freeform 11"/>
          <p:cNvSpPr/>
          <p:nvPr/>
        </p:nvSpPr>
        <p:spPr bwMode="auto">
          <a:xfrm rot="5400000" flipH="0" flipV="0">
            <a:off x="5757974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62935675" name="Freeform 12"/>
          <p:cNvSpPr/>
          <p:nvPr/>
        </p:nvSpPr>
        <p:spPr bwMode="auto">
          <a:xfrm rot="5400000" flipH="0" flipV="0">
            <a:off x="6411680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52080343" name="Freeform 13"/>
          <p:cNvSpPr/>
          <p:nvPr/>
        </p:nvSpPr>
        <p:spPr bwMode="auto">
          <a:xfrm rot="5400000" flipH="0" flipV="0">
            <a:off x="7063430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47020854" name="Freeform 14"/>
          <p:cNvSpPr/>
          <p:nvPr/>
        </p:nvSpPr>
        <p:spPr bwMode="auto">
          <a:xfrm rot="5400000" flipH="0" flipV="0">
            <a:off x="771497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52212747" name="Freeform 15"/>
          <p:cNvSpPr/>
          <p:nvPr/>
        </p:nvSpPr>
        <p:spPr bwMode="auto">
          <a:xfrm rot="5400000" flipH="0" flipV="0">
            <a:off x="836672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86882529" name="Freeform 16"/>
          <p:cNvSpPr/>
          <p:nvPr/>
        </p:nvSpPr>
        <p:spPr bwMode="auto">
          <a:xfrm rot="5400000" flipH="0" flipV="0">
            <a:off x="10478462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64497446" name="Freeform 17"/>
          <p:cNvSpPr/>
          <p:nvPr/>
        </p:nvSpPr>
        <p:spPr bwMode="auto">
          <a:xfrm rot="5400000" flipH="0" flipV="0">
            <a:off x="11130212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68282016" name="AutoShape 18"/>
          <p:cNvSpPr/>
          <p:nvPr/>
        </p:nvSpPr>
        <p:spPr bwMode="auto">
          <a:xfrm>
            <a:off x="460036" y="2966101"/>
            <a:ext cx="0" cy="217648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660437415" name="AutoShape 19"/>
          <p:cNvSpPr/>
          <p:nvPr/>
        </p:nvSpPr>
        <p:spPr bwMode="auto">
          <a:xfrm flipH="1" flipV="1">
            <a:off x="9157208" y="2052514"/>
            <a:ext cx="1532011" cy="0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532122827" name="AutoShape 20"/>
          <p:cNvSpPr/>
          <p:nvPr/>
        </p:nvSpPr>
        <p:spPr bwMode="auto">
          <a:xfrm>
            <a:off x="1135598" y="2966101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96767012" name="Freeform 21"/>
          <p:cNvSpPr/>
          <p:nvPr/>
        </p:nvSpPr>
        <p:spPr bwMode="auto">
          <a:xfrm rot="-5400000" flipH="0" flipV="0">
            <a:off x="9814199" y="1069851"/>
            <a:ext cx="352309" cy="4144808"/>
          </a:xfrm>
          <a:custGeom>
            <a:avLst/>
            <a:gdLst/>
            <a:ahLst/>
            <a:cxnLst/>
            <a:rect l="l" t="t" r="r" b="b"/>
            <a:pathLst>
              <a:path w="352309" h="4144808" fill="norm" stroke="1" extrusionOk="0">
                <a:moveTo>
                  <a:pt x="0" y="0"/>
                </a:moveTo>
                <a:lnTo>
                  <a:pt x="352309" y="0"/>
                </a:lnTo>
                <a:lnTo>
                  <a:pt x="352309" y="4144808"/>
                </a:lnTo>
                <a:lnTo>
                  <a:pt x="0" y="41448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2141689376" name="TextBox 22"/>
          <p:cNvSpPr txBox="1"/>
          <p:nvPr/>
        </p:nvSpPr>
        <p:spPr bwMode="auto">
          <a:xfrm rot="0">
            <a:off x="3270115" y="352549"/>
            <a:ext cx="5652845" cy="818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IPv6-Header</a:t>
            </a:r>
            <a:endParaRPr sz="1200"/>
          </a:p>
          <a:p>
            <a:pPr algn="ctr">
              <a:lnSpc>
                <a:spcPts val="3220"/>
              </a:lnSpc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Authentifizierungsoption - </a:t>
            </a: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N Bytes</a:t>
            </a:r>
          </a:p>
        </p:txBody>
      </p:sp>
      <p:sp>
        <p:nvSpPr>
          <p:cNvPr id="1369325110" name="TextBox 23"/>
          <p:cNvSpPr txBox="1"/>
          <p:nvPr/>
        </p:nvSpPr>
        <p:spPr bwMode="auto">
          <a:xfrm rot="0">
            <a:off x="9150892" y="3412807"/>
            <a:ext cx="1678924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ICV</a:t>
            </a:r>
            <a:endParaRPr/>
          </a:p>
        </p:txBody>
      </p:sp>
      <p:sp>
        <p:nvSpPr>
          <p:cNvPr id="416221459" name="TextBox 24"/>
          <p:cNvSpPr txBox="1"/>
          <p:nvPr/>
        </p:nvSpPr>
        <p:spPr bwMode="auto">
          <a:xfrm rot="0">
            <a:off x="-14639" y="5235487"/>
            <a:ext cx="167964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Nächste Überschrift</a:t>
            </a:r>
            <a:endParaRPr sz="1400"/>
          </a:p>
        </p:txBody>
      </p:sp>
      <p:sp>
        <p:nvSpPr>
          <p:cNvPr id="387631698" name="TextBox 25"/>
          <p:cNvSpPr txBox="1"/>
          <p:nvPr/>
        </p:nvSpPr>
        <p:spPr bwMode="auto">
          <a:xfrm rot="0">
            <a:off x="296136" y="4440809"/>
            <a:ext cx="167964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Länge</a:t>
            </a:r>
            <a:endParaRPr sz="1400"/>
          </a:p>
        </p:txBody>
      </p:sp>
      <p:sp>
        <p:nvSpPr>
          <p:cNvPr id="1725678693" name="AutoShape 26"/>
          <p:cNvSpPr/>
          <p:nvPr/>
        </p:nvSpPr>
        <p:spPr bwMode="auto">
          <a:xfrm flipH="1">
            <a:off x="2436669" y="2966101"/>
            <a:ext cx="0" cy="299971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728736336" name="AutoShape 27"/>
          <p:cNvSpPr/>
          <p:nvPr/>
        </p:nvSpPr>
        <p:spPr bwMode="auto">
          <a:xfrm flipH="1">
            <a:off x="1811872" y="2959716"/>
            <a:ext cx="0" cy="68835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59528543" name="TextBox 28"/>
          <p:cNvSpPr txBox="1"/>
          <p:nvPr/>
        </p:nvSpPr>
        <p:spPr bwMode="auto">
          <a:xfrm rot="0">
            <a:off x="1597206" y="6061065"/>
            <a:ext cx="167964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Reserviert</a:t>
            </a:r>
            <a:endParaRPr sz="1400"/>
          </a:p>
        </p:txBody>
      </p:sp>
      <p:sp>
        <p:nvSpPr>
          <p:cNvPr id="473146974" name="Freeform 29"/>
          <p:cNvSpPr/>
          <p:nvPr/>
        </p:nvSpPr>
        <p:spPr bwMode="auto">
          <a:xfrm rot="-5400000" flipH="0" flipV="0">
            <a:off x="6502702" y="1772598"/>
            <a:ext cx="221744" cy="2608750"/>
          </a:xfrm>
          <a:custGeom>
            <a:avLst/>
            <a:gdLst/>
            <a:ahLst/>
            <a:cxnLst/>
            <a:rect l="l" t="t" r="r" b="b"/>
            <a:pathLst>
              <a:path w="221744" h="2608750" fill="norm" stroke="1" extrusionOk="0">
                <a:moveTo>
                  <a:pt x="0" y="0"/>
                </a:moveTo>
                <a:lnTo>
                  <a:pt x="221744" y="0"/>
                </a:lnTo>
                <a:lnTo>
                  <a:pt x="221744" y="2608750"/>
                </a:lnTo>
                <a:lnTo>
                  <a:pt x="0" y="26087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537273915" name="Freeform 30"/>
          <p:cNvSpPr/>
          <p:nvPr/>
        </p:nvSpPr>
        <p:spPr bwMode="auto">
          <a:xfrm rot="-5400000" flipH="0" flipV="0">
            <a:off x="3893952" y="1772598"/>
            <a:ext cx="221744" cy="2608750"/>
          </a:xfrm>
          <a:custGeom>
            <a:avLst/>
            <a:gdLst/>
            <a:ahLst/>
            <a:cxnLst/>
            <a:rect l="l" t="t" r="r" b="b"/>
            <a:pathLst>
              <a:path w="221744" h="2608750" fill="norm" stroke="1" extrusionOk="0">
                <a:moveTo>
                  <a:pt x="0" y="0"/>
                </a:moveTo>
                <a:lnTo>
                  <a:pt x="221744" y="0"/>
                </a:lnTo>
                <a:lnTo>
                  <a:pt x="221744" y="2608750"/>
                </a:lnTo>
                <a:lnTo>
                  <a:pt x="0" y="26087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2075680335" name="TextBox 31"/>
          <p:cNvSpPr txBox="1"/>
          <p:nvPr/>
        </p:nvSpPr>
        <p:spPr bwMode="auto">
          <a:xfrm rot="0" flipH="0" flipV="0">
            <a:off x="5248295" y="3282314"/>
            <a:ext cx="267037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Sequenz</a:t>
            </a:r>
            <a:endParaRPr/>
          </a:p>
        </p:txBody>
      </p:sp>
      <p:sp>
        <p:nvSpPr>
          <p:cNvPr id="1512481821" name="TextBox 32"/>
          <p:cNvSpPr txBox="1"/>
          <p:nvPr/>
        </p:nvSpPr>
        <p:spPr bwMode="auto">
          <a:xfrm rot="0">
            <a:off x="3165362" y="3282315"/>
            <a:ext cx="1678924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SPI</a:t>
            </a:r>
            <a:endParaRPr/>
          </a:p>
        </p:txBody>
      </p:sp>
      <p:sp>
        <p:nvSpPr>
          <p:cNvPr id="1652701648" name="AutoShape 33"/>
          <p:cNvSpPr/>
          <p:nvPr/>
        </p:nvSpPr>
        <p:spPr bwMode="auto">
          <a:xfrm flipH="1">
            <a:off x="1811872" y="3619500"/>
            <a:ext cx="60098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3469654" name="Freeform 2"/>
          <p:cNvSpPr/>
          <p:nvPr/>
        </p:nvSpPr>
        <p:spPr bwMode="auto">
          <a:xfrm rot="5400000" flipH="0" flipV="0">
            <a:off x="989769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27113570" name="Freeform 3"/>
          <p:cNvSpPr/>
          <p:nvPr/>
        </p:nvSpPr>
        <p:spPr bwMode="auto">
          <a:xfrm rot="5400000" flipH="0" flipV="0">
            <a:off x="1787474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02216041" name="Freeform 4"/>
          <p:cNvSpPr/>
          <p:nvPr/>
        </p:nvSpPr>
        <p:spPr bwMode="auto">
          <a:xfrm rot="5400000" flipH="0" flipV="0">
            <a:off x="258493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34936443" name="Freeform 5"/>
          <p:cNvSpPr/>
          <p:nvPr/>
        </p:nvSpPr>
        <p:spPr bwMode="auto">
          <a:xfrm rot="5400000" flipH="0" flipV="0">
            <a:off x="338263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79089175" name="Freeform 6"/>
          <p:cNvSpPr/>
          <p:nvPr/>
        </p:nvSpPr>
        <p:spPr bwMode="auto">
          <a:xfrm rot="5400000" flipH="0" flipV="0">
            <a:off x="596728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33440427" name="Freeform 7"/>
          <p:cNvSpPr/>
          <p:nvPr/>
        </p:nvSpPr>
        <p:spPr bwMode="auto">
          <a:xfrm rot="5400000" flipH="0" flipV="0">
            <a:off x="676499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352245535" name="AutoShape 8"/>
          <p:cNvSpPr/>
          <p:nvPr/>
        </p:nvSpPr>
        <p:spPr bwMode="auto">
          <a:xfrm flipH="1">
            <a:off x="1684676" y="2870735"/>
            <a:ext cx="0" cy="253870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653291115" name="AutoShape 9"/>
          <p:cNvSpPr/>
          <p:nvPr/>
        </p:nvSpPr>
        <p:spPr bwMode="auto">
          <a:xfrm flipH="1" flipV="1">
            <a:off x="4350142" y="1731987"/>
            <a:ext cx="1875097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11189318" name="AutoShape 10"/>
          <p:cNvSpPr/>
          <p:nvPr/>
        </p:nvSpPr>
        <p:spPr bwMode="auto">
          <a:xfrm>
            <a:off x="2506193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799405947" name="Freeform 11"/>
          <p:cNvSpPr/>
          <p:nvPr/>
        </p:nvSpPr>
        <p:spPr bwMode="auto">
          <a:xfrm rot="-5400000" flipH="0" flipV="0">
            <a:off x="5233025" y="616252"/>
            <a:ext cx="418866" cy="4927832"/>
          </a:xfrm>
          <a:custGeom>
            <a:avLst/>
            <a:gdLst/>
            <a:ahLst/>
            <a:cxnLst/>
            <a:rect l="l" t="t" r="r" b="b"/>
            <a:pathLst>
              <a:path w="418866" h="4927832" fill="norm" stroke="1" extrusionOk="0">
                <a:moveTo>
                  <a:pt x="0" y="0"/>
                </a:moveTo>
                <a:lnTo>
                  <a:pt x="418866" y="0"/>
                </a:lnTo>
                <a:lnTo>
                  <a:pt x="418866" y="4927832"/>
                </a:lnTo>
                <a:lnTo>
                  <a:pt x="0" y="4927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255173929" name="TextBox 12"/>
          <p:cNvSpPr txBox="1"/>
          <p:nvPr/>
        </p:nvSpPr>
        <p:spPr bwMode="auto">
          <a:xfrm rot="0">
            <a:off x="8840554" y="1113496"/>
            <a:ext cx="2507310" cy="122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IPv6-Header</a:t>
            </a:r>
            <a:endParaRPr sz="1200"/>
          </a:p>
          <a:p>
            <a:pPr algn="ctr">
              <a:lnSpc>
                <a:spcPts val="3220"/>
              </a:lnSpc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Zieloption - </a:t>
            </a: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N Bytes</a:t>
            </a:r>
          </a:p>
        </p:txBody>
      </p:sp>
      <p:sp>
        <p:nvSpPr>
          <p:cNvPr id="807868457" name="TextBox 13"/>
          <p:cNvSpPr txBox="1"/>
          <p:nvPr/>
        </p:nvSpPr>
        <p:spPr bwMode="auto">
          <a:xfrm rot="0" flipH="0" flipV="0">
            <a:off x="4265291" y="3381700"/>
            <a:ext cx="251638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Option</a:t>
            </a:r>
            <a:endParaRPr/>
          </a:p>
        </p:txBody>
      </p:sp>
      <p:sp>
        <p:nvSpPr>
          <p:cNvPr id="1254550024" name="TextBox 14"/>
          <p:cNvSpPr txBox="1"/>
          <p:nvPr/>
        </p:nvSpPr>
        <p:spPr bwMode="auto">
          <a:xfrm rot="0" flipH="0" flipV="0">
            <a:off x="1350023" y="5504689"/>
            <a:ext cx="3270916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Nächste Überschrift</a:t>
            </a:r>
            <a:endParaRPr/>
          </a:p>
        </p:txBody>
      </p:sp>
      <p:sp>
        <p:nvSpPr>
          <p:cNvPr id="1953334732" name="TextBox 15"/>
          <p:cNvSpPr txBox="1"/>
          <p:nvPr/>
        </p:nvSpPr>
        <p:spPr bwMode="auto">
          <a:xfrm rot="0" flipH="0" flipV="0">
            <a:off x="2171540" y="4343136"/>
            <a:ext cx="3270916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Länge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820112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55428" y="812598"/>
            <a:ext cx="7768285" cy="52328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9480835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033837" y="1150063"/>
            <a:ext cx="5261233" cy="3863908"/>
          </a:xfrm>
          <a:prstGeom prst="rect">
            <a:avLst/>
          </a:prstGeom>
        </p:spPr>
      </p:pic>
      <p:sp>
        <p:nvSpPr>
          <p:cNvPr id="1152366562" name=""/>
          <p:cNvSpPr/>
          <p:nvPr/>
        </p:nvSpPr>
        <p:spPr bwMode="auto">
          <a:xfrm rot="0" flipH="0" flipV="0">
            <a:off x="3158249" y="911679"/>
            <a:ext cx="6994071" cy="4340677"/>
          </a:xfrm>
          <a:prstGeom prst="rect">
            <a:avLst/>
          </a:prstGeom>
          <a:noFill/>
          <a:ln w="6349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0922285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08651" y="2614649"/>
            <a:ext cx="4760490" cy="1329344"/>
          </a:xfrm>
          <a:prstGeom prst="rect">
            <a:avLst/>
          </a:prstGeom>
        </p:spPr>
      </p:pic>
      <p:sp>
        <p:nvSpPr>
          <p:cNvPr id="1513675494" name=""/>
          <p:cNvSpPr/>
          <p:nvPr/>
        </p:nvSpPr>
        <p:spPr bwMode="auto">
          <a:xfrm rot="0" flipH="0" flipV="0">
            <a:off x="3498428" y="2408464"/>
            <a:ext cx="5225142" cy="1741714"/>
          </a:xfrm>
          <a:prstGeom prst="rect">
            <a:avLst/>
          </a:prstGeom>
          <a:noFill/>
          <a:ln w="6349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ONLYOFFICE/9.0.3.29</Application>
  <PresentationFormat>On-screen Show (4:3)</PresentationFormat>
  <Paragraphs>0</Paragraphs>
  <Slides>35</Slides>
  <Notes>35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 302</dc:title>
  <dc:identifier>DAGtZpLCudY</dc:identifier>
  <cp:lastModifiedBy/>
  <cp:revision>8</cp:revision>
  <dcterms:created xsi:type="dcterms:W3CDTF">2006-08-16T00:00:00Z</dcterms:created>
  <dcterms:modified xsi:type="dcterms:W3CDTF">2025-10-14T12:26:40Z</dcterms:modified>
</cp:coreProperties>
</file>