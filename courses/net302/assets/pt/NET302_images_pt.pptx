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6. Present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5. Sess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4. Tr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3. Ne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twork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2. D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ata Link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1. Phys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ical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7. 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OSI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TCP/IP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ternet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Network </a:t>
            </a:r>
            <a:r>
              <a: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Access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Application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Network Access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Application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IP Layer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MAC Sublayer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Application data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Data field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Header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IP datagram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Frame data field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Header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The frame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Frame Check Sequence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Payload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Applic.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Access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Packet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Payload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Applic.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Access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lang="en-US" sz="1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Packet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lang="en-US" sz="11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Peer-to-peer communication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lvl="1" algn="l">
              <a:lnSpc>
                <a:spcPts val="1959"/>
              </a:lnSpc>
              <a:defRPr/>
            </a:pPr>
            <a:endParaRPr sz="1400"/>
          </a:p>
          <a:p>
            <a:pPr lvl="1" algn="l">
              <a:lnSpc>
                <a:spcPts val="1960"/>
              </a:lnSpc>
              <a:defRPr/>
            </a:pPr>
            <a:r>
              <a:rPr lang="en-US" sz="11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Encapsulation</a:t>
            </a:r>
            <a:endParaRPr sz="1400"/>
          </a:p>
          <a:p>
            <a:pPr lvl="1" algn="l">
              <a:lnSpc>
                <a:spcPts val="1959"/>
              </a:lnSpc>
              <a:defRPr/>
            </a:pPr>
            <a:endParaRPr sz="1400"/>
          </a:p>
          <a:p>
            <a:pPr lvl="1" algn="l">
              <a:lnSpc>
                <a:spcPts val="1960"/>
              </a:lnSpc>
              <a:defRPr/>
            </a:pPr>
            <a:r>
              <a:rPr lang="en-US" sz="11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Decapsulation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lang="en-US" sz="1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Frame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lang="en-US" sz="1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Frame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lang="en-US" sz="1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Binary stream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Class: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Maximum number of subnets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Maximum number of hosts per subnet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Transmitting machine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Receiving machine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Transmitting machine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Receiving machine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Transmitting machine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Receiving machine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Transmitting machine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Receiving machine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2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3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4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5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6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7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8</a:t>
            </a:r>
            <a:r>
              <a:rPr lang="fr-FR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 </a:t>
            </a: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9</a:t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 send the letter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 send the letter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1800" i="1">
                <a:solidFill>
                  <a:srgbClr val="FF5C00"/>
                </a:solidFill>
                <a:latin typeface="IBM Plex Sans Italics"/>
                <a:ea typeface="IBM Plex Sans Italics"/>
                <a:cs typeface="IBM Plex Sans Italics"/>
              </a:rPr>
              <a:t>I receive the letter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Best-effort delivery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Layer interface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(N)/(N + 1)</a:t>
            </a:r>
            <a:endParaRPr sz="1600"/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Service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Layer interface</a:t>
            </a:r>
            <a:endParaRPr sz="1600"/>
          </a:p>
          <a:p>
            <a:pPr algn="l">
              <a:lnSpc>
                <a:spcPct val="10000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(N - 1)/(N)</a:t>
            </a:r>
            <a:endParaRPr sz="1600"/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User of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Provider of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User of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Provider of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Host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Entity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Entity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Host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Upper layers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Lower layers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4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Service primitive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Service primitive 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  <a:defRPr/>
            </a:pPr>
            <a:r>
              <a:rPr lang="en-US" sz="16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(N - 1)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14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Service access interfaces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Layer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System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System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entity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entity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sz="1600" b="1">
                <a:solidFill>
                  <a:srgbClr val="38B6FF"/>
                </a:solidFill>
                <a:latin typeface="IBM Plex Sans Bold"/>
                <a:ea typeface="IBM Plex Sans Bold"/>
                <a:cs typeface="IBM Plex Sans Bold"/>
              </a:rPr>
              <a:t>Service of layer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 sz="1600" b="1">
                <a:solidFill>
                  <a:srgbClr val="FF5C00"/>
                </a:solidFill>
                <a:latin typeface="IBM Plex Sans Bold"/>
                <a:ea typeface="IBM Plex Sans Bold"/>
                <a:cs typeface="IBM Plex Sans Bold"/>
              </a:rPr>
              <a:t>Service of layer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32 bits (4 * 8), or 4 bytes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Manufacturer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Local address: 1 / Unique address: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lang="en-US" sz="18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Broadcast: general 1 / directed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lang="en-US" sz="350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32 bits (4 * 8), or 4 bytes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Server running Routing and Remote Access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lang="en-US" sz="25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Private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lang="en-US" sz="200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sz="20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Company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Gateway 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16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(router or firewall)</a:t>
            </a:r>
            <a:endParaRPr/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Web server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IP address 192.168.1.20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HTTP port: 80</a:t>
            </a:r>
            <a:endParaRPr sz="1400"/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Extranet server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IP address 192.168.1.30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HTTP port: 80</a:t>
            </a:r>
            <a:endParaRPr sz="1400"/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Intranet server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IP address 192.168.1.40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HTTP port: 80</a:t>
            </a:r>
            <a:endParaRPr sz="1400"/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Company computer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192.168.1.201</a:t>
            </a:r>
            <a:endParaRPr sz="1400"/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Company computer</a:t>
            </a:r>
            <a:endParaRPr sz="1400"/>
          </a:p>
          <a:p>
            <a:pPr algn="l">
              <a:lnSpc>
                <a:spcPct val="100000"/>
              </a:lnSpc>
              <a:defRPr/>
            </a:pPr>
            <a:r>
              <a:rPr lang="en-US" sz="1200" i="1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</a:rPr>
              <a:t>192.168.1.202</a:t>
            </a:r>
            <a:endParaRPr sz="1400"/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lang="en-US" sz="1600" b="1" i="1">
                <a:solidFill>
                  <a:srgbClr val="FF5C00"/>
                </a:solidFill>
                <a:latin typeface="IBM Plex Sans Bold Italics"/>
                <a:ea typeface="IBM Plex Sans Bold Italics"/>
                <a:cs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IPv6 header</a:t>
            </a:r>
            <a:endParaRPr sz="1600"/>
          </a:p>
          <a:p>
            <a:pPr algn="ctr">
              <a:lnSpc>
                <a:spcPts val="3220"/>
              </a:lnSpc>
              <a:defRPr/>
            </a:pPr>
            <a:r>
              <a:rPr lang="en-US" sz="22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H</a:t>
            </a:r>
            <a:r>
              <a:rPr lang="en-US" sz="22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op-by-hop options - N bytes</a:t>
            </a:r>
            <a:endParaRPr sz="1600"/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Option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Next header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Length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23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IPv6 header</a:t>
            </a:r>
            <a:endParaRPr/>
          </a:p>
          <a:p>
            <a:pPr algn="ctr">
              <a:lnSpc>
                <a:spcPts val="3220"/>
              </a:lnSpc>
              <a:defRPr/>
            </a:pPr>
            <a:r>
              <a:rPr lang="en-US" sz="23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R</a:t>
            </a:r>
            <a:r>
              <a:rPr lang="en-US" sz="23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outing option - N bytes</a:t>
            </a:r>
            <a:endParaRPr/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Option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Next header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Length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Fragmenta</a:t>
            </a: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tion option - 8 bytes</a:t>
            </a:r>
            <a:endParaRPr sz="1200"/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Identification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Next header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Reserved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Offset - 13 bits</a:t>
            </a:r>
            <a:endParaRPr sz="1200"/>
          </a:p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Reserv</a:t>
            </a: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ed - 2 bits</a:t>
            </a:r>
            <a:endParaRPr sz="1200"/>
          </a:p>
          <a:p>
            <a:pPr algn="ctr">
              <a:lnSpc>
                <a:spcPts val="2939"/>
              </a:lnSpc>
              <a:defRPr/>
            </a:pPr>
            <a:r>
              <a:rPr lang="en-US" sz="16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M - 1 bit</a:t>
            </a:r>
            <a:endParaRPr sz="1200"/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A</a:t>
            </a: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uthentication option - N bytes</a:t>
            </a:r>
            <a:endParaRPr sz="1200"/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Next header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Length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Reserved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Sequence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  <a:defRPr/>
            </a:pP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Destinati</a:t>
            </a:r>
            <a:r>
              <a:rPr lang="en-US" sz="1800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</a:rPr>
              <a:t>on option - N bytes</a:t>
            </a:r>
            <a:endParaRPr sz="1200"/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Option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Next header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</a:rPr>
              <a:t>Length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