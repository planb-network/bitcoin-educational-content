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3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tableStyles" Target="tableStyles.xml"/><Relationship Id="rId4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6690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7553696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70992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7036285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439611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199796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25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893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378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97712F-7D01-5388-A6FA-6409C3F84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0576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7063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307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17691B-247C-9F60-279C-AF11D337E4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1439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3845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454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D83C59-43EC-C83D-9B29-A39F21AC0C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82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0951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088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B5DAC2-E015-8737-053A-BF3B4A89CB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091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326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329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54F781-A25C-2608-828F-0D73AF2CFA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84976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6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0883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CF5C7-4FE7-11F5-0707-CF08DF99AE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84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41163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935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10923-DBEA-F79A-9DE9-A980ACF64B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010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72961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78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5076-5C84-40C4-A631-621184D6B1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618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2982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3273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DAFD0-883C-3A6B-9E02-AED0F58A42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503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964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38971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96C095-0095-BABB-BA02-313AF27DC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91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9463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91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22D52-BF1B-46DE-62F5-392A416348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62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879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4832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25BA69-3E22-3C6D-E985-20CDCA35F6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4652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81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58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E73784-D7AA-77AD-7F7F-65C9D6AD34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546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5645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26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F36EB-6E53-6761-BFD6-C31A56C0C8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36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3540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757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B53322-40DF-D2F6-3606-1126A10AF1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273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16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964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6D7228-7816-C87C-0C37-9EF25B4373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4311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9164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39229-EA08-5FF5-F083-54DCF53470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530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43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787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30BB1-5B68-F1C1-C0A5-AF49718A31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90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374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174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005472-BDDC-8E72-71C2-6BFDE21CFA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372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4783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670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4BA273-BD3A-3B6F-B7CE-69F5AC7B8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94366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626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859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D959BB-0108-C2CF-BF98-322F09672A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278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68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8672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0C352-E68C-65E5-64C1-95525EF8EA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028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54643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216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FED08A-B9D8-C0E9-CD83-9F6DB767C6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741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493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812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2BEE8-8DA9-72F1-A1AA-EB3204DBEA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372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637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077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AAAE26-33B5-5AC0-2664-452D563429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428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47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8485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F8A16-257E-BD41-B658-2835041531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715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038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32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59DD29-E549-6109-1C7F-B0EE789929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787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532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051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9AC59D-0209-76D0-14F5-CAA9CFA50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4318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797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8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452D5D-FC85-88D2-DB2D-92E298925C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901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260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586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B527BF-3F10-AE9F-0F13-005FC3ED64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857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3687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4857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96B25-C19F-F881-C518-C4FC452FF0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4227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90481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037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3DF0C4-BBAC-78E9-9B93-DBF5968B979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09520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878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74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FAC89-6479-6BD1-A36C-236FBBFEB2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8839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3717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065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1F2B6C-C65E-A9ED-A79C-DC47FF3459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29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86462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8942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7E2D1-F653-AC9C-3CB0-A71A2C3330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4443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95479199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369518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6907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066791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5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2359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742818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0461601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226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703630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0810418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39575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86136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80099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3232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560933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10107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025280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039807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5453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4143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1370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674763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168801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344261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36381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107685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065570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719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540980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14243995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168585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39832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6365881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01239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3888910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960323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9610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30357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23776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9360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5413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819776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2267207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531862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894679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5521856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3113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83927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303085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6248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47292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88914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38708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959488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921831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1436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3512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805481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60118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2960480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7034199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9611119" name="Group 2"/>
          <p:cNvGrpSpPr/>
          <p:nvPr/>
        </p:nvGrpSpPr>
        <p:grpSpPr bwMode="auto">
          <a:xfrm rot="0">
            <a:off x="3981359" y="1314359"/>
            <a:ext cx="4229283" cy="422928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619692430" name="Freeform 5"/>
          <p:cNvSpPr/>
          <p:nvPr/>
        </p:nvSpPr>
        <p:spPr bwMode="auto">
          <a:xfrm rot="0" flipH="0" flipV="0">
            <a:off x="5672103" y="6858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6292584" name="Freeform 6"/>
          <p:cNvSpPr/>
          <p:nvPr/>
        </p:nvSpPr>
        <p:spPr bwMode="auto">
          <a:xfrm rot="0" flipH="0" flipV="0">
            <a:off x="3771541" y="188971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56437388" name="Freeform 7"/>
          <p:cNvSpPr/>
          <p:nvPr/>
        </p:nvSpPr>
        <p:spPr bwMode="auto">
          <a:xfrm rot="0" flipH="0" flipV="0">
            <a:off x="4149267" y="417204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262414" name="Freeform 8"/>
          <p:cNvSpPr/>
          <p:nvPr/>
        </p:nvSpPr>
        <p:spPr bwMode="auto">
          <a:xfrm rot="0" flipH="0" flipV="0">
            <a:off x="7135806" y="4274369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2844051" name="Freeform 9"/>
          <p:cNvSpPr/>
          <p:nvPr/>
        </p:nvSpPr>
        <p:spPr bwMode="auto">
          <a:xfrm rot="0" flipH="0" flipV="0">
            <a:off x="7461314" y="205740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457785" name="Freeform 2"/>
          <p:cNvSpPr/>
          <p:nvPr/>
        </p:nvSpPr>
        <p:spPr bwMode="auto">
          <a:xfrm rot="0" flipH="0" flipV="0">
            <a:off x="1264861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43494173" name="Freeform 3"/>
          <p:cNvSpPr/>
          <p:nvPr/>
        </p:nvSpPr>
        <p:spPr bwMode="auto">
          <a:xfrm rot="0" flipH="0" flipV="0">
            <a:off x="412581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59586860" name="Freeform 4"/>
          <p:cNvSpPr/>
          <p:nvPr/>
        </p:nvSpPr>
        <p:spPr bwMode="auto">
          <a:xfrm rot="0" flipH="0" flipV="0">
            <a:off x="6991350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4183088" name="Freeform 5"/>
          <p:cNvSpPr/>
          <p:nvPr/>
        </p:nvSpPr>
        <p:spPr bwMode="auto">
          <a:xfrm rot="0" flipH="0" flipV="0">
            <a:off x="9852304" y="4828522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92358814" name="Freeform 6"/>
          <p:cNvSpPr/>
          <p:nvPr/>
        </p:nvSpPr>
        <p:spPr bwMode="auto">
          <a:xfrm rot="0" flipH="0" flipV="0">
            <a:off x="2659266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94311939" name="Freeform 7"/>
          <p:cNvSpPr/>
          <p:nvPr/>
        </p:nvSpPr>
        <p:spPr bwMode="auto">
          <a:xfrm rot="0" flipH="0" flipV="0">
            <a:off x="8457898" y="274194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54329600" name="Freeform 8"/>
          <p:cNvSpPr/>
          <p:nvPr/>
        </p:nvSpPr>
        <p:spPr bwMode="auto">
          <a:xfrm rot="0" flipH="0" flipV="0">
            <a:off x="5558582" y="657878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7602913" name="AutoShape 9"/>
          <p:cNvSpPr/>
          <p:nvPr/>
        </p:nvSpPr>
        <p:spPr bwMode="auto">
          <a:xfrm flipV="1">
            <a:off x="1802279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02879495" name="AutoShape 10"/>
          <p:cNvSpPr/>
          <p:nvPr/>
        </p:nvSpPr>
        <p:spPr bwMode="auto">
          <a:xfrm flipH="1" flipV="1">
            <a:off x="3196684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27264623" name="AutoShape 11"/>
          <p:cNvSpPr/>
          <p:nvPr/>
        </p:nvSpPr>
        <p:spPr bwMode="auto">
          <a:xfrm flipH="1">
            <a:off x="7528768" y="4113548"/>
            <a:ext cx="1466548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0923966" name="AutoShape 12"/>
          <p:cNvSpPr/>
          <p:nvPr/>
        </p:nvSpPr>
        <p:spPr bwMode="auto">
          <a:xfrm>
            <a:off x="8995316" y="4113548"/>
            <a:ext cx="1394405" cy="7149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77311538" name="AutoShape 13"/>
          <p:cNvSpPr/>
          <p:nvPr/>
        </p:nvSpPr>
        <p:spPr bwMode="auto">
          <a:xfrm>
            <a:off x="6096000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31683538" name="AutoShape 14"/>
          <p:cNvSpPr/>
          <p:nvPr/>
        </p:nvSpPr>
        <p:spPr bwMode="auto">
          <a:xfrm flipH="1">
            <a:off x="3196684" y="2029478"/>
            <a:ext cx="2899316" cy="71247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750763" name="Freeform 2"/>
          <p:cNvSpPr/>
          <p:nvPr/>
        </p:nvSpPr>
        <p:spPr bwMode="auto">
          <a:xfrm rot="0" flipH="0" flipV="0">
            <a:off x="2772127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91444897" name="AutoShape 3"/>
          <p:cNvSpPr/>
          <p:nvPr/>
        </p:nvSpPr>
        <p:spPr bwMode="auto">
          <a:xfrm flipH="1">
            <a:off x="2408151" y="4477673"/>
            <a:ext cx="737569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457731" name="AutoShape 4"/>
          <p:cNvSpPr/>
          <p:nvPr/>
        </p:nvSpPr>
        <p:spPr bwMode="auto">
          <a:xfrm flipV="1">
            <a:off x="330954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04236211" name="Freeform 5"/>
          <p:cNvSpPr/>
          <p:nvPr/>
        </p:nvSpPr>
        <p:spPr bwMode="auto">
          <a:xfrm rot="0" flipH="0" flipV="0">
            <a:off x="4628012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57063500" name="Freeform 6"/>
          <p:cNvSpPr/>
          <p:nvPr/>
        </p:nvSpPr>
        <p:spPr bwMode="auto">
          <a:xfrm rot="0" flipH="0" flipV="0">
            <a:off x="6486525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62948285" name="Freeform 7"/>
          <p:cNvSpPr/>
          <p:nvPr/>
        </p:nvSpPr>
        <p:spPr bwMode="auto">
          <a:xfrm rot="0" flipH="0" flipV="0">
            <a:off x="8345038" y="248485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239829" name="AutoShape 8"/>
          <p:cNvSpPr/>
          <p:nvPr/>
        </p:nvSpPr>
        <p:spPr bwMode="auto">
          <a:xfrm flipV="1">
            <a:off x="5165429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42730916" name="AutoShape 9"/>
          <p:cNvSpPr/>
          <p:nvPr/>
        </p:nvSpPr>
        <p:spPr bwMode="auto">
          <a:xfrm flipV="1">
            <a:off x="7023943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09987890" name="AutoShape 10"/>
          <p:cNvSpPr/>
          <p:nvPr/>
        </p:nvSpPr>
        <p:spPr bwMode="auto">
          <a:xfrm flipV="1">
            <a:off x="8882455" y="3856451"/>
            <a:ext cx="0" cy="62122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718086" name="AutoShape 2"/>
          <p:cNvSpPr/>
          <p:nvPr/>
        </p:nvSpPr>
        <p:spPr bwMode="auto">
          <a:xfrm flipH="1">
            <a:off x="6673808" y="2077866"/>
            <a:ext cx="2670338" cy="111078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17832479" name="Freeform 3"/>
          <p:cNvSpPr/>
          <p:nvPr/>
        </p:nvSpPr>
        <p:spPr bwMode="auto">
          <a:xfrm rot="0" flipH="0" flipV="0">
            <a:off x="2673889" y="1123557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6923074" name="Freeform 4"/>
          <p:cNvSpPr/>
          <p:nvPr/>
        </p:nvSpPr>
        <p:spPr bwMode="auto">
          <a:xfrm rot="0" flipH="0" flipV="0">
            <a:off x="5518192" y="2638466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6" y="0"/>
                </a:lnTo>
                <a:lnTo>
                  <a:pt x="1155616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19539110" name="Freeform 5"/>
          <p:cNvSpPr/>
          <p:nvPr/>
        </p:nvSpPr>
        <p:spPr bwMode="auto">
          <a:xfrm rot="0" flipH="0" flipV="0">
            <a:off x="8834977" y="141827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6405133" name="Freeform 6"/>
          <p:cNvSpPr/>
          <p:nvPr/>
        </p:nvSpPr>
        <p:spPr bwMode="auto">
          <a:xfrm rot="0" flipH="0" flipV="0">
            <a:off x="8297559" y="4477673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9308355" name="Freeform 7"/>
          <p:cNvSpPr/>
          <p:nvPr/>
        </p:nvSpPr>
        <p:spPr bwMode="auto">
          <a:xfrm rot="0" flipH="0" flipV="0">
            <a:off x="1745855" y="4110816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6945578" name="AutoShape 8"/>
          <p:cNvSpPr/>
          <p:nvPr/>
        </p:nvSpPr>
        <p:spPr bwMode="auto">
          <a:xfrm>
            <a:off x="3177160" y="1809357"/>
            <a:ext cx="2341031" cy="129902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47965902" name="AutoShape 9"/>
          <p:cNvSpPr/>
          <p:nvPr/>
        </p:nvSpPr>
        <p:spPr bwMode="auto">
          <a:xfrm flipV="1">
            <a:off x="2210949" y="3636346"/>
            <a:ext cx="3307243" cy="118680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16875934" name="AutoShape 10"/>
          <p:cNvSpPr/>
          <p:nvPr/>
        </p:nvSpPr>
        <p:spPr bwMode="auto">
          <a:xfrm flipH="1" flipV="1">
            <a:off x="6096000" y="3457580"/>
            <a:ext cx="2201559" cy="1371178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670119" name="AutoShape 2"/>
          <p:cNvSpPr/>
          <p:nvPr/>
        </p:nvSpPr>
        <p:spPr bwMode="auto">
          <a:xfrm flipV="1">
            <a:off x="9277150" y="3226680"/>
            <a:ext cx="355966" cy="118385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68124526" name="Freeform 3"/>
          <p:cNvSpPr/>
          <p:nvPr/>
        </p:nvSpPr>
        <p:spPr bwMode="auto">
          <a:xfrm rot="0" flipH="0" flipV="0">
            <a:off x="8533523" y="4410531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51244283" name="AutoShape 4"/>
          <p:cNvSpPr/>
          <p:nvPr/>
        </p:nvSpPr>
        <p:spPr bwMode="auto">
          <a:xfrm flipH="1" flipV="1">
            <a:off x="2890092" y="2843670"/>
            <a:ext cx="5643431" cy="205679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62769812" name="Freeform 5"/>
          <p:cNvSpPr/>
          <p:nvPr/>
        </p:nvSpPr>
        <p:spPr bwMode="auto">
          <a:xfrm rot="0" flipH="0" flipV="0">
            <a:off x="1815256" y="1962004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89956638" name="AutoShape 6"/>
          <p:cNvSpPr/>
          <p:nvPr/>
        </p:nvSpPr>
        <p:spPr bwMode="auto">
          <a:xfrm flipV="1">
            <a:off x="2890092" y="2548555"/>
            <a:ext cx="6411816" cy="91573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07765025" name="Freeform 7"/>
          <p:cNvSpPr/>
          <p:nvPr/>
        </p:nvSpPr>
        <p:spPr bwMode="auto">
          <a:xfrm rot="0" flipH="0" flipV="0">
            <a:off x="3544790" y="468041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0542221" name="AutoShape 8"/>
          <p:cNvSpPr/>
          <p:nvPr/>
        </p:nvSpPr>
        <p:spPr bwMode="auto">
          <a:xfrm flipV="1">
            <a:off x="4619625" y="5125405"/>
            <a:ext cx="3913898" cy="211737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50500603" name="Freeform 9"/>
          <p:cNvSpPr/>
          <p:nvPr/>
        </p:nvSpPr>
        <p:spPr bwMode="auto">
          <a:xfrm rot="0" flipH="0" flipV="0">
            <a:off x="9301908" y="1855080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6" y="0"/>
                </a:lnTo>
                <a:lnTo>
                  <a:pt x="1074836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12446339" name="AutoShape 10"/>
          <p:cNvSpPr/>
          <p:nvPr/>
        </p:nvSpPr>
        <p:spPr bwMode="auto">
          <a:xfrm flipH="1" flipV="1">
            <a:off x="6032044" y="1621553"/>
            <a:ext cx="3269863" cy="789559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8884925" name="Freeform 11"/>
          <p:cNvSpPr/>
          <p:nvPr/>
        </p:nvSpPr>
        <p:spPr bwMode="auto">
          <a:xfrm rot="0" flipH="0" flipV="0">
            <a:off x="4957210" y="805985"/>
            <a:ext cx="1074836" cy="1371600"/>
          </a:xfrm>
          <a:custGeom>
            <a:avLst/>
            <a:gdLst/>
            <a:ahLst/>
            <a:cxnLst/>
            <a:rect l="l" t="t" r="r" b="b"/>
            <a:pathLst>
              <a:path w="1074836" h="1371600" fill="norm" stroke="1" extrusionOk="0">
                <a:moveTo>
                  <a:pt x="0" y="0"/>
                </a:moveTo>
                <a:lnTo>
                  <a:pt x="1074835" y="0"/>
                </a:lnTo>
                <a:lnTo>
                  <a:pt x="1074835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4116923" name="AutoShape 12"/>
          <p:cNvSpPr/>
          <p:nvPr/>
        </p:nvSpPr>
        <p:spPr bwMode="auto">
          <a:xfrm flipH="1">
            <a:off x="2890092" y="1689517"/>
            <a:ext cx="2067118" cy="7605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1033424" name="AutoShape 13"/>
          <p:cNvSpPr/>
          <p:nvPr/>
        </p:nvSpPr>
        <p:spPr bwMode="auto">
          <a:xfrm flipV="1">
            <a:off x="4619625" y="2804620"/>
            <a:ext cx="4682283" cy="2297855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0613641" name="AutoShape 14"/>
          <p:cNvSpPr/>
          <p:nvPr/>
        </p:nvSpPr>
        <p:spPr bwMode="auto">
          <a:xfrm flipH="1" flipV="1">
            <a:off x="6032044" y="2033445"/>
            <a:ext cx="2501478" cy="2521226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81326597" name="AutoShape 15"/>
          <p:cNvSpPr/>
          <p:nvPr/>
        </p:nvSpPr>
        <p:spPr bwMode="auto">
          <a:xfrm flipH="1" flipV="1">
            <a:off x="2789000" y="3333603"/>
            <a:ext cx="856881" cy="1346812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35297147" name="AutoShape 16"/>
          <p:cNvSpPr/>
          <p:nvPr/>
        </p:nvSpPr>
        <p:spPr bwMode="auto">
          <a:xfrm flipV="1">
            <a:off x="4332215" y="2177585"/>
            <a:ext cx="912404" cy="2502831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24432" name="Freeform 3"/>
          <p:cNvSpPr/>
          <p:nvPr/>
        </p:nvSpPr>
        <p:spPr bwMode="auto">
          <a:xfrm rot="0" flipH="0" flipV="0">
            <a:off x="6442562" y="930681"/>
            <a:ext cx="2488632" cy="2271155"/>
          </a:xfrm>
          <a:custGeom>
            <a:avLst/>
            <a:gdLst/>
            <a:ahLst/>
            <a:cxnLst/>
            <a:rect l="l" t="t" r="r" b="b"/>
            <a:pathLst>
              <a:path w="983164" h="897247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850583"/>
                </a:lnTo>
                <a:cubicBezTo>
                  <a:pt x="983164" y="876355"/>
                  <a:pt x="962272" y="897247"/>
                  <a:pt x="936500" y="897247"/>
                </a:cubicBezTo>
                <a:lnTo>
                  <a:pt x="46664" y="897247"/>
                </a:lnTo>
                <a:cubicBezTo>
                  <a:pt x="20892" y="897247"/>
                  <a:pt x="0" y="876355"/>
                  <a:pt x="0" y="850583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20145574" name="TextBox 4"/>
          <p:cNvSpPr txBox="1"/>
          <p:nvPr/>
        </p:nvSpPr>
        <p:spPr bwMode="auto">
          <a:xfrm rot="0" flipH="0" flipV="0">
            <a:off x="6442562" y="834240"/>
            <a:ext cx="2488632" cy="236759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Toepassing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1324146" name="Freeform 6"/>
          <p:cNvSpPr/>
          <p:nvPr/>
        </p:nvSpPr>
        <p:spPr bwMode="auto">
          <a:xfrm rot="0" flipH="0" flipV="0">
            <a:off x="3260803" y="172415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52288215" name="TextBox 7"/>
          <p:cNvSpPr txBox="1"/>
          <p:nvPr/>
        </p:nvSpPr>
        <p:spPr bwMode="auto">
          <a:xfrm rot="0" flipH="0" flipV="0">
            <a:off x="3260803" y="162771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6.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Presentatie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41545112" name="Freeform 9"/>
          <p:cNvSpPr/>
          <p:nvPr/>
        </p:nvSpPr>
        <p:spPr bwMode="auto">
          <a:xfrm rot="0" flipH="0" flipV="0">
            <a:off x="3260803" y="251313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79487277" name="TextBox 10"/>
          <p:cNvSpPr txBox="1"/>
          <p:nvPr/>
        </p:nvSpPr>
        <p:spPr bwMode="auto">
          <a:xfrm rot="0" flipH="0" flipV="0">
            <a:off x="3260803" y="241669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5.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Sessie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13977742" name="Freeform 12"/>
          <p:cNvSpPr/>
          <p:nvPr/>
        </p:nvSpPr>
        <p:spPr bwMode="auto">
          <a:xfrm rot="0" flipH="0" flipV="0">
            <a:off x="3260803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68657571" name="TextBox 13"/>
          <p:cNvSpPr txBox="1"/>
          <p:nvPr/>
        </p:nvSpPr>
        <p:spPr bwMode="auto">
          <a:xfrm rot="0" flipH="0" flipV="0">
            <a:off x="3260803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4.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9911514" name="Freeform 15"/>
          <p:cNvSpPr/>
          <p:nvPr/>
        </p:nvSpPr>
        <p:spPr bwMode="auto">
          <a:xfrm rot="0" flipH="0" flipV="0">
            <a:off x="3260803" y="4095583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490740" name="TextBox 16"/>
          <p:cNvSpPr txBox="1"/>
          <p:nvPr/>
        </p:nvSpPr>
        <p:spPr bwMode="auto">
          <a:xfrm rot="0" flipH="0" flipV="0">
            <a:off x="3260803" y="3999143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3.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Netwerk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7277017" name="Freeform 18"/>
          <p:cNvSpPr/>
          <p:nvPr/>
        </p:nvSpPr>
        <p:spPr bwMode="auto">
          <a:xfrm rot="0" flipH="0" flipV="0">
            <a:off x="3260803" y="4889062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0105189" name="TextBox 19"/>
          <p:cNvSpPr txBox="1"/>
          <p:nvPr/>
        </p:nvSpPr>
        <p:spPr bwMode="auto">
          <a:xfrm rot="0" flipH="0" flipV="0">
            <a:off x="3260803" y="4792622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2.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Gegevenskoppeling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2318653" name="Freeform 21"/>
          <p:cNvSpPr/>
          <p:nvPr/>
        </p:nvSpPr>
        <p:spPr bwMode="auto">
          <a:xfrm rot="0" flipH="0" flipV="0">
            <a:off x="3260803" y="567803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46128780" name="TextBox 22"/>
          <p:cNvSpPr txBox="1"/>
          <p:nvPr/>
        </p:nvSpPr>
        <p:spPr bwMode="auto">
          <a:xfrm rot="0" flipH="0" flipV="0">
            <a:off x="3260803" y="5581595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1.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Fysiek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8499909" name="Freeform 24"/>
          <p:cNvSpPr/>
          <p:nvPr/>
        </p:nvSpPr>
        <p:spPr bwMode="auto">
          <a:xfrm rot="0" flipH="0" flipV="0">
            <a:off x="3260803" y="93068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18281746" name="TextBox 25"/>
          <p:cNvSpPr txBox="1"/>
          <p:nvPr/>
        </p:nvSpPr>
        <p:spPr bwMode="auto">
          <a:xfrm rot="0" flipH="0" flipV="0">
            <a:off x="3260803" y="83424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7.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Toepassing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05924355" name="TextBox 26"/>
          <p:cNvSpPr txBox="1"/>
          <p:nvPr/>
        </p:nvSpPr>
        <p:spPr bwMode="auto">
          <a:xfrm rot="0" flipH="0" flipV="0">
            <a:off x="2901681" y="265166"/>
            <a:ext cx="3152629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OSI-model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9823957" name="TextBox 27"/>
          <p:cNvSpPr txBox="1"/>
          <p:nvPr/>
        </p:nvSpPr>
        <p:spPr bwMode="auto">
          <a:xfrm rot="0" flipH="0" flipV="0">
            <a:off x="6226771" y="265166"/>
            <a:ext cx="311799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TCP/IP-model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0937598" name="Freeform 29"/>
          <p:cNvSpPr/>
          <p:nvPr/>
        </p:nvSpPr>
        <p:spPr bwMode="auto">
          <a:xfrm rot="0" flipH="0" flipV="0">
            <a:off x="6442562" y="3306610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58407256" name="TextBox 30"/>
          <p:cNvSpPr txBox="1"/>
          <p:nvPr/>
        </p:nvSpPr>
        <p:spPr bwMode="auto">
          <a:xfrm rot="0" flipH="0" flipV="0">
            <a:off x="6442562" y="3210170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Transport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69233654" name="Freeform 32"/>
          <p:cNvSpPr/>
          <p:nvPr/>
        </p:nvSpPr>
        <p:spPr bwMode="auto">
          <a:xfrm rot="0" flipH="0" flipV="0">
            <a:off x="6442562" y="4100089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127203585" name="TextBox 33"/>
          <p:cNvSpPr txBox="1"/>
          <p:nvPr/>
        </p:nvSpPr>
        <p:spPr bwMode="auto">
          <a:xfrm rot="0" flipH="0" flipV="0">
            <a:off x="6442562" y="4003649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Internet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/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18984161" name="Freeform 35"/>
          <p:cNvSpPr/>
          <p:nvPr/>
        </p:nvSpPr>
        <p:spPr bwMode="auto">
          <a:xfrm rot="0" flipH="0" flipV="0">
            <a:off x="6442562" y="4893568"/>
            <a:ext cx="2488632" cy="1473169"/>
          </a:xfrm>
          <a:custGeom>
            <a:avLst/>
            <a:gdLst/>
            <a:ahLst/>
            <a:cxnLst/>
            <a:rect l="l" t="t" r="r" b="b"/>
            <a:pathLst>
              <a:path w="983164" h="581993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535330"/>
                </a:lnTo>
                <a:cubicBezTo>
                  <a:pt x="983164" y="561101"/>
                  <a:pt x="962272" y="581993"/>
                  <a:pt x="936500" y="581993"/>
                </a:cubicBezTo>
                <a:lnTo>
                  <a:pt x="46664" y="581993"/>
                </a:lnTo>
                <a:cubicBezTo>
                  <a:pt x="20892" y="581993"/>
                  <a:pt x="0" y="561101"/>
                  <a:pt x="0" y="535330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65263719" name="TextBox 36"/>
          <p:cNvSpPr txBox="1"/>
          <p:nvPr/>
        </p:nvSpPr>
        <p:spPr bwMode="auto">
          <a:xfrm rot="0" flipH="0" flipV="0">
            <a:off x="6442562" y="4797128"/>
            <a:ext cx="2488632" cy="1569610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Netwerk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Toegang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7395559" name="AutoShape 3"/>
          <p:cNvSpPr/>
          <p:nvPr/>
        </p:nvSpPr>
        <p:spPr bwMode="auto">
          <a:xfrm>
            <a:off x="0" y="3429000"/>
            <a:ext cx="5582330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2175849" name="AutoShape 4"/>
          <p:cNvSpPr/>
          <p:nvPr/>
        </p:nvSpPr>
        <p:spPr bwMode="auto">
          <a:xfrm>
            <a:off x="6697573" y="3429000"/>
            <a:ext cx="5494427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4199782" name="Freeform 5"/>
          <p:cNvSpPr/>
          <p:nvPr/>
        </p:nvSpPr>
        <p:spPr bwMode="auto">
          <a:xfrm rot="0" flipH="0" flipV="0">
            <a:off x="641813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90197632" name="TextBox 6"/>
          <p:cNvSpPr txBox="1"/>
          <p:nvPr/>
        </p:nvSpPr>
        <p:spPr bwMode="auto">
          <a:xfrm rot="0" flipH="0" flipV="0">
            <a:off x="4139930" y="4095409"/>
            <a:ext cx="3957924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Router</a:t>
            </a:r>
            <a:endParaRPr/>
          </a:p>
        </p:txBody>
      </p:sp>
      <p:sp>
        <p:nvSpPr>
          <p:cNvPr id="1459822445" name="Freeform 10"/>
          <p:cNvSpPr/>
          <p:nvPr/>
        </p:nvSpPr>
        <p:spPr bwMode="auto">
          <a:xfrm rot="0" flipH="0" flipV="0">
            <a:off x="3691750" y="2829264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1" y="0"/>
                </a:lnTo>
                <a:lnTo>
                  <a:pt x="1199471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3578612" name="Freeform 11"/>
          <p:cNvSpPr/>
          <p:nvPr/>
        </p:nvSpPr>
        <p:spPr bwMode="auto">
          <a:xfrm rot="0" flipH="0" flipV="0">
            <a:off x="69830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93767173" name="Freeform 12"/>
          <p:cNvSpPr/>
          <p:nvPr/>
        </p:nvSpPr>
        <p:spPr bwMode="auto">
          <a:xfrm rot="0" flipH="0" flipV="0">
            <a:off x="79927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50375428" name="Freeform 13"/>
          <p:cNvSpPr/>
          <p:nvPr/>
        </p:nvSpPr>
        <p:spPr bwMode="auto">
          <a:xfrm rot="0" flipH="0" flipV="0">
            <a:off x="1102166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21373436" name="Freeform 15"/>
          <p:cNvSpPr/>
          <p:nvPr/>
        </p:nvSpPr>
        <p:spPr bwMode="auto">
          <a:xfrm rot="0" flipH="0" flipV="0">
            <a:off x="10012019" y="30861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 fill="norm" stroke="1" extrusionOk="0">
                <a:moveTo>
                  <a:pt x="0" y="0"/>
                </a:moveTo>
                <a:lnTo>
                  <a:pt x="685800" y="0"/>
                </a:lnTo>
                <a:lnTo>
                  <a:pt x="685800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4700620" name="AutoShape 16"/>
          <p:cNvSpPr/>
          <p:nvPr/>
        </p:nvSpPr>
        <p:spPr bwMode="auto">
          <a:xfrm>
            <a:off x="0" y="2762302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23863632" name="AutoShape 17"/>
          <p:cNvSpPr/>
          <p:nvPr/>
        </p:nvSpPr>
        <p:spPr bwMode="auto">
          <a:xfrm>
            <a:off x="-7787" y="4095410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3199379" name="AutoShape 18"/>
          <p:cNvSpPr/>
          <p:nvPr/>
        </p:nvSpPr>
        <p:spPr bwMode="auto">
          <a:xfrm>
            <a:off x="6609670" y="301942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6518846" name="AutoShape 19"/>
          <p:cNvSpPr/>
          <p:nvPr/>
        </p:nvSpPr>
        <p:spPr bwMode="auto">
          <a:xfrm>
            <a:off x="6601884" y="3837895"/>
            <a:ext cx="5582330" cy="0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pic>
        <p:nvPicPr>
          <p:cNvPr id="87325504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58875" y="3086100"/>
            <a:ext cx="621370" cy="642686"/>
          </a:xfrm>
          <a:prstGeom prst="rect">
            <a:avLst/>
          </a:prstGeom>
        </p:spPr>
      </p:pic>
      <p:grpSp>
        <p:nvGrpSpPr>
          <p:cNvPr id="2106664913" name=""/>
          <p:cNvGrpSpPr/>
          <p:nvPr/>
        </p:nvGrpSpPr>
        <p:grpSpPr bwMode="auto">
          <a:xfrm>
            <a:off x="1873591" y="2075866"/>
            <a:ext cx="1838622" cy="1952866"/>
            <a:chOff x="0" y="0"/>
            <a:chExt cx="1838622" cy="1952866"/>
          </a:xfrm>
        </p:grpSpPr>
        <p:sp>
          <p:nvSpPr>
            <p:cNvPr id="1802848257" name="TextBox 7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4000</a:t>
              </a:r>
              <a:endParaRPr/>
            </a:p>
          </p:txBody>
        </p:sp>
        <p:sp>
          <p:nvSpPr>
            <p:cNvPr id="1005215678" name="Freeform 9"/>
            <p:cNvSpPr/>
            <p:nvPr/>
          </p:nvSpPr>
          <p:spPr bwMode="auto">
            <a:xfrm rot="0" flipH="0" flipV="0">
              <a:off x="294837" y="753396"/>
              <a:ext cx="1199470" cy="1199470"/>
            </a:xfrm>
            <a:custGeom>
              <a:avLst/>
              <a:gdLst/>
              <a:ahLst/>
              <a:cxnLst/>
              <a:rect l="l" t="t" r="r" b="b"/>
              <a:pathLst>
                <a:path w="1199470" h="1199470" fill="norm" stroke="1" extrusionOk="0">
                  <a:moveTo>
                    <a:pt x="0" y="0"/>
                  </a:moveTo>
                  <a:lnTo>
                    <a:pt x="1199470" y="0"/>
                  </a:lnTo>
                  <a:lnTo>
                    <a:pt x="1199470" y="1199470"/>
                  </a:lnTo>
                  <a:lnTo>
                    <a:pt x="0" y="1199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grpSp>
        <p:nvGrpSpPr>
          <p:cNvPr id="2138920840" name=""/>
          <p:cNvGrpSpPr/>
          <p:nvPr/>
        </p:nvGrpSpPr>
        <p:grpSpPr bwMode="auto">
          <a:xfrm>
            <a:off x="8483107" y="2333041"/>
            <a:ext cx="1838622" cy="1438857"/>
            <a:chOff x="0" y="0"/>
            <a:chExt cx="1838622" cy="1438857"/>
          </a:xfrm>
        </p:grpSpPr>
        <p:sp>
          <p:nvSpPr>
            <p:cNvPr id="953742224" name="TextBox 8"/>
            <p:cNvSpPr txBox="1"/>
            <p:nvPr/>
          </p:nvSpPr>
          <p:spPr bwMode="auto">
            <a:xfrm rot="0">
              <a:off x="0" y="0"/>
              <a:ext cx="1838623" cy="43878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MTU = 1500</a:t>
              </a:r>
              <a:endParaRPr/>
            </a:p>
          </p:txBody>
        </p:sp>
        <p:sp>
          <p:nvSpPr>
            <p:cNvPr id="180798507" name="Freeform 14"/>
            <p:cNvSpPr/>
            <p:nvPr/>
          </p:nvSpPr>
          <p:spPr bwMode="auto">
            <a:xfrm rot="0" flipH="0" flipV="0">
              <a:off x="519260" y="753057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 fill="norm" stroke="1" extrusionOk="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9328" name="AutoShape 2"/>
          <p:cNvSpPr/>
          <p:nvPr/>
        </p:nvSpPr>
        <p:spPr bwMode="auto">
          <a:xfrm flipV="1">
            <a:off x="4945785" y="1093840"/>
            <a:ext cx="0" cy="39816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21588165" name="Freeform 4"/>
          <p:cNvSpPr/>
          <p:nvPr/>
        </p:nvSpPr>
        <p:spPr bwMode="auto">
          <a:xfrm rot="0" flipH="0" flipV="0">
            <a:off x="3076538" y="1813844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35486974" name="TextBox 5"/>
          <p:cNvSpPr txBox="1"/>
          <p:nvPr/>
        </p:nvSpPr>
        <p:spPr bwMode="auto">
          <a:xfrm rot="0" flipH="0" flipV="0">
            <a:off x="3076538" y="171740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Toepassing</a:t>
            </a:r>
            <a:endParaRPr sz="1400"/>
          </a:p>
        </p:txBody>
      </p:sp>
      <p:sp>
        <p:nvSpPr>
          <p:cNvPr id="690927627" name="AutoShape 6"/>
          <p:cNvSpPr/>
          <p:nvPr/>
        </p:nvSpPr>
        <p:spPr bwMode="auto">
          <a:xfrm flipH="1">
            <a:off x="3697603" y="2502549"/>
            <a:ext cx="0" cy="257290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964710905" name="Freeform 8"/>
          <p:cNvSpPr/>
          <p:nvPr/>
        </p:nvSpPr>
        <p:spPr bwMode="auto">
          <a:xfrm rot="0" flipH="0" flipV="0">
            <a:off x="3076538" y="2897947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80094925" name="TextBox 9"/>
          <p:cNvSpPr txBox="1"/>
          <p:nvPr/>
        </p:nvSpPr>
        <p:spPr bwMode="auto">
          <a:xfrm rot="0" flipH="0" flipV="0">
            <a:off x="3076538" y="2801507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Transport</a:t>
            </a:r>
            <a:endParaRPr sz="1400"/>
          </a:p>
        </p:txBody>
      </p:sp>
      <p:sp>
        <p:nvSpPr>
          <p:cNvPr id="1814226057" name="Freeform 11"/>
          <p:cNvSpPr/>
          <p:nvPr/>
        </p:nvSpPr>
        <p:spPr bwMode="auto">
          <a:xfrm rot="0" flipH="0" flipV="0">
            <a:off x="3076538" y="3986701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182730235" name="TextBox 12"/>
          <p:cNvSpPr txBox="1"/>
          <p:nvPr/>
        </p:nvSpPr>
        <p:spPr bwMode="auto">
          <a:xfrm rot="0" flipH="0" flipV="0">
            <a:off x="3076538" y="3890261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Internet</a:t>
            </a:r>
            <a:endParaRPr sz="1400"/>
          </a:p>
        </p:txBody>
      </p:sp>
      <p:sp>
        <p:nvSpPr>
          <p:cNvPr id="1186790075" name="Freeform 14"/>
          <p:cNvSpPr/>
          <p:nvPr/>
        </p:nvSpPr>
        <p:spPr bwMode="auto">
          <a:xfrm rot="0" flipH="0" flipV="0">
            <a:off x="3076538" y="5075455"/>
            <a:ext cx="2488632" cy="688703"/>
          </a:xfrm>
          <a:custGeom>
            <a:avLst/>
            <a:gdLst/>
            <a:ahLst/>
            <a:cxnLst/>
            <a:rect l="l" t="t" r="r" b="b"/>
            <a:pathLst>
              <a:path w="983164" h="272081" fill="norm" stroke="1" extrusionOk="0">
                <a:moveTo>
                  <a:pt x="46664" y="0"/>
                </a:moveTo>
                <a:lnTo>
                  <a:pt x="936500" y="0"/>
                </a:lnTo>
                <a:cubicBezTo>
                  <a:pt x="962272" y="0"/>
                  <a:pt x="983164" y="20892"/>
                  <a:pt x="983164" y="46664"/>
                </a:cubicBezTo>
                <a:lnTo>
                  <a:pt x="983164" y="225417"/>
                </a:lnTo>
                <a:cubicBezTo>
                  <a:pt x="983164" y="251189"/>
                  <a:pt x="962272" y="272081"/>
                  <a:pt x="936500" y="272081"/>
                </a:cubicBezTo>
                <a:lnTo>
                  <a:pt x="46664" y="272081"/>
                </a:lnTo>
                <a:cubicBezTo>
                  <a:pt x="20892" y="272081"/>
                  <a:pt x="0" y="251189"/>
                  <a:pt x="0" y="225417"/>
                </a:cubicBezTo>
                <a:lnTo>
                  <a:pt x="0" y="46664"/>
                </a:lnTo>
                <a:cubicBezTo>
                  <a:pt x="0" y="20892"/>
                  <a:pt x="20892" y="0"/>
                  <a:pt x="46664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413902283" name="TextBox 15"/>
          <p:cNvSpPr txBox="1"/>
          <p:nvPr/>
        </p:nvSpPr>
        <p:spPr bwMode="auto">
          <a:xfrm rot="0" flipH="0" flipV="0">
            <a:off x="3076538" y="4979014"/>
            <a:ext cx="2488632" cy="785144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ts val="2519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Netwerk Toegang</a:t>
            </a:r>
            <a:endParaRPr sz="1400"/>
          </a:p>
        </p:txBody>
      </p:sp>
      <p:grpSp>
        <p:nvGrpSpPr>
          <p:cNvPr id="395186944" name="Group 16"/>
          <p:cNvGrpSpPr/>
          <p:nvPr/>
        </p:nvGrpSpPr>
        <p:grpSpPr bwMode="auto">
          <a:xfrm rot="0">
            <a:off x="5756301" y="2897948"/>
            <a:ext cx="992720" cy="688704"/>
            <a:chOff x="0" y="0"/>
            <a:chExt cx="392186" cy="272081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55754889" name="Group 19"/>
          <p:cNvGrpSpPr/>
          <p:nvPr/>
        </p:nvGrpSpPr>
        <p:grpSpPr bwMode="auto">
          <a:xfrm rot="0">
            <a:off x="5756301" y="3986702"/>
            <a:ext cx="992720" cy="688704"/>
            <a:chOff x="0" y="0"/>
            <a:chExt cx="392186" cy="272081"/>
          </a:xfrm>
        </p:grpSpPr>
        <p:sp>
          <p:nvSpPr>
            <p:cNvPr id="20" name="Freeform 20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078414583" name="Group 22"/>
          <p:cNvGrpSpPr/>
          <p:nvPr/>
        </p:nvGrpSpPr>
        <p:grpSpPr bwMode="auto">
          <a:xfrm rot="0">
            <a:off x="5756301" y="5075456"/>
            <a:ext cx="992720" cy="688704"/>
            <a:chOff x="0" y="0"/>
            <a:chExt cx="392186" cy="272081"/>
          </a:xfrm>
        </p:grpSpPr>
        <p:sp>
          <p:nvSpPr>
            <p:cNvPr id="23" name="Freeform 23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78441233" name="Group 25"/>
          <p:cNvGrpSpPr/>
          <p:nvPr/>
        </p:nvGrpSpPr>
        <p:grpSpPr bwMode="auto">
          <a:xfrm rot="0">
            <a:off x="6939521" y="3986702"/>
            <a:ext cx="992720" cy="688704"/>
            <a:chOff x="0" y="0"/>
            <a:chExt cx="392186" cy="272081"/>
          </a:xfrm>
        </p:grpSpPr>
        <p:sp>
          <p:nvSpPr>
            <p:cNvPr id="26" name="Freeform 26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2133060191" name="Group 28"/>
          <p:cNvGrpSpPr/>
          <p:nvPr/>
        </p:nvGrpSpPr>
        <p:grpSpPr bwMode="auto">
          <a:xfrm rot="0">
            <a:off x="6939521" y="5075456"/>
            <a:ext cx="992720" cy="688704"/>
            <a:chOff x="0" y="0"/>
            <a:chExt cx="392186" cy="272081"/>
          </a:xfrm>
        </p:grpSpPr>
        <p:sp>
          <p:nvSpPr>
            <p:cNvPr id="29" name="Freeform 29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277409417" name="Group 31"/>
          <p:cNvGrpSpPr/>
          <p:nvPr/>
        </p:nvGrpSpPr>
        <p:grpSpPr bwMode="auto">
          <a:xfrm rot="0">
            <a:off x="8122741" y="5075456"/>
            <a:ext cx="992720" cy="688704"/>
            <a:chOff x="0" y="0"/>
            <a:chExt cx="392186" cy="272081"/>
          </a:xfrm>
        </p:grpSpPr>
        <p:sp>
          <p:nvSpPr>
            <p:cNvPr id="32" name="Freeform 32"/>
            <p:cNvSpPr/>
            <p:nvPr/>
          </p:nvSpPr>
          <p:spPr bwMode="auto">
            <a:xfrm rot="0" flipH="0" flipV="0">
              <a:off x="0" y="0"/>
              <a:ext cx="392186" cy="272081"/>
            </a:xfrm>
            <a:custGeom>
              <a:avLst/>
              <a:gdLst/>
              <a:ahLst/>
              <a:cxnLst/>
              <a:rect l="l" t="t" r="r" b="b"/>
              <a:pathLst>
                <a:path w="392186" h="272081" fill="norm" stroke="1" extrusionOk="0">
                  <a:moveTo>
                    <a:pt x="116980" y="0"/>
                  </a:moveTo>
                  <a:lnTo>
                    <a:pt x="275205" y="0"/>
                  </a:lnTo>
                  <a:cubicBezTo>
                    <a:pt x="306230" y="0"/>
                    <a:pt x="335985" y="12325"/>
                    <a:pt x="357923" y="34263"/>
                  </a:cubicBezTo>
                  <a:cubicBezTo>
                    <a:pt x="379861" y="56201"/>
                    <a:pt x="392186" y="85955"/>
                    <a:pt x="392186" y="116980"/>
                  </a:cubicBezTo>
                  <a:lnTo>
                    <a:pt x="392186" y="155100"/>
                  </a:lnTo>
                  <a:cubicBezTo>
                    <a:pt x="392186" y="186125"/>
                    <a:pt x="379861" y="215880"/>
                    <a:pt x="357923" y="237818"/>
                  </a:cubicBezTo>
                  <a:cubicBezTo>
                    <a:pt x="335985" y="259756"/>
                    <a:pt x="306230" y="272081"/>
                    <a:pt x="275205" y="272081"/>
                  </a:cubicBezTo>
                  <a:lnTo>
                    <a:pt x="116980" y="272081"/>
                  </a:lnTo>
                  <a:cubicBezTo>
                    <a:pt x="85955" y="272081"/>
                    <a:pt x="56201" y="259756"/>
                    <a:pt x="34263" y="237818"/>
                  </a:cubicBezTo>
                  <a:cubicBezTo>
                    <a:pt x="12325" y="215880"/>
                    <a:pt x="0" y="186125"/>
                    <a:pt x="0" y="155100"/>
                  </a:cubicBezTo>
                  <a:lnTo>
                    <a:pt x="0" y="116980"/>
                  </a:lnTo>
                  <a:cubicBezTo>
                    <a:pt x="0" y="85955"/>
                    <a:pt x="12325" y="56201"/>
                    <a:pt x="34263" y="34263"/>
                  </a:cubicBezTo>
                  <a:cubicBezTo>
                    <a:pt x="56201" y="12325"/>
                    <a:pt x="85955" y="0"/>
                    <a:pt x="1169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 bwMode="auto">
            <a:xfrm>
              <a:off x="0" y="-38100"/>
              <a:ext cx="392186" cy="31018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257929" name="TextBox 2"/>
          <p:cNvSpPr txBox="1"/>
          <p:nvPr/>
        </p:nvSpPr>
        <p:spPr bwMode="auto">
          <a:xfrm rot="0" flipH="0" flipV="0">
            <a:off x="401956" y="1105376"/>
            <a:ext cx="2615247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Toepassing</a:t>
            </a:r>
            <a:endParaRPr/>
          </a:p>
        </p:txBody>
      </p:sp>
      <p:grpSp>
        <p:nvGrpSpPr>
          <p:cNvPr id="1676890280" name="Group 3"/>
          <p:cNvGrpSpPr/>
          <p:nvPr/>
        </p:nvGrpSpPr>
        <p:grpSpPr bwMode="auto">
          <a:xfrm rot="0">
            <a:off x="5988903" y="1113736"/>
            <a:ext cx="3584990" cy="394128"/>
            <a:chOff x="0" y="0"/>
            <a:chExt cx="1416292" cy="155705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409900479" name="TextBox 6"/>
          <p:cNvSpPr txBox="1"/>
          <p:nvPr/>
        </p:nvSpPr>
        <p:spPr bwMode="auto">
          <a:xfrm rot="0" flipH="0" flipV="0">
            <a:off x="401956" y="3172728"/>
            <a:ext cx="2431532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IP-laag</a:t>
            </a:r>
            <a:endParaRPr/>
          </a:p>
        </p:txBody>
      </p:sp>
      <p:sp>
        <p:nvSpPr>
          <p:cNvPr id="873198246" name="TextBox 7"/>
          <p:cNvSpPr txBox="1"/>
          <p:nvPr/>
        </p:nvSpPr>
        <p:spPr bwMode="auto">
          <a:xfrm rot="0" flipH="0" flipV="0">
            <a:off x="401956" y="5245790"/>
            <a:ext cx="3169281" cy="391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 Bold"/>
              </a:rPr>
              <a:t>MAC-sublaag</a:t>
            </a:r>
            <a:endParaRPr/>
          </a:p>
        </p:txBody>
      </p:sp>
      <p:sp>
        <p:nvSpPr>
          <p:cNvPr id="1522906905" name="TextBox 8"/>
          <p:cNvSpPr txBox="1"/>
          <p:nvPr/>
        </p:nvSpPr>
        <p:spPr bwMode="auto">
          <a:xfrm rot="0" flipH="0" flipV="0">
            <a:off x="6091970" y="668624"/>
            <a:ext cx="348264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Toepassingsgegevens</a:t>
            </a:r>
            <a:endParaRPr/>
          </a:p>
        </p:txBody>
      </p:sp>
      <p:grpSp>
        <p:nvGrpSpPr>
          <p:cNvPr id="942665482" name="Group 9"/>
          <p:cNvGrpSpPr/>
          <p:nvPr/>
        </p:nvGrpSpPr>
        <p:grpSpPr bwMode="auto">
          <a:xfrm rot="0">
            <a:off x="5988903" y="3181089"/>
            <a:ext cx="3584990" cy="394128"/>
            <a:chOff x="0" y="0"/>
            <a:chExt cx="1416292" cy="155705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1416292" cy="155705"/>
            </a:xfrm>
            <a:custGeom>
              <a:avLst/>
              <a:gdLst/>
              <a:ahLst/>
              <a:cxnLst/>
              <a:rect l="l" t="t" r="r" b="b"/>
              <a:pathLst>
                <a:path w="1416292" h="155705" fill="norm" stroke="1" extrusionOk="0">
                  <a:moveTo>
                    <a:pt x="17276" y="0"/>
                  </a:moveTo>
                  <a:lnTo>
                    <a:pt x="1399016" y="0"/>
                  </a:lnTo>
                  <a:cubicBezTo>
                    <a:pt x="1403598" y="0"/>
                    <a:pt x="1407992" y="1820"/>
                    <a:pt x="1411232" y="5060"/>
                  </a:cubicBezTo>
                  <a:cubicBezTo>
                    <a:pt x="1414472" y="8300"/>
                    <a:pt x="1416292" y="12694"/>
                    <a:pt x="1416292" y="17276"/>
                  </a:cubicBezTo>
                  <a:lnTo>
                    <a:pt x="1416292" y="138429"/>
                  </a:lnTo>
                  <a:cubicBezTo>
                    <a:pt x="1416292" y="147970"/>
                    <a:pt x="1408557" y="155705"/>
                    <a:pt x="1399016" y="155705"/>
                  </a:cubicBezTo>
                  <a:lnTo>
                    <a:pt x="17276" y="155705"/>
                  </a:lnTo>
                  <a:cubicBezTo>
                    <a:pt x="7735" y="155705"/>
                    <a:pt x="0" y="147970"/>
                    <a:pt x="0" y="138429"/>
                  </a:cubicBezTo>
                  <a:lnTo>
                    <a:pt x="0" y="17276"/>
                  </a:lnTo>
                  <a:cubicBezTo>
                    <a:pt x="0" y="7735"/>
                    <a:pt x="7735" y="0"/>
                    <a:pt x="17276" y="0"/>
                  </a:cubicBezTo>
                  <a:close/>
                </a:path>
              </a:pathLst>
            </a:custGeom>
            <a:solidFill>
              <a:srgbClr val="FF5C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416292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1997543707" name="Group 12"/>
          <p:cNvGrpSpPr/>
          <p:nvPr/>
        </p:nvGrpSpPr>
        <p:grpSpPr bwMode="auto">
          <a:xfrm rot="0">
            <a:off x="4986983" y="3181089"/>
            <a:ext cx="977991" cy="394128"/>
            <a:chOff x="0" y="0"/>
            <a:chExt cx="386367" cy="155705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FFA47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813695030" name="TextBox 15"/>
          <p:cNvSpPr txBox="1"/>
          <p:nvPr/>
        </p:nvSpPr>
        <p:spPr bwMode="auto">
          <a:xfrm rot="0" flipH="0" flipV="0">
            <a:off x="6226772" y="2641338"/>
            <a:ext cx="3178606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Gegevensveld</a:t>
            </a:r>
            <a:endParaRPr/>
          </a:p>
        </p:txBody>
      </p:sp>
      <p:sp>
        <p:nvSpPr>
          <p:cNvPr id="1102040699" name="TextBox 16"/>
          <p:cNvSpPr txBox="1"/>
          <p:nvPr/>
        </p:nvSpPr>
        <p:spPr bwMode="auto">
          <a:xfrm rot="0" flipH="0" flipV="0">
            <a:off x="4572000" y="2641338"/>
            <a:ext cx="1569382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Kop</a:t>
            </a:r>
            <a:endParaRPr sz="1600"/>
          </a:p>
        </p:txBody>
      </p:sp>
      <p:sp>
        <p:nvSpPr>
          <p:cNvPr id="971541018" name="TextBox 17"/>
          <p:cNvSpPr txBox="1"/>
          <p:nvPr/>
        </p:nvSpPr>
        <p:spPr bwMode="auto">
          <a:xfrm rot="0" flipH="0" flipV="0">
            <a:off x="5356690" y="3739835"/>
            <a:ext cx="379956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Het IP-datagram</a:t>
            </a:r>
            <a:endParaRPr/>
          </a:p>
        </p:txBody>
      </p:sp>
      <p:sp>
        <p:nvSpPr>
          <p:cNvPr id="158185764" name="AutoShape 18"/>
          <p:cNvSpPr/>
          <p:nvPr/>
        </p:nvSpPr>
        <p:spPr bwMode="auto">
          <a:xfrm>
            <a:off x="4986983" y="3689516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40424140" name="AutoShape 19"/>
          <p:cNvSpPr/>
          <p:nvPr/>
        </p:nvSpPr>
        <p:spPr bwMode="auto">
          <a:xfrm>
            <a:off x="4986983" y="3066788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77551568" name="AutoShape 20"/>
          <p:cNvSpPr/>
          <p:nvPr/>
        </p:nvSpPr>
        <p:spPr bwMode="auto">
          <a:xfrm>
            <a:off x="5988903" y="3066788"/>
            <a:ext cx="358499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1872959127" name="Group 21"/>
          <p:cNvGrpSpPr/>
          <p:nvPr/>
        </p:nvGrpSpPr>
        <p:grpSpPr bwMode="auto">
          <a:xfrm rot="0">
            <a:off x="4986983" y="5252802"/>
            <a:ext cx="4586910" cy="394128"/>
            <a:chOff x="0" y="0"/>
            <a:chExt cx="6115880" cy="525504"/>
          </a:xfrm>
        </p:grpSpPr>
        <p:grpSp>
          <p:nvGrpSpPr>
            <p:cNvPr id="22" name="Group 22"/>
            <p:cNvGrpSpPr/>
            <p:nvPr/>
          </p:nvGrpSpPr>
          <p:grpSpPr bwMode="auto">
            <a:xfrm rot="0">
              <a:off x="1335893" y="0"/>
              <a:ext cx="4779986" cy="525504"/>
              <a:chOff x="0" y="0"/>
              <a:chExt cx="1416292" cy="155705"/>
            </a:xfrm>
          </p:grpSpPr>
          <p:sp>
            <p:nvSpPr>
              <p:cNvPr id="23" name="Freeform 23"/>
              <p:cNvSpPr/>
              <p:nvPr/>
            </p:nvSpPr>
            <p:spPr bwMode="auto">
              <a:xfrm rot="0" flipH="0" flipV="0">
                <a:off x="0" y="0"/>
                <a:ext cx="1416292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1416292" h="155705" fill="norm" stroke="1" extrusionOk="0">
                    <a:moveTo>
                      <a:pt x="17276" y="0"/>
                    </a:moveTo>
                    <a:lnTo>
                      <a:pt x="1399016" y="0"/>
                    </a:lnTo>
                    <a:cubicBezTo>
                      <a:pt x="1403598" y="0"/>
                      <a:pt x="1407992" y="1820"/>
                      <a:pt x="1411232" y="5060"/>
                    </a:cubicBezTo>
                    <a:cubicBezTo>
                      <a:pt x="1414472" y="8300"/>
                      <a:pt x="1416292" y="12694"/>
                      <a:pt x="1416292" y="17276"/>
                    </a:cubicBezTo>
                    <a:lnTo>
                      <a:pt x="1416292" y="138429"/>
                    </a:lnTo>
                    <a:cubicBezTo>
                      <a:pt x="1416292" y="147970"/>
                      <a:pt x="1408557" y="155705"/>
                      <a:pt x="1399016" y="155705"/>
                    </a:cubicBezTo>
                    <a:lnTo>
                      <a:pt x="17276" y="155705"/>
                    </a:lnTo>
                    <a:cubicBezTo>
                      <a:pt x="7735" y="155705"/>
                      <a:pt x="0" y="147970"/>
                      <a:pt x="0" y="138429"/>
                    </a:cubicBezTo>
                    <a:lnTo>
                      <a:pt x="0" y="17276"/>
                    </a:lnTo>
                    <a:cubicBezTo>
                      <a:pt x="0" y="7735"/>
                      <a:pt x="7735" y="0"/>
                      <a:pt x="17276" y="0"/>
                    </a:cubicBezTo>
                    <a:close/>
                  </a:path>
                </a:pathLst>
              </a:custGeom>
              <a:solidFill>
                <a:srgbClr val="FF5C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4" name="TextBox 24"/>
              <p:cNvSpPr txBox="1"/>
              <p:nvPr/>
            </p:nvSpPr>
            <p:spPr bwMode="auto">
              <a:xfrm>
                <a:off x="0" y="-38100"/>
                <a:ext cx="1416292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 bwMode="auto">
            <a:xfrm rot="0">
              <a:off x="0" y="0"/>
              <a:ext cx="1303988" cy="525504"/>
              <a:chOff x="0" y="0"/>
              <a:chExt cx="386367" cy="155705"/>
            </a:xfrm>
          </p:grpSpPr>
          <p:sp>
            <p:nvSpPr>
              <p:cNvPr id="26" name="Freeform 26"/>
              <p:cNvSpPr/>
              <p:nvPr/>
            </p:nvSpPr>
            <p:spPr bwMode="auto">
              <a:xfrm rot="0" flipH="0" flipV="0">
                <a:off x="0" y="0"/>
                <a:ext cx="386367" cy="155705"/>
              </a:xfrm>
              <a:custGeom>
                <a:avLst/>
                <a:gdLst/>
                <a:ahLst/>
                <a:cxnLst/>
                <a:rect l="l" t="t" r="r" b="b"/>
                <a:pathLst>
                  <a:path w="386367" h="155705" fill="norm" stroke="1" extrusionOk="0">
                    <a:moveTo>
                      <a:pt x="63329" y="0"/>
                    </a:moveTo>
                    <a:lnTo>
                      <a:pt x="323038" y="0"/>
                    </a:lnTo>
                    <a:cubicBezTo>
                      <a:pt x="339834" y="0"/>
                      <a:pt x="355942" y="6672"/>
                      <a:pt x="367818" y="18549"/>
                    </a:cubicBezTo>
                    <a:cubicBezTo>
                      <a:pt x="379695" y="30425"/>
                      <a:pt x="386367" y="46533"/>
                      <a:pt x="386367" y="63329"/>
                    </a:cubicBezTo>
                    <a:lnTo>
                      <a:pt x="386367" y="92376"/>
                    </a:lnTo>
                    <a:cubicBezTo>
                      <a:pt x="386367" y="109172"/>
                      <a:pt x="379695" y="125280"/>
                      <a:pt x="367818" y="137156"/>
                    </a:cubicBezTo>
                    <a:cubicBezTo>
                      <a:pt x="355942" y="149033"/>
                      <a:pt x="339834" y="155705"/>
                      <a:pt x="323038" y="155705"/>
                    </a:cubicBezTo>
                    <a:lnTo>
                      <a:pt x="63329" y="155705"/>
                    </a:lnTo>
                    <a:cubicBezTo>
                      <a:pt x="46533" y="155705"/>
                      <a:pt x="30425" y="149033"/>
                      <a:pt x="18549" y="137156"/>
                    </a:cubicBezTo>
                    <a:cubicBezTo>
                      <a:pt x="6672" y="125280"/>
                      <a:pt x="0" y="109172"/>
                      <a:pt x="0" y="92376"/>
                    </a:cubicBezTo>
                    <a:lnTo>
                      <a:pt x="0" y="63329"/>
                    </a:lnTo>
                    <a:cubicBezTo>
                      <a:pt x="0" y="46533"/>
                      <a:pt x="6672" y="30425"/>
                      <a:pt x="18549" y="18549"/>
                    </a:cubicBezTo>
                    <a:cubicBezTo>
                      <a:pt x="30425" y="6672"/>
                      <a:pt x="46533" y="0"/>
                      <a:pt x="63329" y="0"/>
                    </a:cubicBezTo>
                    <a:close/>
                  </a:path>
                </a:pathLst>
              </a:custGeom>
              <a:solidFill>
                <a:srgbClr val="FFA47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 bwMode="auto">
              <a:xfrm>
                <a:off x="0" y="-38100"/>
                <a:ext cx="386367" cy="1938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  <a:defRPr/>
                </a:pPr>
                <a:endParaRPr/>
              </a:p>
            </p:txBody>
          </p:sp>
        </p:grpSp>
      </p:grpSp>
      <p:sp>
        <p:nvSpPr>
          <p:cNvPr id="243254029" name="TextBox 28"/>
          <p:cNvSpPr txBox="1"/>
          <p:nvPr/>
        </p:nvSpPr>
        <p:spPr bwMode="auto">
          <a:xfrm rot="0" flipH="0" flipV="0">
            <a:off x="5475978" y="4713051"/>
            <a:ext cx="3792885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Frame gegevensveld</a:t>
            </a:r>
            <a:endParaRPr/>
          </a:p>
        </p:txBody>
      </p:sp>
      <p:sp>
        <p:nvSpPr>
          <p:cNvPr id="328953855" name="TextBox 29"/>
          <p:cNvSpPr txBox="1"/>
          <p:nvPr/>
        </p:nvSpPr>
        <p:spPr bwMode="auto">
          <a:xfrm rot="0" flipH="0" flipV="0">
            <a:off x="3438544" y="4713050"/>
            <a:ext cx="2038511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Kop</a:t>
            </a:r>
            <a:endParaRPr sz="1600"/>
          </a:p>
        </p:txBody>
      </p:sp>
      <p:sp>
        <p:nvSpPr>
          <p:cNvPr id="451663847" name="TextBox 30"/>
          <p:cNvSpPr txBox="1"/>
          <p:nvPr/>
        </p:nvSpPr>
        <p:spPr bwMode="auto">
          <a:xfrm rot="0" flipH="0" flipV="0">
            <a:off x="4886651" y="5811549"/>
            <a:ext cx="477849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Het frame (Ethernet)</a:t>
            </a:r>
            <a:endParaRPr/>
          </a:p>
        </p:txBody>
      </p:sp>
      <p:sp>
        <p:nvSpPr>
          <p:cNvPr id="1248233773" name="AutoShape 31"/>
          <p:cNvSpPr/>
          <p:nvPr/>
        </p:nvSpPr>
        <p:spPr bwMode="auto">
          <a:xfrm>
            <a:off x="3980417" y="5761230"/>
            <a:ext cx="66000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92781372" name="AutoShape 32"/>
          <p:cNvSpPr/>
          <p:nvPr/>
        </p:nvSpPr>
        <p:spPr bwMode="auto">
          <a:xfrm>
            <a:off x="3980417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15797776" name="AutoShape 33"/>
          <p:cNvSpPr/>
          <p:nvPr/>
        </p:nvSpPr>
        <p:spPr bwMode="auto">
          <a:xfrm flipV="1">
            <a:off x="4986983" y="5138502"/>
            <a:ext cx="45869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grpSp>
        <p:nvGrpSpPr>
          <p:cNvPr id="2018719546" name="Group 34"/>
          <p:cNvGrpSpPr/>
          <p:nvPr/>
        </p:nvGrpSpPr>
        <p:grpSpPr bwMode="auto">
          <a:xfrm rot="0">
            <a:off x="3980417" y="5252802"/>
            <a:ext cx="977991" cy="394128"/>
            <a:chOff x="0" y="0"/>
            <a:chExt cx="386367" cy="155705"/>
          </a:xfrm>
        </p:grpSpPr>
        <p:sp>
          <p:nvSpPr>
            <p:cNvPr id="35" name="Freeform 35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grpSp>
        <p:nvGrpSpPr>
          <p:cNvPr id="970188213" name="Group 37"/>
          <p:cNvGrpSpPr/>
          <p:nvPr/>
        </p:nvGrpSpPr>
        <p:grpSpPr bwMode="auto">
          <a:xfrm rot="0">
            <a:off x="9602468" y="5252802"/>
            <a:ext cx="977991" cy="394128"/>
            <a:chOff x="0" y="0"/>
            <a:chExt cx="386367" cy="155705"/>
          </a:xfrm>
        </p:grpSpPr>
        <p:sp>
          <p:nvSpPr>
            <p:cNvPr id="38" name="Freeform 38"/>
            <p:cNvSpPr/>
            <p:nvPr/>
          </p:nvSpPr>
          <p:spPr bwMode="auto">
            <a:xfrm rot="0" flipH="0" flipV="0">
              <a:off x="0" y="0"/>
              <a:ext cx="386367" cy="155705"/>
            </a:xfrm>
            <a:custGeom>
              <a:avLst/>
              <a:gdLst/>
              <a:ahLst/>
              <a:cxnLst/>
              <a:rect l="l" t="t" r="r" b="b"/>
              <a:pathLst>
                <a:path w="386367" h="155705" fill="norm" stroke="1" extrusionOk="0">
                  <a:moveTo>
                    <a:pt x="63329" y="0"/>
                  </a:moveTo>
                  <a:lnTo>
                    <a:pt x="323038" y="0"/>
                  </a:lnTo>
                  <a:cubicBezTo>
                    <a:pt x="339834" y="0"/>
                    <a:pt x="355942" y="6672"/>
                    <a:pt x="367818" y="18549"/>
                  </a:cubicBezTo>
                  <a:cubicBezTo>
                    <a:pt x="379695" y="30425"/>
                    <a:pt x="386367" y="46533"/>
                    <a:pt x="386367" y="63329"/>
                  </a:cubicBezTo>
                  <a:lnTo>
                    <a:pt x="386367" y="92376"/>
                  </a:lnTo>
                  <a:cubicBezTo>
                    <a:pt x="386367" y="109172"/>
                    <a:pt x="379695" y="125280"/>
                    <a:pt x="367818" y="137156"/>
                  </a:cubicBezTo>
                  <a:cubicBezTo>
                    <a:pt x="355942" y="149033"/>
                    <a:pt x="339834" y="155705"/>
                    <a:pt x="323038" y="155705"/>
                  </a:cubicBezTo>
                  <a:lnTo>
                    <a:pt x="63329" y="155705"/>
                  </a:lnTo>
                  <a:cubicBezTo>
                    <a:pt x="46533" y="155705"/>
                    <a:pt x="30425" y="149033"/>
                    <a:pt x="18549" y="137156"/>
                  </a:cubicBezTo>
                  <a:cubicBezTo>
                    <a:pt x="6672" y="125280"/>
                    <a:pt x="0" y="109172"/>
                    <a:pt x="0" y="92376"/>
                  </a:cubicBezTo>
                  <a:lnTo>
                    <a:pt x="0" y="63329"/>
                  </a:lnTo>
                  <a:cubicBezTo>
                    <a:pt x="0" y="46533"/>
                    <a:pt x="6672" y="30425"/>
                    <a:pt x="18549" y="18549"/>
                  </a:cubicBezTo>
                  <a:cubicBezTo>
                    <a:pt x="30425" y="6672"/>
                    <a:pt x="46533" y="0"/>
                    <a:pt x="63329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 bwMode="auto">
            <a:xfrm>
              <a:off x="0" y="-38100"/>
              <a:ext cx="386367" cy="19380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  <a:defRPr/>
              </a:pPr>
              <a:endParaRPr/>
            </a:p>
          </p:txBody>
        </p:sp>
      </p:grpSp>
      <p:sp>
        <p:nvSpPr>
          <p:cNvPr id="1219283412" name="TextBox 40"/>
          <p:cNvSpPr txBox="1"/>
          <p:nvPr/>
        </p:nvSpPr>
        <p:spPr bwMode="auto">
          <a:xfrm rot="0" flipH="0" flipV="0">
            <a:off x="9665149" y="4294231"/>
            <a:ext cx="2282319" cy="35595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ts val="2800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Framecontrolesequentie</a:t>
            </a:r>
            <a:endParaRPr sz="1400"/>
          </a:p>
        </p:txBody>
      </p:sp>
      <p:sp>
        <p:nvSpPr>
          <p:cNvPr id="1480729034" name="AutoShape 41"/>
          <p:cNvSpPr/>
          <p:nvPr/>
        </p:nvSpPr>
        <p:spPr bwMode="auto">
          <a:xfrm>
            <a:off x="9602468" y="5138502"/>
            <a:ext cx="9779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264946" name="AutoShape 2"/>
          <p:cNvSpPr/>
          <p:nvPr/>
        </p:nvSpPr>
        <p:spPr bwMode="auto">
          <a:xfrm flipH="0" flipV="1">
            <a:off x="5515268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97267851" name="Freeform 4"/>
          <p:cNvSpPr/>
          <p:nvPr/>
        </p:nvSpPr>
        <p:spPr bwMode="auto">
          <a:xfrm rot="0" flipH="0" flipV="0">
            <a:off x="4126344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331606428" name="Freeform 9"/>
          <p:cNvSpPr/>
          <p:nvPr/>
        </p:nvSpPr>
        <p:spPr bwMode="auto">
          <a:xfrm rot="0" flipH="0" flipV="0">
            <a:off x="412634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12863274" name="TextBox 10"/>
          <p:cNvSpPr txBox="1"/>
          <p:nvPr/>
        </p:nvSpPr>
        <p:spPr bwMode="auto">
          <a:xfrm rot="0" flipH="0" flipV="0">
            <a:off x="412634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Lading</a:t>
            </a:r>
            <a:endParaRPr sz="1100"/>
          </a:p>
        </p:txBody>
      </p:sp>
      <p:sp>
        <p:nvSpPr>
          <p:cNvPr id="1496510994" name="Freeform 12"/>
          <p:cNvSpPr/>
          <p:nvPr/>
        </p:nvSpPr>
        <p:spPr bwMode="auto">
          <a:xfrm rot="0" flipH="0" flipV="0">
            <a:off x="3092124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89599645" name="TextBox 13"/>
          <p:cNvSpPr txBox="1"/>
          <p:nvPr/>
        </p:nvSpPr>
        <p:spPr bwMode="auto">
          <a:xfrm rot="0" flipH="0" flipV="0">
            <a:off x="3092124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Van toepassing.</a:t>
            </a:r>
            <a:endParaRPr sz="1100"/>
          </a:p>
        </p:txBody>
      </p:sp>
      <p:sp>
        <p:nvSpPr>
          <p:cNvPr id="629130216" name="Freeform 15"/>
          <p:cNvSpPr/>
          <p:nvPr/>
        </p:nvSpPr>
        <p:spPr bwMode="auto">
          <a:xfrm rot="0" flipH="0" flipV="0">
            <a:off x="2061526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48775465" name="TextBox 16"/>
          <p:cNvSpPr txBox="1"/>
          <p:nvPr/>
        </p:nvSpPr>
        <p:spPr bwMode="auto">
          <a:xfrm rot="0" flipH="0" flipV="0">
            <a:off x="2061526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1970183653" name="Freeform 18"/>
          <p:cNvSpPr/>
          <p:nvPr/>
        </p:nvSpPr>
        <p:spPr bwMode="auto">
          <a:xfrm rot="0" flipH="0" flipV="0">
            <a:off x="3188180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697442371" name="TextBox 19"/>
          <p:cNvSpPr txBox="1"/>
          <p:nvPr/>
        </p:nvSpPr>
        <p:spPr bwMode="auto">
          <a:xfrm rot="0" flipH="0" flipV="0">
            <a:off x="3188180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Gegevens</a:t>
            </a:r>
            <a:endParaRPr sz="1100"/>
          </a:p>
        </p:txBody>
      </p:sp>
      <p:sp>
        <p:nvSpPr>
          <p:cNvPr id="1095162957" name="Freeform 21"/>
          <p:cNvSpPr/>
          <p:nvPr/>
        </p:nvSpPr>
        <p:spPr bwMode="auto">
          <a:xfrm rot="0" flipH="0" flipV="0">
            <a:off x="1027306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43649714" name="TextBox 22"/>
          <p:cNvSpPr txBox="1"/>
          <p:nvPr/>
        </p:nvSpPr>
        <p:spPr bwMode="auto">
          <a:xfrm rot="0" flipH="0" flipV="0">
            <a:off x="1027306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809820849" name="Freeform 24"/>
          <p:cNvSpPr/>
          <p:nvPr/>
        </p:nvSpPr>
        <p:spPr bwMode="auto">
          <a:xfrm rot="0" flipH="0" flipV="0">
            <a:off x="2250018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98445285" name="TextBox 25"/>
          <p:cNvSpPr txBox="1"/>
          <p:nvPr/>
        </p:nvSpPr>
        <p:spPr bwMode="auto">
          <a:xfrm rot="0" flipH="0" flipV="0">
            <a:off x="2250018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454657069" name="Freeform 27"/>
          <p:cNvSpPr/>
          <p:nvPr/>
        </p:nvSpPr>
        <p:spPr bwMode="auto">
          <a:xfrm rot="0" flipH="0" flipV="0">
            <a:off x="132123" y="4097767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03940921" name="TextBox 28"/>
          <p:cNvSpPr txBox="1"/>
          <p:nvPr/>
        </p:nvSpPr>
        <p:spPr bwMode="auto">
          <a:xfrm rot="0" flipH="0" flipV="0">
            <a:off x="132123" y="4032155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Toegang</a:t>
            </a:r>
            <a:endParaRPr sz="1100"/>
          </a:p>
        </p:txBody>
      </p:sp>
      <p:sp>
        <p:nvSpPr>
          <p:cNvPr id="1511037792" name="Freeform 30"/>
          <p:cNvSpPr/>
          <p:nvPr/>
        </p:nvSpPr>
        <p:spPr bwMode="auto">
          <a:xfrm rot="0" flipH="0" flipV="0">
            <a:off x="1311854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900764989" name="TextBox 31"/>
          <p:cNvSpPr txBox="1"/>
          <p:nvPr/>
        </p:nvSpPr>
        <p:spPr bwMode="auto">
          <a:xfrm rot="0" flipH="0" flipV="0">
            <a:off x="1311854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Pakket</a:t>
            </a:r>
            <a:endParaRPr sz="1100"/>
          </a:p>
        </p:txBody>
      </p:sp>
      <p:grpSp>
        <p:nvGrpSpPr>
          <p:cNvPr id="1497285901" name="Group 32"/>
          <p:cNvGrpSpPr/>
          <p:nvPr/>
        </p:nvGrpSpPr>
        <p:grpSpPr bwMode="auto">
          <a:xfrm rot="0" flipH="0" flipV="0">
            <a:off x="376979" y="5236100"/>
            <a:ext cx="4644700" cy="660984"/>
            <a:chOff x="0" y="0"/>
            <a:chExt cx="4644700" cy="660984"/>
          </a:xfrm>
        </p:grpSpPr>
        <p:sp>
          <p:nvSpPr>
            <p:cNvPr id="33" name="Freeform 3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34" name="TextBox 3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663870427" name="Freeform 36"/>
          <p:cNvSpPr/>
          <p:nvPr/>
        </p:nvSpPr>
        <p:spPr bwMode="auto">
          <a:xfrm rot="0" flipH="0" flipV="0">
            <a:off x="11198080" y="1842742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325427786" name="Freeform 39"/>
          <p:cNvSpPr/>
          <p:nvPr/>
        </p:nvSpPr>
        <p:spPr bwMode="auto">
          <a:xfrm rot="0" flipH="0" flipV="0">
            <a:off x="1119808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416044775" name="TextBox 40"/>
          <p:cNvSpPr txBox="1"/>
          <p:nvPr/>
        </p:nvSpPr>
        <p:spPr bwMode="auto">
          <a:xfrm rot="0" flipH="0" flipV="0">
            <a:off x="1119808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Lading</a:t>
            </a:r>
            <a:endParaRPr sz="1100"/>
          </a:p>
        </p:txBody>
      </p:sp>
      <p:sp>
        <p:nvSpPr>
          <p:cNvPr id="627897737" name="Freeform 42"/>
          <p:cNvSpPr/>
          <p:nvPr/>
        </p:nvSpPr>
        <p:spPr bwMode="auto">
          <a:xfrm rot="0" flipH="0" flipV="0">
            <a:off x="10163860" y="2408525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00427015" name="TextBox 43"/>
          <p:cNvSpPr txBox="1"/>
          <p:nvPr/>
        </p:nvSpPr>
        <p:spPr bwMode="auto">
          <a:xfrm rot="0" flipH="0" flipV="0">
            <a:off x="10163860" y="234291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Van toepassing.</a:t>
            </a:r>
            <a:endParaRPr sz="1100"/>
          </a:p>
        </p:txBody>
      </p:sp>
      <p:sp>
        <p:nvSpPr>
          <p:cNvPr id="1502241195" name="Freeform 45"/>
          <p:cNvSpPr/>
          <p:nvPr/>
        </p:nvSpPr>
        <p:spPr bwMode="auto">
          <a:xfrm rot="0" flipH="0" flipV="0">
            <a:off x="9133263" y="297431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568064605" name="TextBox 46"/>
          <p:cNvSpPr txBox="1"/>
          <p:nvPr/>
        </p:nvSpPr>
        <p:spPr bwMode="auto">
          <a:xfrm rot="0" flipH="0" flipV="0">
            <a:off x="9133263" y="2908699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Transport</a:t>
            </a:r>
            <a:endParaRPr sz="1100"/>
          </a:p>
        </p:txBody>
      </p:sp>
      <p:sp>
        <p:nvSpPr>
          <p:cNvPr id="325420578" name="Freeform 48"/>
          <p:cNvSpPr/>
          <p:nvPr/>
        </p:nvSpPr>
        <p:spPr bwMode="auto">
          <a:xfrm rot="0" flipH="0" flipV="0">
            <a:off x="10259917" y="2974311"/>
            <a:ext cx="1833496" cy="470033"/>
          </a:xfrm>
          <a:custGeom>
            <a:avLst/>
            <a:gdLst/>
            <a:ahLst/>
            <a:cxnLst/>
            <a:rect l="l" t="t" r="r" b="b"/>
            <a:pathLst>
              <a:path w="798509" h="204705" fill="norm" stroke="1" extrusionOk="0">
                <a:moveTo>
                  <a:pt x="57455" y="0"/>
                </a:moveTo>
                <a:lnTo>
                  <a:pt x="741054" y="0"/>
                </a:lnTo>
                <a:cubicBezTo>
                  <a:pt x="772786" y="0"/>
                  <a:pt x="798509" y="25723"/>
                  <a:pt x="798509" y="57455"/>
                </a:cubicBezTo>
                <a:lnTo>
                  <a:pt x="798509" y="147250"/>
                </a:lnTo>
                <a:cubicBezTo>
                  <a:pt x="798509" y="162488"/>
                  <a:pt x="792456" y="177102"/>
                  <a:pt x="781681" y="187877"/>
                </a:cubicBezTo>
                <a:cubicBezTo>
                  <a:pt x="770906" y="198652"/>
                  <a:pt x="756292" y="204705"/>
                  <a:pt x="741054" y="204705"/>
                </a:cubicBezTo>
                <a:lnTo>
                  <a:pt x="57455" y="204705"/>
                </a:lnTo>
                <a:cubicBezTo>
                  <a:pt x="25723" y="204705"/>
                  <a:pt x="0" y="178982"/>
                  <a:pt x="0" y="147250"/>
                </a:cubicBezTo>
                <a:lnTo>
                  <a:pt x="0" y="57455"/>
                </a:lnTo>
                <a:cubicBezTo>
                  <a:pt x="0" y="25723"/>
                  <a:pt x="25723" y="0"/>
                  <a:pt x="57455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45352238" name="TextBox 49"/>
          <p:cNvSpPr txBox="1"/>
          <p:nvPr/>
        </p:nvSpPr>
        <p:spPr bwMode="auto">
          <a:xfrm rot="0" flipH="0" flipV="0">
            <a:off x="10259917" y="2908699"/>
            <a:ext cx="1833496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Gegevens</a:t>
            </a:r>
            <a:endParaRPr sz="1100"/>
          </a:p>
        </p:txBody>
      </p:sp>
      <p:sp>
        <p:nvSpPr>
          <p:cNvPr id="461934755" name="Freeform 51"/>
          <p:cNvSpPr/>
          <p:nvPr/>
        </p:nvSpPr>
        <p:spPr bwMode="auto">
          <a:xfrm rot="0" flipH="0" flipV="0">
            <a:off x="8099043" y="3540096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672390322" name="TextBox 52"/>
          <p:cNvSpPr txBox="1"/>
          <p:nvPr/>
        </p:nvSpPr>
        <p:spPr bwMode="auto">
          <a:xfrm rot="0" flipH="0" flipV="0">
            <a:off x="8099043" y="3474483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100"/>
          </a:p>
        </p:txBody>
      </p:sp>
      <p:sp>
        <p:nvSpPr>
          <p:cNvPr id="1155642888" name="Freeform 54"/>
          <p:cNvSpPr/>
          <p:nvPr/>
        </p:nvSpPr>
        <p:spPr bwMode="auto">
          <a:xfrm rot="0" flipH="0" flipV="0">
            <a:off x="9321754" y="3540096"/>
            <a:ext cx="2771660" cy="470033"/>
          </a:xfrm>
          <a:custGeom>
            <a:avLst/>
            <a:gdLst/>
            <a:ahLst/>
            <a:cxnLst/>
            <a:rect l="l" t="t" r="r" b="b"/>
            <a:pathLst>
              <a:path w="1207090" h="204705" fill="norm" stroke="1" extrusionOk="0">
                <a:moveTo>
                  <a:pt x="38007" y="0"/>
                </a:moveTo>
                <a:lnTo>
                  <a:pt x="1169083" y="0"/>
                </a:lnTo>
                <a:cubicBezTo>
                  <a:pt x="1190073" y="0"/>
                  <a:pt x="1207090" y="17016"/>
                  <a:pt x="1207090" y="38007"/>
                </a:cubicBezTo>
                <a:lnTo>
                  <a:pt x="1207090" y="166698"/>
                </a:lnTo>
                <a:cubicBezTo>
                  <a:pt x="1207090" y="187689"/>
                  <a:pt x="1190073" y="204705"/>
                  <a:pt x="1169083" y="204705"/>
                </a:cubicBezTo>
                <a:lnTo>
                  <a:pt x="38007" y="204705"/>
                </a:lnTo>
                <a:cubicBezTo>
                  <a:pt x="17016" y="204705"/>
                  <a:pt x="0" y="187689"/>
                  <a:pt x="0" y="166698"/>
                </a:cubicBezTo>
                <a:lnTo>
                  <a:pt x="0" y="38007"/>
                </a:lnTo>
                <a:cubicBezTo>
                  <a:pt x="0" y="17016"/>
                  <a:pt x="17016" y="0"/>
                  <a:pt x="3800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228429986" name="TextBox 55"/>
          <p:cNvSpPr txBox="1"/>
          <p:nvPr/>
        </p:nvSpPr>
        <p:spPr bwMode="auto">
          <a:xfrm rot="0" flipH="0" flipV="0">
            <a:off x="9321754" y="3474483"/>
            <a:ext cx="2771660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100"/>
          </a:p>
        </p:txBody>
      </p:sp>
      <p:sp>
        <p:nvSpPr>
          <p:cNvPr id="2026111600" name="Freeform 57"/>
          <p:cNvSpPr/>
          <p:nvPr/>
        </p:nvSpPr>
        <p:spPr bwMode="auto">
          <a:xfrm rot="0" flipH="0" flipV="0">
            <a:off x="7203709" y="4105881"/>
            <a:ext cx="895334" cy="470033"/>
          </a:xfrm>
          <a:custGeom>
            <a:avLst/>
            <a:gdLst/>
            <a:ahLst/>
            <a:cxnLst/>
            <a:rect l="l" t="t" r="r" b="b"/>
            <a:pathLst>
              <a:path w="389928" h="204705" fill="norm" stroke="1" extrusionOk="0">
                <a:moveTo>
                  <a:pt x="102353" y="0"/>
                </a:moveTo>
                <a:lnTo>
                  <a:pt x="287576" y="0"/>
                </a:lnTo>
                <a:cubicBezTo>
                  <a:pt x="344103" y="0"/>
                  <a:pt x="389928" y="45825"/>
                  <a:pt x="389928" y="102353"/>
                </a:cubicBezTo>
                <a:lnTo>
                  <a:pt x="389928" y="102353"/>
                </a:lnTo>
                <a:cubicBezTo>
                  <a:pt x="389928" y="129498"/>
                  <a:pt x="379145" y="155532"/>
                  <a:pt x="359950" y="174727"/>
                </a:cubicBezTo>
                <a:cubicBezTo>
                  <a:pt x="340755" y="193921"/>
                  <a:pt x="314721" y="204705"/>
                  <a:pt x="287576" y="204705"/>
                </a:cubicBezTo>
                <a:lnTo>
                  <a:pt x="102353" y="204705"/>
                </a:lnTo>
                <a:cubicBezTo>
                  <a:pt x="45825" y="204705"/>
                  <a:pt x="0" y="158880"/>
                  <a:pt x="0" y="102353"/>
                </a:cubicBezTo>
                <a:lnTo>
                  <a:pt x="0" y="102353"/>
                </a:lnTo>
                <a:cubicBezTo>
                  <a:pt x="0" y="45825"/>
                  <a:pt x="45825" y="0"/>
                  <a:pt x="102353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856461863" name="TextBox 58"/>
          <p:cNvSpPr txBox="1"/>
          <p:nvPr/>
        </p:nvSpPr>
        <p:spPr bwMode="auto">
          <a:xfrm rot="0" flipH="0" flipV="0">
            <a:off x="7203709" y="4040267"/>
            <a:ext cx="895334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Toegang</a:t>
            </a:r>
            <a:endParaRPr sz="1100"/>
          </a:p>
        </p:txBody>
      </p:sp>
      <p:sp>
        <p:nvSpPr>
          <p:cNvPr id="1985657311" name="Freeform 60"/>
          <p:cNvSpPr/>
          <p:nvPr/>
        </p:nvSpPr>
        <p:spPr bwMode="auto">
          <a:xfrm rot="0" flipH="0" flipV="0">
            <a:off x="8383591" y="4105881"/>
            <a:ext cx="3709823" cy="470033"/>
          </a:xfrm>
          <a:custGeom>
            <a:avLst/>
            <a:gdLst/>
            <a:ahLst/>
            <a:cxnLst/>
            <a:rect l="l" t="t" r="r" b="b"/>
            <a:pathLst>
              <a:path w="1615671" h="204705" fill="norm" stroke="1" extrusionOk="0">
                <a:moveTo>
                  <a:pt x="28396" y="0"/>
                </a:moveTo>
                <a:lnTo>
                  <a:pt x="1587275" y="0"/>
                </a:lnTo>
                <a:cubicBezTo>
                  <a:pt x="1594806" y="0"/>
                  <a:pt x="1602029" y="2992"/>
                  <a:pt x="1607354" y="8317"/>
                </a:cubicBezTo>
                <a:cubicBezTo>
                  <a:pt x="1612679" y="13642"/>
                  <a:pt x="1615671" y="20865"/>
                  <a:pt x="1615671" y="28396"/>
                </a:cubicBezTo>
                <a:lnTo>
                  <a:pt x="1615671" y="176309"/>
                </a:lnTo>
                <a:cubicBezTo>
                  <a:pt x="1615671" y="183840"/>
                  <a:pt x="1612679" y="191063"/>
                  <a:pt x="1607354" y="196388"/>
                </a:cubicBezTo>
                <a:cubicBezTo>
                  <a:pt x="1602029" y="201713"/>
                  <a:pt x="1594806" y="204705"/>
                  <a:pt x="1587275" y="204705"/>
                </a:cubicBezTo>
                <a:lnTo>
                  <a:pt x="28396" y="204705"/>
                </a:lnTo>
                <a:cubicBezTo>
                  <a:pt x="20865" y="204705"/>
                  <a:pt x="13642" y="201713"/>
                  <a:pt x="8317" y="196388"/>
                </a:cubicBezTo>
                <a:cubicBezTo>
                  <a:pt x="2992" y="191063"/>
                  <a:pt x="0" y="183840"/>
                  <a:pt x="0" y="176309"/>
                </a:cubicBezTo>
                <a:lnTo>
                  <a:pt x="0" y="28396"/>
                </a:lnTo>
                <a:cubicBezTo>
                  <a:pt x="0" y="20865"/>
                  <a:pt x="2992" y="13642"/>
                  <a:pt x="8317" y="8317"/>
                </a:cubicBezTo>
                <a:cubicBezTo>
                  <a:pt x="13642" y="2992"/>
                  <a:pt x="20865" y="0"/>
                  <a:pt x="28396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172280863" name="TextBox 61"/>
          <p:cNvSpPr txBox="1"/>
          <p:nvPr/>
        </p:nvSpPr>
        <p:spPr bwMode="auto">
          <a:xfrm rot="0" flipH="0" flipV="0">
            <a:off x="8383591" y="4040267"/>
            <a:ext cx="3709823" cy="535646"/>
          </a:xfrm>
          <a:prstGeom prst="rect">
            <a:avLst/>
          </a:prstGeom>
          <a:grpFill/>
        </p:spPr>
        <p:txBody>
          <a:bodyPr lIns="50799" tIns="50799" rIns="50799" bIns="50799" rtlCol="0" anchor="ctr"/>
          <a:lstStyle/>
          <a:p>
            <a:pPr algn="ctr">
              <a:lnSpc>
                <a:spcPts val="2100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Pakket</a:t>
            </a:r>
            <a:endParaRPr sz="1100"/>
          </a:p>
        </p:txBody>
      </p:sp>
      <p:grpSp>
        <p:nvGrpSpPr>
          <p:cNvPr id="433854289" name="Group 62"/>
          <p:cNvGrpSpPr/>
          <p:nvPr/>
        </p:nvGrpSpPr>
        <p:grpSpPr bwMode="auto">
          <a:xfrm rot="0" flipH="0" flipV="0">
            <a:off x="7448715" y="5236100"/>
            <a:ext cx="4644700" cy="660984"/>
            <a:chOff x="0" y="0"/>
            <a:chExt cx="4644700" cy="660984"/>
          </a:xfrm>
        </p:grpSpPr>
        <p:sp>
          <p:nvSpPr>
            <p:cNvPr id="63" name="Freeform 63"/>
            <p:cNvSpPr/>
            <p:nvPr/>
          </p:nvSpPr>
          <p:spPr bwMode="auto">
            <a:xfrm rot="0" flipH="0" flipV="0">
              <a:off x="0" y="0"/>
              <a:ext cx="4644700" cy="660984"/>
            </a:xfrm>
            <a:custGeom>
              <a:avLst/>
              <a:gdLst/>
              <a:ahLst/>
              <a:cxnLst/>
              <a:rect l="l" t="t" r="r" b="b"/>
              <a:pathLst>
                <a:path w="2022820" h="287867" fill="norm" stroke="1" extrusionOk="0">
                  <a:moveTo>
                    <a:pt x="22680" y="0"/>
                  </a:moveTo>
                  <a:lnTo>
                    <a:pt x="2000140" y="0"/>
                  </a:lnTo>
                  <a:cubicBezTo>
                    <a:pt x="2012666" y="0"/>
                    <a:pt x="2022820" y="10154"/>
                    <a:pt x="2022820" y="22680"/>
                  </a:cubicBezTo>
                  <a:lnTo>
                    <a:pt x="2022820" y="265186"/>
                  </a:lnTo>
                  <a:cubicBezTo>
                    <a:pt x="2022820" y="271202"/>
                    <a:pt x="2020431" y="276970"/>
                    <a:pt x="2016177" y="281224"/>
                  </a:cubicBezTo>
                  <a:cubicBezTo>
                    <a:pt x="2011924" y="285477"/>
                    <a:pt x="2006155" y="287867"/>
                    <a:pt x="2000140" y="287867"/>
                  </a:cubicBezTo>
                  <a:lnTo>
                    <a:pt x="22680" y="287867"/>
                  </a:lnTo>
                  <a:cubicBezTo>
                    <a:pt x="16665" y="287867"/>
                    <a:pt x="10896" y="285477"/>
                    <a:pt x="6643" y="281224"/>
                  </a:cubicBezTo>
                  <a:cubicBezTo>
                    <a:pt x="2390" y="276970"/>
                    <a:pt x="0" y="271202"/>
                    <a:pt x="0" y="265186"/>
                  </a:cubicBezTo>
                  <a:lnTo>
                    <a:pt x="0" y="22680"/>
                  </a:lnTo>
                  <a:cubicBezTo>
                    <a:pt x="0" y="16665"/>
                    <a:pt x="2390" y="10896"/>
                    <a:pt x="6643" y="6643"/>
                  </a:cubicBezTo>
                  <a:cubicBezTo>
                    <a:pt x="10896" y="2390"/>
                    <a:pt x="16665" y="0"/>
                    <a:pt x="2268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defRPr/>
              </a:pPr>
              <a:endParaRPr sz="1100"/>
            </a:p>
          </p:txBody>
        </p:sp>
        <p:sp>
          <p:nvSpPr>
            <p:cNvPr id="64" name="TextBox 64"/>
            <p:cNvSpPr txBox="1"/>
            <p:nvPr/>
          </p:nvSpPr>
          <p:spPr bwMode="auto">
            <a:xfrm>
              <a:off x="0" y="-65612"/>
              <a:ext cx="4644700" cy="726597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1001000011001100100111011011011010101010010</a:t>
              </a:r>
              <a:endParaRPr sz="1100"/>
            </a:p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101010101010101010101010101011010110101001</a:t>
              </a:r>
              <a:endParaRPr sz="1100"/>
            </a:p>
          </p:txBody>
        </p:sp>
      </p:grpSp>
      <p:sp>
        <p:nvSpPr>
          <p:cNvPr id="236351379" name="Freeform 65"/>
          <p:cNvSpPr/>
          <p:nvPr/>
        </p:nvSpPr>
        <p:spPr bwMode="auto">
          <a:xfrm rot="0" flipH="0" flipV="0">
            <a:off x="5202930" y="5444638"/>
            <a:ext cx="1770222" cy="196333"/>
          </a:xfrm>
          <a:custGeom>
            <a:avLst/>
            <a:gdLst/>
            <a:ahLst/>
            <a:cxnLst/>
            <a:rect l="l" t="t" r="r" b="b"/>
            <a:pathLst>
              <a:path w="1951473" h="216436" fill="norm" stroke="1" extrusionOk="0">
                <a:moveTo>
                  <a:pt x="0" y="0"/>
                </a:moveTo>
                <a:lnTo>
                  <a:pt x="1951472" y="0"/>
                </a:lnTo>
                <a:lnTo>
                  <a:pt x="1951472" y="216436"/>
                </a:lnTo>
                <a:lnTo>
                  <a:pt x="0" y="2164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100"/>
          </a:p>
        </p:txBody>
      </p:sp>
      <p:sp>
        <p:nvSpPr>
          <p:cNvPr id="155423465" name="TextBox 66"/>
          <p:cNvSpPr txBox="1"/>
          <p:nvPr/>
        </p:nvSpPr>
        <p:spPr bwMode="auto">
          <a:xfrm rot="0" flipH="0" flipV="0">
            <a:off x="251478" y="816775"/>
            <a:ext cx="3420407" cy="124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l">
              <a:lnSpc>
                <a:spcPts val="1960"/>
              </a:lnSpc>
              <a:defRPr/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Peer-to-peer communicatie</a:t>
            </a:r>
            <a:endParaRPr lang="en-US" sz="1100" b="1">
              <a:solidFill>
                <a:srgbClr val="000000"/>
              </a:solidFill>
              <a:latin typeface="IBM Plex Sans Bold"/>
              <a:ea typeface="IBM Plex Sans Bold"/>
              <a:cs typeface="IBM Plex Sans Bold"/>
            </a:endParaRP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Inkapseling</a:t>
            </a:r>
          </a:p>
          <a:p>
            <a:pPr algn="l" lvl="1">
              <a:lnSpc>
                <a:spcPts val="1959"/>
              </a:lnSpc>
            </a:pPr>
          </a:p>
          <a:p>
            <a:pPr algn="l" lvl="1">
              <a:lnSpc>
                <a:spcPts val="1960"/>
              </a:lnSpc>
            </a:pPr>
            <a:r>
              <a:rPr sz="1100" b="1" lang="en-US">
                <a:solidFill>
                  <a:srgbClr val="000000"/>
                </a:solidFill>
                <a:latin typeface="IBM Plex Sans Bold"/>
              </a:rPr>
              <a:t>Decapsulatie</a:t>
            </a:r>
          </a:p>
        </p:txBody>
      </p:sp>
      <p:sp>
        <p:nvSpPr>
          <p:cNvPr id="782404110" name="TextBox 67"/>
          <p:cNvSpPr txBox="1"/>
          <p:nvPr/>
        </p:nvSpPr>
        <p:spPr bwMode="auto">
          <a:xfrm rot="0" flipH="0" flipV="0">
            <a:off x="1311853" y="4832652"/>
            <a:ext cx="1999629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Frame</a:t>
            </a:r>
            <a:endParaRPr sz="1100"/>
          </a:p>
        </p:txBody>
      </p:sp>
      <p:sp>
        <p:nvSpPr>
          <p:cNvPr id="587217348" name="TextBox 68"/>
          <p:cNvSpPr txBox="1"/>
          <p:nvPr/>
        </p:nvSpPr>
        <p:spPr bwMode="auto">
          <a:xfrm rot="0" flipH="0" flipV="0">
            <a:off x="8460344" y="4832652"/>
            <a:ext cx="2708543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Frame</a:t>
            </a:r>
            <a:endParaRPr sz="1100"/>
          </a:p>
        </p:txBody>
      </p:sp>
      <p:sp>
        <p:nvSpPr>
          <p:cNvPr id="89769748" name="TextBox 69"/>
          <p:cNvSpPr txBox="1"/>
          <p:nvPr/>
        </p:nvSpPr>
        <p:spPr bwMode="auto">
          <a:xfrm rot="0" flipH="0" flipV="0">
            <a:off x="5395041" y="5688567"/>
            <a:ext cx="1425651" cy="267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defRPr/>
            </a:pPr>
            <a:r>
              <a:rPr sz="1000" b="1" lang="en-US">
                <a:solidFill>
                  <a:srgbClr val="000000"/>
                </a:solidFill>
                <a:latin typeface="IBM Plex Sans Bold"/>
              </a:rPr>
              <a:t>Binaire stroom</a:t>
            </a:r>
            <a:endParaRPr sz="1100"/>
          </a:p>
        </p:txBody>
      </p:sp>
      <p:sp>
        <p:nvSpPr>
          <p:cNvPr id="74729281" name="AutoShape 70"/>
          <p:cNvSpPr/>
          <p:nvPr/>
        </p:nvSpPr>
        <p:spPr bwMode="auto">
          <a:xfrm flipH="1" flipV="0">
            <a:off x="5451924" y="1119167"/>
            <a:ext cx="582015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25788540" name="AutoShape 71"/>
          <p:cNvSpPr/>
          <p:nvPr/>
        </p:nvSpPr>
        <p:spPr bwMode="auto">
          <a:xfrm flipH="1" flipV="0">
            <a:off x="5586821" y="2053367"/>
            <a:ext cx="5519589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92340514" name="AutoShape 72"/>
          <p:cNvSpPr/>
          <p:nvPr/>
        </p:nvSpPr>
        <p:spPr bwMode="auto">
          <a:xfrm flipH="1" flipV="0">
            <a:off x="5490764" y="2619154"/>
            <a:ext cx="458142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557449670" name="AutoShape 73"/>
          <p:cNvSpPr/>
          <p:nvPr/>
        </p:nvSpPr>
        <p:spPr bwMode="auto">
          <a:xfrm flipH="1" flipV="0">
            <a:off x="5395043" y="3184939"/>
            <a:ext cx="3646548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78542978" name="AutoShape 74"/>
          <p:cNvSpPr/>
          <p:nvPr/>
        </p:nvSpPr>
        <p:spPr bwMode="auto">
          <a:xfrm flipH="1" flipV="0">
            <a:off x="5298986" y="3750721"/>
            <a:ext cx="2708385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979992226" name="AutoShape 75"/>
          <p:cNvSpPr/>
          <p:nvPr/>
        </p:nvSpPr>
        <p:spPr bwMode="auto">
          <a:xfrm flipH="1" flipV="0">
            <a:off x="5202930" y="4316508"/>
            <a:ext cx="1770222" cy="326"/>
          </a:xfrm>
          <a:prstGeom prst="line">
            <a:avLst/>
          </a:prstGeom>
          <a:ln w="19050" cap="flat">
            <a:solidFill>
              <a:srgbClr val="000000"/>
            </a:solidFill>
            <a:prstDash val="sysDash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815660637" name="AutoShape 76"/>
          <p:cNvSpPr/>
          <p:nvPr/>
        </p:nvSpPr>
        <p:spPr bwMode="auto">
          <a:xfrm flipH="0" flipV="1">
            <a:off x="6484140" y="2366774"/>
            <a:ext cx="0" cy="30577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grpSp>
        <p:nvGrpSpPr>
          <p:cNvPr id="193347923" name=""/>
          <p:cNvGrpSpPr/>
          <p:nvPr/>
        </p:nvGrpSpPr>
        <p:grpSpPr bwMode="auto">
          <a:xfrm>
            <a:off x="4126343" y="778855"/>
            <a:ext cx="7967070" cy="1533920"/>
            <a:chOff x="0" y="0"/>
            <a:chExt cx="7967070" cy="1533920"/>
          </a:xfrm>
        </p:grpSpPr>
        <p:sp>
          <p:nvSpPr>
            <p:cNvPr id="1534832854" name="TextBox 5"/>
            <p:cNvSpPr txBox="1"/>
            <p:nvPr/>
          </p:nvSpPr>
          <p:spPr bwMode="auto">
            <a:xfrm rot="0" flipH="0" flipV="0">
              <a:off x="0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  <p:sp>
          <p:nvSpPr>
            <p:cNvPr id="1029916751" name="Freeform 6"/>
            <p:cNvSpPr/>
            <p:nvPr/>
          </p:nvSpPr>
          <p:spPr bwMode="auto">
            <a:xfrm rot="0" flipH="0" flipV="0">
              <a:off x="134895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59799805" name="Freeform 7"/>
            <p:cNvSpPr/>
            <p:nvPr/>
          </p:nvSpPr>
          <p:spPr bwMode="auto">
            <a:xfrm rot="0" flipH="0" flipV="0">
              <a:off x="7206633" y="0"/>
              <a:ext cx="594769" cy="758986"/>
            </a:xfrm>
            <a:custGeom>
              <a:avLst/>
              <a:gdLst/>
              <a:ahLst/>
              <a:cxnLst/>
              <a:rect l="l" t="t" r="r" b="b"/>
              <a:pathLst>
                <a:path w="655667" h="836698" fill="norm" stroke="1" extrusionOk="0">
                  <a:moveTo>
                    <a:pt x="0" y="0"/>
                  </a:moveTo>
                  <a:lnTo>
                    <a:pt x="655667" y="0"/>
                  </a:lnTo>
                  <a:lnTo>
                    <a:pt x="655667" y="836698"/>
                  </a:lnTo>
                  <a:lnTo>
                    <a:pt x="0" y="836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994718762" name="TextBox 37"/>
            <p:cNvSpPr txBox="1"/>
            <p:nvPr/>
          </p:nvSpPr>
          <p:spPr bwMode="auto">
            <a:xfrm rot="0" flipH="0" flipV="0">
              <a:off x="7071735" y="998274"/>
              <a:ext cx="895334" cy="535646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2100"/>
                </a:lnSpc>
                <a:defRPr/>
              </a:pPr>
              <a:r>
                <a:rPr lang="en-US" sz="10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Hello</a:t>
              </a:r>
              <a:endParaRPr sz="11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8634663" name="TextBox 21"/>
          <p:cNvSpPr txBox="1"/>
          <p:nvPr/>
        </p:nvSpPr>
        <p:spPr bwMode="auto">
          <a:xfrm rot="0" flipH="0" flipV="0">
            <a:off x="1876970" y="964420"/>
            <a:ext cx="1690948" cy="32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 Bold"/>
              </a:rPr>
              <a:t>Klasse:</a:t>
            </a:r>
            <a:endParaRPr/>
          </a:p>
        </p:txBody>
      </p:sp>
      <p:sp>
        <p:nvSpPr>
          <p:cNvPr id="1476925184" name="TextBox 57"/>
          <p:cNvSpPr txBox="1"/>
          <p:nvPr/>
        </p:nvSpPr>
        <p:spPr bwMode="auto">
          <a:xfrm rot="0" flipH="0" flipV="0">
            <a:off x="8438931" y="1258010"/>
            <a:ext cx="1496810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Maximaal aantal subnetten :</a:t>
            </a:r>
            <a:endParaRPr sz="1400"/>
          </a:p>
        </p:txBody>
      </p:sp>
      <p:sp>
        <p:nvSpPr>
          <p:cNvPr id="124397950" name="TextBox 58"/>
          <p:cNvSpPr txBox="1"/>
          <p:nvPr/>
        </p:nvSpPr>
        <p:spPr bwMode="auto">
          <a:xfrm rot="0" flipH="0" flipV="0">
            <a:off x="10285471" y="1258010"/>
            <a:ext cx="1693093" cy="427079"/>
          </a:xfrm>
          <a:prstGeom prst="rect">
            <a:avLst/>
          </a:prstGeom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 Bold"/>
              </a:rPr>
              <a:t>Maximaal aantal hosts per subnet :</a:t>
            </a:r>
            <a:endParaRPr sz="1400"/>
          </a:p>
        </p:txBody>
      </p:sp>
      <p:grpSp>
        <p:nvGrpSpPr>
          <p:cNvPr id="1239676188" name=""/>
          <p:cNvGrpSpPr/>
          <p:nvPr/>
        </p:nvGrpSpPr>
        <p:grpSpPr bwMode="auto">
          <a:xfrm>
            <a:off x="15756" y="1884044"/>
            <a:ext cx="11357245" cy="4072888"/>
            <a:chOff x="0" y="0"/>
            <a:chExt cx="11357245" cy="4072888"/>
          </a:xfrm>
        </p:grpSpPr>
        <p:grpSp>
          <p:nvGrpSpPr>
            <p:cNvPr id="25814898" name="Group 2"/>
            <p:cNvGrpSpPr/>
            <p:nvPr/>
          </p:nvGrpSpPr>
          <p:grpSpPr bwMode="auto">
            <a:xfrm rot="0">
              <a:off x="3819132" y="293369"/>
              <a:ext cx="4302051" cy="518160"/>
              <a:chOff x="0" y="0"/>
              <a:chExt cx="1699575" cy="204705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69957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699576" h="204705" fill="norm" stroke="1" extrusionOk="0">
                    <a:moveTo>
                      <a:pt x="26994" y="0"/>
                    </a:moveTo>
                    <a:lnTo>
                      <a:pt x="1672582" y="0"/>
                    </a:lnTo>
                    <a:cubicBezTo>
                      <a:pt x="1679741" y="0"/>
                      <a:pt x="1686607" y="2844"/>
                      <a:pt x="1691670" y="7906"/>
                    </a:cubicBezTo>
                    <a:cubicBezTo>
                      <a:pt x="1696732" y="12969"/>
                      <a:pt x="1699576" y="19835"/>
                      <a:pt x="1699576" y="26994"/>
                    </a:cubicBezTo>
                    <a:lnTo>
                      <a:pt x="1699576" y="177711"/>
                    </a:lnTo>
                    <a:cubicBezTo>
                      <a:pt x="1699576" y="192619"/>
                      <a:pt x="1687490" y="204705"/>
                      <a:pt x="1672582" y="204705"/>
                    </a:cubicBezTo>
                    <a:lnTo>
                      <a:pt x="26994" y="204705"/>
                    </a:lnTo>
                    <a:cubicBezTo>
                      <a:pt x="12086" y="204705"/>
                      <a:pt x="0" y="192619"/>
                      <a:pt x="0" y="177711"/>
                    </a:cubicBezTo>
                    <a:lnTo>
                      <a:pt x="0" y="26994"/>
                    </a:lnTo>
                    <a:cubicBezTo>
                      <a:pt x="0" y="12086"/>
                      <a:pt x="12086" y="0"/>
                      <a:pt x="2699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69957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98986141" name="Group 5"/>
            <p:cNvGrpSpPr/>
            <p:nvPr/>
          </p:nvGrpSpPr>
          <p:grpSpPr bwMode="auto">
            <a:xfrm rot="0">
              <a:off x="2372415" y="293369"/>
              <a:ext cx="1408617" cy="518160"/>
              <a:chOff x="0" y="0"/>
              <a:chExt cx="556491" cy="204705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89457338" name="Group 8"/>
            <p:cNvGrpSpPr/>
            <p:nvPr/>
          </p:nvGrpSpPr>
          <p:grpSpPr bwMode="auto">
            <a:xfrm rot="0">
              <a:off x="1861213" y="293369"/>
              <a:ext cx="473102" cy="518160"/>
              <a:chOff x="0" y="0"/>
              <a:chExt cx="186905" cy="204705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186905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86905" h="204705" fill="norm" stroke="1" extrusionOk="0">
                    <a:moveTo>
                      <a:pt x="93452" y="0"/>
                    </a:moveTo>
                    <a:lnTo>
                      <a:pt x="93452" y="0"/>
                    </a:lnTo>
                    <a:cubicBezTo>
                      <a:pt x="145065" y="0"/>
                      <a:pt x="186905" y="41840"/>
                      <a:pt x="186905" y="93452"/>
                    </a:cubicBezTo>
                    <a:lnTo>
                      <a:pt x="186905" y="111253"/>
                    </a:lnTo>
                    <a:cubicBezTo>
                      <a:pt x="186905" y="136038"/>
                      <a:pt x="177059" y="159808"/>
                      <a:pt x="159533" y="177333"/>
                    </a:cubicBezTo>
                    <a:cubicBezTo>
                      <a:pt x="142007" y="194859"/>
                      <a:pt x="118237" y="204705"/>
                      <a:pt x="93452" y="204705"/>
                    </a:cubicBezTo>
                    <a:lnTo>
                      <a:pt x="93452" y="204705"/>
                    </a:lnTo>
                    <a:cubicBezTo>
                      <a:pt x="41840" y="204705"/>
                      <a:pt x="0" y="162865"/>
                      <a:pt x="0" y="111253"/>
                    </a:cubicBezTo>
                    <a:lnTo>
                      <a:pt x="0" y="93452"/>
                    </a:lnTo>
                    <a:cubicBezTo>
                      <a:pt x="0" y="68667"/>
                      <a:pt x="9846" y="44897"/>
                      <a:pt x="27372" y="27372"/>
                    </a:cubicBezTo>
                    <a:cubicBezTo>
                      <a:pt x="44897" y="9846"/>
                      <a:pt x="68667" y="0"/>
                      <a:pt x="934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186905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</a:t>
                </a:r>
                <a:endParaRPr/>
              </a:p>
            </p:txBody>
          </p:sp>
        </p:grpSp>
        <p:grpSp>
          <p:nvGrpSpPr>
            <p:cNvPr id="2006233770" name="Group 11"/>
            <p:cNvGrpSpPr/>
            <p:nvPr/>
          </p:nvGrpSpPr>
          <p:grpSpPr bwMode="auto">
            <a:xfrm rot="0">
              <a:off x="5265849" y="1108709"/>
              <a:ext cx="2855334" cy="518160"/>
              <a:chOff x="0" y="0"/>
              <a:chExt cx="1128033" cy="204705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112803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128033" h="204705" fill="norm" stroke="1" extrusionOk="0">
                    <a:moveTo>
                      <a:pt x="40671" y="0"/>
                    </a:moveTo>
                    <a:lnTo>
                      <a:pt x="1087362" y="0"/>
                    </a:lnTo>
                    <a:cubicBezTo>
                      <a:pt x="1109824" y="0"/>
                      <a:pt x="1128033" y="18209"/>
                      <a:pt x="1128033" y="40671"/>
                    </a:cubicBezTo>
                    <a:lnTo>
                      <a:pt x="1128033" y="164034"/>
                    </a:lnTo>
                    <a:cubicBezTo>
                      <a:pt x="1128033" y="186496"/>
                      <a:pt x="1109824" y="204705"/>
                      <a:pt x="1087362" y="204705"/>
                    </a:cubicBezTo>
                    <a:lnTo>
                      <a:pt x="40671" y="204705"/>
                    </a:lnTo>
                    <a:cubicBezTo>
                      <a:pt x="18209" y="204705"/>
                      <a:pt x="0" y="186496"/>
                      <a:pt x="0" y="164034"/>
                    </a:cubicBezTo>
                    <a:lnTo>
                      <a:pt x="0" y="40671"/>
                    </a:lnTo>
                    <a:cubicBezTo>
                      <a:pt x="0" y="18209"/>
                      <a:pt x="18209" y="0"/>
                      <a:pt x="406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112803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228970262" name="Group 14"/>
            <p:cNvGrpSpPr/>
            <p:nvPr/>
          </p:nvGrpSpPr>
          <p:grpSpPr bwMode="auto">
            <a:xfrm rot="0">
              <a:off x="2562915" y="1108709"/>
              <a:ext cx="2664834" cy="518160"/>
              <a:chOff x="0" y="0"/>
              <a:chExt cx="1052774" cy="204705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105277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052774" h="204705" fill="norm" stroke="1" extrusionOk="0">
                    <a:moveTo>
                      <a:pt x="43578" y="0"/>
                    </a:moveTo>
                    <a:lnTo>
                      <a:pt x="1009196" y="0"/>
                    </a:lnTo>
                    <a:cubicBezTo>
                      <a:pt x="1020753" y="0"/>
                      <a:pt x="1031838" y="4591"/>
                      <a:pt x="1040010" y="12764"/>
                    </a:cubicBezTo>
                    <a:cubicBezTo>
                      <a:pt x="1048183" y="20936"/>
                      <a:pt x="1052774" y="32021"/>
                      <a:pt x="1052774" y="43578"/>
                    </a:cubicBezTo>
                    <a:lnTo>
                      <a:pt x="1052774" y="161127"/>
                    </a:lnTo>
                    <a:cubicBezTo>
                      <a:pt x="1052774" y="185194"/>
                      <a:pt x="1033263" y="204705"/>
                      <a:pt x="1009196" y="204705"/>
                    </a:cubicBezTo>
                    <a:lnTo>
                      <a:pt x="43578" y="204705"/>
                    </a:lnTo>
                    <a:cubicBezTo>
                      <a:pt x="19511" y="204705"/>
                      <a:pt x="0" y="185194"/>
                      <a:pt x="0" y="161127"/>
                    </a:cubicBezTo>
                    <a:lnTo>
                      <a:pt x="0" y="43578"/>
                    </a:lnTo>
                    <a:cubicBezTo>
                      <a:pt x="0" y="19511"/>
                      <a:pt x="19511" y="0"/>
                      <a:pt x="435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28575"/>
                <a:ext cx="105277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253399489" name="Group 17"/>
            <p:cNvGrpSpPr/>
            <p:nvPr/>
          </p:nvGrpSpPr>
          <p:grpSpPr bwMode="auto">
            <a:xfrm rot="0">
              <a:off x="1861213" y="1108709"/>
              <a:ext cx="663602" cy="518160"/>
              <a:chOff x="0" y="0"/>
              <a:chExt cx="262164" cy="204705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26216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62164" h="204705" fill="norm" stroke="1" extrusionOk="0">
                    <a:moveTo>
                      <a:pt x="102353" y="0"/>
                    </a:moveTo>
                    <a:lnTo>
                      <a:pt x="159811" y="0"/>
                    </a:lnTo>
                    <a:cubicBezTo>
                      <a:pt x="216339" y="0"/>
                      <a:pt x="262164" y="45825"/>
                      <a:pt x="262164" y="102353"/>
                    </a:cubicBezTo>
                    <a:lnTo>
                      <a:pt x="262164" y="102353"/>
                    </a:lnTo>
                    <a:cubicBezTo>
                      <a:pt x="262164" y="129498"/>
                      <a:pt x="251380" y="155532"/>
                      <a:pt x="232185" y="174727"/>
                    </a:cubicBezTo>
                    <a:cubicBezTo>
                      <a:pt x="212991" y="193921"/>
                      <a:pt x="186957" y="204705"/>
                      <a:pt x="159811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28575"/>
                <a:ext cx="26216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sp>
          <p:nvSpPr>
            <p:cNvPr id="1049861385" name="TextBox 22"/>
            <p:cNvSpPr txBox="1"/>
            <p:nvPr/>
          </p:nvSpPr>
          <p:spPr bwMode="auto">
            <a:xfrm rot="-5400000" flipH="0" flipV="0">
              <a:off x="-1149500" y="1149500"/>
              <a:ext cx="2619402" cy="32040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20"/>
                </a:lnSpc>
                <a:defRPr/>
              </a:pPr>
              <a:r>
                <a:rPr lang="en-US" sz="18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unicast</a:t>
              </a:r>
              <a:endParaRPr/>
            </a:p>
          </p:txBody>
        </p:sp>
        <p:sp>
          <p:nvSpPr>
            <p:cNvPr id="1527567418" name="TextBox 23"/>
            <p:cNvSpPr txBox="1"/>
            <p:nvPr/>
          </p:nvSpPr>
          <p:spPr bwMode="auto">
            <a:xfrm rot="0">
              <a:off x="865876" y="32575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A</a:t>
              </a:r>
              <a:endParaRPr/>
            </a:p>
          </p:txBody>
        </p:sp>
        <p:sp>
          <p:nvSpPr>
            <p:cNvPr id="1603746806" name="TextBox 24"/>
            <p:cNvSpPr txBox="1"/>
            <p:nvPr/>
          </p:nvSpPr>
          <p:spPr bwMode="auto">
            <a:xfrm rot="0">
              <a:off x="865876" y="114109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B</a:t>
              </a:r>
              <a:endParaRPr/>
            </a:p>
          </p:txBody>
        </p:sp>
        <p:sp>
          <p:nvSpPr>
            <p:cNvPr id="31391673" name="TextBox 25"/>
            <p:cNvSpPr txBox="1"/>
            <p:nvPr/>
          </p:nvSpPr>
          <p:spPr bwMode="auto">
            <a:xfrm rot="0">
              <a:off x="865876" y="195643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C</a:t>
              </a:r>
              <a:endParaRPr/>
            </a:p>
          </p:txBody>
        </p:sp>
        <p:sp>
          <p:nvSpPr>
            <p:cNvPr id="1220100703" name="TextBox 26"/>
            <p:cNvSpPr txBox="1"/>
            <p:nvPr/>
          </p:nvSpPr>
          <p:spPr bwMode="auto">
            <a:xfrm rot="0">
              <a:off x="865876" y="2771775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D</a:t>
              </a:r>
              <a:endParaRPr/>
            </a:p>
          </p:txBody>
        </p:sp>
        <p:sp>
          <p:nvSpPr>
            <p:cNvPr id="2101753087" name="TextBox 27"/>
            <p:cNvSpPr txBox="1"/>
            <p:nvPr/>
          </p:nvSpPr>
          <p:spPr bwMode="auto">
            <a:xfrm rot="0">
              <a:off x="865876" y="3587114"/>
              <a:ext cx="765543" cy="40576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59"/>
                </a:lnSpc>
                <a:defRPr/>
              </a:pPr>
              <a:r>
                <a:rPr lang="en-US" sz="24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E</a:t>
              </a:r>
              <a:endParaRPr/>
            </a:p>
          </p:txBody>
        </p:sp>
        <p:grpSp>
          <p:nvGrpSpPr>
            <p:cNvPr id="1557327651" name="Group 28"/>
            <p:cNvGrpSpPr/>
            <p:nvPr/>
          </p:nvGrpSpPr>
          <p:grpSpPr bwMode="auto">
            <a:xfrm rot="0">
              <a:off x="6712566" y="1922144"/>
              <a:ext cx="1408617" cy="518160"/>
              <a:chOff x="0" y="0"/>
              <a:chExt cx="556491" cy="204705"/>
            </a:xfrm>
          </p:grpSpPr>
          <p:sp>
            <p:nvSpPr>
              <p:cNvPr id="29" name="Freeform 29"/>
              <p:cNvSpPr/>
              <p:nvPr/>
            </p:nvSpPr>
            <p:spPr bwMode="auto">
              <a:xfrm rot="0" flipH="0" flipV="0">
                <a:off x="0" y="0"/>
                <a:ext cx="556491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556491" h="204705" fill="norm" stroke="1" extrusionOk="0">
                    <a:moveTo>
                      <a:pt x="82442" y="0"/>
                    </a:moveTo>
                    <a:lnTo>
                      <a:pt x="474049" y="0"/>
                    </a:lnTo>
                    <a:cubicBezTo>
                      <a:pt x="495914" y="0"/>
                      <a:pt x="516883" y="8686"/>
                      <a:pt x="532344" y="24147"/>
                    </a:cubicBezTo>
                    <a:cubicBezTo>
                      <a:pt x="547805" y="39607"/>
                      <a:pt x="556491" y="60577"/>
                      <a:pt x="556491" y="82442"/>
                    </a:cubicBezTo>
                    <a:lnTo>
                      <a:pt x="556491" y="122263"/>
                    </a:lnTo>
                    <a:cubicBezTo>
                      <a:pt x="556491" y="144128"/>
                      <a:pt x="547805" y="165098"/>
                      <a:pt x="532344" y="180558"/>
                    </a:cubicBezTo>
                    <a:cubicBezTo>
                      <a:pt x="516883" y="196019"/>
                      <a:pt x="495914" y="204705"/>
                      <a:pt x="474049" y="204705"/>
                    </a:cubicBezTo>
                    <a:lnTo>
                      <a:pt x="82442" y="204705"/>
                    </a:lnTo>
                    <a:cubicBezTo>
                      <a:pt x="60577" y="204705"/>
                      <a:pt x="39607" y="196019"/>
                      <a:pt x="24147" y="180558"/>
                    </a:cubicBezTo>
                    <a:cubicBezTo>
                      <a:pt x="8686" y="165098"/>
                      <a:pt x="0" y="144128"/>
                      <a:pt x="0" y="122263"/>
                    </a:cubicBezTo>
                    <a:lnTo>
                      <a:pt x="0" y="82442"/>
                    </a:lnTo>
                    <a:cubicBezTo>
                      <a:pt x="0" y="60577"/>
                      <a:pt x="8686" y="39607"/>
                      <a:pt x="24147" y="24147"/>
                    </a:cubicBezTo>
                    <a:cubicBezTo>
                      <a:pt x="39607" y="8686"/>
                      <a:pt x="60577" y="0"/>
                      <a:pt x="8244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 bwMode="auto">
              <a:xfrm>
                <a:off x="0" y="-28575"/>
                <a:ext cx="556491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hostid</a:t>
                </a:r>
                <a:endParaRPr/>
              </a:p>
            </p:txBody>
          </p:sp>
        </p:grpSp>
        <p:grpSp>
          <p:nvGrpSpPr>
            <p:cNvPr id="705782021" name="Group 31"/>
            <p:cNvGrpSpPr/>
            <p:nvPr/>
          </p:nvGrpSpPr>
          <p:grpSpPr bwMode="auto">
            <a:xfrm rot="0">
              <a:off x="2703268" y="1922144"/>
              <a:ext cx="3971198" cy="518160"/>
              <a:chOff x="0" y="0"/>
              <a:chExt cx="1568869" cy="204705"/>
            </a:xfrm>
          </p:grpSpPr>
          <p:sp>
            <p:nvSpPr>
              <p:cNvPr id="32" name="Freeform 32"/>
              <p:cNvSpPr/>
              <p:nvPr/>
            </p:nvSpPr>
            <p:spPr bwMode="auto">
              <a:xfrm rot="0" flipH="0" flipV="0">
                <a:off x="0" y="0"/>
                <a:ext cx="1568869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568869" h="204705" fill="norm" stroke="1" extrusionOk="0">
                    <a:moveTo>
                      <a:pt x="29243" y="0"/>
                    </a:moveTo>
                    <a:lnTo>
                      <a:pt x="1539626" y="0"/>
                    </a:lnTo>
                    <a:cubicBezTo>
                      <a:pt x="1555776" y="0"/>
                      <a:pt x="1568869" y="13092"/>
                      <a:pt x="1568869" y="29243"/>
                    </a:cubicBezTo>
                    <a:lnTo>
                      <a:pt x="1568869" y="175462"/>
                    </a:lnTo>
                    <a:cubicBezTo>
                      <a:pt x="1568869" y="191613"/>
                      <a:pt x="1555776" y="204705"/>
                      <a:pt x="1539626" y="204705"/>
                    </a:cubicBezTo>
                    <a:lnTo>
                      <a:pt x="29243" y="204705"/>
                    </a:lnTo>
                    <a:cubicBezTo>
                      <a:pt x="13092" y="204705"/>
                      <a:pt x="0" y="191613"/>
                      <a:pt x="0" y="175462"/>
                    </a:cubicBezTo>
                    <a:lnTo>
                      <a:pt x="0" y="29243"/>
                    </a:lnTo>
                    <a:cubicBezTo>
                      <a:pt x="0" y="13092"/>
                      <a:pt x="13092" y="0"/>
                      <a:pt x="292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3" name="TextBox 33"/>
              <p:cNvSpPr txBox="1"/>
              <p:nvPr/>
            </p:nvSpPr>
            <p:spPr bwMode="auto">
              <a:xfrm>
                <a:off x="0" y="-28575"/>
                <a:ext cx="1568869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973352030" name="Group 34"/>
            <p:cNvGrpSpPr/>
            <p:nvPr/>
          </p:nvGrpSpPr>
          <p:grpSpPr bwMode="auto">
            <a:xfrm rot="0">
              <a:off x="1861213" y="1922144"/>
              <a:ext cx="803955" cy="518160"/>
              <a:chOff x="0" y="0"/>
              <a:chExt cx="317612" cy="204705"/>
            </a:xfrm>
          </p:grpSpPr>
          <p:sp>
            <p:nvSpPr>
              <p:cNvPr id="35" name="Freeform 35"/>
              <p:cNvSpPr/>
              <p:nvPr/>
            </p:nvSpPr>
            <p:spPr bwMode="auto">
              <a:xfrm rot="0" flipH="0" flipV="0">
                <a:off x="0" y="0"/>
                <a:ext cx="317612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17612" h="204705" fill="norm" stroke="1" extrusionOk="0">
                    <a:moveTo>
                      <a:pt x="102353" y="0"/>
                    </a:moveTo>
                    <a:lnTo>
                      <a:pt x="215259" y="0"/>
                    </a:lnTo>
                    <a:cubicBezTo>
                      <a:pt x="242405" y="0"/>
                      <a:pt x="268439" y="10784"/>
                      <a:pt x="287633" y="29978"/>
                    </a:cubicBezTo>
                    <a:cubicBezTo>
                      <a:pt x="306828" y="49173"/>
                      <a:pt x="317612" y="75207"/>
                      <a:pt x="317612" y="102353"/>
                    </a:cubicBezTo>
                    <a:lnTo>
                      <a:pt x="317612" y="102353"/>
                    </a:lnTo>
                    <a:cubicBezTo>
                      <a:pt x="317612" y="158880"/>
                      <a:pt x="271787" y="204705"/>
                      <a:pt x="215259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6" name="TextBox 36"/>
              <p:cNvSpPr txBox="1"/>
              <p:nvPr/>
            </p:nvSpPr>
            <p:spPr bwMode="auto">
              <a:xfrm>
                <a:off x="0" y="-28575"/>
                <a:ext cx="317612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110</a:t>
                </a:r>
                <a:endParaRPr/>
              </a:p>
            </p:txBody>
          </p:sp>
        </p:grpSp>
        <p:grpSp>
          <p:nvGrpSpPr>
            <p:cNvPr id="1356703754" name="Group 37"/>
            <p:cNvGrpSpPr/>
            <p:nvPr/>
          </p:nvGrpSpPr>
          <p:grpSpPr bwMode="auto">
            <a:xfrm rot="0">
              <a:off x="2897217" y="2739389"/>
              <a:ext cx="5223966" cy="518160"/>
              <a:chOff x="0" y="0"/>
              <a:chExt cx="2063790" cy="204705"/>
            </a:xfrm>
          </p:grpSpPr>
          <p:sp>
            <p:nvSpPr>
              <p:cNvPr id="38" name="Freeform 38"/>
              <p:cNvSpPr/>
              <p:nvPr/>
            </p:nvSpPr>
            <p:spPr bwMode="auto">
              <a:xfrm rot="0" flipH="0" flipV="0">
                <a:off x="0" y="0"/>
                <a:ext cx="2063790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2063790" h="204705" fill="norm" stroke="1" extrusionOk="0">
                    <a:moveTo>
                      <a:pt x="22230" y="0"/>
                    </a:moveTo>
                    <a:lnTo>
                      <a:pt x="2041559" y="0"/>
                    </a:lnTo>
                    <a:cubicBezTo>
                      <a:pt x="2053837" y="0"/>
                      <a:pt x="2063790" y="9953"/>
                      <a:pt x="2063790" y="22230"/>
                    </a:cubicBezTo>
                    <a:lnTo>
                      <a:pt x="2063790" y="182475"/>
                    </a:lnTo>
                    <a:cubicBezTo>
                      <a:pt x="2063790" y="188371"/>
                      <a:pt x="2061447" y="194025"/>
                      <a:pt x="2057278" y="198194"/>
                    </a:cubicBezTo>
                    <a:cubicBezTo>
                      <a:pt x="2053110" y="202363"/>
                      <a:pt x="2047455" y="204705"/>
                      <a:pt x="2041559" y="204705"/>
                    </a:cubicBezTo>
                    <a:lnTo>
                      <a:pt x="22230" y="204705"/>
                    </a:lnTo>
                    <a:cubicBezTo>
                      <a:pt x="9953" y="204705"/>
                      <a:pt x="0" y="194752"/>
                      <a:pt x="0" y="182475"/>
                    </a:cubicBezTo>
                    <a:lnTo>
                      <a:pt x="0" y="22230"/>
                    </a:lnTo>
                    <a:cubicBezTo>
                      <a:pt x="0" y="9953"/>
                      <a:pt x="9953" y="0"/>
                      <a:pt x="222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9" name="TextBox 39"/>
              <p:cNvSpPr txBox="1"/>
              <p:nvPr/>
            </p:nvSpPr>
            <p:spPr bwMode="auto">
              <a:xfrm>
                <a:off x="0" y="-28575"/>
                <a:ext cx="2063790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multicast</a:t>
                </a:r>
                <a:endParaRPr/>
              </a:p>
            </p:txBody>
          </p:sp>
        </p:grpSp>
        <p:grpSp>
          <p:nvGrpSpPr>
            <p:cNvPr id="2056830987" name="Group 40"/>
            <p:cNvGrpSpPr/>
            <p:nvPr/>
          </p:nvGrpSpPr>
          <p:grpSpPr bwMode="auto">
            <a:xfrm rot="0">
              <a:off x="1861213" y="2739389"/>
              <a:ext cx="1002619" cy="518160"/>
              <a:chOff x="0" y="0"/>
              <a:chExt cx="396096" cy="204705"/>
            </a:xfrm>
          </p:grpSpPr>
          <p:sp>
            <p:nvSpPr>
              <p:cNvPr id="41" name="Freeform 41"/>
              <p:cNvSpPr/>
              <p:nvPr/>
            </p:nvSpPr>
            <p:spPr bwMode="auto">
              <a:xfrm rot="0" flipH="0" flipV="0">
                <a:off x="0" y="0"/>
                <a:ext cx="396096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396096" h="204705" fill="norm" stroke="1" extrusionOk="0">
                    <a:moveTo>
                      <a:pt x="102353" y="0"/>
                    </a:moveTo>
                    <a:lnTo>
                      <a:pt x="293744" y="0"/>
                    </a:lnTo>
                    <a:cubicBezTo>
                      <a:pt x="350272" y="0"/>
                      <a:pt x="396096" y="45825"/>
                      <a:pt x="396096" y="102353"/>
                    </a:cubicBezTo>
                    <a:lnTo>
                      <a:pt x="396096" y="102353"/>
                    </a:lnTo>
                    <a:cubicBezTo>
                      <a:pt x="396096" y="129498"/>
                      <a:pt x="385313" y="155532"/>
                      <a:pt x="366118" y="174727"/>
                    </a:cubicBezTo>
                    <a:cubicBezTo>
                      <a:pt x="346923" y="193921"/>
                      <a:pt x="320889" y="204705"/>
                      <a:pt x="293744" y="204705"/>
                    </a:cubicBezTo>
                    <a:lnTo>
                      <a:pt x="102353" y="204705"/>
                    </a:lnTo>
                    <a:cubicBezTo>
                      <a:pt x="45825" y="204705"/>
                      <a:pt x="0" y="158880"/>
                      <a:pt x="0" y="102353"/>
                    </a:cubicBezTo>
                    <a:lnTo>
                      <a:pt x="0" y="102353"/>
                    </a:lnTo>
                    <a:cubicBezTo>
                      <a:pt x="0" y="45825"/>
                      <a:pt x="45825" y="0"/>
                      <a:pt x="1023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2" name="TextBox 42"/>
              <p:cNvSpPr txBox="1"/>
              <p:nvPr/>
            </p:nvSpPr>
            <p:spPr bwMode="auto">
              <a:xfrm>
                <a:off x="0" y="-28575"/>
                <a:ext cx="396096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1110</a:t>
                </a:r>
                <a:endParaRPr/>
              </a:p>
            </p:txBody>
          </p:sp>
        </p:grpSp>
        <p:grpSp>
          <p:nvGrpSpPr>
            <p:cNvPr id="1514108163" name="Group 43"/>
            <p:cNvGrpSpPr/>
            <p:nvPr/>
          </p:nvGrpSpPr>
          <p:grpSpPr bwMode="auto">
            <a:xfrm rot="0">
              <a:off x="3076723" y="3554728"/>
              <a:ext cx="5044460" cy="518160"/>
              <a:chOff x="0" y="0"/>
              <a:chExt cx="1992873" cy="204705"/>
            </a:xfrm>
          </p:grpSpPr>
          <p:sp>
            <p:nvSpPr>
              <p:cNvPr id="44" name="Freeform 44"/>
              <p:cNvSpPr/>
              <p:nvPr/>
            </p:nvSpPr>
            <p:spPr bwMode="auto">
              <a:xfrm rot="0" flipH="0" flipV="0">
                <a:off x="0" y="0"/>
                <a:ext cx="1992873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1992873" h="204705" fill="norm" stroke="1" extrusionOk="0">
                    <a:moveTo>
                      <a:pt x="23021" y="0"/>
                    </a:moveTo>
                    <a:lnTo>
                      <a:pt x="1969852" y="0"/>
                    </a:lnTo>
                    <a:cubicBezTo>
                      <a:pt x="1982566" y="0"/>
                      <a:pt x="1992873" y="10307"/>
                      <a:pt x="1992873" y="23021"/>
                    </a:cubicBezTo>
                    <a:lnTo>
                      <a:pt x="1992873" y="181684"/>
                    </a:lnTo>
                    <a:cubicBezTo>
                      <a:pt x="1992873" y="194398"/>
                      <a:pt x="1982566" y="204705"/>
                      <a:pt x="1969852" y="204705"/>
                    </a:cubicBezTo>
                    <a:lnTo>
                      <a:pt x="23021" y="204705"/>
                    </a:lnTo>
                    <a:cubicBezTo>
                      <a:pt x="10307" y="204705"/>
                      <a:pt x="0" y="194398"/>
                      <a:pt x="0" y="181684"/>
                    </a:cubicBezTo>
                    <a:lnTo>
                      <a:pt x="0" y="23021"/>
                    </a:lnTo>
                    <a:cubicBezTo>
                      <a:pt x="0" y="10307"/>
                      <a:pt x="10307" y="0"/>
                      <a:pt x="2302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5" name="TextBox 45"/>
              <p:cNvSpPr txBox="1"/>
              <p:nvPr/>
            </p:nvSpPr>
            <p:spPr bwMode="auto">
              <a:xfrm>
                <a:off x="0" y="-28575"/>
                <a:ext cx="1992873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reserved</a:t>
                </a:r>
                <a:endParaRPr/>
              </a:p>
            </p:txBody>
          </p:sp>
        </p:grpSp>
        <p:grpSp>
          <p:nvGrpSpPr>
            <p:cNvPr id="2011440286" name="Group 46"/>
            <p:cNvGrpSpPr/>
            <p:nvPr/>
          </p:nvGrpSpPr>
          <p:grpSpPr bwMode="auto">
            <a:xfrm rot="0">
              <a:off x="1861213" y="3554728"/>
              <a:ext cx="1177623" cy="518160"/>
              <a:chOff x="0" y="0"/>
              <a:chExt cx="465234" cy="204705"/>
            </a:xfrm>
          </p:grpSpPr>
          <p:sp>
            <p:nvSpPr>
              <p:cNvPr id="47" name="Freeform 47"/>
              <p:cNvSpPr/>
              <p:nvPr/>
            </p:nvSpPr>
            <p:spPr bwMode="auto">
              <a:xfrm rot="0" flipH="0" flipV="0">
                <a:off x="0" y="0"/>
                <a:ext cx="465234" cy="204705"/>
              </a:xfrm>
              <a:custGeom>
                <a:avLst/>
                <a:gdLst/>
                <a:ahLst/>
                <a:cxnLst/>
                <a:rect l="l" t="t" r="r" b="b"/>
                <a:pathLst>
                  <a:path w="465234" h="204705" fill="norm" stroke="1" extrusionOk="0">
                    <a:moveTo>
                      <a:pt x="98613" y="0"/>
                    </a:moveTo>
                    <a:lnTo>
                      <a:pt x="366621" y="0"/>
                    </a:lnTo>
                    <a:cubicBezTo>
                      <a:pt x="421084" y="0"/>
                      <a:pt x="465234" y="44150"/>
                      <a:pt x="465234" y="98613"/>
                    </a:cubicBezTo>
                    <a:lnTo>
                      <a:pt x="465234" y="106092"/>
                    </a:lnTo>
                    <a:cubicBezTo>
                      <a:pt x="465234" y="132246"/>
                      <a:pt x="454844" y="157328"/>
                      <a:pt x="436351" y="175822"/>
                    </a:cubicBezTo>
                    <a:cubicBezTo>
                      <a:pt x="417857" y="194315"/>
                      <a:pt x="392775" y="204705"/>
                      <a:pt x="366621" y="204705"/>
                    </a:cubicBezTo>
                    <a:lnTo>
                      <a:pt x="98613" y="204705"/>
                    </a:lnTo>
                    <a:cubicBezTo>
                      <a:pt x="44150" y="204705"/>
                      <a:pt x="0" y="160555"/>
                      <a:pt x="0" y="106092"/>
                    </a:cubicBezTo>
                    <a:lnTo>
                      <a:pt x="0" y="98613"/>
                    </a:lnTo>
                    <a:cubicBezTo>
                      <a:pt x="0" y="44150"/>
                      <a:pt x="44150" y="0"/>
                      <a:pt x="9861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8" name="TextBox 48"/>
              <p:cNvSpPr txBox="1"/>
              <p:nvPr/>
            </p:nvSpPr>
            <p:spPr bwMode="auto">
              <a:xfrm>
                <a:off x="0" y="-28575"/>
                <a:ext cx="465234" cy="233280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  <a:defRPr/>
                </a:pPr>
                <a:r>
                  <a:rPr lang="en-US" sz="16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11110</a:t>
                </a:r>
                <a:endParaRPr/>
              </a:p>
            </p:txBody>
          </p:sp>
        </p:grpSp>
        <p:sp>
          <p:nvSpPr>
            <p:cNvPr id="1953086313" name="TextBox 49"/>
            <p:cNvSpPr txBox="1"/>
            <p:nvPr/>
          </p:nvSpPr>
          <p:spPr bwMode="auto">
            <a:xfrm rot="0">
              <a:off x="186121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31</a:t>
              </a:r>
              <a:endParaRPr/>
            </a:p>
          </p:txBody>
        </p:sp>
        <p:sp>
          <p:nvSpPr>
            <p:cNvPr id="849369090" name="TextBox 50"/>
            <p:cNvSpPr txBox="1"/>
            <p:nvPr/>
          </p:nvSpPr>
          <p:spPr bwMode="auto">
            <a:xfrm rot="0">
              <a:off x="3239789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24</a:t>
              </a:r>
              <a:endParaRPr/>
            </a:p>
          </p:txBody>
        </p:sp>
        <p:sp>
          <p:nvSpPr>
            <p:cNvPr id="1031524452" name="TextBox 51"/>
            <p:cNvSpPr txBox="1"/>
            <p:nvPr/>
          </p:nvSpPr>
          <p:spPr bwMode="auto">
            <a:xfrm rot="0">
              <a:off x="3857232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23</a:t>
              </a:r>
              <a:endParaRPr/>
            </a:p>
          </p:txBody>
        </p:sp>
        <p:sp>
          <p:nvSpPr>
            <p:cNvPr id="667804501" name="TextBox 52"/>
            <p:cNvSpPr txBox="1"/>
            <p:nvPr/>
          </p:nvSpPr>
          <p:spPr bwMode="auto">
            <a:xfrm rot="0">
              <a:off x="4688867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16</a:t>
              </a:r>
              <a:endParaRPr/>
            </a:p>
          </p:txBody>
        </p:sp>
        <p:sp>
          <p:nvSpPr>
            <p:cNvPr id="271945333" name="TextBox 53"/>
            <p:cNvSpPr txBox="1"/>
            <p:nvPr/>
          </p:nvSpPr>
          <p:spPr bwMode="auto">
            <a:xfrm rot="0">
              <a:off x="5306310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15</a:t>
              </a:r>
              <a:endParaRPr/>
            </a:p>
          </p:txBody>
        </p:sp>
        <p:sp>
          <p:nvSpPr>
            <p:cNvPr id="884027772" name="TextBox 54"/>
            <p:cNvSpPr txBox="1"/>
            <p:nvPr/>
          </p:nvSpPr>
          <p:spPr bwMode="auto">
            <a:xfrm rot="0">
              <a:off x="6133223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8</a:t>
              </a:r>
              <a:endParaRPr/>
            </a:p>
          </p:txBody>
        </p:sp>
        <p:sp>
          <p:nvSpPr>
            <p:cNvPr id="2048753811" name="TextBox 55"/>
            <p:cNvSpPr txBox="1"/>
            <p:nvPr/>
          </p:nvSpPr>
          <p:spPr bwMode="auto">
            <a:xfrm rot="0">
              <a:off x="6750666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7</a:t>
              </a:r>
              <a:endParaRPr/>
            </a:p>
          </p:txBody>
        </p:sp>
        <p:sp>
          <p:nvSpPr>
            <p:cNvPr id="619022150" name="TextBox 56"/>
            <p:cNvSpPr txBox="1"/>
            <p:nvPr/>
          </p:nvSpPr>
          <p:spPr bwMode="auto">
            <a:xfrm rot="0">
              <a:off x="7618041" y="0"/>
              <a:ext cx="503143" cy="26416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239"/>
                </a:lnSpc>
                <a:defRPr/>
              </a:pPr>
              <a:r>
                <a:rPr lang="en-US" sz="1600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0</a:t>
              </a:r>
              <a:endParaRPr/>
            </a:p>
          </p:txBody>
        </p:sp>
        <p:sp>
          <p:nvSpPr>
            <p:cNvPr id="47383722" name="TextBox 59"/>
            <p:cNvSpPr txBox="1"/>
            <p:nvPr/>
          </p:nvSpPr>
          <p:spPr bwMode="auto">
            <a:xfrm rot="0">
              <a:off x="8673633" y="36353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2^7</a:t>
              </a:r>
              <a:endParaRPr/>
            </a:p>
          </p:txBody>
        </p:sp>
        <p:sp>
          <p:nvSpPr>
            <p:cNvPr id="1528418996" name="TextBox 60"/>
            <p:cNvSpPr txBox="1"/>
            <p:nvPr/>
          </p:nvSpPr>
          <p:spPr bwMode="auto">
            <a:xfrm rot="0">
              <a:off x="8673633" y="1178877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2^14</a:t>
              </a:r>
              <a:endParaRPr/>
            </a:p>
          </p:txBody>
        </p:sp>
        <p:sp>
          <p:nvSpPr>
            <p:cNvPr id="137426651" name="TextBox 61"/>
            <p:cNvSpPr txBox="1"/>
            <p:nvPr/>
          </p:nvSpPr>
          <p:spPr bwMode="auto">
            <a:xfrm rot="0">
              <a:off x="8673633" y="1992312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2^21</a:t>
              </a:r>
              <a:endParaRPr/>
            </a:p>
          </p:txBody>
        </p:sp>
        <p:sp>
          <p:nvSpPr>
            <p:cNvPr id="1566352107" name="TextBox 62"/>
            <p:cNvSpPr txBox="1"/>
            <p:nvPr/>
          </p:nvSpPr>
          <p:spPr bwMode="auto">
            <a:xfrm rot="0">
              <a:off x="10591702" y="33527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2^24</a:t>
              </a:r>
              <a:endParaRPr/>
            </a:p>
          </p:txBody>
        </p:sp>
        <p:sp>
          <p:nvSpPr>
            <p:cNvPr id="1013989257" name="TextBox 63"/>
            <p:cNvSpPr txBox="1"/>
            <p:nvPr/>
          </p:nvSpPr>
          <p:spPr bwMode="auto">
            <a:xfrm rot="0">
              <a:off x="10591702" y="1150619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2^16</a:t>
              </a:r>
              <a:endParaRPr/>
            </a:p>
          </p:txBody>
        </p:sp>
        <p:sp>
          <p:nvSpPr>
            <p:cNvPr id="956305049" name="TextBox 64"/>
            <p:cNvSpPr txBox="1"/>
            <p:nvPr/>
          </p:nvSpPr>
          <p:spPr bwMode="auto">
            <a:xfrm rot="0">
              <a:off x="10591702" y="1964054"/>
              <a:ext cx="765543" cy="339725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"/>
                </a:lnSpc>
                <a:defRPr/>
              </a:pPr>
              <a:r>
                <a:rPr lang="en-US" sz="2000" b="1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</a:rPr>
                <a:t>2^8</a:t>
              </a:r>
              <a:endParaRPr/>
            </a:p>
          </p:txBody>
        </p:sp>
        <p:sp>
          <p:nvSpPr>
            <p:cNvPr id="1519416077" name=""/>
            <p:cNvSpPr/>
            <p:nvPr/>
          </p:nvSpPr>
          <p:spPr bwMode="auto">
            <a:xfrm rot="10799989" flipH="0" flipV="0">
              <a:off x="489332" y="340542"/>
              <a:ext cx="281989" cy="1554078"/>
            </a:xfrm>
            <a:prstGeom prst="rightBrace">
              <a:avLst>
                <a:gd name="adj1" fmla="val 8333"/>
                <a:gd name="adj2" fmla="val 50000"/>
              </a:avLst>
            </a:prstGeom>
            <a:ln w="28575" cap="flat" cmpd="sng" algn="ctr">
              <a:solidFill>
                <a:schemeClr val="tx1"/>
              </a:solidFill>
              <a:prstDash val="solid"/>
            </a:ln>
          </p:spPr>
          <p:style>
            <a:lnRef idx="1">
              <a:schemeClr val="accent1">
                <a:shade val="50000"/>
              </a:schemeClr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8252074" name=""/>
          <p:cNvGrpSpPr/>
          <p:nvPr/>
        </p:nvGrpSpPr>
        <p:grpSpPr bwMode="auto">
          <a:xfrm>
            <a:off x="1206936" y="3148012"/>
            <a:ext cx="9778124" cy="734493"/>
            <a:chOff x="0" y="0"/>
            <a:chExt cx="9778124" cy="734493"/>
          </a:xfrm>
        </p:grpSpPr>
        <p:grpSp>
          <p:nvGrpSpPr>
            <p:cNvPr id="1312271464" name="Group 2"/>
            <p:cNvGrpSpPr/>
            <p:nvPr/>
          </p:nvGrpSpPr>
          <p:grpSpPr bwMode="auto">
            <a:xfrm rot="0">
              <a:off x="5318069" y="0"/>
              <a:ext cx="4460055" cy="734494"/>
              <a:chOff x="0" y="0"/>
              <a:chExt cx="1761997" cy="29017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1761997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761997" h="290170" fill="norm" stroke="1" extrusionOk="0">
                    <a:moveTo>
                      <a:pt x="26038" y="0"/>
                    </a:moveTo>
                    <a:lnTo>
                      <a:pt x="1735960" y="0"/>
                    </a:lnTo>
                    <a:cubicBezTo>
                      <a:pt x="1742865" y="0"/>
                      <a:pt x="1749488" y="2743"/>
                      <a:pt x="1754371" y="7626"/>
                    </a:cubicBezTo>
                    <a:cubicBezTo>
                      <a:pt x="1759254" y="12509"/>
                      <a:pt x="1761997" y="19132"/>
                      <a:pt x="1761997" y="26038"/>
                    </a:cubicBezTo>
                    <a:lnTo>
                      <a:pt x="1761997" y="264133"/>
                    </a:lnTo>
                    <a:cubicBezTo>
                      <a:pt x="1761997" y="278513"/>
                      <a:pt x="1750340" y="290170"/>
                      <a:pt x="1735960" y="290170"/>
                    </a:cubicBezTo>
                    <a:lnTo>
                      <a:pt x="26038" y="290170"/>
                    </a:lnTo>
                    <a:cubicBezTo>
                      <a:pt x="19132" y="290170"/>
                      <a:pt x="12509" y="287427"/>
                      <a:pt x="7626" y="282544"/>
                    </a:cubicBezTo>
                    <a:cubicBezTo>
                      <a:pt x="2743" y="277661"/>
                      <a:pt x="0" y="271039"/>
                      <a:pt x="0" y="264133"/>
                    </a:cubicBezTo>
                    <a:lnTo>
                      <a:pt x="0" y="26038"/>
                    </a:lnTo>
                    <a:cubicBezTo>
                      <a:pt x="0" y="19132"/>
                      <a:pt x="2743" y="12509"/>
                      <a:pt x="7626" y="7626"/>
                    </a:cubicBezTo>
                    <a:cubicBezTo>
                      <a:pt x="12509" y="2743"/>
                      <a:pt x="19132" y="0"/>
                      <a:pt x="26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28575"/>
                <a:ext cx="1761997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                      hostid</a:t>
                </a:r>
                <a:endParaRPr/>
              </a:p>
            </p:txBody>
          </p:sp>
        </p:grpSp>
        <p:grpSp>
          <p:nvGrpSpPr>
            <p:cNvPr id="603500390" name="Group 5"/>
            <p:cNvGrpSpPr/>
            <p:nvPr/>
          </p:nvGrpSpPr>
          <p:grpSpPr bwMode="auto">
            <a:xfrm rot="0">
              <a:off x="1096065" y="0"/>
              <a:ext cx="4162493" cy="734494"/>
              <a:chOff x="0" y="0"/>
              <a:chExt cx="1644442" cy="290170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164444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1644442" h="290170" fill="norm" stroke="1" extrusionOk="0">
                    <a:moveTo>
                      <a:pt x="27899" y="0"/>
                    </a:moveTo>
                    <a:lnTo>
                      <a:pt x="1616543" y="0"/>
                    </a:lnTo>
                    <a:cubicBezTo>
                      <a:pt x="1631951" y="0"/>
                      <a:pt x="1644442" y="12491"/>
                      <a:pt x="1644442" y="27899"/>
                    </a:cubicBezTo>
                    <a:lnTo>
                      <a:pt x="1644442" y="262272"/>
                    </a:lnTo>
                    <a:cubicBezTo>
                      <a:pt x="1644442" y="277680"/>
                      <a:pt x="1631951" y="290170"/>
                      <a:pt x="1616543" y="290170"/>
                    </a:cubicBezTo>
                    <a:lnTo>
                      <a:pt x="27899" y="290170"/>
                    </a:lnTo>
                    <a:cubicBezTo>
                      <a:pt x="12491" y="290170"/>
                      <a:pt x="0" y="277680"/>
                      <a:pt x="0" y="262272"/>
                    </a:cubicBezTo>
                    <a:lnTo>
                      <a:pt x="0" y="27899"/>
                    </a:lnTo>
                    <a:cubicBezTo>
                      <a:pt x="0" y="12491"/>
                      <a:pt x="12491" y="0"/>
                      <a:pt x="27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28575"/>
                <a:ext cx="164444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netid</a:t>
                </a:r>
                <a:endParaRPr/>
              </a:p>
            </p:txBody>
          </p:sp>
        </p:grpSp>
        <p:grpSp>
          <p:nvGrpSpPr>
            <p:cNvPr id="583818189" name="Group 8"/>
            <p:cNvGrpSpPr/>
            <p:nvPr/>
          </p:nvGrpSpPr>
          <p:grpSpPr bwMode="auto">
            <a:xfrm rot="0">
              <a:off x="0" y="0"/>
              <a:ext cx="1036552" cy="734494"/>
              <a:chOff x="0" y="0"/>
              <a:chExt cx="409502" cy="290170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290170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290170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178137"/>
                    </a:lnTo>
                    <a:cubicBezTo>
                      <a:pt x="409502" y="240011"/>
                      <a:pt x="359343" y="290170"/>
                      <a:pt x="297468" y="290170"/>
                    </a:cubicBezTo>
                    <a:lnTo>
                      <a:pt x="112034" y="290170"/>
                    </a:lnTo>
                    <a:cubicBezTo>
                      <a:pt x="82321" y="290170"/>
                      <a:pt x="53824" y="278367"/>
                      <a:pt x="32814" y="257357"/>
                    </a:cubicBezTo>
                    <a:cubicBezTo>
                      <a:pt x="11804" y="236346"/>
                      <a:pt x="0" y="207850"/>
                      <a:pt x="0" y="17813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28575"/>
                <a:ext cx="409502" cy="31874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10</a:t>
                </a:r>
                <a:endParaRPr/>
              </a:p>
            </p:txBody>
          </p:sp>
        </p:grpSp>
        <p:grpSp>
          <p:nvGrpSpPr>
            <p:cNvPr id="731155965" name="Group 11"/>
            <p:cNvGrpSpPr/>
            <p:nvPr/>
          </p:nvGrpSpPr>
          <p:grpSpPr bwMode="auto">
            <a:xfrm rot="0">
              <a:off x="5394269" y="76199"/>
              <a:ext cx="1630737" cy="582094"/>
              <a:chOff x="0" y="0"/>
              <a:chExt cx="644242" cy="229963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644242" cy="229963"/>
              </a:xfrm>
              <a:custGeom>
                <a:avLst/>
                <a:gdLst/>
                <a:ahLst/>
                <a:cxnLst/>
                <a:rect l="l" t="t" r="r" b="b"/>
                <a:pathLst>
                  <a:path w="644242" h="229963" fill="norm" stroke="1" extrusionOk="0">
                    <a:moveTo>
                      <a:pt x="71212" y="0"/>
                    </a:moveTo>
                    <a:lnTo>
                      <a:pt x="573029" y="0"/>
                    </a:lnTo>
                    <a:cubicBezTo>
                      <a:pt x="612359" y="0"/>
                      <a:pt x="644242" y="31883"/>
                      <a:pt x="644242" y="71212"/>
                    </a:cubicBezTo>
                    <a:lnTo>
                      <a:pt x="644242" y="158751"/>
                    </a:lnTo>
                    <a:cubicBezTo>
                      <a:pt x="644242" y="198080"/>
                      <a:pt x="612359" y="229963"/>
                      <a:pt x="573029" y="229963"/>
                    </a:cubicBezTo>
                    <a:lnTo>
                      <a:pt x="71212" y="229963"/>
                    </a:lnTo>
                    <a:cubicBezTo>
                      <a:pt x="31883" y="229963"/>
                      <a:pt x="0" y="198080"/>
                      <a:pt x="0" y="158751"/>
                    </a:cubicBezTo>
                    <a:lnTo>
                      <a:pt x="0" y="71212"/>
                    </a:lnTo>
                    <a:cubicBezTo>
                      <a:pt x="0" y="31883"/>
                      <a:pt x="31883" y="0"/>
                      <a:pt x="7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28575"/>
                <a:ext cx="644242" cy="258538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99"/>
                  </a:lnSpc>
                  <a:defRPr/>
                </a:pPr>
                <a:r>
                  <a:rPr lang="en-US" sz="20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subnetid</a:t>
                </a: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437436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111033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205095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68011886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73550955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Zendmachine</a:t>
            </a:r>
            <a:endParaRPr/>
          </a:p>
        </p:txBody>
      </p:sp>
      <p:sp>
        <p:nvSpPr>
          <p:cNvPr id="108142795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Ontvangstmachine</a:t>
            </a:r>
            <a:endParaRPr/>
          </a:p>
        </p:txBody>
      </p:sp>
      <p:sp>
        <p:nvSpPr>
          <p:cNvPr id="1694823273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4626524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83938306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136477412" name=""/>
          <p:cNvGrpSpPr/>
          <p:nvPr/>
        </p:nvGrpSpPr>
        <p:grpSpPr bwMode="auto">
          <a:xfrm>
            <a:off x="5464036" y="1765350"/>
            <a:ext cx="1170543" cy="3325324"/>
            <a:chOff x="0" y="0"/>
            <a:chExt cx="1170543" cy="3325324"/>
          </a:xfrm>
        </p:grpSpPr>
        <p:sp>
          <p:nvSpPr>
            <p:cNvPr id="1513756760" name=""/>
            <p:cNvSpPr txBox="1"/>
            <p:nvPr/>
          </p:nvSpPr>
          <p:spPr bwMode="auto">
            <a:xfrm rot="0" flipH="0" flipV="0">
              <a:off x="102720" y="1546442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271017964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187756255" name=""/>
            <p:cNvSpPr txBox="1"/>
            <p:nvPr/>
          </p:nvSpPr>
          <p:spPr bwMode="auto">
            <a:xfrm rot="0" flipH="0" flipV="0">
              <a:off x="0" y="2959204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47116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63850648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6304341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11791502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989981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Zendmachine</a:t>
            </a:r>
            <a:endParaRPr/>
          </a:p>
        </p:txBody>
      </p:sp>
      <p:sp>
        <p:nvSpPr>
          <p:cNvPr id="1267838645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Ontvangstmachine</a:t>
            </a:r>
            <a:endParaRPr/>
          </a:p>
        </p:txBody>
      </p:sp>
      <p:sp>
        <p:nvSpPr>
          <p:cNvPr id="1075330502" name="AutoShape 8"/>
          <p:cNvSpPr/>
          <p:nvPr/>
        </p:nvSpPr>
        <p:spPr bwMode="auto">
          <a:xfrm flipH="1">
            <a:off x="3099863" y="484430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66086773" name="AutoShape 9"/>
          <p:cNvSpPr/>
          <p:nvPr/>
        </p:nvSpPr>
        <p:spPr bwMode="auto">
          <a:xfrm flipH="1" flipV="1">
            <a:off x="3099863" y="988977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502841584" name="AutoShape 10"/>
          <p:cNvSpPr/>
          <p:nvPr/>
        </p:nvSpPr>
        <p:spPr bwMode="auto">
          <a:xfrm flipH="1" flipV="1">
            <a:off x="3099863" y="3363230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80908985" name="AutoShape 11"/>
          <p:cNvSpPr/>
          <p:nvPr/>
        </p:nvSpPr>
        <p:spPr bwMode="auto">
          <a:xfrm flipV="1">
            <a:off x="3276076" y="1120685"/>
            <a:ext cx="0" cy="219180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95176810" name="TextBox 12"/>
          <p:cNvSpPr txBox="1"/>
          <p:nvPr/>
        </p:nvSpPr>
        <p:spPr bwMode="auto">
          <a:xfrm rot="0">
            <a:off x="3373738" y="2068840"/>
            <a:ext cx="1846542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Timer</a:t>
            </a:r>
            <a:endParaRPr/>
          </a:p>
        </p:txBody>
      </p:sp>
      <p:grpSp>
        <p:nvGrpSpPr>
          <p:cNvPr id="2097487036" name=""/>
          <p:cNvGrpSpPr/>
          <p:nvPr/>
        </p:nvGrpSpPr>
        <p:grpSpPr bwMode="auto">
          <a:xfrm>
            <a:off x="5464036" y="1318275"/>
            <a:ext cx="1170543" cy="4221450"/>
            <a:chOff x="0" y="0"/>
            <a:chExt cx="1170543" cy="4221450"/>
          </a:xfrm>
        </p:grpSpPr>
        <p:sp>
          <p:nvSpPr>
            <p:cNvPr id="447652547" name=""/>
            <p:cNvSpPr txBox="1"/>
            <p:nvPr/>
          </p:nvSpPr>
          <p:spPr bwMode="auto">
            <a:xfrm rot="0" flipH="0" flipV="0">
              <a:off x="269930" y="3855330"/>
              <a:ext cx="72406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ACK 1</a:t>
              </a:r>
              <a:endParaRPr/>
            </a:p>
          </p:txBody>
        </p:sp>
        <p:sp>
          <p:nvSpPr>
            <p:cNvPr id="349435816" name=""/>
            <p:cNvSpPr txBox="1"/>
            <p:nvPr/>
          </p:nvSpPr>
          <p:spPr bwMode="auto">
            <a:xfrm rot="0" flipH="0" flipV="0">
              <a:off x="0" y="0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  <p:sp>
          <p:nvSpPr>
            <p:cNvPr id="732806733" name=""/>
            <p:cNvSpPr txBox="1"/>
            <p:nvPr/>
          </p:nvSpPr>
          <p:spPr bwMode="auto">
            <a:xfrm rot="0" flipH="0" flipV="0">
              <a:off x="0" y="2432796"/>
              <a:ext cx="1170543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Segment 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714789" name="AutoShape 2"/>
          <p:cNvSpPr/>
          <p:nvPr/>
        </p:nvSpPr>
        <p:spPr bwMode="auto">
          <a:xfrm flipV="1">
            <a:off x="9092137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6590460" name="AutoShape 3"/>
          <p:cNvSpPr/>
          <p:nvPr/>
        </p:nvSpPr>
        <p:spPr bwMode="auto">
          <a:xfrm flipV="1">
            <a:off x="3099863" y="604089"/>
            <a:ext cx="0" cy="5649821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68789402" name="Freeform 4"/>
          <p:cNvSpPr/>
          <p:nvPr/>
        </p:nvSpPr>
        <p:spPr bwMode="auto">
          <a:xfrm rot="0" flipH="0" flipV="0">
            <a:off x="958170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1" y="0"/>
                </a:lnTo>
                <a:lnTo>
                  <a:pt x="1136731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48073211" name="Freeform 5"/>
          <p:cNvSpPr/>
          <p:nvPr/>
        </p:nvSpPr>
        <p:spPr bwMode="auto">
          <a:xfrm rot="0" flipH="0" flipV="0">
            <a:off x="10101787" y="2241243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1511667" name="TextBox 6"/>
          <p:cNvSpPr txBox="1"/>
          <p:nvPr/>
        </p:nvSpPr>
        <p:spPr bwMode="auto">
          <a:xfrm rot="0">
            <a:off x="603265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Zendmachine</a:t>
            </a:r>
            <a:endParaRPr/>
          </a:p>
        </p:txBody>
      </p:sp>
      <p:sp>
        <p:nvSpPr>
          <p:cNvPr id="1613217869" name="TextBox 7"/>
          <p:cNvSpPr txBox="1"/>
          <p:nvPr/>
        </p:nvSpPr>
        <p:spPr bwMode="auto">
          <a:xfrm rot="0">
            <a:off x="9746882" y="3934132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Ontvangstmachine</a:t>
            </a:r>
            <a:endParaRPr/>
          </a:p>
        </p:txBody>
      </p:sp>
      <p:sp>
        <p:nvSpPr>
          <p:cNvPr id="171823411" name="AutoShape 8"/>
          <p:cNvSpPr/>
          <p:nvPr/>
        </p:nvSpPr>
        <p:spPr bwMode="auto">
          <a:xfrm flipH="1">
            <a:off x="3099863" y="2914668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20599315" name="AutoShape 9"/>
          <p:cNvSpPr/>
          <p:nvPr/>
        </p:nvSpPr>
        <p:spPr bwMode="auto">
          <a:xfrm flipH="1" flipV="1">
            <a:off x="3099863" y="1436053"/>
            <a:ext cx="5992274" cy="102471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6340834" name="AutoShape 10"/>
          <p:cNvSpPr/>
          <p:nvPr/>
        </p:nvSpPr>
        <p:spPr bwMode="auto">
          <a:xfrm flipH="1" flipV="1">
            <a:off x="3099863" y="4393264"/>
            <a:ext cx="5992274" cy="102870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2022063293" name=""/>
          <p:cNvGrpSpPr/>
          <p:nvPr/>
        </p:nvGrpSpPr>
        <p:grpSpPr bwMode="auto">
          <a:xfrm>
            <a:off x="5464216" y="1600802"/>
            <a:ext cx="1655644" cy="3764191"/>
            <a:chOff x="0" y="0"/>
            <a:chExt cx="1655644" cy="3764191"/>
          </a:xfrm>
        </p:grpSpPr>
        <p:sp>
          <p:nvSpPr>
            <p:cNvPr id="2037122530" name=""/>
            <p:cNvSpPr txBox="1"/>
            <p:nvPr/>
          </p:nvSpPr>
          <p:spPr bwMode="auto">
            <a:xfrm rot="0" flipH="0" flipV="0">
              <a:off x="102539" y="1436489"/>
              <a:ext cx="1409074" cy="91476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</a:t>
              </a:r>
              <a:br>
                <a:rPr lang="fr-FR"/>
              </a:br>
              <a:r>
                <a:rPr lang="fr-FR"/>
                <a:t>ACK = C+1</a:t>
              </a:r>
              <a:br>
                <a:rPr lang="fr-FR"/>
              </a:br>
              <a:r>
                <a:rPr lang="fr-FR"/>
                <a:t>Sequence = S</a:t>
              </a:r>
              <a:endParaRPr/>
            </a:p>
          </p:txBody>
        </p:sp>
        <p:sp>
          <p:nvSpPr>
            <p:cNvPr id="1797716726" name=""/>
            <p:cNvSpPr txBox="1"/>
            <p:nvPr/>
          </p:nvSpPr>
          <p:spPr bwMode="auto">
            <a:xfrm rot="0" flipH="0" flipV="0">
              <a:off x="113278" y="0"/>
              <a:ext cx="1425929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SYN </a:t>
              </a:r>
              <a:br>
                <a:rPr lang="fr-FR"/>
              </a:br>
              <a:r>
                <a:rPr lang="fr-FR"/>
                <a:t>Sequence = C</a:t>
              </a:r>
              <a:endParaRPr/>
            </a:p>
          </p:txBody>
        </p:sp>
        <p:sp>
          <p:nvSpPr>
            <p:cNvPr id="663857974" name=""/>
            <p:cNvSpPr txBox="1"/>
            <p:nvPr/>
          </p:nvSpPr>
          <p:spPr bwMode="auto">
            <a:xfrm rot="0" flipH="0" flipV="0">
              <a:off x="0" y="3123751"/>
              <a:ext cx="1655644" cy="640440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fr-FR"/>
                <a:t>ACK = S+1</a:t>
              </a:r>
              <a:endParaRPr lang="fr-FR"/>
            </a:p>
            <a:p>
              <a:pPr algn="ctr">
                <a:defRPr/>
              </a:pPr>
              <a:r>
                <a:rPr lang="fr-FR"/>
                <a:t>Sequence = C+1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3999849" name="AutoShape 2"/>
          <p:cNvSpPr/>
          <p:nvPr/>
        </p:nvSpPr>
        <p:spPr bwMode="auto">
          <a:xfrm flipV="1">
            <a:off x="9089793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9654554" name="AutoShape 3"/>
          <p:cNvSpPr/>
          <p:nvPr/>
        </p:nvSpPr>
        <p:spPr bwMode="auto">
          <a:xfrm flipV="1">
            <a:off x="3097519" y="1563196"/>
            <a:ext cx="0" cy="501224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44480354" name="Freeform 4"/>
          <p:cNvSpPr/>
          <p:nvPr/>
        </p:nvSpPr>
        <p:spPr bwMode="auto">
          <a:xfrm rot="0" flipH="0" flipV="0">
            <a:off x="955825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91657264" name="Freeform 5"/>
          <p:cNvSpPr/>
          <p:nvPr/>
        </p:nvSpPr>
        <p:spPr bwMode="auto">
          <a:xfrm rot="0" flipH="0" flipV="0">
            <a:off x="10099443" y="2562774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452313" name="AutoShape 6"/>
          <p:cNvSpPr/>
          <p:nvPr/>
        </p:nvSpPr>
        <p:spPr bwMode="auto">
          <a:xfrm flipH="1">
            <a:off x="3097519" y="3106010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30125924" name="AutoShape 7"/>
          <p:cNvSpPr/>
          <p:nvPr/>
        </p:nvSpPr>
        <p:spPr bwMode="auto">
          <a:xfrm flipH="1" flipV="1">
            <a:off x="3097519" y="2467748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693981132" name="Group 8"/>
          <p:cNvGrpSpPr/>
          <p:nvPr/>
        </p:nvGrpSpPr>
        <p:grpSpPr bwMode="auto">
          <a:xfrm rot="0" flipH="0" flipV="0">
            <a:off x="5170363" y="282557"/>
            <a:ext cx="1108363" cy="713488"/>
            <a:chOff x="0" y="0"/>
            <a:chExt cx="1108363" cy="713488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0"/>
              <a:ext cx="1108363" cy="713488"/>
            </a:xfrm>
            <a:custGeom>
              <a:avLst/>
              <a:gdLst/>
              <a:ahLst/>
              <a:cxnLst/>
              <a:rect l="l" t="t" r="r" b="b"/>
              <a:pathLst>
                <a:path w="685377" h="281872" fill="norm" stroke="1" extrusionOk="0">
                  <a:moveTo>
                    <a:pt x="0" y="0"/>
                  </a:moveTo>
                  <a:lnTo>
                    <a:pt x="685377" y="0"/>
                  </a:lnTo>
                  <a:lnTo>
                    <a:pt x="685377" y="281872"/>
                  </a:lnTo>
                  <a:lnTo>
                    <a:pt x="0" y="281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 bwMode="auto">
            <a:xfrm>
              <a:off x="0" y="-72330"/>
              <a:ext cx="1108363" cy="785819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994164146" name="TextBox 11"/>
          <p:cNvSpPr txBox="1"/>
          <p:nvPr/>
        </p:nvSpPr>
        <p:spPr bwMode="auto">
          <a:xfrm rot="0">
            <a:off x="600920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Zendmachine</a:t>
            </a:r>
            <a:endParaRPr/>
          </a:p>
        </p:txBody>
      </p:sp>
      <p:sp>
        <p:nvSpPr>
          <p:cNvPr id="2107227107" name="TextBox 12"/>
          <p:cNvSpPr txBox="1"/>
          <p:nvPr/>
        </p:nvSpPr>
        <p:spPr bwMode="auto">
          <a:xfrm rot="0">
            <a:off x="9744538" y="4255664"/>
            <a:ext cx="1846542" cy="6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Ontvangstmachine</a:t>
            </a:r>
            <a:endParaRPr/>
          </a:p>
        </p:txBody>
      </p:sp>
      <p:sp>
        <p:nvSpPr>
          <p:cNvPr id="467056681" name="TextBox 13"/>
          <p:cNvSpPr txBox="1"/>
          <p:nvPr/>
        </p:nvSpPr>
        <p:spPr bwMode="auto">
          <a:xfrm rot="0">
            <a:off x="3500121" y="282557"/>
            <a:ext cx="5189947" cy="62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2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3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4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5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6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7 </a:t>
            </a:r>
            <a:r>
              <a:rPr sz="3500" b="1" lang="fr-FR">
                <a:solidFill>
                  <a:srgbClr val="000000"/>
                </a:solidFill>
                <a:latin typeface="IBM Plex Sans Bold"/>
              </a:rPr>
              <a:t>8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>9 </a:t>
            </a:r>
            <a:r>
              <a:rPr sz="3500" b="1" lang="en-US">
                <a:solidFill>
                  <a:srgbClr val="000000"/>
                </a:solidFill>
                <a:latin typeface="IBM Plex Sans Bold"/>
              </a:rPr>
              <a:t/>
            </a:r>
            <a:endParaRPr/>
          </a:p>
        </p:txBody>
      </p:sp>
      <p:sp>
        <p:nvSpPr>
          <p:cNvPr id="260432534" name="AutoShape 14"/>
          <p:cNvSpPr/>
          <p:nvPr/>
        </p:nvSpPr>
        <p:spPr bwMode="auto">
          <a:xfrm>
            <a:off x="5170363" y="1143824"/>
            <a:ext cx="138172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33872558" name="AutoShape 15"/>
          <p:cNvSpPr/>
          <p:nvPr/>
        </p:nvSpPr>
        <p:spPr bwMode="auto">
          <a:xfrm flipH="1" flipV="1">
            <a:off x="3099863" y="378724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72798119" name="AutoShape 16"/>
          <p:cNvSpPr/>
          <p:nvPr/>
        </p:nvSpPr>
        <p:spPr bwMode="auto">
          <a:xfrm flipH="1" flipV="1">
            <a:off x="3097519" y="4077194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818329" name="AutoShape 17"/>
          <p:cNvSpPr/>
          <p:nvPr/>
        </p:nvSpPr>
        <p:spPr bwMode="auto">
          <a:xfrm flipH="1" flipV="1">
            <a:off x="3101086" y="4363095"/>
            <a:ext cx="5992274" cy="514651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9617827" name="AutoShape 18"/>
          <p:cNvSpPr/>
          <p:nvPr/>
        </p:nvSpPr>
        <p:spPr bwMode="auto">
          <a:xfrm flipH="1">
            <a:off x="3096195" y="5001457"/>
            <a:ext cx="5992274" cy="55752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096359" name="Freeform 2"/>
          <p:cNvSpPr/>
          <p:nvPr/>
        </p:nvSpPr>
        <p:spPr bwMode="auto">
          <a:xfrm rot="0" flipH="0" flipV="0">
            <a:off x="228600" y="1825219"/>
            <a:ext cx="545211" cy="1371600"/>
          </a:xfrm>
          <a:custGeom>
            <a:avLst/>
            <a:gdLst/>
            <a:ahLst/>
            <a:cxnLst/>
            <a:rect l="l" t="t" r="r" b="b"/>
            <a:pathLst>
              <a:path w="545211" h="1371600" fill="norm" stroke="1" extrusionOk="0">
                <a:moveTo>
                  <a:pt x="0" y="0"/>
                </a:moveTo>
                <a:lnTo>
                  <a:pt x="545211" y="0"/>
                </a:lnTo>
                <a:lnTo>
                  <a:pt x="545211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45401964" name="Freeform 3"/>
          <p:cNvSpPr/>
          <p:nvPr/>
        </p:nvSpPr>
        <p:spPr bwMode="auto">
          <a:xfrm rot="0" flipH="0" flipV="0">
            <a:off x="773811" y="778490"/>
            <a:ext cx="2755514" cy="1732529"/>
          </a:xfrm>
          <a:custGeom>
            <a:avLst/>
            <a:gdLst/>
            <a:ahLst/>
            <a:cxnLst/>
            <a:rect l="l" t="t" r="r" b="b"/>
            <a:pathLst>
              <a:path w="2755514" h="1732529" fill="norm" stroke="1" extrusionOk="0">
                <a:moveTo>
                  <a:pt x="0" y="0"/>
                </a:moveTo>
                <a:lnTo>
                  <a:pt x="2755514" y="0"/>
                </a:lnTo>
                <a:lnTo>
                  <a:pt x="2755514" y="1732529"/>
                </a:lnTo>
                <a:lnTo>
                  <a:pt x="0" y="17325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09548206" name="TextBox 4"/>
          <p:cNvSpPr txBox="1"/>
          <p:nvPr/>
        </p:nvSpPr>
        <p:spPr bwMode="auto">
          <a:xfrm rot="0" flipH="0" flipV="0">
            <a:off x="1385043" y="1190729"/>
            <a:ext cx="1848701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Ik stuur de brief</a:t>
            </a:r>
            <a:endParaRPr sz="1100"/>
          </a:p>
        </p:txBody>
      </p:sp>
      <p:sp>
        <p:nvSpPr>
          <p:cNvPr id="1609890350" name="Freeform 6"/>
          <p:cNvSpPr/>
          <p:nvPr/>
        </p:nvSpPr>
        <p:spPr bwMode="auto">
          <a:xfrm rot="0" flipH="0" flipV="0">
            <a:off x="228600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07146612" name="Freeform 7"/>
          <p:cNvSpPr/>
          <p:nvPr/>
        </p:nvSpPr>
        <p:spPr bwMode="auto">
          <a:xfrm rot="0" flipH="0" flipV="0">
            <a:off x="773811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0" y="0"/>
                </a:moveTo>
                <a:lnTo>
                  <a:pt x="3674018" y="0"/>
                </a:lnTo>
                <a:lnTo>
                  <a:pt x="3674018" y="2310039"/>
                </a:lnTo>
                <a:lnTo>
                  <a:pt x="0" y="2310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32339792" name="TextBox 8"/>
          <p:cNvSpPr txBox="1"/>
          <p:nvPr/>
        </p:nvSpPr>
        <p:spPr bwMode="auto">
          <a:xfrm rot="0" flipH="0" flipV="0">
            <a:off x="1385043" y="4085326"/>
            <a:ext cx="184834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Ik stuur de brief</a:t>
            </a:r>
            <a:endParaRPr sz="1000"/>
          </a:p>
        </p:txBody>
      </p:sp>
      <p:sp>
        <p:nvSpPr>
          <p:cNvPr id="337749461" name="Freeform 10"/>
          <p:cNvSpPr/>
          <p:nvPr/>
        </p:nvSpPr>
        <p:spPr bwMode="auto">
          <a:xfrm rot="0" flipH="0" flipV="0">
            <a:off x="11418188" y="4707910"/>
            <a:ext cx="545211" cy="1371599"/>
          </a:xfrm>
          <a:custGeom>
            <a:avLst/>
            <a:gdLst/>
            <a:ahLst/>
            <a:cxnLst/>
            <a:rect l="l" t="t" r="r" b="b"/>
            <a:pathLst>
              <a:path w="726948" h="1828800" fill="norm" stroke="1" extrusionOk="0">
                <a:moveTo>
                  <a:pt x="0" y="0"/>
                </a:moveTo>
                <a:lnTo>
                  <a:pt x="726948" y="0"/>
                </a:lnTo>
                <a:lnTo>
                  <a:pt x="726948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490757395" name="Freeform 11"/>
          <p:cNvSpPr/>
          <p:nvPr/>
        </p:nvSpPr>
        <p:spPr bwMode="auto">
          <a:xfrm rot="0" flipH="1" flipV="0">
            <a:off x="8662674" y="3661180"/>
            <a:ext cx="2755513" cy="1732528"/>
          </a:xfrm>
          <a:custGeom>
            <a:avLst/>
            <a:gdLst/>
            <a:ahLst/>
            <a:cxnLst/>
            <a:rect l="l" t="t" r="r" b="b"/>
            <a:pathLst>
              <a:path w="3674018" h="2310039" fill="norm" stroke="1" extrusionOk="0">
                <a:moveTo>
                  <a:pt x="3674018" y="0"/>
                </a:moveTo>
                <a:lnTo>
                  <a:pt x="0" y="0"/>
                </a:lnTo>
                <a:lnTo>
                  <a:pt x="0" y="2310039"/>
                </a:lnTo>
                <a:lnTo>
                  <a:pt x="3674018" y="2310039"/>
                </a:lnTo>
                <a:lnTo>
                  <a:pt x="3674018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462142747" name="TextBox 12"/>
          <p:cNvSpPr txBox="1"/>
          <p:nvPr/>
        </p:nvSpPr>
        <p:spPr bwMode="auto">
          <a:xfrm rot="0" flipH="0" flipV="0">
            <a:off x="8994532" y="4094851"/>
            <a:ext cx="1847982" cy="444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 Italics"/>
              </a:rPr>
              <a:t>Ik ontvang de brief</a:t>
            </a:r>
            <a:endParaRPr/>
          </a:p>
        </p:txBody>
      </p:sp>
      <p:sp>
        <p:nvSpPr>
          <p:cNvPr id="48437" name="Freeform 14"/>
          <p:cNvSpPr/>
          <p:nvPr/>
        </p:nvSpPr>
        <p:spPr bwMode="auto">
          <a:xfrm rot="0" flipH="0" flipV="0">
            <a:off x="9816519" y="1530454"/>
            <a:ext cx="2146879" cy="914400"/>
          </a:xfrm>
          <a:custGeom>
            <a:avLst/>
            <a:gdLst/>
            <a:ahLst/>
            <a:cxnLst/>
            <a:rect l="l" t="t" r="r" b="b"/>
            <a:pathLst>
              <a:path w="848150" h="361244" fill="norm" stroke="1" extrusionOk="0">
                <a:moveTo>
                  <a:pt x="54092" y="0"/>
                </a:moveTo>
                <a:lnTo>
                  <a:pt x="794058" y="0"/>
                </a:lnTo>
                <a:cubicBezTo>
                  <a:pt x="808404" y="0"/>
                  <a:pt x="822163" y="5699"/>
                  <a:pt x="832307" y="15843"/>
                </a:cubicBezTo>
                <a:cubicBezTo>
                  <a:pt x="842451" y="25987"/>
                  <a:pt x="848150" y="39746"/>
                  <a:pt x="848150" y="54092"/>
                </a:cubicBezTo>
                <a:lnTo>
                  <a:pt x="848150" y="307152"/>
                </a:lnTo>
                <a:cubicBezTo>
                  <a:pt x="848150" y="321498"/>
                  <a:pt x="842451" y="335257"/>
                  <a:pt x="832307" y="345401"/>
                </a:cubicBezTo>
                <a:cubicBezTo>
                  <a:pt x="822163" y="355545"/>
                  <a:pt x="808404" y="361244"/>
                  <a:pt x="794058" y="361244"/>
                </a:cubicBezTo>
                <a:lnTo>
                  <a:pt x="54092" y="361244"/>
                </a:lnTo>
                <a:cubicBezTo>
                  <a:pt x="39746" y="361244"/>
                  <a:pt x="25987" y="355545"/>
                  <a:pt x="15843" y="345401"/>
                </a:cubicBezTo>
                <a:cubicBezTo>
                  <a:pt x="5699" y="335257"/>
                  <a:pt x="0" y="321498"/>
                  <a:pt x="0" y="307152"/>
                </a:cubicBezTo>
                <a:lnTo>
                  <a:pt x="0" y="54092"/>
                </a:lnTo>
                <a:cubicBezTo>
                  <a:pt x="0" y="39746"/>
                  <a:pt x="5699" y="25987"/>
                  <a:pt x="15843" y="15843"/>
                </a:cubicBezTo>
                <a:cubicBezTo>
                  <a:pt x="25987" y="5699"/>
                  <a:pt x="39746" y="0"/>
                  <a:pt x="54092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FF5C00"/>
            </a:solidFill>
            <a:prstDash val="solid"/>
            <a:miter/>
          </a:ln>
        </p:spPr>
        <p:txBody>
          <a:bodyPr/>
          <a:p/>
        </p:txBody>
      </p:sp>
      <p:sp>
        <p:nvSpPr>
          <p:cNvPr id="1594910858" name="TextBox 15"/>
          <p:cNvSpPr txBox="1"/>
          <p:nvPr/>
        </p:nvSpPr>
        <p:spPr bwMode="auto">
          <a:xfrm rot="0" flipH="0" flipV="0">
            <a:off x="9816518" y="1585410"/>
            <a:ext cx="2146878" cy="859442"/>
          </a:xfrm>
          <a:prstGeom prst="rect">
            <a:avLst/>
          </a:prstGeom>
        </p:spPr>
        <p:txBody>
          <a:bodyPr vertOverflow="overflow" horzOverflow="overflow" vert="horz" wrap="square" lIns="50798" tIns="50798" rIns="50798" bIns="50798" numCol="1" spcCol="0" rtlCol="0" fromWordArt="0" anchor="t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Best effort levering</a:t>
            </a:r>
            <a:endParaRPr sz="1200"/>
          </a:p>
        </p:txBody>
      </p:sp>
      <p:sp>
        <p:nvSpPr>
          <p:cNvPr id="1564608446" name="AutoShape 16"/>
          <p:cNvSpPr/>
          <p:nvPr/>
        </p:nvSpPr>
        <p:spPr bwMode="auto">
          <a:xfrm flipH="1" flipV="1">
            <a:off x="3529325" y="1987655"/>
            <a:ext cx="62871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7245779" name="AutoShape 17"/>
          <p:cNvSpPr/>
          <p:nvPr/>
        </p:nvSpPr>
        <p:spPr bwMode="auto">
          <a:xfrm flipH="1">
            <a:off x="3529325" y="4870345"/>
            <a:ext cx="513335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336087" name="TextBox 2"/>
          <p:cNvSpPr txBox="1"/>
          <p:nvPr/>
        </p:nvSpPr>
        <p:spPr bwMode="auto">
          <a:xfrm rot="0">
            <a:off x="361947" y="1963609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Laaginterface</a:t>
            </a:r>
            <a:endParaRPr lang="en-US" sz="18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(N)/(N + 1)</a:t>
            </a:r>
          </a:p>
        </p:txBody>
      </p:sp>
      <p:sp>
        <p:nvSpPr>
          <p:cNvPr id="650760142" name="TextBox 3"/>
          <p:cNvSpPr txBox="1"/>
          <p:nvPr/>
        </p:nvSpPr>
        <p:spPr bwMode="auto">
          <a:xfrm rot="0" flipH="0" flipV="0">
            <a:off x="10465521" y="2155759"/>
            <a:ext cx="1565991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(N)</a:t>
            </a:r>
            <a:endParaRPr/>
          </a:p>
        </p:txBody>
      </p:sp>
      <p:sp>
        <p:nvSpPr>
          <p:cNvPr id="135139007" name="Freeform 5"/>
          <p:cNvSpPr/>
          <p:nvPr/>
        </p:nvSpPr>
        <p:spPr bwMode="auto">
          <a:xfrm rot="0" flipH="0" flipV="0">
            <a:off x="3788167" y="577509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04643093" name="TextBox 6"/>
          <p:cNvSpPr txBox="1"/>
          <p:nvPr/>
        </p:nvSpPr>
        <p:spPr bwMode="auto">
          <a:xfrm rot="0" flipH="0" flipV="0">
            <a:off x="3788167" y="505179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Laag (N + 1)</a:t>
            </a:r>
            <a:endParaRPr/>
          </a:p>
        </p:txBody>
      </p:sp>
      <p:sp>
        <p:nvSpPr>
          <p:cNvPr id="392630282" name="Freeform 8"/>
          <p:cNvSpPr/>
          <p:nvPr/>
        </p:nvSpPr>
        <p:spPr bwMode="auto">
          <a:xfrm rot="0" flipH="0" flipV="0">
            <a:off x="3788167" y="2768156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56960720" name="TextBox 9"/>
          <p:cNvSpPr txBox="1"/>
          <p:nvPr/>
        </p:nvSpPr>
        <p:spPr bwMode="auto">
          <a:xfrm rot="0" flipH="0" flipV="0">
            <a:off x="3788167" y="2695826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Laag (N)</a:t>
            </a:r>
            <a:endParaRPr/>
          </a:p>
        </p:txBody>
      </p:sp>
      <p:sp>
        <p:nvSpPr>
          <p:cNvPr id="1552275726" name="Freeform 11"/>
          <p:cNvSpPr/>
          <p:nvPr/>
        </p:nvSpPr>
        <p:spPr bwMode="auto">
          <a:xfrm rot="0" flipH="0" flipV="0">
            <a:off x="3788167" y="4956617"/>
            <a:ext cx="3244063" cy="1321686"/>
          </a:xfrm>
          <a:custGeom>
            <a:avLst/>
            <a:gdLst/>
            <a:ahLst/>
            <a:cxnLst/>
            <a:rect l="l" t="t" r="r" b="b"/>
            <a:pathLst>
              <a:path w="1281606" h="522148" fill="norm" stroke="1" extrusionOk="0">
                <a:moveTo>
                  <a:pt x="35797" y="0"/>
                </a:moveTo>
                <a:lnTo>
                  <a:pt x="1245808" y="0"/>
                </a:lnTo>
                <a:cubicBezTo>
                  <a:pt x="1255302" y="0"/>
                  <a:pt x="1264408" y="3771"/>
                  <a:pt x="1271121" y="10485"/>
                </a:cubicBezTo>
                <a:cubicBezTo>
                  <a:pt x="1277834" y="17198"/>
                  <a:pt x="1281606" y="26303"/>
                  <a:pt x="1281606" y="35797"/>
                </a:cubicBezTo>
                <a:lnTo>
                  <a:pt x="1281606" y="486350"/>
                </a:lnTo>
                <a:cubicBezTo>
                  <a:pt x="1281606" y="506121"/>
                  <a:pt x="1265579" y="522148"/>
                  <a:pt x="1245808" y="522148"/>
                </a:cubicBezTo>
                <a:lnTo>
                  <a:pt x="35797" y="522148"/>
                </a:lnTo>
                <a:cubicBezTo>
                  <a:pt x="16027" y="522148"/>
                  <a:pt x="0" y="506121"/>
                  <a:pt x="0" y="486350"/>
                </a:cubicBezTo>
                <a:lnTo>
                  <a:pt x="0" y="35797"/>
                </a:lnTo>
                <a:cubicBezTo>
                  <a:pt x="0" y="16027"/>
                  <a:pt x="16027" y="0"/>
                  <a:pt x="35797" y="0"/>
                </a:cubicBezTo>
                <a:close/>
              </a:path>
            </a:pathLst>
          </a:custGeom>
          <a:solidFill>
            <a:srgbClr val="FFFFFF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863085416" name="TextBox 12"/>
          <p:cNvSpPr txBox="1"/>
          <p:nvPr/>
        </p:nvSpPr>
        <p:spPr bwMode="auto">
          <a:xfrm rot="0" flipH="0" flipV="0">
            <a:off x="3788167" y="4884287"/>
            <a:ext cx="3244063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Laag (N - 1)</a:t>
            </a:r>
            <a:endParaRPr/>
          </a:p>
        </p:txBody>
      </p:sp>
      <p:grpSp>
        <p:nvGrpSpPr>
          <p:cNvPr id="1771484213" name="Group 13"/>
          <p:cNvGrpSpPr/>
          <p:nvPr/>
        </p:nvGrpSpPr>
        <p:grpSpPr bwMode="auto">
          <a:xfrm rot="0">
            <a:off x="3291313" y="2079352"/>
            <a:ext cx="4237774" cy="508651"/>
            <a:chOff x="0" y="0"/>
            <a:chExt cx="1674182" cy="200949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063853404" name="Group 16"/>
          <p:cNvGrpSpPr/>
          <p:nvPr/>
        </p:nvGrpSpPr>
        <p:grpSpPr bwMode="auto">
          <a:xfrm rot="0">
            <a:off x="3291313" y="4270818"/>
            <a:ext cx="4237774" cy="508651"/>
            <a:chOff x="0" y="0"/>
            <a:chExt cx="1674182" cy="200949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1674182" cy="200949"/>
            </a:xfrm>
            <a:custGeom>
              <a:avLst/>
              <a:gdLst/>
              <a:ahLst/>
              <a:cxnLst/>
              <a:rect l="l" t="t" r="r" b="b"/>
              <a:pathLst>
                <a:path w="1674182" h="200949" fill="norm" stroke="1" extrusionOk="0">
                  <a:moveTo>
                    <a:pt x="27403" y="0"/>
                  </a:moveTo>
                  <a:lnTo>
                    <a:pt x="1646779" y="0"/>
                  </a:lnTo>
                  <a:cubicBezTo>
                    <a:pt x="1661913" y="0"/>
                    <a:pt x="1674182" y="12269"/>
                    <a:pt x="1674182" y="27403"/>
                  </a:cubicBezTo>
                  <a:lnTo>
                    <a:pt x="1674182" y="173545"/>
                  </a:lnTo>
                  <a:cubicBezTo>
                    <a:pt x="1674182" y="188680"/>
                    <a:pt x="1661913" y="200949"/>
                    <a:pt x="1646779" y="200949"/>
                  </a:cubicBezTo>
                  <a:lnTo>
                    <a:pt x="27403" y="200949"/>
                  </a:lnTo>
                  <a:cubicBezTo>
                    <a:pt x="12269" y="200949"/>
                    <a:pt x="0" y="188680"/>
                    <a:pt x="0" y="173545"/>
                  </a:cubicBezTo>
                  <a:lnTo>
                    <a:pt x="0" y="27403"/>
                  </a:lnTo>
                  <a:cubicBezTo>
                    <a:pt x="0" y="12269"/>
                    <a:pt x="12269" y="0"/>
                    <a:pt x="27403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FF5C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1674182" cy="22952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2083662418" name="AutoShape 19"/>
          <p:cNvSpPr/>
          <p:nvPr/>
        </p:nvSpPr>
        <p:spPr bwMode="auto">
          <a:xfrm flipH="1">
            <a:off x="4847335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971026345" name="AutoShape 20"/>
          <p:cNvSpPr/>
          <p:nvPr/>
        </p:nvSpPr>
        <p:spPr bwMode="auto">
          <a:xfrm flipH="1" flipV="1">
            <a:off x="5979926" y="4089843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07729501" name="AutoShape 21"/>
          <p:cNvSpPr/>
          <p:nvPr/>
        </p:nvSpPr>
        <p:spPr bwMode="auto">
          <a:xfrm flipH="1">
            <a:off x="4843905" y="1881320"/>
            <a:ext cx="0" cy="904714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6785383" name="AutoShape 22"/>
          <p:cNvSpPr/>
          <p:nvPr/>
        </p:nvSpPr>
        <p:spPr bwMode="auto">
          <a:xfrm flipH="1" flipV="1">
            <a:off x="5976495" y="1919259"/>
            <a:ext cx="0" cy="8667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005890838" name="TextBox 23"/>
          <p:cNvSpPr txBox="1"/>
          <p:nvPr/>
        </p:nvSpPr>
        <p:spPr bwMode="auto">
          <a:xfrm rot="0">
            <a:off x="10183531" y="4345754"/>
            <a:ext cx="1847260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 Bold"/>
              </a:rPr>
              <a:t>Service (N - 1)</a:t>
            </a:r>
            <a:endParaRPr/>
          </a:p>
        </p:txBody>
      </p:sp>
      <p:sp>
        <p:nvSpPr>
          <p:cNvPr id="781375988" name="AutoShape 24"/>
          <p:cNvSpPr/>
          <p:nvPr/>
        </p:nvSpPr>
        <p:spPr bwMode="auto">
          <a:xfrm flipH="1" flipV="1">
            <a:off x="2400367" y="2333677"/>
            <a:ext cx="786268" cy="341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093180560" name="TextBox 25"/>
          <p:cNvSpPr txBox="1"/>
          <p:nvPr/>
        </p:nvSpPr>
        <p:spPr bwMode="auto">
          <a:xfrm rot="0">
            <a:off x="465593" y="4155075"/>
            <a:ext cx="2040934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Laaginterface</a:t>
            </a:r>
            <a:endParaRPr sz="1600"/>
          </a:p>
          <a:p>
            <a:pPr algn="l">
              <a:lnSpc>
                <a:spcPct val="100000"/>
              </a:lnSpc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(N - 1)/(N)</a:t>
            </a:r>
          </a:p>
        </p:txBody>
      </p:sp>
      <p:sp>
        <p:nvSpPr>
          <p:cNvPr id="812013253" name="AutoShape 26"/>
          <p:cNvSpPr/>
          <p:nvPr/>
        </p:nvSpPr>
        <p:spPr bwMode="auto">
          <a:xfrm flipH="1" flipV="1">
            <a:off x="2504012" y="4525144"/>
            <a:ext cx="78730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412687735" name="TextBox 27"/>
          <p:cNvSpPr txBox="1"/>
          <p:nvPr/>
        </p:nvSpPr>
        <p:spPr bwMode="auto">
          <a:xfrm rot="0" flipH="0" flipV="0">
            <a:off x="7529085" y="1739625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Gebruiker van</a:t>
            </a:r>
            <a:endParaRPr sz="1400"/>
          </a:p>
        </p:txBody>
      </p:sp>
      <p:sp>
        <p:nvSpPr>
          <p:cNvPr id="1162527951" name="TextBox 28"/>
          <p:cNvSpPr txBox="1"/>
          <p:nvPr/>
        </p:nvSpPr>
        <p:spPr bwMode="auto">
          <a:xfrm rot="0" flipH="0" flipV="0">
            <a:off x="7529085" y="2549901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Aanbieder van</a:t>
            </a:r>
            <a:endParaRPr sz="1400"/>
          </a:p>
        </p:txBody>
      </p:sp>
      <p:sp>
        <p:nvSpPr>
          <p:cNvPr id="982547259" name="TextBox 29"/>
          <p:cNvSpPr txBox="1"/>
          <p:nvPr/>
        </p:nvSpPr>
        <p:spPr bwMode="auto">
          <a:xfrm rot="0" flipH="0" flipV="0">
            <a:off x="7529085" y="3931092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Gebruiker van</a:t>
            </a:r>
            <a:endParaRPr sz="1400"/>
          </a:p>
        </p:txBody>
      </p:sp>
      <p:sp>
        <p:nvSpPr>
          <p:cNvPr id="1724423887" name="TextBox 30"/>
          <p:cNvSpPr txBox="1"/>
          <p:nvPr/>
        </p:nvSpPr>
        <p:spPr bwMode="auto">
          <a:xfrm rot="0" flipH="0" flipV="0">
            <a:off x="7529085" y="4741367"/>
            <a:ext cx="1843892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Aanbieder van</a:t>
            </a:r>
            <a:endParaRPr sz="1400"/>
          </a:p>
        </p:txBody>
      </p:sp>
      <p:sp>
        <p:nvSpPr>
          <p:cNvPr id="109301101" name="AutoShape 31"/>
          <p:cNvSpPr/>
          <p:nvPr/>
        </p:nvSpPr>
        <p:spPr bwMode="auto">
          <a:xfrm flipH="1">
            <a:off x="9371539" y="2484490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471985018" name="AutoShape 32"/>
          <p:cNvSpPr/>
          <p:nvPr/>
        </p:nvSpPr>
        <p:spPr bwMode="auto">
          <a:xfrm flipH="1" flipV="1">
            <a:off x="9371539" y="1928539"/>
            <a:ext cx="984936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343601215" name="AutoShape 33"/>
          <p:cNvSpPr/>
          <p:nvPr/>
        </p:nvSpPr>
        <p:spPr bwMode="auto">
          <a:xfrm flipH="1" flipV="1">
            <a:off x="9371539" y="4120006"/>
            <a:ext cx="788382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341940785" name="AutoShape 34"/>
          <p:cNvSpPr/>
          <p:nvPr/>
        </p:nvSpPr>
        <p:spPr bwMode="auto">
          <a:xfrm flipH="1">
            <a:off x="9371539" y="4675956"/>
            <a:ext cx="788419" cy="25432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955108" name="TextBox 2"/>
          <p:cNvSpPr txBox="1"/>
          <p:nvPr/>
        </p:nvSpPr>
        <p:spPr bwMode="auto">
          <a:xfrm rot="0">
            <a:off x="2700700" y="856201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Gastheer A</a:t>
            </a:r>
            <a:endParaRPr/>
          </a:p>
        </p:txBody>
      </p:sp>
      <p:sp>
        <p:nvSpPr>
          <p:cNvPr id="839486798" name="Freeform 4"/>
          <p:cNvSpPr/>
          <p:nvPr/>
        </p:nvSpPr>
        <p:spPr bwMode="auto">
          <a:xfrm rot="0" flipH="0" flipV="0">
            <a:off x="270217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361005387" name="TextBox 5"/>
          <p:cNvSpPr txBox="1"/>
          <p:nvPr/>
        </p:nvSpPr>
        <p:spPr bwMode="auto">
          <a:xfrm rot="0" flipH="0" flipV="0">
            <a:off x="270217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Laag (N)</a:t>
            </a:r>
            <a:endParaRPr sz="1400"/>
          </a:p>
        </p:txBody>
      </p:sp>
      <p:grpSp>
        <p:nvGrpSpPr>
          <p:cNvPr id="603602955" name="Group 6"/>
          <p:cNvGrpSpPr/>
          <p:nvPr/>
        </p:nvGrpSpPr>
        <p:grpSpPr bwMode="auto">
          <a:xfrm rot="0">
            <a:off x="2646186" y="3034040"/>
            <a:ext cx="2147449" cy="1321686"/>
            <a:chOff x="0" y="0"/>
            <a:chExt cx="848375" cy="522148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grpSp>
        <p:nvGrpSpPr>
          <p:cNvPr id="654220284" name="Group 9"/>
          <p:cNvGrpSpPr/>
          <p:nvPr/>
        </p:nvGrpSpPr>
        <p:grpSpPr bwMode="auto">
          <a:xfrm rot="0">
            <a:off x="5022235" y="3034040"/>
            <a:ext cx="2147449" cy="1321686"/>
            <a:chOff x="0" y="0"/>
            <a:chExt cx="848375" cy="522148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5C0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1643460338" name="Freeform 13"/>
          <p:cNvSpPr/>
          <p:nvPr/>
        </p:nvSpPr>
        <p:spPr bwMode="auto">
          <a:xfrm rot="0" flipH="0" flipV="0">
            <a:off x="2844369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904052648" name="TextBox 14"/>
          <p:cNvSpPr txBox="1"/>
          <p:nvPr/>
        </p:nvSpPr>
        <p:spPr bwMode="auto">
          <a:xfrm rot="0" flipH="0" flipV="0">
            <a:off x="2844369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Entiteit (N)</a:t>
            </a:r>
            <a:endParaRPr sz="1400"/>
          </a:p>
        </p:txBody>
      </p:sp>
      <p:grpSp>
        <p:nvGrpSpPr>
          <p:cNvPr id="1556122811" name="Group 15"/>
          <p:cNvGrpSpPr/>
          <p:nvPr/>
        </p:nvGrpSpPr>
        <p:grpSpPr bwMode="auto">
          <a:xfrm rot="0">
            <a:off x="7398284" y="3034040"/>
            <a:ext cx="2147449" cy="1321686"/>
            <a:chOff x="0" y="0"/>
            <a:chExt cx="848375" cy="522148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 sz="1400"/>
            </a:p>
          </p:txBody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 sz="1400"/>
            </a:p>
          </p:txBody>
        </p:sp>
      </p:grpSp>
      <p:sp>
        <p:nvSpPr>
          <p:cNvPr id="260100979" name="Freeform 19"/>
          <p:cNvSpPr/>
          <p:nvPr/>
        </p:nvSpPr>
        <p:spPr bwMode="auto">
          <a:xfrm rot="0" flipH="0" flipV="0">
            <a:off x="9774333" y="3034039"/>
            <a:ext cx="2147448" cy="1321686"/>
          </a:xfrm>
          <a:custGeom>
            <a:avLst/>
            <a:gdLst/>
            <a:ahLst/>
            <a:cxnLst/>
            <a:rect l="l" t="t" r="r" b="b"/>
            <a:pathLst>
              <a:path w="848375" h="522148" fill="norm" stroke="1" extrusionOk="0">
                <a:moveTo>
                  <a:pt x="54078" y="0"/>
                </a:moveTo>
                <a:lnTo>
                  <a:pt x="794297" y="0"/>
                </a:lnTo>
                <a:cubicBezTo>
                  <a:pt x="824164" y="0"/>
                  <a:pt x="848375" y="24211"/>
                  <a:pt x="848375" y="54078"/>
                </a:cubicBezTo>
                <a:lnTo>
                  <a:pt x="848375" y="468070"/>
                </a:lnTo>
                <a:cubicBezTo>
                  <a:pt x="848375" y="497936"/>
                  <a:pt x="824164" y="522148"/>
                  <a:pt x="794297" y="522148"/>
                </a:cubicBezTo>
                <a:lnTo>
                  <a:pt x="54078" y="522148"/>
                </a:lnTo>
                <a:cubicBezTo>
                  <a:pt x="24211" y="522148"/>
                  <a:pt x="0" y="497936"/>
                  <a:pt x="0" y="468070"/>
                </a:cubicBezTo>
                <a:lnTo>
                  <a:pt x="0" y="54078"/>
                </a:lnTo>
                <a:cubicBezTo>
                  <a:pt x="0" y="24211"/>
                  <a:pt x="24211" y="0"/>
                  <a:pt x="54078" y="0"/>
                </a:cubicBezTo>
                <a:close/>
              </a:path>
            </a:pathLst>
          </a:custGeom>
          <a:solidFill>
            <a:srgbClr val="FF5C00"/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295063007" name="TextBox 20"/>
          <p:cNvSpPr txBox="1"/>
          <p:nvPr/>
        </p:nvSpPr>
        <p:spPr bwMode="auto">
          <a:xfrm rot="0" flipH="0" flipV="0">
            <a:off x="9774333" y="2961709"/>
            <a:ext cx="2147448" cy="1394016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Laag (N + 1)</a:t>
            </a:r>
            <a:endParaRPr sz="1400"/>
          </a:p>
        </p:txBody>
      </p:sp>
      <p:grpSp>
        <p:nvGrpSpPr>
          <p:cNvPr id="1728453640" name="Group 21"/>
          <p:cNvGrpSpPr/>
          <p:nvPr/>
        </p:nvGrpSpPr>
        <p:grpSpPr bwMode="auto">
          <a:xfrm rot="0">
            <a:off x="2646186" y="1483143"/>
            <a:ext cx="2147449" cy="1321686"/>
            <a:chOff x="0" y="0"/>
            <a:chExt cx="848375" cy="522148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3" name="TextBox 23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1629669750" name="Group 24"/>
          <p:cNvGrpSpPr/>
          <p:nvPr/>
        </p:nvGrpSpPr>
        <p:grpSpPr bwMode="auto">
          <a:xfrm rot="0">
            <a:off x="2646186" y="4584326"/>
            <a:ext cx="2147449" cy="1321686"/>
            <a:chOff x="0" y="0"/>
            <a:chExt cx="848375" cy="522148"/>
          </a:xfrm>
        </p:grpSpPr>
        <p:sp>
          <p:nvSpPr>
            <p:cNvPr id="25" name="Freeform 25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6" name="TextBox 26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473875517" name="Group 27"/>
          <p:cNvGrpSpPr/>
          <p:nvPr/>
        </p:nvGrpSpPr>
        <p:grpSpPr bwMode="auto">
          <a:xfrm rot="0">
            <a:off x="7398284" y="1483448"/>
            <a:ext cx="2147449" cy="1321686"/>
            <a:chOff x="0" y="0"/>
            <a:chExt cx="848375" cy="522148"/>
          </a:xfrm>
        </p:grpSpPr>
        <p:sp>
          <p:nvSpPr>
            <p:cNvPr id="28" name="Freeform 28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29" name="TextBox 29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grpSp>
        <p:nvGrpSpPr>
          <p:cNvPr id="2023228138" name="Group 30"/>
          <p:cNvGrpSpPr/>
          <p:nvPr/>
        </p:nvGrpSpPr>
        <p:grpSpPr bwMode="auto">
          <a:xfrm rot="0">
            <a:off x="7398284" y="4584631"/>
            <a:ext cx="2147449" cy="1321686"/>
            <a:chOff x="0" y="0"/>
            <a:chExt cx="848375" cy="522148"/>
          </a:xfrm>
        </p:grpSpPr>
        <p:sp>
          <p:nvSpPr>
            <p:cNvPr id="31" name="Freeform 31"/>
            <p:cNvSpPr/>
            <p:nvPr/>
          </p:nvSpPr>
          <p:spPr bwMode="auto">
            <a:xfrm rot="0" flipH="0" flipV="0">
              <a:off x="0" y="0"/>
              <a:ext cx="848375" cy="522148"/>
            </a:xfrm>
            <a:custGeom>
              <a:avLst/>
              <a:gdLst/>
              <a:ahLst/>
              <a:cxnLst/>
              <a:rect l="l" t="t" r="r" b="b"/>
              <a:pathLst>
                <a:path w="848375" h="522148" fill="norm" stroke="1" extrusionOk="0">
                  <a:moveTo>
                    <a:pt x="54078" y="0"/>
                  </a:moveTo>
                  <a:lnTo>
                    <a:pt x="794297" y="0"/>
                  </a:lnTo>
                  <a:cubicBezTo>
                    <a:pt x="824164" y="0"/>
                    <a:pt x="848375" y="24211"/>
                    <a:pt x="848375" y="54078"/>
                  </a:cubicBezTo>
                  <a:lnTo>
                    <a:pt x="848375" y="468070"/>
                  </a:lnTo>
                  <a:cubicBezTo>
                    <a:pt x="848375" y="497936"/>
                    <a:pt x="824164" y="522148"/>
                    <a:pt x="794297" y="522148"/>
                  </a:cubicBezTo>
                  <a:lnTo>
                    <a:pt x="54078" y="522148"/>
                  </a:lnTo>
                  <a:cubicBezTo>
                    <a:pt x="24211" y="522148"/>
                    <a:pt x="0" y="497936"/>
                    <a:pt x="0" y="468070"/>
                  </a:cubicBezTo>
                  <a:lnTo>
                    <a:pt x="0" y="54078"/>
                  </a:lnTo>
                  <a:cubicBezTo>
                    <a:pt x="0" y="24211"/>
                    <a:pt x="24211" y="0"/>
                    <a:pt x="540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32" name="TextBox 32"/>
            <p:cNvSpPr txBox="1"/>
            <p:nvPr/>
          </p:nvSpPr>
          <p:spPr bwMode="auto">
            <a:xfrm>
              <a:off x="0" y="-28575"/>
              <a:ext cx="848375" cy="55072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ct val="100000"/>
                </a:lnSpc>
                <a:defRPr/>
              </a:pPr>
              <a:endParaRPr/>
            </a:p>
          </p:txBody>
        </p:sp>
      </p:grpSp>
      <p:sp>
        <p:nvSpPr>
          <p:cNvPr id="513619917" name="Freeform 34"/>
          <p:cNvSpPr/>
          <p:nvPr/>
        </p:nvSpPr>
        <p:spPr bwMode="auto">
          <a:xfrm rot="0" flipH="0" flipV="0">
            <a:off x="7596466" y="3440517"/>
            <a:ext cx="1751081" cy="508729"/>
          </a:xfrm>
          <a:custGeom>
            <a:avLst/>
            <a:gdLst/>
            <a:ahLst/>
            <a:cxnLst/>
            <a:rect l="l" t="t" r="r" b="b"/>
            <a:pathLst>
              <a:path w="691762" h="200914" fill="norm" stroke="1" extrusionOk="0">
                <a:moveTo>
                  <a:pt x="691762" y="100457"/>
                </a:moveTo>
                <a:lnTo>
                  <a:pt x="691762" y="100457"/>
                </a:lnTo>
                <a:cubicBezTo>
                  <a:pt x="691762" y="155938"/>
                  <a:pt x="646786" y="200914"/>
                  <a:pt x="591305" y="200914"/>
                </a:cubicBezTo>
                <a:lnTo>
                  <a:pt x="100457" y="200914"/>
                </a:lnTo>
                <a:cubicBezTo>
                  <a:pt x="44976" y="200914"/>
                  <a:pt x="0" y="155938"/>
                  <a:pt x="0" y="100457"/>
                </a:cubicBezTo>
                <a:lnTo>
                  <a:pt x="0" y="100457"/>
                </a:lnTo>
                <a:cubicBezTo>
                  <a:pt x="0" y="44976"/>
                  <a:pt x="44976" y="0"/>
                  <a:pt x="100457" y="0"/>
                </a:cubicBezTo>
                <a:lnTo>
                  <a:pt x="591305" y="0"/>
                </a:lnTo>
                <a:cubicBezTo>
                  <a:pt x="617948" y="0"/>
                  <a:pt x="643499" y="10584"/>
                  <a:pt x="662339" y="29423"/>
                </a:cubicBezTo>
                <a:cubicBezTo>
                  <a:pt x="681178" y="48263"/>
                  <a:pt x="691762" y="73814"/>
                  <a:pt x="691762" y="100457"/>
                </a:cubicBezTo>
                <a:close/>
              </a:path>
            </a:pathLst>
          </a:custGeom>
          <a:solidFill>
            <a:srgbClr val="FF5C00"/>
          </a:solidFill>
          <a:ln w="38100" cap="rnd">
            <a:solidFill>
              <a:srgbClr val="FF5C00"/>
            </a:solidFill>
            <a:prstDash val="solid"/>
            <a:round/>
          </a:ln>
        </p:spPr>
        <p:txBody>
          <a:bodyPr/>
          <a:p>
            <a:pPr>
              <a:lnSpc>
                <a:spcPct val="100000"/>
              </a:lnSpc>
              <a:defRPr/>
            </a:pPr>
            <a:endParaRPr sz="1400"/>
          </a:p>
        </p:txBody>
      </p:sp>
      <p:sp>
        <p:nvSpPr>
          <p:cNvPr id="1822310973" name="TextBox 35"/>
          <p:cNvSpPr txBox="1"/>
          <p:nvPr/>
        </p:nvSpPr>
        <p:spPr bwMode="auto">
          <a:xfrm rot="0" flipH="0" flipV="0">
            <a:off x="7596466" y="3368163"/>
            <a:ext cx="1751081" cy="581083"/>
          </a:xfrm>
          <a:prstGeom prst="rect">
            <a:avLst/>
          </a:prstGeom>
          <a:grpFill/>
        </p:spPr>
        <p:txBody>
          <a:bodyPr lIns="50800" tIns="50800" rIns="50800" bIns="50800" rtlCol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Entiteit (N)</a:t>
            </a:r>
            <a:endParaRPr sz="1400"/>
          </a:p>
        </p:txBody>
      </p:sp>
      <p:sp>
        <p:nvSpPr>
          <p:cNvPr id="781212520" name="AutoShape 36"/>
          <p:cNvSpPr/>
          <p:nvPr/>
        </p:nvSpPr>
        <p:spPr bwMode="auto">
          <a:xfrm flipH="1" flipV="1">
            <a:off x="4595452" y="3694883"/>
            <a:ext cx="300101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922665360" name="TextBox 37"/>
          <p:cNvSpPr txBox="1"/>
          <p:nvPr/>
        </p:nvSpPr>
        <p:spPr bwMode="auto">
          <a:xfrm rot="0">
            <a:off x="7452798" y="854965"/>
            <a:ext cx="2038776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Gastheer B</a:t>
            </a:r>
            <a:endParaRPr/>
          </a:p>
        </p:txBody>
      </p:sp>
      <p:sp>
        <p:nvSpPr>
          <p:cNvPr id="200154525" name="TextBox 38"/>
          <p:cNvSpPr txBox="1"/>
          <p:nvPr/>
        </p:nvSpPr>
        <p:spPr bwMode="auto">
          <a:xfrm rot="0">
            <a:off x="324732" y="1955072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Bovenste lagen</a:t>
            </a:r>
            <a:endParaRPr sz="1400"/>
          </a:p>
        </p:txBody>
      </p:sp>
      <p:sp>
        <p:nvSpPr>
          <p:cNvPr id="2122549492" name="TextBox 39"/>
          <p:cNvSpPr txBox="1"/>
          <p:nvPr/>
        </p:nvSpPr>
        <p:spPr bwMode="auto">
          <a:xfrm rot="0">
            <a:off x="324732" y="5056255"/>
            <a:ext cx="2039494" cy="24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Onderste lagen</a:t>
            </a:r>
            <a:endParaRPr sz="1400"/>
          </a:p>
        </p:txBody>
      </p:sp>
      <p:sp>
        <p:nvSpPr>
          <p:cNvPr id="1748119262" name="TextBox 40"/>
          <p:cNvSpPr txBox="1"/>
          <p:nvPr/>
        </p:nvSpPr>
        <p:spPr bwMode="auto">
          <a:xfrm rot="0">
            <a:off x="5076749" y="2132338"/>
            <a:ext cx="2040214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 Bold Italics"/>
              </a:rPr>
              <a:t>Primitieve service (N)</a:t>
            </a:r>
            <a:endParaRPr sz="1200"/>
          </a:p>
        </p:txBody>
      </p:sp>
      <p:sp>
        <p:nvSpPr>
          <p:cNvPr id="923848052" name="TextBox 41"/>
          <p:cNvSpPr txBox="1"/>
          <p:nvPr/>
        </p:nvSpPr>
        <p:spPr bwMode="auto">
          <a:xfrm rot="0">
            <a:off x="5076749" y="4527174"/>
            <a:ext cx="2040215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Primitieve service</a:t>
            </a:r>
            <a:endParaRPr lang="en-US" sz="1600" b="1" i="1">
              <a:solidFill>
                <a:srgbClr val="000000"/>
              </a:solidFill>
              <a:latin typeface="IBM Plex Sans Bold Italics"/>
              <a:ea typeface="IBM Plex Sans Bold Italics"/>
              <a:cs typeface="IBM Plex Sans Bold Italics"/>
            </a:endParaRPr>
          </a:p>
          <a:p>
            <a:pPr algn="ctr">
              <a:lnSpc>
                <a:spcPct val="100000"/>
              </a:lnSpc>
            </a:pPr>
            <a:r>
              <a:rPr sz="1600" b="1" i="1" lang="en-US">
                <a:solidFill>
                  <a:srgbClr val="000000"/>
                </a:solidFill>
                <a:latin typeface="IBM Plex Sans Bold Italics"/>
              </a:rPr>
              <a:t>(N - 1)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05734142" name=""/>
          <p:cNvCxnSpPr/>
          <p:nvPr/>
        </p:nvCxnSpPr>
        <p:spPr bwMode="auto">
          <a:xfrm flipH="0" flipV="0">
            <a:off x="4939095" y="1143000"/>
            <a:ext cx="0" cy="4909038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951058" name=""/>
          <p:cNvCxnSpPr/>
          <p:nvPr/>
        </p:nvCxnSpPr>
        <p:spPr bwMode="auto">
          <a:xfrm flipH="0" flipV="0">
            <a:off x="7245611" y="1294128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106244" name=""/>
          <p:cNvCxnSpPr/>
          <p:nvPr/>
        </p:nvCxnSpPr>
        <p:spPr bwMode="auto">
          <a:xfrm flipH="0" flipV="0">
            <a:off x="2606203" y="1175985"/>
            <a:ext cx="0" cy="4909037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391024" name=""/>
          <p:cNvCxnSpPr/>
          <p:nvPr/>
        </p:nvCxnSpPr>
        <p:spPr bwMode="auto">
          <a:xfrm flipH="0" flipV="1">
            <a:off x="447692" y="2066192"/>
            <a:ext cx="8975480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6061529" name=""/>
          <p:cNvCxnSpPr/>
          <p:nvPr/>
        </p:nvCxnSpPr>
        <p:spPr bwMode="auto">
          <a:xfrm rot="0" flipH="0" flipV="0">
            <a:off x="484326" y="3429000"/>
            <a:ext cx="9085487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9770362" name=""/>
          <p:cNvCxnSpPr/>
          <p:nvPr/>
        </p:nvCxnSpPr>
        <p:spPr bwMode="auto">
          <a:xfrm flipH="0" flipV="1">
            <a:off x="352442" y="4791807"/>
            <a:ext cx="9224596" cy="0"/>
          </a:xfrm>
          <a:prstGeom prst="line">
            <a:avLst/>
          </a:prstGeom>
          <a:ln w="1904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8295143" name="Group 3"/>
          <p:cNvGrpSpPr/>
          <p:nvPr/>
        </p:nvGrpSpPr>
        <p:grpSpPr bwMode="auto">
          <a:xfrm rot="0">
            <a:off x="2934517" y="3241484"/>
            <a:ext cx="1658343" cy="375032"/>
            <a:chOff x="0" y="0"/>
            <a:chExt cx="655148" cy="148161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1849177039" name="Group 6"/>
          <p:cNvGrpSpPr/>
          <p:nvPr/>
        </p:nvGrpSpPr>
        <p:grpSpPr bwMode="auto">
          <a:xfrm rot="0">
            <a:off x="2934517" y="4640313"/>
            <a:ext cx="1658343" cy="375032"/>
            <a:chOff x="0" y="0"/>
            <a:chExt cx="655148" cy="148161"/>
          </a:xfrm>
        </p:grpSpPr>
        <p:sp>
          <p:nvSpPr>
            <p:cNvPr id="7" name="Freeform 7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395144349" name="Group 9"/>
          <p:cNvGrpSpPr/>
          <p:nvPr/>
        </p:nvGrpSpPr>
        <p:grpSpPr bwMode="auto">
          <a:xfrm rot="0">
            <a:off x="7602270" y="3241484"/>
            <a:ext cx="1658343" cy="375032"/>
            <a:chOff x="0" y="0"/>
            <a:chExt cx="655148" cy="148161"/>
          </a:xfrm>
        </p:grpSpPr>
        <p:sp>
          <p:nvSpPr>
            <p:cNvPr id="10" name="Freeform 10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grpSp>
        <p:nvGrpSpPr>
          <p:cNvPr id="257575320" name="Group 12"/>
          <p:cNvGrpSpPr/>
          <p:nvPr/>
        </p:nvGrpSpPr>
        <p:grpSpPr bwMode="auto">
          <a:xfrm rot="0">
            <a:off x="7602270" y="4640313"/>
            <a:ext cx="1658343" cy="375032"/>
            <a:chOff x="0" y="0"/>
            <a:chExt cx="655148" cy="148161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655148" cy="148161"/>
            </a:xfrm>
            <a:custGeom>
              <a:avLst/>
              <a:gdLst/>
              <a:ahLst/>
              <a:cxnLst/>
              <a:rect l="l" t="t" r="r" b="b"/>
              <a:pathLst>
                <a:path w="655148" h="148161" fill="norm" stroke="1" extrusionOk="0">
                  <a:moveTo>
                    <a:pt x="23342" y="0"/>
                  </a:moveTo>
                  <a:lnTo>
                    <a:pt x="631806" y="0"/>
                  </a:lnTo>
                  <a:cubicBezTo>
                    <a:pt x="637997" y="0"/>
                    <a:pt x="643934" y="2459"/>
                    <a:pt x="648311" y="6837"/>
                  </a:cubicBezTo>
                  <a:cubicBezTo>
                    <a:pt x="652689" y="11214"/>
                    <a:pt x="655148" y="17152"/>
                    <a:pt x="655148" y="23342"/>
                  </a:cubicBezTo>
                  <a:lnTo>
                    <a:pt x="655148" y="124818"/>
                  </a:lnTo>
                  <a:cubicBezTo>
                    <a:pt x="655148" y="137710"/>
                    <a:pt x="644698" y="148161"/>
                    <a:pt x="631806" y="148161"/>
                  </a:cubicBezTo>
                  <a:lnTo>
                    <a:pt x="23342" y="148161"/>
                  </a:lnTo>
                  <a:cubicBezTo>
                    <a:pt x="10451" y="148161"/>
                    <a:pt x="0" y="137710"/>
                    <a:pt x="0" y="124818"/>
                  </a:cubicBezTo>
                  <a:lnTo>
                    <a:pt x="0" y="23342"/>
                  </a:lnTo>
                  <a:cubicBezTo>
                    <a:pt x="0" y="10451"/>
                    <a:pt x="10451" y="0"/>
                    <a:pt x="23342" y="0"/>
                  </a:cubicBezTo>
                  <a:close/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28575"/>
              <a:ext cx="655148" cy="17673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defRPr/>
              </a:pPr>
              <a:endParaRPr/>
            </a:p>
          </p:txBody>
        </p:sp>
      </p:grpSp>
      <p:sp>
        <p:nvSpPr>
          <p:cNvPr id="487897289" name="AutoShape 15"/>
          <p:cNvSpPr/>
          <p:nvPr/>
        </p:nvSpPr>
        <p:spPr bwMode="auto">
          <a:xfrm flipH="1" flipV="1">
            <a:off x="9260614" y="3429000"/>
            <a:ext cx="942973" cy="36207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4612345" name="TextBox 16"/>
          <p:cNvSpPr txBox="1"/>
          <p:nvPr/>
        </p:nvSpPr>
        <p:spPr bwMode="auto">
          <a:xfrm rot="0" flipH="0" flipV="0">
            <a:off x="10296545" y="3752969"/>
            <a:ext cx="1822661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 Italics"/>
              </a:rPr>
              <a:t>Interfaces voor servicetoegang</a:t>
            </a:r>
            <a:endParaRPr sz="1200"/>
          </a:p>
        </p:txBody>
      </p:sp>
      <p:sp>
        <p:nvSpPr>
          <p:cNvPr id="502010733" name="AutoShape 17"/>
          <p:cNvSpPr/>
          <p:nvPr/>
        </p:nvSpPr>
        <p:spPr bwMode="auto">
          <a:xfrm flipH="1">
            <a:off x="9260614" y="4445120"/>
            <a:ext cx="942973" cy="3827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606520795" name="AutoShape 18"/>
          <p:cNvSpPr/>
          <p:nvPr/>
        </p:nvSpPr>
        <p:spPr bwMode="auto">
          <a:xfrm flipV="1">
            <a:off x="8431442" y="3069018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25168503" name="AutoShape 19"/>
          <p:cNvSpPr/>
          <p:nvPr/>
        </p:nvSpPr>
        <p:spPr bwMode="auto">
          <a:xfrm flipV="1">
            <a:off x="3763689" y="3067974"/>
            <a:ext cx="0" cy="72205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28322436" name="AutoShape 20"/>
          <p:cNvSpPr/>
          <p:nvPr/>
        </p:nvSpPr>
        <p:spPr bwMode="auto">
          <a:xfrm flipV="1">
            <a:off x="8426679" y="4467325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426132224" name="AutoShape 21"/>
          <p:cNvSpPr/>
          <p:nvPr/>
        </p:nvSpPr>
        <p:spPr bwMode="auto">
          <a:xfrm flipV="1">
            <a:off x="3758927" y="4466281"/>
            <a:ext cx="0" cy="722052"/>
          </a:xfrm>
          <a:prstGeom prst="line">
            <a:avLst/>
          </a:prstGeom>
          <a:ln w="47625" cap="flat">
            <a:solidFill>
              <a:srgbClr val="38B6FF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51805742" name="AutoShape 22"/>
          <p:cNvSpPr/>
          <p:nvPr/>
        </p:nvSpPr>
        <p:spPr bwMode="auto">
          <a:xfrm flipH="1">
            <a:off x="6986738" y="5189377"/>
            <a:ext cx="1179850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16062590" name="AutoShape 23"/>
          <p:cNvSpPr/>
          <p:nvPr/>
        </p:nvSpPr>
        <p:spPr bwMode="auto">
          <a:xfrm>
            <a:off x="3962544" y="5189377"/>
            <a:ext cx="1184412" cy="3687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10836571" name="AutoShape 24"/>
          <p:cNvSpPr/>
          <p:nvPr/>
        </p:nvSpPr>
        <p:spPr bwMode="auto">
          <a:xfrm flipH="0" flipV="1">
            <a:off x="3958296" y="2793999"/>
            <a:ext cx="1106640" cy="271917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2944246" name="AutoShape 25"/>
          <p:cNvSpPr/>
          <p:nvPr/>
        </p:nvSpPr>
        <p:spPr bwMode="auto">
          <a:xfrm flipH="1" flipV="1">
            <a:off x="7160437" y="2793999"/>
            <a:ext cx="938403" cy="32030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53907548" name="AutoShape 26"/>
          <p:cNvSpPr/>
          <p:nvPr/>
        </p:nvSpPr>
        <p:spPr bwMode="auto">
          <a:xfrm flipH="1">
            <a:off x="4374686" y="4118095"/>
            <a:ext cx="343099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691891053" name=""/>
          <p:cNvSpPr txBox="1"/>
          <p:nvPr/>
        </p:nvSpPr>
        <p:spPr bwMode="auto">
          <a:xfrm rot="0" flipH="0" flipV="0">
            <a:off x="493974" y="2570542"/>
            <a:ext cx="202831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Laag (N+1)</a:t>
            </a:r>
            <a:endParaRPr lang="en-US" sz="1100"/>
          </a:p>
        </p:txBody>
      </p:sp>
      <p:sp>
        <p:nvSpPr>
          <p:cNvPr id="1624587841" name=""/>
          <p:cNvSpPr txBox="1"/>
          <p:nvPr/>
        </p:nvSpPr>
        <p:spPr bwMode="auto">
          <a:xfrm rot="0" flipH="0" flipV="0">
            <a:off x="573234" y="3894638"/>
            <a:ext cx="167135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Laag (N)</a:t>
            </a:r>
            <a:endParaRPr lang="en-US" sz="1100"/>
          </a:p>
        </p:txBody>
      </p:sp>
      <p:sp>
        <p:nvSpPr>
          <p:cNvPr id="431731150" name=""/>
          <p:cNvSpPr txBox="1"/>
          <p:nvPr/>
        </p:nvSpPr>
        <p:spPr bwMode="auto">
          <a:xfrm rot="0" flipH="0" flipV="0">
            <a:off x="572514" y="5334622"/>
            <a:ext cx="1672073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lang="en-US">
                <a:solidFill>
                  <a:srgbClr val="000000"/>
                </a:solidFill>
                <a:latin typeface="IBM Plex Sans"/>
              </a:rPr>
              <a:t>Laag (N-1)</a:t>
            </a:r>
            <a:endParaRPr lang="en-US" sz="1100"/>
          </a:p>
        </p:txBody>
      </p:sp>
      <p:sp>
        <p:nvSpPr>
          <p:cNvPr id="1158586321" name=""/>
          <p:cNvSpPr txBox="1"/>
          <p:nvPr/>
        </p:nvSpPr>
        <p:spPr bwMode="auto">
          <a:xfrm rot="0" flipH="0" flipV="0">
            <a:off x="2689784" y="1175985"/>
            <a:ext cx="2096526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Systeem A</a:t>
            </a:r>
            <a:endParaRPr lang="en-US" sz="1100"/>
          </a:p>
        </p:txBody>
      </p:sp>
      <p:sp>
        <p:nvSpPr>
          <p:cNvPr id="2059706210" name=""/>
          <p:cNvSpPr txBox="1"/>
          <p:nvPr/>
        </p:nvSpPr>
        <p:spPr bwMode="auto">
          <a:xfrm rot="0" flipH="0" flipV="0">
            <a:off x="7426192" y="1175985"/>
            <a:ext cx="2056675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b="1" lang="en-US">
                <a:solidFill>
                  <a:srgbClr val="000000"/>
                </a:solidFill>
                <a:latin typeface="IBM Plex Sans Bold"/>
              </a:rPr>
              <a:t>Systeem B</a:t>
            </a:r>
            <a:endParaRPr lang="en-US" sz="1100"/>
          </a:p>
        </p:txBody>
      </p:sp>
      <p:sp>
        <p:nvSpPr>
          <p:cNvPr id="64038582" name=""/>
          <p:cNvSpPr txBox="1"/>
          <p:nvPr/>
        </p:nvSpPr>
        <p:spPr bwMode="auto">
          <a:xfrm rot="0" flipH="0" flipV="0">
            <a:off x="7882287" y="3894997"/>
            <a:ext cx="1775122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entiteit B</a:t>
            </a:r>
            <a:endParaRPr lang="en-US" sz="1000"/>
          </a:p>
        </p:txBody>
      </p:sp>
      <p:sp>
        <p:nvSpPr>
          <p:cNvPr id="1042501510" name=""/>
          <p:cNvSpPr txBox="1"/>
          <p:nvPr/>
        </p:nvSpPr>
        <p:spPr bwMode="auto">
          <a:xfrm rot="0" flipH="0" flipV="0">
            <a:off x="2689783" y="3895357"/>
            <a:ext cx="1586230" cy="44714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entiteit A</a:t>
            </a:r>
            <a:endParaRPr lang="en-US" sz="1000"/>
          </a:p>
        </p:txBody>
      </p:sp>
      <p:sp>
        <p:nvSpPr>
          <p:cNvPr id="1630513010" name=""/>
          <p:cNvSpPr txBox="1"/>
          <p:nvPr/>
        </p:nvSpPr>
        <p:spPr bwMode="auto">
          <a:xfrm rot="0" flipH="0" flipV="0">
            <a:off x="5229373" y="5111165"/>
            <a:ext cx="1572561" cy="80274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38B6FF"/>
                </a:solidFill>
                <a:latin typeface="IBM Plex Sans Bold"/>
              </a:rPr>
              <a:t>Service van laag N-1</a:t>
            </a:r>
            <a:endParaRPr lang="en-US" sz="1000"/>
          </a:p>
        </p:txBody>
      </p:sp>
      <p:sp>
        <p:nvSpPr>
          <p:cNvPr id="1026902947" name=""/>
          <p:cNvSpPr txBox="1"/>
          <p:nvPr/>
        </p:nvSpPr>
        <p:spPr bwMode="auto">
          <a:xfrm rot="0" flipH="0" flipV="0">
            <a:off x="5105958" y="2507240"/>
            <a:ext cx="1969169" cy="447273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ts val="2798"/>
              </a:lnSpc>
              <a:defRPr/>
            </a:pPr>
            <a:r>
              <a:rPr sz="1600" b="1" lang="en-US">
                <a:solidFill>
                  <a:srgbClr val="FF5C00"/>
                </a:solidFill>
                <a:latin typeface="IBM Plex Sans Bold"/>
              </a:rPr>
              <a:t>Service van laag N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480942" name="Freeform 2"/>
          <p:cNvSpPr/>
          <p:nvPr/>
        </p:nvSpPr>
        <p:spPr bwMode="auto">
          <a:xfrm rot="-5400000" flipH="0" flipV="0">
            <a:off x="2326421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758674" name="AutoShape 3"/>
          <p:cNvSpPr/>
          <p:nvPr/>
        </p:nvSpPr>
        <p:spPr bwMode="auto">
          <a:xfrm flipH="1" flipV="1">
            <a:off x="2440362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268316010" name="AutoShape 4"/>
          <p:cNvSpPr/>
          <p:nvPr/>
        </p:nvSpPr>
        <p:spPr bwMode="auto">
          <a:xfrm flipH="1" flipV="1">
            <a:off x="4888353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693576201" name="AutoShape 5"/>
          <p:cNvSpPr/>
          <p:nvPr/>
        </p:nvSpPr>
        <p:spPr bwMode="auto">
          <a:xfrm flipH="1" flipV="1">
            <a:off x="7336345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205653456" name="AutoShape 6"/>
          <p:cNvSpPr/>
          <p:nvPr/>
        </p:nvSpPr>
        <p:spPr bwMode="auto">
          <a:xfrm flipV="1">
            <a:off x="9797216" y="2218544"/>
            <a:ext cx="0" cy="38457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52441831" name="Group 7"/>
          <p:cNvGrpSpPr/>
          <p:nvPr/>
        </p:nvGrpSpPr>
        <p:grpSpPr bwMode="auto">
          <a:xfrm rot="0">
            <a:off x="3589133" y="1889338"/>
            <a:ext cx="156097" cy="15609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954150474" name="TextBox 10"/>
          <p:cNvSpPr txBox="1"/>
          <p:nvPr/>
        </p:nvSpPr>
        <p:spPr bwMode="auto">
          <a:xfrm rot="0">
            <a:off x="1421153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426559389" name="TextBox 11"/>
          <p:cNvSpPr txBox="1"/>
          <p:nvPr/>
        </p:nvSpPr>
        <p:spPr bwMode="auto">
          <a:xfrm rot="0">
            <a:off x="3869144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797456018" name="TextBox 12"/>
          <p:cNvSpPr txBox="1"/>
          <p:nvPr/>
        </p:nvSpPr>
        <p:spPr bwMode="auto">
          <a:xfrm rot="0">
            <a:off x="6317136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732664665" name="TextBox 13"/>
          <p:cNvSpPr txBox="1"/>
          <p:nvPr/>
        </p:nvSpPr>
        <p:spPr bwMode="auto">
          <a:xfrm rot="0">
            <a:off x="8763720" y="2733673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177442581" name="TextBox 14"/>
          <p:cNvSpPr txBox="1"/>
          <p:nvPr/>
        </p:nvSpPr>
        <p:spPr bwMode="auto">
          <a:xfrm rot="0">
            <a:off x="6398803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847968032" name="TextBox 15"/>
          <p:cNvSpPr txBox="1"/>
          <p:nvPr/>
        </p:nvSpPr>
        <p:spPr bwMode="auto">
          <a:xfrm rot="0">
            <a:off x="8845387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1772654862" name="TextBox 16"/>
          <p:cNvSpPr txBox="1"/>
          <p:nvPr/>
        </p:nvSpPr>
        <p:spPr bwMode="auto">
          <a:xfrm rot="0">
            <a:off x="3952932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002819943" name="TextBox 17"/>
          <p:cNvSpPr txBox="1"/>
          <p:nvPr/>
        </p:nvSpPr>
        <p:spPr bwMode="auto">
          <a:xfrm rot="0">
            <a:off x="1506348" y="1439009"/>
            <a:ext cx="1875084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358062341" name="Group 18"/>
          <p:cNvGrpSpPr/>
          <p:nvPr/>
        </p:nvGrpSpPr>
        <p:grpSpPr bwMode="auto">
          <a:xfrm rot="0">
            <a:off x="6037565" y="1889338"/>
            <a:ext cx="156097" cy="15609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grpSp>
        <p:nvGrpSpPr>
          <p:cNvPr id="324224604" name="Group 21"/>
          <p:cNvGrpSpPr/>
          <p:nvPr/>
        </p:nvGrpSpPr>
        <p:grpSpPr bwMode="auto">
          <a:xfrm rot="0">
            <a:off x="8483437" y="1889338"/>
            <a:ext cx="156097" cy="15609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3" name="TextBox 23"/>
            <p:cNvSpPr txBox="1"/>
            <p:nvPr/>
          </p:nvSpPr>
          <p:spPr bwMode="auto">
            <a:xfrm>
              <a:off x="76200" y="47625"/>
              <a:ext cx="660400" cy="6889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465188183" name="Freeform 24"/>
          <p:cNvSpPr/>
          <p:nvPr/>
        </p:nvSpPr>
        <p:spPr bwMode="auto">
          <a:xfrm rot="-5400000" flipH="0" flipV="0">
            <a:off x="4805703" y="2355139"/>
            <a:ext cx="165301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61458234" name="TextBox 25"/>
          <p:cNvSpPr txBox="1"/>
          <p:nvPr/>
        </p:nvSpPr>
        <p:spPr bwMode="auto">
          <a:xfrm rot="0">
            <a:off x="1389863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931394104" name="TextBox 26"/>
          <p:cNvSpPr txBox="1"/>
          <p:nvPr/>
        </p:nvSpPr>
        <p:spPr bwMode="auto">
          <a:xfrm rot="0">
            <a:off x="3871265" y="3543499"/>
            <a:ext cx="20384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1111668643" name="TextBox 27"/>
          <p:cNvSpPr txBox="1"/>
          <p:nvPr/>
        </p:nvSpPr>
        <p:spPr bwMode="auto">
          <a:xfrm rot="0">
            <a:off x="3234838" y="3543499"/>
            <a:ext cx="8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454958320" name="TextBox 29"/>
          <p:cNvSpPr txBox="1"/>
          <p:nvPr/>
        </p:nvSpPr>
        <p:spPr bwMode="auto">
          <a:xfrm rot="0">
            <a:off x="4064040" y="5003065"/>
            <a:ext cx="409873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of 4 bytes</a:t>
            </a:r>
            <a:endParaRPr/>
          </a:p>
        </p:txBody>
      </p:sp>
      <p:sp>
        <p:nvSpPr>
          <p:cNvPr id="771192424" name=""/>
          <p:cNvSpPr/>
          <p:nvPr/>
        </p:nvSpPr>
        <p:spPr bwMode="auto">
          <a:xfrm rot="5399976" flipH="0" flipV="0">
            <a:off x="5929718" y="159577"/>
            <a:ext cx="442882" cy="8440904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006354" name="Freeform 2"/>
          <p:cNvSpPr/>
          <p:nvPr/>
        </p:nvSpPr>
        <p:spPr bwMode="auto">
          <a:xfrm rot="0" flipH="0" flipV="0">
            <a:off x="2541247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894137090" name="Freeform 3"/>
          <p:cNvSpPr/>
          <p:nvPr/>
        </p:nvSpPr>
        <p:spPr bwMode="auto">
          <a:xfrm rot="0" flipH="0" flipV="0">
            <a:off x="5496265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03446719" name="Freeform 4"/>
          <p:cNvSpPr/>
          <p:nvPr/>
        </p:nvSpPr>
        <p:spPr bwMode="auto">
          <a:xfrm rot="0" flipH="0" flipV="0">
            <a:off x="402057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67964583" name="Freeform 5"/>
          <p:cNvSpPr/>
          <p:nvPr/>
        </p:nvSpPr>
        <p:spPr bwMode="auto">
          <a:xfrm rot="0" flipH="0" flipV="0">
            <a:off x="6971960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4203982" name="Freeform 6"/>
          <p:cNvSpPr/>
          <p:nvPr/>
        </p:nvSpPr>
        <p:spPr bwMode="auto">
          <a:xfrm rot="0" flipH="0" flipV="0">
            <a:off x="9926978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82813252" name="Freeform 7"/>
          <p:cNvSpPr/>
          <p:nvPr/>
        </p:nvSpPr>
        <p:spPr bwMode="auto">
          <a:xfrm rot="0" flipH="0" flipV="0">
            <a:off x="8451283" y="1894487"/>
            <a:ext cx="1199470" cy="1199470"/>
          </a:xfrm>
          <a:custGeom>
            <a:avLst/>
            <a:gdLst/>
            <a:ahLst/>
            <a:cxnLst/>
            <a:rect l="l" t="t" r="r" b="b"/>
            <a:pathLst>
              <a:path w="1199470" h="1199470" fill="norm" stroke="1" extrusionOk="0">
                <a:moveTo>
                  <a:pt x="0" y="0"/>
                </a:moveTo>
                <a:lnTo>
                  <a:pt x="1199470" y="0"/>
                </a:lnTo>
                <a:lnTo>
                  <a:pt x="1199470" y="1199470"/>
                </a:lnTo>
                <a:lnTo>
                  <a:pt x="0" y="11994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grpSp>
        <p:nvGrpSpPr>
          <p:cNvPr id="419651694" name="Group 8"/>
          <p:cNvGrpSpPr/>
          <p:nvPr/>
        </p:nvGrpSpPr>
        <p:grpSpPr bwMode="auto">
          <a:xfrm rot="0">
            <a:off x="1065552" y="1846862"/>
            <a:ext cx="1199470" cy="1247095"/>
            <a:chOff x="0" y="0"/>
            <a:chExt cx="1599293" cy="1662793"/>
          </a:xfrm>
        </p:grpSpPr>
        <p:sp>
          <p:nvSpPr>
            <p:cNvPr id="9" name="Freeform 9"/>
            <p:cNvSpPr/>
            <p:nvPr/>
          </p:nvSpPr>
          <p:spPr bwMode="auto">
            <a:xfrm rot="0" flipH="0" flipV="0">
              <a:off x="0" y="63500"/>
              <a:ext cx="1599293" cy="1599293"/>
            </a:xfrm>
            <a:custGeom>
              <a:avLst/>
              <a:gdLst/>
              <a:ahLst/>
              <a:cxnLst/>
              <a:rect l="l" t="t" r="r" b="b"/>
              <a:pathLst>
                <a:path w="1599293" h="1599293" fill="norm" stroke="1" extrusionOk="0">
                  <a:moveTo>
                    <a:pt x="0" y="0"/>
                  </a:moveTo>
                  <a:lnTo>
                    <a:pt x="1599293" y="0"/>
                  </a:lnTo>
                  <a:lnTo>
                    <a:pt x="1599293" y="1599293"/>
                  </a:lnTo>
                  <a:lnTo>
                    <a:pt x="0" y="1599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  <p:txBody>
            <a:bodyPr/>
            <a:p>
              <a:pPr>
                <a:lnSpc>
                  <a:spcPct val="100000"/>
                </a:lnSpc>
                <a:defRPr/>
              </a:pPr>
              <a:endParaRPr/>
            </a:p>
          </p:txBody>
        </p:sp>
        <p:sp>
          <p:nvSpPr>
            <p:cNvPr id="10" name="AutoShape 10"/>
            <p:cNvSpPr/>
            <p:nvPr/>
          </p:nvSpPr>
          <p:spPr bwMode="auto">
            <a:xfrm flipV="1">
              <a:off x="571107" y="31750"/>
              <a:ext cx="456729" cy="454315"/>
            </a:xfrm>
            <a:prstGeom prst="line">
              <a:avLst/>
            </a:prstGeom>
            <a:grpFill/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AutoShape 11"/>
            <p:cNvSpPr/>
            <p:nvPr/>
          </p:nvSpPr>
          <p:spPr bwMode="auto">
            <a:xfrm flipV="1">
              <a:off x="400927" y="317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FFFF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2" name="AutoShape 12"/>
            <p:cNvSpPr/>
            <p:nvPr/>
          </p:nvSpPr>
          <p:spPr bwMode="auto">
            <a:xfrm flipV="1">
              <a:off x="0" y="499350"/>
              <a:ext cx="1198367" cy="0"/>
            </a:xfrm>
            <a:prstGeom prst="line">
              <a:avLst/>
            </a:prstGeom>
            <a:grpFill/>
            <a:ln w="635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3" name="AutoShape 13"/>
            <p:cNvSpPr/>
            <p:nvPr/>
          </p:nvSpPr>
          <p:spPr bwMode="auto">
            <a:xfrm flipV="1">
              <a:off x="582191" y="467600"/>
              <a:ext cx="0" cy="1195193"/>
            </a:xfrm>
            <a:prstGeom prst="line">
              <a:avLst/>
            </a:prstGeom>
            <a:grpFill/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645606874" name="Freeform 14"/>
          <p:cNvSpPr/>
          <p:nvPr/>
        </p:nvSpPr>
        <p:spPr bwMode="auto">
          <a:xfrm rot="-5400000" flipH="0" flipV="0">
            <a:off x="4441925" y="1355204"/>
            <a:ext cx="353132" cy="4154488"/>
          </a:xfrm>
          <a:custGeom>
            <a:avLst/>
            <a:gdLst/>
            <a:ahLst/>
            <a:cxnLst/>
            <a:rect l="l" t="t" r="r" b="b"/>
            <a:pathLst>
              <a:path w="353132" h="4154488" fill="norm" stroke="1" extrusionOk="0">
                <a:moveTo>
                  <a:pt x="0" y="0"/>
                </a:moveTo>
                <a:lnTo>
                  <a:pt x="353132" y="0"/>
                </a:lnTo>
                <a:lnTo>
                  <a:pt x="353132" y="4154488"/>
                </a:lnTo>
                <a:lnTo>
                  <a:pt x="0" y="4154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105486719" name="TextBox 15"/>
          <p:cNvSpPr txBox="1"/>
          <p:nvPr/>
        </p:nvSpPr>
        <p:spPr bwMode="auto">
          <a:xfrm rot="0" flipH="0" flipV="0">
            <a:off x="2589952" y="3628062"/>
            <a:ext cx="409338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Fabrikant ID</a:t>
            </a:r>
            <a:endParaRPr/>
          </a:p>
        </p:txBody>
      </p:sp>
      <p:sp>
        <p:nvSpPr>
          <p:cNvPr id="347327991" name="TextBox 16"/>
          <p:cNvSpPr txBox="1"/>
          <p:nvPr/>
        </p:nvSpPr>
        <p:spPr bwMode="auto">
          <a:xfrm rot="0" flipH="0" flipV="0">
            <a:off x="1665285" y="4612024"/>
            <a:ext cx="7532955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Lokaal adres: 1 / Uniek adres: 0</a:t>
            </a:r>
            <a:endParaRPr/>
          </a:p>
        </p:txBody>
      </p:sp>
      <p:sp>
        <p:nvSpPr>
          <p:cNvPr id="718679290" name="TextBox 17"/>
          <p:cNvSpPr txBox="1"/>
          <p:nvPr/>
        </p:nvSpPr>
        <p:spPr bwMode="auto">
          <a:xfrm rot="0">
            <a:off x="2840791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63862867" name="AutoShape 18"/>
          <p:cNvSpPr/>
          <p:nvPr/>
        </p:nvSpPr>
        <p:spPr bwMode="auto">
          <a:xfrm flipH="1">
            <a:off x="432011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2967648" name="AutoShape 19"/>
          <p:cNvSpPr/>
          <p:nvPr/>
        </p:nvSpPr>
        <p:spPr bwMode="auto">
          <a:xfrm flipH="1">
            <a:off x="284079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105878125" name="AutoShape 20"/>
          <p:cNvSpPr/>
          <p:nvPr/>
        </p:nvSpPr>
        <p:spPr bwMode="auto">
          <a:xfrm flipH="1">
            <a:off x="7271504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80456384" name="AutoShape 21"/>
          <p:cNvSpPr/>
          <p:nvPr/>
        </p:nvSpPr>
        <p:spPr bwMode="auto">
          <a:xfrm flipH="1">
            <a:off x="5792181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465328932" name="AutoShape 22"/>
          <p:cNvSpPr/>
          <p:nvPr/>
        </p:nvSpPr>
        <p:spPr bwMode="auto">
          <a:xfrm flipH="1">
            <a:off x="10226522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47146806" name="AutoShape 23"/>
          <p:cNvSpPr/>
          <p:nvPr/>
        </p:nvSpPr>
        <p:spPr bwMode="auto">
          <a:xfrm flipH="1">
            <a:off x="8747199" y="1741179"/>
            <a:ext cx="89992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2114465341" name="TextBox 24"/>
          <p:cNvSpPr txBox="1"/>
          <p:nvPr/>
        </p:nvSpPr>
        <p:spPr bwMode="auto">
          <a:xfrm rot="0">
            <a:off x="4320114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290216451" name="TextBox 25"/>
          <p:cNvSpPr txBox="1"/>
          <p:nvPr/>
        </p:nvSpPr>
        <p:spPr bwMode="auto">
          <a:xfrm rot="0">
            <a:off x="5782335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879029851" name="TextBox 26"/>
          <p:cNvSpPr txBox="1"/>
          <p:nvPr/>
        </p:nvSpPr>
        <p:spPr bwMode="auto">
          <a:xfrm rot="0">
            <a:off x="7261658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2083669362" name="TextBox 27"/>
          <p:cNvSpPr txBox="1"/>
          <p:nvPr/>
        </p:nvSpPr>
        <p:spPr bwMode="auto">
          <a:xfrm rot="0">
            <a:off x="8747199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471434235" name="TextBox 28"/>
          <p:cNvSpPr txBox="1"/>
          <p:nvPr/>
        </p:nvSpPr>
        <p:spPr bwMode="auto">
          <a:xfrm rot="0">
            <a:off x="10226522" y="1343986"/>
            <a:ext cx="899926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 Italics"/>
              </a:rPr>
              <a:t>8 bits</a:t>
            </a:r>
            <a:endParaRPr/>
          </a:p>
        </p:txBody>
      </p:sp>
      <p:sp>
        <p:nvSpPr>
          <p:cNvPr id="1360988615" name="AutoShape 29"/>
          <p:cNvSpPr/>
          <p:nvPr/>
        </p:nvSpPr>
        <p:spPr bwMode="auto">
          <a:xfrm flipV="1">
            <a:off x="1748483" y="3093957"/>
            <a:ext cx="0" cy="14262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82050738" name="TextBox 30"/>
          <p:cNvSpPr txBox="1"/>
          <p:nvPr/>
        </p:nvSpPr>
        <p:spPr bwMode="auto">
          <a:xfrm rot="0" flipH="0" flipV="0">
            <a:off x="1184403" y="5266074"/>
            <a:ext cx="7085444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Uitzending: algemeen 1 / gericht 0</a:t>
            </a:r>
            <a:endParaRPr/>
          </a:p>
        </p:txBody>
      </p:sp>
      <p:sp>
        <p:nvSpPr>
          <p:cNvPr id="720985231" name="AutoShape 31"/>
          <p:cNvSpPr/>
          <p:nvPr/>
        </p:nvSpPr>
        <p:spPr bwMode="auto">
          <a:xfrm flipH="1" flipV="1">
            <a:off x="1272363" y="3093957"/>
            <a:ext cx="11895" cy="208033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460216" name="Freeform 2"/>
          <p:cNvSpPr/>
          <p:nvPr/>
        </p:nvSpPr>
        <p:spPr bwMode="auto">
          <a:xfrm rot="-5399977" flipH="0" flipV="0">
            <a:off x="2326420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20115232" name="AutoShape 3"/>
          <p:cNvSpPr/>
          <p:nvPr/>
        </p:nvSpPr>
        <p:spPr bwMode="auto">
          <a:xfrm flipH="1" flipV="1">
            <a:off x="244036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979720834" name="AutoShape 4"/>
          <p:cNvSpPr/>
          <p:nvPr/>
        </p:nvSpPr>
        <p:spPr bwMode="auto">
          <a:xfrm flipH="1" flipV="1">
            <a:off x="4888351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874021603" name="AutoShape 5"/>
          <p:cNvSpPr/>
          <p:nvPr/>
        </p:nvSpPr>
        <p:spPr bwMode="auto">
          <a:xfrm flipH="1" flipV="1">
            <a:off x="7336344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1554454979" name="AutoShape 6"/>
          <p:cNvSpPr/>
          <p:nvPr/>
        </p:nvSpPr>
        <p:spPr bwMode="auto">
          <a:xfrm flipV="1">
            <a:off x="9797216" y="2218543"/>
            <a:ext cx="0" cy="3845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grpSp>
        <p:nvGrpSpPr>
          <p:cNvPr id="795652471" name="Group 7"/>
          <p:cNvGrpSpPr/>
          <p:nvPr/>
        </p:nvGrpSpPr>
        <p:grpSpPr bwMode="auto">
          <a:xfrm rot="0">
            <a:off x="3589133" y="1889337"/>
            <a:ext cx="156096" cy="156096"/>
            <a:chOff x="0" y="0"/>
            <a:chExt cx="812799" cy="812799"/>
          </a:xfrm>
        </p:grpSpPr>
        <p:sp>
          <p:nvSpPr>
            <p:cNvPr id="1839748171" name="Freeform 8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4397303" name="TextBox 9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103919819" name="TextBox 10"/>
          <p:cNvSpPr txBox="1"/>
          <p:nvPr/>
        </p:nvSpPr>
        <p:spPr bwMode="auto">
          <a:xfrm rot="0">
            <a:off x="1421152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10101100</a:t>
            </a:r>
            <a:endParaRPr/>
          </a:p>
        </p:txBody>
      </p:sp>
      <p:sp>
        <p:nvSpPr>
          <p:cNvPr id="2107930086" name="TextBox 11"/>
          <p:cNvSpPr txBox="1"/>
          <p:nvPr/>
        </p:nvSpPr>
        <p:spPr bwMode="auto">
          <a:xfrm rot="0">
            <a:off x="3869143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00010000</a:t>
            </a:r>
            <a:endParaRPr/>
          </a:p>
        </p:txBody>
      </p:sp>
      <p:sp>
        <p:nvSpPr>
          <p:cNvPr id="1675349559" name="TextBox 12"/>
          <p:cNvSpPr txBox="1"/>
          <p:nvPr/>
        </p:nvSpPr>
        <p:spPr bwMode="auto">
          <a:xfrm rot="0">
            <a:off x="6317136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11111110</a:t>
            </a:r>
            <a:endParaRPr/>
          </a:p>
        </p:txBody>
      </p:sp>
      <p:sp>
        <p:nvSpPr>
          <p:cNvPr id="118336549" name="TextBox 13"/>
          <p:cNvSpPr txBox="1"/>
          <p:nvPr/>
        </p:nvSpPr>
        <p:spPr bwMode="auto">
          <a:xfrm rot="0">
            <a:off x="8763720" y="2733672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00000001</a:t>
            </a:r>
            <a:endParaRPr/>
          </a:p>
        </p:txBody>
      </p:sp>
      <p:sp>
        <p:nvSpPr>
          <p:cNvPr id="2139526078" name="TextBox 14"/>
          <p:cNvSpPr txBox="1"/>
          <p:nvPr/>
        </p:nvSpPr>
        <p:spPr bwMode="auto">
          <a:xfrm rot="0">
            <a:off x="6398803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254</a:t>
            </a:r>
            <a:endParaRPr/>
          </a:p>
        </p:txBody>
      </p:sp>
      <p:sp>
        <p:nvSpPr>
          <p:cNvPr id="1039035261" name="TextBox 15"/>
          <p:cNvSpPr txBox="1"/>
          <p:nvPr/>
        </p:nvSpPr>
        <p:spPr bwMode="auto">
          <a:xfrm rot="0">
            <a:off x="8845386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</a:t>
            </a:r>
            <a:endParaRPr/>
          </a:p>
        </p:txBody>
      </p:sp>
      <p:sp>
        <p:nvSpPr>
          <p:cNvPr id="730506603" name="TextBox 16"/>
          <p:cNvSpPr txBox="1"/>
          <p:nvPr/>
        </p:nvSpPr>
        <p:spPr bwMode="auto">
          <a:xfrm rot="0">
            <a:off x="3952931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16</a:t>
            </a:r>
            <a:endParaRPr/>
          </a:p>
        </p:txBody>
      </p:sp>
      <p:sp>
        <p:nvSpPr>
          <p:cNvPr id="1190567667" name="TextBox 17"/>
          <p:cNvSpPr txBox="1"/>
          <p:nvPr/>
        </p:nvSpPr>
        <p:spPr bwMode="auto">
          <a:xfrm rot="0">
            <a:off x="1506348" y="1439008"/>
            <a:ext cx="1875083" cy="606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 Bold"/>
              </a:rPr>
              <a:t>172</a:t>
            </a:r>
            <a:endParaRPr/>
          </a:p>
        </p:txBody>
      </p:sp>
      <p:grpSp>
        <p:nvGrpSpPr>
          <p:cNvPr id="1353708748" name="Group 18"/>
          <p:cNvGrpSpPr/>
          <p:nvPr/>
        </p:nvGrpSpPr>
        <p:grpSpPr bwMode="auto">
          <a:xfrm rot="0">
            <a:off x="6037565" y="1889337"/>
            <a:ext cx="156096" cy="156096"/>
            <a:chOff x="0" y="0"/>
            <a:chExt cx="812799" cy="812799"/>
          </a:xfrm>
        </p:grpSpPr>
        <p:sp>
          <p:nvSpPr>
            <p:cNvPr id="744266653" name="Freeform 19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21914560" name="TextBox 20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grpSp>
        <p:nvGrpSpPr>
          <p:cNvPr id="198773872" name="Group 21"/>
          <p:cNvGrpSpPr/>
          <p:nvPr/>
        </p:nvGrpSpPr>
        <p:grpSpPr bwMode="auto">
          <a:xfrm rot="0">
            <a:off x="8483437" y="1889337"/>
            <a:ext cx="156096" cy="156096"/>
            <a:chOff x="0" y="0"/>
            <a:chExt cx="812799" cy="812799"/>
          </a:xfrm>
        </p:grpSpPr>
        <p:sp>
          <p:nvSpPr>
            <p:cNvPr id="1364283425" name="Freeform 22"/>
            <p:cNvSpPr/>
            <p:nvPr/>
          </p:nvSpPr>
          <p:spPr bwMode="auto">
            <a:xfrm rot="0" flipH="0" flipV="0"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54185778" name="TextBox 23"/>
            <p:cNvSpPr txBox="1"/>
            <p:nvPr/>
          </p:nvSpPr>
          <p:spPr bwMode="auto">
            <a:xfrm>
              <a:off x="76199" y="47623"/>
              <a:ext cx="660399" cy="688974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1818"/>
                </a:lnSpc>
                <a:defRPr/>
              </a:pPr>
              <a:endParaRPr/>
            </a:p>
          </p:txBody>
        </p:sp>
      </p:grpSp>
      <p:sp>
        <p:nvSpPr>
          <p:cNvPr id="2096437321" name="Freeform 24"/>
          <p:cNvSpPr/>
          <p:nvPr/>
        </p:nvSpPr>
        <p:spPr bwMode="auto">
          <a:xfrm rot="-5399977" flipH="0" flipV="0">
            <a:off x="4805703" y="2355138"/>
            <a:ext cx="165300" cy="1944720"/>
          </a:xfrm>
          <a:custGeom>
            <a:avLst/>
            <a:gdLst/>
            <a:ahLst/>
            <a:cxnLst/>
            <a:rect l="l" t="t" r="r" b="b"/>
            <a:pathLst>
              <a:path w="165301" h="1944720" fill="norm" stroke="1" extrusionOk="0">
                <a:moveTo>
                  <a:pt x="0" y="0"/>
                </a:moveTo>
                <a:lnTo>
                  <a:pt x="165301" y="0"/>
                </a:lnTo>
                <a:lnTo>
                  <a:pt x="165301" y="1944720"/>
                </a:lnTo>
                <a:lnTo>
                  <a:pt x="0" y="1944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0682055" name="TextBox 25"/>
          <p:cNvSpPr txBox="1"/>
          <p:nvPr/>
        </p:nvSpPr>
        <p:spPr bwMode="auto">
          <a:xfrm rot="0">
            <a:off x="1389861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 byte</a:t>
            </a:r>
            <a:endParaRPr/>
          </a:p>
        </p:txBody>
      </p:sp>
      <p:sp>
        <p:nvSpPr>
          <p:cNvPr id="1691506698" name="TextBox 26"/>
          <p:cNvSpPr txBox="1"/>
          <p:nvPr/>
        </p:nvSpPr>
        <p:spPr bwMode="auto">
          <a:xfrm rot="0">
            <a:off x="3871265" y="3543498"/>
            <a:ext cx="2038416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8 bits</a:t>
            </a:r>
            <a:endParaRPr/>
          </a:p>
        </p:txBody>
      </p:sp>
      <p:sp>
        <p:nvSpPr>
          <p:cNvPr id="7722481" name="TextBox 27"/>
          <p:cNvSpPr txBox="1"/>
          <p:nvPr/>
        </p:nvSpPr>
        <p:spPr bwMode="auto">
          <a:xfrm rot="0">
            <a:off x="3234837" y="3543498"/>
            <a:ext cx="86468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=</a:t>
            </a:r>
            <a:endParaRPr/>
          </a:p>
        </p:txBody>
      </p:sp>
      <p:sp>
        <p:nvSpPr>
          <p:cNvPr id="1259000740" name="TextBox 29"/>
          <p:cNvSpPr txBox="1"/>
          <p:nvPr/>
        </p:nvSpPr>
        <p:spPr bwMode="auto">
          <a:xfrm rot="0">
            <a:off x="4064040" y="5003064"/>
            <a:ext cx="4098737" cy="33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32 bits (4 * 8), of 4 bytes</a:t>
            </a:r>
            <a:endParaRPr/>
          </a:p>
        </p:txBody>
      </p:sp>
      <p:sp>
        <p:nvSpPr>
          <p:cNvPr id="1725516651" name=""/>
          <p:cNvSpPr/>
          <p:nvPr/>
        </p:nvSpPr>
        <p:spPr bwMode="auto">
          <a:xfrm rot="5399942" flipH="0" flipV="0">
            <a:off x="5929718" y="159576"/>
            <a:ext cx="442881" cy="8440903"/>
          </a:xfrm>
          <a:prstGeom prst="rightBrace">
            <a:avLst>
              <a:gd name="adj1" fmla="val 8333"/>
              <a:gd name="adj2" fmla="val 50000"/>
            </a:avLst>
          </a:prstGeom>
          <a:ln w="38099" cap="flat" cmpd="sng" algn="ctr">
            <a:solidFill>
              <a:schemeClr val="tx1"/>
            </a:solidFill>
            <a:prstDash val="soli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489755" name="AutoShape 2"/>
          <p:cNvSpPr/>
          <p:nvPr/>
        </p:nvSpPr>
        <p:spPr bwMode="auto">
          <a:xfrm>
            <a:off x="2416524" y="1657693"/>
            <a:ext cx="1278660" cy="63972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1607600357" name="Group 3"/>
          <p:cNvGrpSpPr/>
          <p:nvPr/>
        </p:nvGrpSpPr>
        <p:grpSpPr bwMode="auto">
          <a:xfrm rot="0">
            <a:off x="3228736" y="1875447"/>
            <a:ext cx="6807765" cy="3922206"/>
            <a:chOff x="0" y="0"/>
            <a:chExt cx="2189518" cy="1261462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227928178" name="Freeform 6"/>
          <p:cNvSpPr/>
          <p:nvPr/>
        </p:nvSpPr>
        <p:spPr bwMode="auto">
          <a:xfrm rot="0" flipH="0" flipV="0">
            <a:off x="7471489" y="21020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5"/>
                </a:lnTo>
                <a:lnTo>
                  <a:pt x="0" y="1450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70338611" name="Freeform 7"/>
          <p:cNvSpPr/>
          <p:nvPr/>
        </p:nvSpPr>
        <p:spPr bwMode="auto">
          <a:xfrm rot="0" flipH="0" flipV="0">
            <a:off x="4574674" y="3668257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91820724" name="Freeform 8"/>
          <p:cNvSpPr/>
          <p:nvPr/>
        </p:nvSpPr>
        <p:spPr bwMode="auto">
          <a:xfrm rot="0" flipH="0" flipV="0">
            <a:off x="7157173" y="3836550"/>
            <a:ext cx="1136732" cy="1450586"/>
          </a:xfrm>
          <a:custGeom>
            <a:avLst/>
            <a:gdLst/>
            <a:ahLst/>
            <a:cxnLst/>
            <a:rect l="l" t="t" r="r" b="b"/>
            <a:pathLst>
              <a:path w="1136732" h="1450586" fill="norm" stroke="1" extrusionOk="0">
                <a:moveTo>
                  <a:pt x="0" y="0"/>
                </a:moveTo>
                <a:lnTo>
                  <a:pt x="1136732" y="0"/>
                </a:lnTo>
                <a:lnTo>
                  <a:pt x="1136732" y="1450586"/>
                </a:lnTo>
                <a:lnTo>
                  <a:pt x="0" y="145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43715479" name="Freeform 9"/>
          <p:cNvSpPr/>
          <p:nvPr/>
        </p:nvSpPr>
        <p:spPr bwMode="auto">
          <a:xfrm rot="0" flipH="0" flipV="0">
            <a:off x="3695185" y="1506881"/>
            <a:ext cx="1155617" cy="1581068"/>
          </a:xfrm>
          <a:custGeom>
            <a:avLst/>
            <a:gdLst/>
            <a:ahLst/>
            <a:cxnLst/>
            <a:rect l="l" t="t" r="r" b="b"/>
            <a:pathLst>
              <a:path w="1155617" h="1581068" fill="norm" stroke="1" extrusionOk="0">
                <a:moveTo>
                  <a:pt x="0" y="0"/>
                </a:moveTo>
                <a:lnTo>
                  <a:pt x="1155617" y="0"/>
                </a:lnTo>
                <a:lnTo>
                  <a:pt x="1155617" y="1581068"/>
                </a:lnTo>
                <a:lnTo>
                  <a:pt x="0" y="15810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7238015" name="Freeform 10"/>
          <p:cNvSpPr/>
          <p:nvPr/>
        </p:nvSpPr>
        <p:spPr bwMode="auto">
          <a:xfrm rot="0" flipH="0" flipV="0">
            <a:off x="480744" y="406437"/>
            <a:ext cx="2363722" cy="1890978"/>
          </a:xfrm>
          <a:custGeom>
            <a:avLst/>
            <a:gdLst/>
            <a:ahLst/>
            <a:cxnLst/>
            <a:rect l="l" t="t" r="r" b="b"/>
            <a:pathLst>
              <a:path w="2363722" h="1890978" fill="norm" stroke="1" extrusionOk="0">
                <a:moveTo>
                  <a:pt x="0" y="0"/>
                </a:moveTo>
                <a:lnTo>
                  <a:pt x="2363723" y="0"/>
                </a:lnTo>
                <a:lnTo>
                  <a:pt x="2363723" y="1890978"/>
                </a:lnTo>
                <a:lnTo>
                  <a:pt x="0" y="1890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559986577" name="TextBox 11"/>
          <p:cNvSpPr txBox="1"/>
          <p:nvPr/>
        </p:nvSpPr>
        <p:spPr bwMode="auto">
          <a:xfrm rot="0" flipH="0" flipV="0">
            <a:off x="2881274" y="293451"/>
            <a:ext cx="2885216" cy="71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Server met routing en externe toegang</a:t>
            </a:r>
            <a:endParaRPr sz="1400"/>
          </a:p>
        </p:txBody>
      </p:sp>
      <p:sp>
        <p:nvSpPr>
          <p:cNvPr id="1042505645" name="TextBox 12"/>
          <p:cNvSpPr txBox="1"/>
          <p:nvPr/>
        </p:nvSpPr>
        <p:spPr bwMode="auto">
          <a:xfrm rot="0">
            <a:off x="443937" y="1084606"/>
            <a:ext cx="2437338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defRPr/>
            </a:pPr>
            <a:r>
              <a:rPr sz="25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38634916" name="AutoShape 13"/>
          <p:cNvSpPr/>
          <p:nvPr/>
        </p:nvSpPr>
        <p:spPr bwMode="auto">
          <a:xfrm flipH="1">
            <a:off x="4850802" y="1657693"/>
            <a:ext cx="969235" cy="99474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73755711" name="AutoShape 14"/>
          <p:cNvSpPr/>
          <p:nvPr/>
        </p:nvSpPr>
        <p:spPr bwMode="auto">
          <a:xfrm>
            <a:off x="4850802" y="2888733"/>
            <a:ext cx="2177193" cy="116694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53467495" name="AutoShape 15"/>
          <p:cNvSpPr/>
          <p:nvPr/>
        </p:nvSpPr>
        <p:spPr bwMode="auto">
          <a:xfrm>
            <a:off x="4704637" y="3087949"/>
            <a:ext cx="176812" cy="58030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136872380" name="AutoShape 16"/>
          <p:cNvSpPr/>
          <p:nvPr/>
        </p:nvSpPr>
        <p:spPr bwMode="auto">
          <a:xfrm>
            <a:off x="5003202" y="2676021"/>
            <a:ext cx="2269881" cy="5230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arrow" w="med" len="sm"/>
          </a:ln>
        </p:spPr>
        <p:txBody>
          <a:bodyPr/>
          <a:p/>
        </p:txBody>
      </p:sp>
      <p:sp>
        <p:nvSpPr>
          <p:cNvPr id="774608320" name="TextBox 17"/>
          <p:cNvSpPr txBox="1"/>
          <p:nvPr/>
        </p:nvSpPr>
        <p:spPr bwMode="auto">
          <a:xfrm rot="0">
            <a:off x="784219" y="267968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157.54.130.1</a:t>
            </a:r>
            <a:endParaRPr/>
          </a:p>
        </p:txBody>
      </p:sp>
      <p:sp>
        <p:nvSpPr>
          <p:cNvPr id="624403496" name="TextBox 18"/>
          <p:cNvSpPr txBox="1"/>
          <p:nvPr/>
        </p:nvSpPr>
        <p:spPr bwMode="auto">
          <a:xfrm rot="0">
            <a:off x="5433421" y="1317969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</a:t>
            </a:r>
            <a:endParaRPr/>
          </a:p>
        </p:txBody>
      </p:sp>
      <p:sp>
        <p:nvSpPr>
          <p:cNvPr id="1627102658" name="TextBox 19"/>
          <p:cNvSpPr txBox="1"/>
          <p:nvPr/>
        </p:nvSpPr>
        <p:spPr bwMode="auto">
          <a:xfrm rot="0">
            <a:off x="1662605" y="560874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192.168.20.122</a:t>
            </a:r>
            <a:endParaRPr/>
          </a:p>
        </p:txBody>
      </p:sp>
      <p:sp>
        <p:nvSpPr>
          <p:cNvPr id="1850612717" name="TextBox 20"/>
          <p:cNvSpPr txBox="1"/>
          <p:nvPr/>
        </p:nvSpPr>
        <p:spPr bwMode="auto">
          <a:xfrm rot="0">
            <a:off x="8293905" y="6111837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192.168.20.121</a:t>
            </a:r>
            <a:endParaRPr/>
          </a:p>
        </p:txBody>
      </p:sp>
      <p:sp>
        <p:nvSpPr>
          <p:cNvPr id="1908485376" name="TextBox 21"/>
          <p:cNvSpPr txBox="1"/>
          <p:nvPr/>
        </p:nvSpPr>
        <p:spPr bwMode="auto">
          <a:xfrm rot="0">
            <a:off x="9455946" y="1957690"/>
            <a:ext cx="229211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192.168.20.120</a:t>
            </a:r>
            <a:endParaRPr/>
          </a:p>
        </p:txBody>
      </p:sp>
      <p:sp>
        <p:nvSpPr>
          <p:cNvPr id="807828048" name="AutoShape 22"/>
          <p:cNvSpPr/>
          <p:nvPr/>
        </p:nvSpPr>
        <p:spPr bwMode="auto">
          <a:xfrm flipV="1">
            <a:off x="8608221" y="2297415"/>
            <a:ext cx="986989" cy="52993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1841084" name="AutoShape 23"/>
          <p:cNvSpPr/>
          <p:nvPr/>
        </p:nvSpPr>
        <p:spPr bwMode="auto">
          <a:xfrm flipH="1">
            <a:off x="2693852" y="2297415"/>
            <a:ext cx="1001333" cy="42036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78384542" name="AutoShape 24"/>
          <p:cNvSpPr/>
          <p:nvPr/>
        </p:nvSpPr>
        <p:spPr bwMode="auto">
          <a:xfrm flipH="1">
            <a:off x="3653982" y="4880552"/>
            <a:ext cx="1050656" cy="766289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71013536" name="AutoShape 25"/>
          <p:cNvSpPr/>
          <p:nvPr/>
        </p:nvSpPr>
        <p:spPr bwMode="auto">
          <a:xfrm flipH="1" flipV="1">
            <a:off x="8123559" y="5287136"/>
            <a:ext cx="689717" cy="862802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89101969" name="TextBox 26"/>
          <p:cNvSpPr txBox="1"/>
          <p:nvPr/>
        </p:nvSpPr>
        <p:spPr bwMode="auto">
          <a:xfrm rot="0" flipH="0" flipV="0">
            <a:off x="4179309" y="5925740"/>
            <a:ext cx="4289827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 Italics"/>
              </a:rPr>
              <a:t>Prive-netwerk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54874" name="Freeform 2"/>
          <p:cNvSpPr/>
          <p:nvPr/>
        </p:nvSpPr>
        <p:spPr bwMode="auto">
          <a:xfrm rot="0" flipH="0" flipV="0">
            <a:off x="189341" y="2747905"/>
            <a:ext cx="1894226" cy="1515381"/>
          </a:xfrm>
          <a:custGeom>
            <a:avLst/>
            <a:gdLst/>
            <a:ahLst/>
            <a:cxnLst/>
            <a:rect l="l" t="t" r="r" b="b"/>
            <a:pathLst>
              <a:path w="1894226" h="1515381" fill="norm" stroke="1" extrusionOk="0">
                <a:moveTo>
                  <a:pt x="0" y="0"/>
                </a:moveTo>
                <a:lnTo>
                  <a:pt x="1894226" y="0"/>
                </a:lnTo>
                <a:lnTo>
                  <a:pt x="1894226" y="1515381"/>
                </a:lnTo>
                <a:lnTo>
                  <a:pt x="0" y="1515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75562168" name="AutoShape 3"/>
          <p:cNvSpPr/>
          <p:nvPr/>
        </p:nvSpPr>
        <p:spPr bwMode="auto">
          <a:xfrm flipH="1">
            <a:off x="7561904" y="0"/>
            <a:ext cx="0" cy="685800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0169511" name="AutoShape 4"/>
          <p:cNvSpPr/>
          <p:nvPr/>
        </p:nvSpPr>
        <p:spPr bwMode="auto">
          <a:xfrm flipH="1">
            <a:off x="7561904" y="74696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8223470" name="AutoShape 5"/>
          <p:cNvSpPr/>
          <p:nvPr/>
        </p:nvSpPr>
        <p:spPr bwMode="auto">
          <a:xfrm flipH="1">
            <a:off x="7561904" y="2111937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89137914" name="AutoShape 6"/>
          <p:cNvSpPr/>
          <p:nvPr/>
        </p:nvSpPr>
        <p:spPr bwMode="auto">
          <a:xfrm flipH="1">
            <a:off x="7561904" y="3452812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1169728" name="AutoShape 7"/>
          <p:cNvSpPr/>
          <p:nvPr/>
        </p:nvSpPr>
        <p:spPr bwMode="auto">
          <a:xfrm flipH="1">
            <a:off x="7561904" y="4746634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42201745" name="AutoShape 8"/>
          <p:cNvSpPr/>
          <p:nvPr/>
        </p:nvSpPr>
        <p:spPr bwMode="auto">
          <a:xfrm flipH="1">
            <a:off x="7561904" y="6148388"/>
            <a:ext cx="100994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17404" name="Freeform 9"/>
          <p:cNvSpPr/>
          <p:nvPr/>
        </p:nvSpPr>
        <p:spPr bwMode="auto">
          <a:xfrm rot="0" flipH="0" flipV="0">
            <a:off x="8546610" y="563245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715353935" name="Freeform 10"/>
          <p:cNvSpPr/>
          <p:nvPr/>
        </p:nvSpPr>
        <p:spPr bwMode="auto">
          <a:xfrm rot="0" flipH="0" flipV="0">
            <a:off x="8546610" y="4291861"/>
            <a:ext cx="750074" cy="957171"/>
          </a:xfrm>
          <a:custGeom>
            <a:avLst/>
            <a:gdLst/>
            <a:ahLst/>
            <a:cxnLst/>
            <a:rect l="l" t="t" r="r" b="b"/>
            <a:pathLst>
              <a:path w="750074" h="957171" fill="norm" stroke="1" extrusionOk="0">
                <a:moveTo>
                  <a:pt x="0" y="0"/>
                </a:moveTo>
                <a:lnTo>
                  <a:pt x="750074" y="0"/>
                </a:lnTo>
                <a:lnTo>
                  <a:pt x="750074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630348853" name="Freeform 11"/>
          <p:cNvSpPr/>
          <p:nvPr/>
        </p:nvSpPr>
        <p:spPr bwMode="auto">
          <a:xfrm rot="0" flipH="0" flipV="0">
            <a:off x="8571844" y="2950700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345215987" name="Freeform 12"/>
          <p:cNvSpPr/>
          <p:nvPr/>
        </p:nvSpPr>
        <p:spPr bwMode="auto">
          <a:xfrm rot="0" flipH="0" flipV="0">
            <a:off x="8571844" y="160953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1"/>
                </a:lnTo>
                <a:lnTo>
                  <a:pt x="0" y="9571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539141603" name="Freeform 13"/>
          <p:cNvSpPr/>
          <p:nvPr/>
        </p:nvSpPr>
        <p:spPr bwMode="auto">
          <a:xfrm rot="0" flipH="0" flipV="0">
            <a:off x="8571844" y="268379"/>
            <a:ext cx="699605" cy="957171"/>
          </a:xfrm>
          <a:custGeom>
            <a:avLst/>
            <a:gdLst/>
            <a:ahLst/>
            <a:cxnLst/>
            <a:rect l="l" t="t" r="r" b="b"/>
            <a:pathLst>
              <a:path w="699605" h="957171" fill="norm" stroke="1" extrusionOk="0">
                <a:moveTo>
                  <a:pt x="0" y="0"/>
                </a:moveTo>
                <a:lnTo>
                  <a:pt x="699605" y="0"/>
                </a:lnTo>
                <a:lnTo>
                  <a:pt x="699605" y="957170"/>
                </a:lnTo>
                <a:lnTo>
                  <a:pt x="0" y="957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907517153" name="AutoShape 14"/>
          <p:cNvSpPr/>
          <p:nvPr/>
        </p:nvSpPr>
        <p:spPr bwMode="auto">
          <a:xfrm flipH="1">
            <a:off x="4260647" y="0"/>
            <a:ext cx="0" cy="685800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64835554" name="Freeform 15"/>
          <p:cNvSpPr/>
          <p:nvPr/>
        </p:nvSpPr>
        <p:spPr bwMode="auto">
          <a:xfrm rot="0" flipH="0" flipV="0">
            <a:off x="3881355" y="2824166"/>
            <a:ext cx="1015760" cy="1191190"/>
          </a:xfrm>
          <a:custGeom>
            <a:avLst/>
            <a:gdLst/>
            <a:ahLst/>
            <a:cxnLst/>
            <a:rect l="l" t="t" r="r" b="b"/>
            <a:pathLst>
              <a:path w="1015760" h="1191190" fill="norm" stroke="1" extrusionOk="0">
                <a:moveTo>
                  <a:pt x="0" y="0"/>
                </a:moveTo>
                <a:lnTo>
                  <a:pt x="1015760" y="0"/>
                </a:lnTo>
                <a:lnTo>
                  <a:pt x="1015760" y="1191189"/>
                </a:lnTo>
                <a:lnTo>
                  <a:pt x="0" y="1191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lnSpc>
                <a:spcPct val="100000"/>
              </a:lnSpc>
              <a:defRPr/>
            </a:pPr>
            <a:endParaRPr/>
          </a:p>
        </p:txBody>
      </p:sp>
      <p:sp>
        <p:nvSpPr>
          <p:cNvPr id="1235942648" name="TextBox 16"/>
          <p:cNvSpPr txBox="1"/>
          <p:nvPr/>
        </p:nvSpPr>
        <p:spPr bwMode="auto">
          <a:xfrm rot="0">
            <a:off x="159844" y="3291438"/>
            <a:ext cx="1953219" cy="33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4"/>
              </a:lnSpc>
              <a:defRPr/>
            </a:pPr>
            <a:r>
              <a:rPr sz="2000" lang="en-US">
                <a:solidFill>
                  <a:srgbClr val="FFFFFF"/>
                </a:solidFill>
                <a:latin typeface="IBM Plex Sans"/>
              </a:rPr>
              <a:t>INTERNET</a:t>
            </a:r>
            <a:endParaRPr/>
          </a:p>
        </p:txBody>
      </p:sp>
      <p:sp>
        <p:nvSpPr>
          <p:cNvPr id="129424008" name="TextBox 17"/>
          <p:cNvSpPr txBox="1"/>
          <p:nvPr/>
        </p:nvSpPr>
        <p:spPr bwMode="auto">
          <a:xfrm rot="0">
            <a:off x="4433915" y="6317699"/>
            <a:ext cx="2342448" cy="305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 Bold Italics"/>
              </a:rPr>
              <a:t>Bedrijf</a:t>
            </a:r>
            <a:endParaRPr/>
          </a:p>
        </p:txBody>
      </p:sp>
      <p:sp>
        <p:nvSpPr>
          <p:cNvPr id="1160916189" name="AutoShape 18"/>
          <p:cNvSpPr/>
          <p:nvPr/>
        </p:nvSpPr>
        <p:spPr bwMode="auto">
          <a:xfrm flipH="1">
            <a:off x="4897115" y="3452812"/>
            <a:ext cx="26575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80545839" name="TextBox 19"/>
          <p:cNvSpPr txBox="1"/>
          <p:nvPr/>
        </p:nvSpPr>
        <p:spPr bwMode="auto">
          <a:xfrm rot="0" flipH="0" flipV="0">
            <a:off x="4389233" y="4100409"/>
            <a:ext cx="2431810" cy="488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Gateway</a:t>
            </a:r>
            <a:endParaRPr lang="en-US" sz="1600" i="1">
              <a:solidFill>
                <a:srgbClr val="000000"/>
              </a:solidFill>
              <a:latin typeface="IBM Plex Sans Italics"/>
              <a:ea typeface="IBM Plex Sans Italics"/>
              <a:cs typeface="IBM Plex Sans Italics"/>
            </a:endParaRPr>
          </a:p>
          <a:p>
            <a:pPr algn="l">
              <a:lnSpc>
                <a:spcPct val="100000"/>
              </a:lnSpc>
            </a:pPr>
            <a:r>
              <a:rPr sz="1600" i="1" lang="en-US">
                <a:solidFill>
                  <a:srgbClr val="000000"/>
                </a:solidFill>
                <a:latin typeface="IBM Plex Sans Italics"/>
              </a:rPr>
              <a:t>(router of firewall)</a:t>
            </a:r>
          </a:p>
        </p:txBody>
      </p:sp>
      <p:sp>
        <p:nvSpPr>
          <p:cNvPr id="1654062143" name="TextBox 20"/>
          <p:cNvSpPr txBox="1"/>
          <p:nvPr/>
        </p:nvSpPr>
        <p:spPr bwMode="auto">
          <a:xfrm rot="0">
            <a:off x="9500839" y="324369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Webserver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 192.168.1.20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HTTP-poort: 80</a:t>
            </a:r>
          </a:p>
        </p:txBody>
      </p:sp>
      <p:sp>
        <p:nvSpPr>
          <p:cNvPr id="438486449" name="TextBox 21"/>
          <p:cNvSpPr txBox="1"/>
          <p:nvPr/>
        </p:nvSpPr>
        <p:spPr bwMode="auto">
          <a:xfrm rot="0">
            <a:off x="9500839" y="1665531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Extranet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 192.168.1.30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HTTP-poort: 80</a:t>
            </a:r>
          </a:p>
        </p:txBody>
      </p:sp>
      <p:sp>
        <p:nvSpPr>
          <p:cNvPr id="2075226716" name="TextBox 22"/>
          <p:cNvSpPr txBox="1"/>
          <p:nvPr/>
        </p:nvSpPr>
        <p:spPr bwMode="auto">
          <a:xfrm rot="0">
            <a:off x="9500839" y="3006693"/>
            <a:ext cx="2343168" cy="54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Intranet server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IP-adres 192.168.1.40</a:t>
            </a:r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HTTP-poort: 80</a:t>
            </a:r>
          </a:p>
        </p:txBody>
      </p:sp>
      <p:sp>
        <p:nvSpPr>
          <p:cNvPr id="920344396" name="TextBox 23"/>
          <p:cNvSpPr txBox="1"/>
          <p:nvPr/>
        </p:nvSpPr>
        <p:spPr bwMode="auto">
          <a:xfrm rot="0">
            <a:off x="9500839" y="4462152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Bedrijfscomputer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192.168.1.201</a:t>
            </a:r>
          </a:p>
        </p:txBody>
      </p:sp>
      <p:sp>
        <p:nvSpPr>
          <p:cNvPr id="661484276" name="TextBox 24"/>
          <p:cNvSpPr txBox="1"/>
          <p:nvPr/>
        </p:nvSpPr>
        <p:spPr bwMode="auto">
          <a:xfrm rot="0">
            <a:off x="9500839" y="5863904"/>
            <a:ext cx="2343168" cy="3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Bedrijfscomputer</a:t>
            </a:r>
            <a:endParaRPr sz="1400"/>
          </a:p>
          <a:p>
            <a:pPr algn="l">
              <a:lnSpc>
                <a:spcPct val="100000"/>
              </a:lnSpc>
            </a:pPr>
            <a:r>
              <a:rPr sz="1200" i="1" lang="en-US">
                <a:solidFill>
                  <a:srgbClr val="000000"/>
                </a:solidFill>
                <a:latin typeface="IBM Plex Sans Italics"/>
              </a:rPr>
              <a:t>192.168.1.202</a:t>
            </a:r>
          </a:p>
        </p:txBody>
      </p:sp>
      <p:sp>
        <p:nvSpPr>
          <p:cNvPr id="1662260651" name="AutoShape 25"/>
          <p:cNvSpPr/>
          <p:nvPr/>
        </p:nvSpPr>
        <p:spPr bwMode="auto">
          <a:xfrm flipH="1">
            <a:off x="2083567" y="3709943"/>
            <a:ext cx="1770109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53807392" name="AutoShape 26"/>
          <p:cNvSpPr/>
          <p:nvPr/>
        </p:nvSpPr>
        <p:spPr bwMode="auto">
          <a:xfrm flipH="1">
            <a:off x="2083567" y="338642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1849118" name="AutoShape 27"/>
          <p:cNvSpPr/>
          <p:nvPr/>
        </p:nvSpPr>
        <p:spPr bwMode="auto">
          <a:xfrm flipH="1">
            <a:off x="5021459" y="2795873"/>
            <a:ext cx="179778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19404177" name="AutoShape 28"/>
          <p:cNvSpPr/>
          <p:nvPr/>
        </p:nvSpPr>
        <p:spPr bwMode="auto">
          <a:xfrm flipH="1">
            <a:off x="5021459" y="3188938"/>
            <a:ext cx="228767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94615710" name="AutoShape 29"/>
          <p:cNvSpPr/>
          <p:nvPr/>
        </p:nvSpPr>
        <p:spPr bwMode="auto">
          <a:xfrm>
            <a:off x="6819246" y="928537"/>
            <a:ext cx="0" cy="1867336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74602049" name="AutoShape 30"/>
          <p:cNvSpPr/>
          <p:nvPr/>
        </p:nvSpPr>
        <p:spPr bwMode="auto">
          <a:xfrm flipH="1" flipV="1">
            <a:off x="6819246" y="928537"/>
            <a:ext cx="1752598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p/>
        </p:txBody>
      </p:sp>
      <p:sp>
        <p:nvSpPr>
          <p:cNvPr id="695505573" name="AutoShape 31"/>
          <p:cNvSpPr/>
          <p:nvPr/>
        </p:nvSpPr>
        <p:spPr bwMode="auto">
          <a:xfrm flipH="1" flipV="1">
            <a:off x="7309132" y="2363641"/>
            <a:ext cx="0" cy="825297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39837696" name="AutoShape 32"/>
          <p:cNvSpPr/>
          <p:nvPr/>
        </p:nvSpPr>
        <p:spPr bwMode="auto">
          <a:xfrm>
            <a:off x="7309132" y="2363641"/>
            <a:ext cx="1262713" cy="0"/>
          </a:xfrm>
          <a:prstGeom prst="line">
            <a:avLst/>
          </a:prstGeom>
          <a:ln w="28575" cap="flat">
            <a:solidFill>
              <a:srgbClr val="5170FF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47820291" name="TextBox 33"/>
          <p:cNvSpPr txBox="1"/>
          <p:nvPr/>
        </p:nvSpPr>
        <p:spPr bwMode="auto">
          <a:xfrm rot="0">
            <a:off x="4967490" y="3495152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192.168.1.254</a:t>
            </a:r>
            <a:endParaRPr/>
          </a:p>
        </p:txBody>
      </p:sp>
      <p:sp>
        <p:nvSpPr>
          <p:cNvPr id="206601249" name="TextBox 34"/>
          <p:cNvSpPr txBox="1"/>
          <p:nvPr/>
        </p:nvSpPr>
        <p:spPr bwMode="auto">
          <a:xfrm rot="0">
            <a:off x="2474021" y="3847101"/>
            <a:ext cx="1679283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85.152.44.14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4288809" name="AutoShape 2"/>
          <p:cNvSpPr/>
          <p:nvPr/>
        </p:nvSpPr>
        <p:spPr bwMode="auto">
          <a:xfrm flipH="1" flipV="1">
            <a:off x="5717292" y="2788290"/>
            <a:ext cx="9525" cy="217972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838387589" name="AutoShape 3"/>
          <p:cNvSpPr/>
          <p:nvPr/>
        </p:nvSpPr>
        <p:spPr bwMode="auto">
          <a:xfrm flipV="1">
            <a:off x="6465183" y="2788290"/>
            <a:ext cx="9525" cy="20990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41881001" name="Freeform 4"/>
          <p:cNvSpPr/>
          <p:nvPr/>
        </p:nvSpPr>
        <p:spPr bwMode="auto">
          <a:xfrm rot="0" flipH="0" flipV="0">
            <a:off x="5516285" y="4585915"/>
            <a:ext cx="1159430" cy="1586285"/>
          </a:xfrm>
          <a:custGeom>
            <a:avLst/>
            <a:gdLst/>
            <a:ahLst/>
            <a:cxnLst/>
            <a:rect l="l" t="t" r="r" b="b"/>
            <a:pathLst>
              <a:path w="1159430" h="1586285" fill="norm" stroke="1" extrusionOk="0">
                <a:moveTo>
                  <a:pt x="0" y="0"/>
                </a:moveTo>
                <a:lnTo>
                  <a:pt x="1159430" y="0"/>
                </a:lnTo>
                <a:lnTo>
                  <a:pt x="1159430" y="1586285"/>
                </a:lnTo>
                <a:lnTo>
                  <a:pt x="0" y="1586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37451678" name="AutoShape 5"/>
          <p:cNvSpPr/>
          <p:nvPr/>
        </p:nvSpPr>
        <p:spPr bwMode="auto">
          <a:xfrm>
            <a:off x="6654067" y="1402001"/>
            <a:ext cx="2906415" cy="143379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64396517" name="Freeform 6"/>
          <p:cNvSpPr/>
          <p:nvPr/>
        </p:nvSpPr>
        <p:spPr bwMode="auto">
          <a:xfrm rot="0" flipH="0" flipV="0">
            <a:off x="1752209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563844763" name="Freeform 7"/>
          <p:cNvSpPr/>
          <p:nvPr/>
        </p:nvSpPr>
        <p:spPr bwMode="auto">
          <a:xfrm rot="0" flipH="0" flipV="0">
            <a:off x="8681173" y="2492387"/>
            <a:ext cx="1758617" cy="629905"/>
          </a:xfrm>
          <a:custGeom>
            <a:avLst/>
            <a:gdLst/>
            <a:ahLst/>
            <a:cxnLst/>
            <a:rect l="l" t="t" r="r" b="b"/>
            <a:pathLst>
              <a:path w="1758617" h="629905" fill="norm" stroke="1" extrusionOk="0">
                <a:moveTo>
                  <a:pt x="0" y="0"/>
                </a:moveTo>
                <a:lnTo>
                  <a:pt x="1758618" y="0"/>
                </a:lnTo>
                <a:lnTo>
                  <a:pt x="1758618" y="629905"/>
                </a:lnTo>
                <a:lnTo>
                  <a:pt x="0" y="629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38350275" name="Freeform 8"/>
          <p:cNvSpPr/>
          <p:nvPr/>
        </p:nvSpPr>
        <p:spPr bwMode="auto">
          <a:xfrm rot="0" flipH="0" flipV="0">
            <a:off x="5537933" y="472245"/>
            <a:ext cx="1116134" cy="1308900"/>
          </a:xfrm>
          <a:custGeom>
            <a:avLst/>
            <a:gdLst/>
            <a:ahLst/>
            <a:cxnLst/>
            <a:rect l="l" t="t" r="r" b="b"/>
            <a:pathLst>
              <a:path w="1116134" h="1308900" fill="norm" stroke="1" extrusionOk="0">
                <a:moveTo>
                  <a:pt x="0" y="0"/>
                </a:moveTo>
                <a:lnTo>
                  <a:pt x="1116134" y="0"/>
                </a:lnTo>
                <a:lnTo>
                  <a:pt x="1116134" y="1308899"/>
                </a:lnTo>
                <a:lnTo>
                  <a:pt x="0" y="13088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89947845" name="AutoShape 9"/>
          <p:cNvSpPr/>
          <p:nvPr/>
        </p:nvSpPr>
        <p:spPr bwMode="auto">
          <a:xfrm flipH="1">
            <a:off x="3252318" y="1049695"/>
            <a:ext cx="2843682" cy="144269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13035879" name="AutoShape 10"/>
          <p:cNvSpPr/>
          <p:nvPr/>
        </p:nvSpPr>
        <p:spPr bwMode="auto">
          <a:xfrm flipH="1">
            <a:off x="3510827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393723" name="AutoShape 11"/>
          <p:cNvSpPr/>
          <p:nvPr/>
        </p:nvSpPr>
        <p:spPr bwMode="auto">
          <a:xfrm flipH="1">
            <a:off x="6465183" y="2807340"/>
            <a:ext cx="221599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grpSp>
        <p:nvGrpSpPr>
          <p:cNvPr id="651628046" name="Group 12"/>
          <p:cNvGrpSpPr/>
          <p:nvPr/>
        </p:nvGrpSpPr>
        <p:grpSpPr bwMode="auto">
          <a:xfrm rot="0">
            <a:off x="5220816" y="3429000"/>
            <a:ext cx="1750369" cy="1008452"/>
            <a:chOff x="0" y="0"/>
            <a:chExt cx="2189518" cy="1261462"/>
          </a:xfrm>
        </p:grpSpPr>
        <p:sp>
          <p:nvSpPr>
            <p:cNvPr id="13" name="Freeform 13"/>
            <p:cNvSpPr/>
            <p:nvPr/>
          </p:nvSpPr>
          <p:spPr bwMode="auto">
            <a:xfrm rot="0" flipH="0" flipV="0">
              <a:off x="0" y="0"/>
              <a:ext cx="2189518" cy="1261462"/>
            </a:xfrm>
            <a:custGeom>
              <a:avLst/>
              <a:gdLst/>
              <a:ahLst/>
              <a:cxnLst/>
              <a:rect l="l" t="t" r="r" b="b"/>
              <a:pathLst>
                <a:path w="2189518" h="1261463" fill="norm" stroke="1" extrusionOk="0">
                  <a:moveTo>
                    <a:pt x="1094759" y="0"/>
                  </a:moveTo>
                  <a:cubicBezTo>
                    <a:pt x="490140" y="0"/>
                    <a:pt x="0" y="282388"/>
                    <a:pt x="0" y="630731"/>
                  </a:cubicBezTo>
                  <a:cubicBezTo>
                    <a:pt x="0" y="979075"/>
                    <a:pt x="490140" y="1261463"/>
                    <a:pt x="1094759" y="1261463"/>
                  </a:cubicBezTo>
                  <a:cubicBezTo>
                    <a:pt x="1699378" y="1261463"/>
                    <a:pt x="2189518" y="979075"/>
                    <a:pt x="2189518" y="630731"/>
                  </a:cubicBezTo>
                  <a:cubicBezTo>
                    <a:pt x="2189518" y="282388"/>
                    <a:pt x="1699378" y="0"/>
                    <a:pt x="10947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5C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205267" y="89687"/>
              <a:ext cx="1778983" cy="105351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19"/>
                </a:lnSpc>
                <a:defRPr/>
              </a:pPr>
              <a:endParaRPr/>
            </a:p>
          </p:txBody>
        </p:sp>
      </p:grpSp>
      <p:sp>
        <p:nvSpPr>
          <p:cNvPr id="1212140734" name="AutoShape 15"/>
          <p:cNvSpPr/>
          <p:nvPr/>
        </p:nvSpPr>
        <p:spPr bwMode="auto">
          <a:xfrm flipV="1">
            <a:off x="6474708" y="2788182"/>
            <a:ext cx="4762" cy="114504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9206567" name="AutoShape 16"/>
          <p:cNvSpPr/>
          <p:nvPr/>
        </p:nvSpPr>
        <p:spPr bwMode="auto">
          <a:xfrm flipV="1">
            <a:off x="5717292" y="2895337"/>
            <a:ext cx="0" cy="114505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3143608" name="TextBox 17"/>
          <p:cNvSpPr txBox="1"/>
          <p:nvPr/>
        </p:nvSpPr>
        <p:spPr bwMode="auto">
          <a:xfrm rot="0">
            <a:off x="7084998" y="3786859"/>
            <a:ext cx="1678924" cy="26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 Bold Italics"/>
              </a:rPr>
              <a:t>binding0</a:t>
            </a:r>
            <a:endParaRPr/>
          </a:p>
        </p:txBody>
      </p:sp>
      <p:grpSp>
        <p:nvGrpSpPr>
          <p:cNvPr id="936375337" name=""/>
          <p:cNvGrpSpPr/>
          <p:nvPr/>
        </p:nvGrpSpPr>
        <p:grpSpPr bwMode="auto">
          <a:xfrm>
            <a:off x="4396499" y="2605122"/>
            <a:ext cx="3527959" cy="366120"/>
            <a:chOff x="0" y="0"/>
            <a:chExt cx="3527959" cy="366120"/>
          </a:xfrm>
        </p:grpSpPr>
        <p:sp>
          <p:nvSpPr>
            <p:cNvPr id="2027082257" name=""/>
            <p:cNvSpPr txBox="1"/>
            <p:nvPr/>
          </p:nvSpPr>
          <p:spPr bwMode="auto">
            <a:xfrm rot="0" flipH="0" flipV="0">
              <a:off x="0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eth0</a:t>
              </a:r>
              <a:endParaRPr/>
            </a:p>
          </p:txBody>
        </p:sp>
        <p:sp>
          <p:nvSpPr>
            <p:cNvPr id="734205544" name=""/>
            <p:cNvSpPr txBox="1"/>
            <p:nvPr/>
          </p:nvSpPr>
          <p:spPr bwMode="auto">
            <a:xfrm rot="0" flipH="0" flipV="0">
              <a:off x="2918083" y="0"/>
              <a:ext cx="609876" cy="366119"/>
            </a:xfrm>
            <a:prstGeom prst="rect">
              <a:avLst/>
            </a:prstGeom>
            <a:solidFill>
              <a:srgbClr val="F2F2F2"/>
            </a:solidFill>
          </p:spPr>
          <p:txBody>
            <a:bodyPr vertOverflow="overflow" horzOverflow="overflow" vert="horz" wrap="non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eth1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4877288" name=""/>
          <p:cNvGrpSpPr/>
          <p:nvPr/>
        </p:nvGrpSpPr>
        <p:grpSpPr bwMode="auto">
          <a:xfrm>
            <a:off x="1854147" y="2050467"/>
            <a:ext cx="8483701" cy="2757061"/>
            <a:chOff x="0" y="0"/>
            <a:chExt cx="8483701" cy="2757061"/>
          </a:xfrm>
        </p:grpSpPr>
        <p:grpSp>
          <p:nvGrpSpPr>
            <p:cNvPr id="598976294" name="Group 2"/>
            <p:cNvGrpSpPr/>
            <p:nvPr/>
          </p:nvGrpSpPr>
          <p:grpSpPr bwMode="auto">
            <a:xfrm rot="0">
              <a:off x="1065126" y="0"/>
              <a:ext cx="1036552" cy="871538"/>
              <a:chOff x="0" y="0"/>
              <a:chExt cx="409502" cy="344311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00</a:t>
                </a:r>
                <a:endParaRPr/>
              </a:p>
            </p:txBody>
          </p:sp>
        </p:grpSp>
        <p:grpSp>
          <p:nvGrpSpPr>
            <p:cNvPr id="1652068070" name="Group 5"/>
            <p:cNvGrpSpPr/>
            <p:nvPr/>
          </p:nvGrpSpPr>
          <p:grpSpPr bwMode="auto">
            <a:xfrm rot="0">
              <a:off x="2125884" y="0"/>
              <a:ext cx="1036552" cy="871538"/>
              <a:chOff x="0" y="0"/>
              <a:chExt cx="409502" cy="344311"/>
            </a:xfrm>
          </p:grpSpPr>
          <p:sp>
            <p:nvSpPr>
              <p:cNvPr id="6" name="Freeform 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413644435" name="Group 8"/>
            <p:cNvGrpSpPr/>
            <p:nvPr/>
          </p:nvGrpSpPr>
          <p:grpSpPr bwMode="auto">
            <a:xfrm rot="0">
              <a:off x="3191011" y="0"/>
              <a:ext cx="1036552" cy="871538"/>
              <a:chOff x="0" y="0"/>
              <a:chExt cx="409502" cy="344311"/>
            </a:xfrm>
          </p:grpSpPr>
          <p:sp>
            <p:nvSpPr>
              <p:cNvPr id="9" name="Freeform 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637544224" name="Group 11"/>
            <p:cNvGrpSpPr/>
            <p:nvPr/>
          </p:nvGrpSpPr>
          <p:grpSpPr bwMode="auto">
            <a:xfrm rot="0">
              <a:off x="4256138" y="0"/>
              <a:ext cx="1036552" cy="871538"/>
              <a:chOff x="0" y="0"/>
              <a:chExt cx="409502" cy="344311"/>
            </a:xfrm>
          </p:grpSpPr>
          <p:sp>
            <p:nvSpPr>
              <p:cNvPr id="12" name="Freeform 1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020946288" name="Group 14"/>
            <p:cNvGrpSpPr/>
            <p:nvPr/>
          </p:nvGrpSpPr>
          <p:grpSpPr bwMode="auto">
            <a:xfrm rot="0">
              <a:off x="5316894" y="0"/>
              <a:ext cx="1036552" cy="871538"/>
              <a:chOff x="0" y="0"/>
              <a:chExt cx="409502" cy="344311"/>
            </a:xfrm>
          </p:grpSpPr>
          <p:sp>
            <p:nvSpPr>
              <p:cNvPr id="15" name="Freeform 15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447107092" name="Group 17"/>
            <p:cNvGrpSpPr/>
            <p:nvPr/>
          </p:nvGrpSpPr>
          <p:grpSpPr bwMode="auto">
            <a:xfrm rot="0">
              <a:off x="6382022" y="0"/>
              <a:ext cx="1036552" cy="871538"/>
              <a:chOff x="0" y="0"/>
              <a:chExt cx="409502" cy="344311"/>
            </a:xfrm>
          </p:grpSpPr>
          <p:sp>
            <p:nvSpPr>
              <p:cNvPr id="18" name="Freeform 18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1484055883" name="Group 20"/>
            <p:cNvGrpSpPr/>
            <p:nvPr/>
          </p:nvGrpSpPr>
          <p:grpSpPr bwMode="auto">
            <a:xfrm rot="0">
              <a:off x="1065126" y="1885523"/>
              <a:ext cx="1036552" cy="871538"/>
              <a:chOff x="0" y="0"/>
              <a:chExt cx="409502" cy="344311"/>
            </a:xfrm>
          </p:grpSpPr>
          <p:sp>
            <p:nvSpPr>
              <p:cNvPr id="21" name="Freeform 21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2" name="TextBox 22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1E</a:t>
                </a:r>
                <a:endParaRPr/>
              </a:p>
            </p:txBody>
          </p:sp>
        </p:grpSp>
        <p:grpSp>
          <p:nvGrpSpPr>
            <p:cNvPr id="1203987877" name="Group 23"/>
            <p:cNvGrpSpPr/>
            <p:nvPr/>
          </p:nvGrpSpPr>
          <p:grpSpPr bwMode="auto">
            <a:xfrm rot="0">
              <a:off x="2125884" y="1885523"/>
              <a:ext cx="1036552" cy="871538"/>
              <a:chOff x="0" y="0"/>
              <a:chExt cx="409502" cy="344311"/>
            </a:xfrm>
          </p:grpSpPr>
          <p:sp>
            <p:nvSpPr>
              <p:cNvPr id="24" name="Freeform 24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33</a:t>
                </a:r>
                <a:endParaRPr/>
              </a:p>
            </p:txBody>
          </p:sp>
        </p:grpSp>
        <p:grpSp>
          <p:nvGrpSpPr>
            <p:cNvPr id="990719398" name="Group 26"/>
            <p:cNvGrpSpPr/>
            <p:nvPr/>
          </p:nvGrpSpPr>
          <p:grpSpPr bwMode="auto">
            <a:xfrm rot="0">
              <a:off x="3191011" y="1885523"/>
              <a:ext cx="1036552" cy="871538"/>
              <a:chOff x="0" y="0"/>
              <a:chExt cx="409502" cy="344311"/>
            </a:xfrm>
          </p:grpSpPr>
          <p:sp>
            <p:nvSpPr>
              <p:cNvPr id="27" name="Freeform 27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FF</a:t>
                </a:r>
                <a:endParaRPr/>
              </a:p>
            </p:txBody>
          </p:sp>
        </p:grpSp>
        <p:grpSp>
          <p:nvGrpSpPr>
            <p:cNvPr id="1006228410" name="Group 29"/>
            <p:cNvGrpSpPr/>
            <p:nvPr/>
          </p:nvGrpSpPr>
          <p:grpSpPr bwMode="auto">
            <a:xfrm rot="0">
              <a:off x="4256138" y="1885523"/>
              <a:ext cx="1036552" cy="871538"/>
              <a:chOff x="0" y="0"/>
              <a:chExt cx="409502" cy="344311"/>
            </a:xfrm>
          </p:grpSpPr>
          <p:sp>
            <p:nvSpPr>
              <p:cNvPr id="30" name="Freeform 30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900"/>
                  </a:lnSpc>
                  <a:spcBef>
                    <a:spcPts val="0"/>
                  </a:spcBef>
                  <a:defRPr/>
                </a:pPr>
                <a:r>
                  <a:rPr lang="en-US" sz="3500" u="none" strike="noStrike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FE</a:t>
                </a:r>
                <a:endParaRPr/>
              </a:p>
            </p:txBody>
          </p:sp>
        </p:grpSp>
        <p:grpSp>
          <p:nvGrpSpPr>
            <p:cNvPr id="1777351301" name="Group 32"/>
            <p:cNvGrpSpPr/>
            <p:nvPr/>
          </p:nvGrpSpPr>
          <p:grpSpPr bwMode="auto">
            <a:xfrm rot="0">
              <a:off x="5316894" y="1885523"/>
              <a:ext cx="1036552" cy="871538"/>
              <a:chOff x="0" y="0"/>
              <a:chExt cx="409502" cy="344311"/>
            </a:xfrm>
          </p:grpSpPr>
          <p:sp>
            <p:nvSpPr>
              <p:cNvPr id="33" name="Freeform 33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4" name="TextBox 34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3B</a:t>
                </a:r>
                <a:endParaRPr/>
              </a:p>
            </p:txBody>
          </p:sp>
        </p:grpSp>
        <p:grpSp>
          <p:nvGrpSpPr>
            <p:cNvPr id="2116847467" name="Group 35"/>
            <p:cNvGrpSpPr/>
            <p:nvPr/>
          </p:nvGrpSpPr>
          <p:grpSpPr bwMode="auto">
            <a:xfrm rot="0">
              <a:off x="6382022" y="1885523"/>
              <a:ext cx="1036552" cy="871538"/>
              <a:chOff x="0" y="0"/>
              <a:chExt cx="409502" cy="344311"/>
            </a:xfrm>
          </p:grpSpPr>
          <p:sp>
            <p:nvSpPr>
              <p:cNvPr id="36" name="Freeform 36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5A</a:t>
                </a:r>
                <a:endParaRPr/>
              </a:p>
            </p:txBody>
          </p:sp>
        </p:grpSp>
        <p:grpSp>
          <p:nvGrpSpPr>
            <p:cNvPr id="2095948480" name="Group 38"/>
            <p:cNvGrpSpPr/>
            <p:nvPr/>
          </p:nvGrpSpPr>
          <p:grpSpPr bwMode="auto">
            <a:xfrm rot="0">
              <a:off x="7447149" y="1885523"/>
              <a:ext cx="1036552" cy="871538"/>
              <a:chOff x="0" y="0"/>
              <a:chExt cx="409502" cy="344311"/>
            </a:xfrm>
          </p:grpSpPr>
          <p:sp>
            <p:nvSpPr>
              <p:cNvPr id="39" name="Freeform 39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FF5C00"/>
                </a:solidFill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000000"/>
                    </a:solidFill>
                    <a:latin typeface="IBM Plex Sans"/>
                    <a:ea typeface="IBM Plex Sans"/>
                    <a:cs typeface="IBM Plex Sans"/>
                  </a:rPr>
                  <a:t>94</a:t>
                </a:r>
                <a:endParaRPr/>
              </a:p>
            </p:txBody>
          </p:sp>
        </p:grpSp>
        <p:grpSp>
          <p:nvGrpSpPr>
            <p:cNvPr id="2070664397" name="Group 41"/>
            <p:cNvGrpSpPr/>
            <p:nvPr/>
          </p:nvGrpSpPr>
          <p:grpSpPr bwMode="auto">
            <a:xfrm rot="0">
              <a:off x="0" y="1885523"/>
              <a:ext cx="1036552" cy="871538"/>
              <a:chOff x="0" y="0"/>
              <a:chExt cx="409502" cy="344311"/>
            </a:xfrm>
          </p:grpSpPr>
          <p:sp>
            <p:nvSpPr>
              <p:cNvPr id="42" name="Freeform 42"/>
              <p:cNvSpPr/>
              <p:nvPr/>
            </p:nvSpPr>
            <p:spPr bwMode="auto">
              <a:xfrm rot="0" flipH="0" flipV="0">
                <a:off x="0" y="0"/>
                <a:ext cx="409502" cy="344311"/>
              </a:xfrm>
              <a:custGeom>
                <a:avLst/>
                <a:gdLst/>
                <a:ahLst/>
                <a:cxnLst/>
                <a:rect l="l" t="t" r="r" b="b"/>
                <a:pathLst>
                  <a:path w="409502" h="344311" fill="norm" stroke="1" extrusionOk="0">
                    <a:moveTo>
                      <a:pt x="112034" y="0"/>
                    </a:moveTo>
                    <a:lnTo>
                      <a:pt x="297468" y="0"/>
                    </a:lnTo>
                    <a:cubicBezTo>
                      <a:pt x="359343" y="0"/>
                      <a:pt x="409502" y="50159"/>
                      <a:pt x="409502" y="112034"/>
                    </a:cubicBezTo>
                    <a:lnTo>
                      <a:pt x="409502" y="232277"/>
                    </a:lnTo>
                    <a:cubicBezTo>
                      <a:pt x="409502" y="294152"/>
                      <a:pt x="359343" y="344311"/>
                      <a:pt x="297468" y="344311"/>
                    </a:cubicBezTo>
                    <a:lnTo>
                      <a:pt x="112034" y="344311"/>
                    </a:lnTo>
                    <a:cubicBezTo>
                      <a:pt x="82321" y="344311"/>
                      <a:pt x="53824" y="332508"/>
                      <a:pt x="32814" y="311497"/>
                    </a:cubicBezTo>
                    <a:cubicBezTo>
                      <a:pt x="11804" y="290487"/>
                      <a:pt x="0" y="261991"/>
                      <a:pt x="0" y="232277"/>
                    </a:cubicBezTo>
                    <a:lnTo>
                      <a:pt x="0" y="112034"/>
                    </a:lnTo>
                    <a:cubicBezTo>
                      <a:pt x="0" y="82321"/>
                      <a:pt x="11804" y="53824"/>
                      <a:pt x="32814" y="32814"/>
                    </a:cubicBezTo>
                    <a:cubicBezTo>
                      <a:pt x="53824" y="11804"/>
                      <a:pt x="82321" y="0"/>
                      <a:pt x="11203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" name="TextBox 43"/>
              <p:cNvSpPr txBox="1"/>
              <p:nvPr/>
            </p:nvSpPr>
            <p:spPr bwMode="auto">
              <a:xfrm>
                <a:off x="0" y="-76200"/>
                <a:ext cx="409502" cy="420511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900"/>
                  </a:lnSpc>
                  <a:defRPr/>
                </a:pPr>
                <a:r>
                  <a:rPr lang="en-US" sz="3500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02</a:t>
                </a:r>
                <a:endParaRPr/>
              </a:p>
            </p:txBody>
          </p:sp>
        </p:grpSp>
        <p:sp>
          <p:nvSpPr>
            <p:cNvPr id="2077385855" name="AutoShape 44"/>
            <p:cNvSpPr/>
            <p:nvPr/>
          </p:nvSpPr>
          <p:spPr bwMode="auto">
            <a:xfrm flipH="1">
              <a:off x="518275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32334341" name="AutoShape 45"/>
            <p:cNvSpPr/>
            <p:nvPr/>
          </p:nvSpPr>
          <p:spPr bwMode="auto">
            <a:xfrm flipH="1">
              <a:off x="158340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61952159" name="AutoShape 46"/>
            <p:cNvSpPr/>
            <p:nvPr/>
          </p:nvSpPr>
          <p:spPr bwMode="auto">
            <a:xfrm flipH="1">
              <a:off x="2644160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467780391" name="AutoShape 47"/>
            <p:cNvSpPr/>
            <p:nvPr/>
          </p:nvSpPr>
          <p:spPr bwMode="auto">
            <a:xfrm>
              <a:off x="4774412" y="871537"/>
              <a:ext cx="1060758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1197325064" name="AutoShape 48"/>
            <p:cNvSpPr/>
            <p:nvPr/>
          </p:nvSpPr>
          <p:spPr bwMode="auto">
            <a:xfrm>
              <a:off x="5835171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  <p:sp>
          <p:nvSpPr>
            <p:cNvPr id="631401943" name="AutoShape 49"/>
            <p:cNvSpPr/>
            <p:nvPr/>
          </p:nvSpPr>
          <p:spPr bwMode="auto">
            <a:xfrm>
              <a:off x="6900298" y="871537"/>
              <a:ext cx="1065127" cy="1013987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40866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67998497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04535964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59719402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9674419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8474930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29735571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77447323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505723397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532268848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650319871" name="TextBox 12"/>
          <p:cNvSpPr txBox="1"/>
          <p:nvPr/>
        </p:nvSpPr>
        <p:spPr bwMode="auto">
          <a:xfrm rot="0">
            <a:off x="8840554" y="1113496"/>
            <a:ext cx="250659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IPv6-koptekst</a:t>
            </a:r>
            <a:endParaRPr sz="1600"/>
          </a:p>
          <a:p>
            <a:pPr algn="ctr">
              <a:lnSpc>
                <a:spcPts val="3220"/>
              </a:lnSpc>
            </a:pP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Hop-by-hop opties - </a:t>
            </a:r>
            <a:r>
              <a:rPr sz="22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052653579" name="TextBox 13"/>
          <p:cNvSpPr txBox="1"/>
          <p:nvPr/>
        </p:nvSpPr>
        <p:spPr bwMode="auto">
          <a:xfrm rot="0" flipH="0" flipV="0">
            <a:off x="3726313" y="3381700"/>
            <a:ext cx="3287824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Optie</a:t>
            </a:r>
            <a:endParaRPr/>
          </a:p>
        </p:txBody>
      </p:sp>
      <p:sp>
        <p:nvSpPr>
          <p:cNvPr id="1329899931" name="TextBox 14"/>
          <p:cNvSpPr txBox="1"/>
          <p:nvPr/>
        </p:nvSpPr>
        <p:spPr bwMode="auto">
          <a:xfrm rot="0" flipH="0" flipV="0">
            <a:off x="1309634" y="5687569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Volgende kop</a:t>
            </a:r>
            <a:endParaRPr/>
          </a:p>
        </p:txBody>
      </p:sp>
      <p:sp>
        <p:nvSpPr>
          <p:cNvPr id="1051261508" name="TextBox 15"/>
          <p:cNvSpPr txBox="1"/>
          <p:nvPr/>
        </p:nvSpPr>
        <p:spPr bwMode="auto">
          <a:xfrm rot="0" flipH="0" flipV="0">
            <a:off x="2131152" y="4526016"/>
            <a:ext cx="285836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431323" name="Freeform 2"/>
          <p:cNvSpPr/>
          <p:nvPr/>
        </p:nvSpPr>
        <p:spPr bwMode="auto">
          <a:xfrm rot="5400000" flipH="0" flipV="0">
            <a:off x="299336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498283" name="Freeform 3"/>
          <p:cNvSpPr/>
          <p:nvPr/>
        </p:nvSpPr>
        <p:spPr bwMode="auto">
          <a:xfrm rot="5400000" flipH="0" flipV="0">
            <a:off x="109704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49211075" name="Freeform 4"/>
          <p:cNvSpPr/>
          <p:nvPr/>
        </p:nvSpPr>
        <p:spPr bwMode="auto">
          <a:xfrm rot="5400000" flipH="0" flipV="0">
            <a:off x="1897141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1431632" name="Freeform 5"/>
          <p:cNvSpPr/>
          <p:nvPr/>
        </p:nvSpPr>
        <p:spPr bwMode="auto">
          <a:xfrm rot="5400000" flipH="0" flipV="0">
            <a:off x="269484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043854" name="Freeform 6"/>
          <p:cNvSpPr/>
          <p:nvPr/>
        </p:nvSpPr>
        <p:spPr bwMode="auto">
          <a:xfrm rot="5400000" flipH="0" flipV="0">
            <a:off x="3492302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15825383" name="Freeform 7"/>
          <p:cNvSpPr/>
          <p:nvPr/>
        </p:nvSpPr>
        <p:spPr bwMode="auto">
          <a:xfrm rot="5400000" flipH="0" flipV="0">
            <a:off x="4290007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368089" name="Freeform 8"/>
          <p:cNvSpPr/>
          <p:nvPr/>
        </p:nvSpPr>
        <p:spPr bwMode="auto">
          <a:xfrm rot="5400000" flipH="0" flipV="0">
            <a:off x="6874658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359251683" name="Freeform 9"/>
          <p:cNvSpPr/>
          <p:nvPr/>
        </p:nvSpPr>
        <p:spPr bwMode="auto">
          <a:xfrm rot="5400000" flipH="0" flipV="0">
            <a:off x="7672363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30110583" name="AutoShape 10"/>
          <p:cNvSpPr/>
          <p:nvPr/>
        </p:nvSpPr>
        <p:spPr bwMode="auto">
          <a:xfrm>
            <a:off x="1010912" y="2870735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548551939" name="AutoShape 11"/>
          <p:cNvSpPr/>
          <p:nvPr/>
        </p:nvSpPr>
        <p:spPr bwMode="auto">
          <a:xfrm flipH="1" flipV="1">
            <a:off x="5257515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7110803" name="AutoShape 12"/>
          <p:cNvSpPr/>
          <p:nvPr/>
        </p:nvSpPr>
        <p:spPr bwMode="auto">
          <a:xfrm>
            <a:off x="1832429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45212623" name="Freeform 13"/>
          <p:cNvSpPr/>
          <p:nvPr/>
        </p:nvSpPr>
        <p:spPr bwMode="auto">
          <a:xfrm rot="-5400000" flipH="0" flipV="0">
            <a:off x="6140398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6229213" name="TextBox 14"/>
          <p:cNvSpPr txBox="1"/>
          <p:nvPr/>
        </p:nvSpPr>
        <p:spPr bwMode="auto">
          <a:xfrm rot="0">
            <a:off x="9195478" y="1113497"/>
            <a:ext cx="2506231" cy="1189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IPv6-koptekst</a:t>
            </a:r>
            <a:endParaRPr/>
          </a:p>
          <a:p>
            <a:pPr algn="ctr">
              <a:lnSpc>
                <a:spcPts val="3220"/>
              </a:lnSpc>
            </a:pP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Routing optie - </a:t>
            </a:r>
            <a:r>
              <a:rPr sz="23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552555572" name="TextBox 15"/>
          <p:cNvSpPr txBox="1"/>
          <p:nvPr/>
        </p:nvSpPr>
        <p:spPr bwMode="auto">
          <a:xfrm rot="0" flipH="0" flipV="0">
            <a:off x="4984913" y="3381700"/>
            <a:ext cx="313026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Optie</a:t>
            </a:r>
            <a:endParaRPr/>
          </a:p>
        </p:txBody>
      </p:sp>
      <p:sp>
        <p:nvSpPr>
          <p:cNvPr id="69494775" name="TextBox 16"/>
          <p:cNvSpPr txBox="1"/>
          <p:nvPr/>
        </p:nvSpPr>
        <p:spPr bwMode="auto">
          <a:xfrm rot="0">
            <a:off x="171450" y="5142465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Volgende kop</a:t>
            </a:r>
            <a:endParaRPr sz="1200"/>
          </a:p>
        </p:txBody>
      </p:sp>
      <p:sp>
        <p:nvSpPr>
          <p:cNvPr id="866085282" name="TextBox 17"/>
          <p:cNvSpPr txBox="1"/>
          <p:nvPr/>
        </p:nvSpPr>
        <p:spPr bwMode="auto">
          <a:xfrm rot="0">
            <a:off x="992967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Lengte</a:t>
            </a:r>
            <a:endParaRPr sz="1200"/>
          </a:p>
        </p:txBody>
      </p:sp>
      <p:sp>
        <p:nvSpPr>
          <p:cNvPr id="307096775" name="AutoShape 18"/>
          <p:cNvSpPr/>
          <p:nvPr/>
        </p:nvSpPr>
        <p:spPr bwMode="auto">
          <a:xfrm flipH="1">
            <a:off x="2612360" y="2870735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95260668" name="AutoShape 19"/>
          <p:cNvSpPr/>
          <p:nvPr/>
        </p:nvSpPr>
        <p:spPr bwMode="auto">
          <a:xfrm>
            <a:off x="3433877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9713378" name="TextBox 20"/>
          <p:cNvSpPr txBox="1"/>
          <p:nvPr/>
        </p:nvSpPr>
        <p:spPr bwMode="auto">
          <a:xfrm rot="0">
            <a:off x="1772897" y="5965699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Type</a:t>
            </a:r>
            <a:endParaRPr sz="1200"/>
          </a:p>
        </p:txBody>
      </p:sp>
      <p:sp>
        <p:nvSpPr>
          <p:cNvPr id="639317005" name="TextBox 21"/>
          <p:cNvSpPr txBox="1"/>
          <p:nvPr/>
        </p:nvSpPr>
        <p:spPr bwMode="auto">
          <a:xfrm rot="0">
            <a:off x="2594415" y="4343136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Segment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592856" name="Freeform 2"/>
          <p:cNvSpPr/>
          <p:nvPr/>
        </p:nvSpPr>
        <p:spPr bwMode="auto">
          <a:xfrm rot="5400000" flipH="0" flipV="0">
            <a:off x="129348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914263" name="Freeform 3"/>
          <p:cNvSpPr/>
          <p:nvPr/>
        </p:nvSpPr>
        <p:spPr bwMode="auto">
          <a:xfrm rot="5400000" flipH="0" flipV="0">
            <a:off x="20911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567959" name="Freeform 4"/>
          <p:cNvSpPr/>
          <p:nvPr/>
        </p:nvSpPr>
        <p:spPr bwMode="auto">
          <a:xfrm rot="5400000" flipH="0" flipV="0">
            <a:off x="2891294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1204467" name="Freeform 5"/>
          <p:cNvSpPr/>
          <p:nvPr/>
        </p:nvSpPr>
        <p:spPr bwMode="auto">
          <a:xfrm rot="5400000" flipH="0" flipV="0">
            <a:off x="3688999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63636830" name="Freeform 6"/>
          <p:cNvSpPr/>
          <p:nvPr/>
        </p:nvSpPr>
        <p:spPr bwMode="auto">
          <a:xfrm rot="5400000" flipH="0" flipV="0">
            <a:off x="448645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1698207" name="Freeform 7"/>
          <p:cNvSpPr/>
          <p:nvPr/>
        </p:nvSpPr>
        <p:spPr bwMode="auto">
          <a:xfrm rot="5400000" flipH="0" flipV="0">
            <a:off x="52841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92120641" name="Freeform 8"/>
          <p:cNvSpPr/>
          <p:nvPr/>
        </p:nvSpPr>
        <p:spPr bwMode="auto">
          <a:xfrm rot="5400000" flipH="0" flipV="0">
            <a:off x="6084260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871523730" name="Freeform 9"/>
          <p:cNvSpPr/>
          <p:nvPr/>
        </p:nvSpPr>
        <p:spPr bwMode="auto">
          <a:xfrm rot="5400000" flipH="0" flipV="0">
            <a:off x="6881965" y="839795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4" y="0"/>
                </a:lnTo>
                <a:lnTo>
                  <a:pt x="1389814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31981609" name="AutoShape 10"/>
          <p:cNvSpPr/>
          <p:nvPr/>
        </p:nvSpPr>
        <p:spPr bwMode="auto">
          <a:xfrm>
            <a:off x="2005065" y="2425020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108918443" name="AutoShape 11"/>
          <p:cNvSpPr/>
          <p:nvPr/>
        </p:nvSpPr>
        <p:spPr bwMode="auto">
          <a:xfrm>
            <a:off x="2826582" y="2425020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253255543" name="Freeform 12"/>
          <p:cNvSpPr/>
          <p:nvPr/>
        </p:nvSpPr>
        <p:spPr bwMode="auto">
          <a:xfrm rot="-5400000" flipH="0" flipV="0">
            <a:off x="6318119" y="986969"/>
            <a:ext cx="267179" cy="3143282"/>
          </a:xfrm>
          <a:custGeom>
            <a:avLst/>
            <a:gdLst/>
            <a:ahLst/>
            <a:cxnLst/>
            <a:rect l="l" t="t" r="r" b="b"/>
            <a:pathLst>
              <a:path w="267179" h="3143282" fill="norm" stroke="1" extrusionOk="0">
                <a:moveTo>
                  <a:pt x="0" y="0"/>
                </a:moveTo>
                <a:lnTo>
                  <a:pt x="267179" y="0"/>
                </a:lnTo>
                <a:lnTo>
                  <a:pt x="267179" y="3143282"/>
                </a:lnTo>
                <a:lnTo>
                  <a:pt x="0" y="3143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904378358" name="TextBox 13"/>
          <p:cNvSpPr txBox="1"/>
          <p:nvPr/>
        </p:nvSpPr>
        <p:spPr bwMode="auto">
          <a:xfrm rot="0">
            <a:off x="8520165" y="667781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IPv6-koptekst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Fragmentatie optie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8 bytes</a:t>
            </a:r>
          </a:p>
        </p:txBody>
      </p:sp>
      <p:sp>
        <p:nvSpPr>
          <p:cNvPr id="809840154" name="TextBox 14"/>
          <p:cNvSpPr txBox="1"/>
          <p:nvPr/>
        </p:nvSpPr>
        <p:spPr bwMode="auto">
          <a:xfrm rot="0" flipH="0" flipV="0">
            <a:off x="5181361" y="2786117"/>
            <a:ext cx="277794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Identificatie</a:t>
            </a:r>
            <a:endParaRPr sz="1200"/>
          </a:p>
        </p:txBody>
      </p:sp>
      <p:sp>
        <p:nvSpPr>
          <p:cNvPr id="539836079" name="TextBox 15"/>
          <p:cNvSpPr txBox="1"/>
          <p:nvPr/>
        </p:nvSpPr>
        <p:spPr bwMode="auto">
          <a:xfrm rot="0" flipH="0" flipV="0">
            <a:off x="1165602" y="4696750"/>
            <a:ext cx="168072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Volgende kop</a:t>
            </a:r>
            <a:endParaRPr sz="1200"/>
          </a:p>
        </p:txBody>
      </p:sp>
      <p:sp>
        <p:nvSpPr>
          <p:cNvPr id="1877772459" name="TextBox 16"/>
          <p:cNvSpPr txBox="1"/>
          <p:nvPr/>
        </p:nvSpPr>
        <p:spPr bwMode="auto">
          <a:xfrm rot="0">
            <a:off x="1987119" y="3897423"/>
            <a:ext cx="16800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Gereserveerd</a:t>
            </a:r>
            <a:endParaRPr sz="1200"/>
          </a:p>
        </p:txBody>
      </p:sp>
      <p:sp>
        <p:nvSpPr>
          <p:cNvPr id="1785665946" name="AutoShape 17"/>
          <p:cNvSpPr/>
          <p:nvPr/>
        </p:nvSpPr>
        <p:spPr bwMode="auto">
          <a:xfrm flipH="1">
            <a:off x="3588569" y="2425020"/>
            <a:ext cx="17944" cy="26374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424391794" name="AutoShape 18"/>
          <p:cNvSpPr/>
          <p:nvPr/>
        </p:nvSpPr>
        <p:spPr bwMode="auto">
          <a:xfrm>
            <a:off x="4428030" y="2425020"/>
            <a:ext cx="0" cy="427773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397631177" name="TextBox 19"/>
          <p:cNvSpPr txBox="1"/>
          <p:nvPr/>
        </p:nvSpPr>
        <p:spPr bwMode="auto">
          <a:xfrm rot="0" flipH="0" flipV="0">
            <a:off x="2032890" y="5157923"/>
            <a:ext cx="3113154" cy="112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Offset - 13 bits</a:t>
            </a:r>
            <a:endParaRPr sz="1200"/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Gereserveerd - </a:t>
            </a:r>
            <a:r>
              <a:rPr sz="1600" lang="en-US">
                <a:solidFill>
                  <a:srgbClr val="000000"/>
                </a:solidFill>
                <a:latin typeface="IBM Plex Sans"/>
              </a:rPr>
              <a:t>2 bits</a:t>
            </a:r>
          </a:p>
          <a:p>
            <a:pPr algn="ctr">
              <a:lnSpc>
                <a:spcPts val="2939"/>
              </a:lnSpc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M - 1 bit</a:t>
            </a:r>
          </a:p>
        </p:txBody>
      </p:sp>
      <p:sp>
        <p:nvSpPr>
          <p:cNvPr id="1943431692" name="AutoShape 20"/>
          <p:cNvSpPr/>
          <p:nvPr/>
        </p:nvSpPr>
        <p:spPr bwMode="auto">
          <a:xfrm flipH="1">
            <a:off x="3606513" y="2833743"/>
            <a:ext cx="82151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60322" name="Freeform 2"/>
          <p:cNvSpPr/>
          <p:nvPr/>
        </p:nvSpPr>
        <p:spPr bwMode="auto">
          <a:xfrm rot="5400000" flipH="0" flipV="0">
            <a:off x="-10772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56315098" name="Freeform 3"/>
          <p:cNvSpPr/>
          <p:nvPr/>
        </p:nvSpPr>
        <p:spPr bwMode="auto">
          <a:xfrm rot="5400000" flipH="0" flipV="0">
            <a:off x="5440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27223368" name="Freeform 4"/>
          <p:cNvSpPr/>
          <p:nvPr/>
        </p:nvSpPr>
        <p:spPr bwMode="auto">
          <a:xfrm rot="5400000" flipH="0" flipV="0">
            <a:off x="11933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04932631" name="Freeform 5"/>
          <p:cNvSpPr/>
          <p:nvPr/>
        </p:nvSpPr>
        <p:spPr bwMode="auto">
          <a:xfrm rot="5400000" flipH="0" flipV="0">
            <a:off x="184509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82629238" name="Freeform 6"/>
          <p:cNvSpPr/>
          <p:nvPr/>
        </p:nvSpPr>
        <p:spPr bwMode="auto">
          <a:xfrm rot="5400000" flipH="0" flipV="0">
            <a:off x="2498803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24560212" name="Freeform 7"/>
          <p:cNvSpPr/>
          <p:nvPr/>
        </p:nvSpPr>
        <p:spPr bwMode="auto">
          <a:xfrm rot="5400000" flipH="0" flipV="0">
            <a:off x="315055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6876115" name="Freeform 8"/>
          <p:cNvSpPr/>
          <p:nvPr/>
        </p:nvSpPr>
        <p:spPr bwMode="auto">
          <a:xfrm rot="5400000" flipH="0" flipV="0">
            <a:off x="3802098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19" y="0"/>
                </a:lnTo>
                <a:lnTo>
                  <a:pt x="1135519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06475113" name="Freeform 9"/>
          <p:cNvSpPr/>
          <p:nvPr/>
        </p:nvSpPr>
        <p:spPr bwMode="auto">
          <a:xfrm rot="5400000" flipH="0" flipV="0">
            <a:off x="4453847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0826779" name="Freeform 10"/>
          <p:cNvSpPr/>
          <p:nvPr/>
        </p:nvSpPr>
        <p:spPr bwMode="auto">
          <a:xfrm rot="5400000" flipH="0" flipV="0">
            <a:off x="51062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69922466" name="Freeform 11"/>
          <p:cNvSpPr/>
          <p:nvPr/>
        </p:nvSpPr>
        <p:spPr bwMode="auto">
          <a:xfrm rot="5400000" flipH="0" flipV="0">
            <a:off x="5757974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30724262" name="Freeform 12"/>
          <p:cNvSpPr/>
          <p:nvPr/>
        </p:nvSpPr>
        <p:spPr bwMode="auto">
          <a:xfrm rot="5400000" flipH="0" flipV="0">
            <a:off x="641168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153985368" name="Freeform 13"/>
          <p:cNvSpPr/>
          <p:nvPr/>
        </p:nvSpPr>
        <p:spPr bwMode="auto">
          <a:xfrm rot="5400000" flipH="0" flipV="0">
            <a:off x="7063430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341319321" name="Freeform 14"/>
          <p:cNvSpPr/>
          <p:nvPr/>
        </p:nvSpPr>
        <p:spPr bwMode="auto">
          <a:xfrm rot="5400000" flipH="0" flipV="0">
            <a:off x="771497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23033796" name="Freeform 15"/>
          <p:cNvSpPr/>
          <p:nvPr/>
        </p:nvSpPr>
        <p:spPr bwMode="auto">
          <a:xfrm rot="5400000" flipH="0" flipV="0">
            <a:off x="8366725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05797457" name="Freeform 16"/>
          <p:cNvSpPr/>
          <p:nvPr/>
        </p:nvSpPr>
        <p:spPr bwMode="auto">
          <a:xfrm rot="5400000" flipH="0" flipV="0">
            <a:off x="1047846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288513867" name="Freeform 17"/>
          <p:cNvSpPr/>
          <p:nvPr/>
        </p:nvSpPr>
        <p:spPr bwMode="auto">
          <a:xfrm rot="5400000" flipH="0" flipV="0">
            <a:off x="11130212" y="1687729"/>
            <a:ext cx="1135520" cy="729571"/>
          </a:xfrm>
          <a:custGeom>
            <a:avLst/>
            <a:gdLst/>
            <a:ahLst/>
            <a:cxnLst/>
            <a:rect l="l" t="t" r="r" b="b"/>
            <a:pathLst>
              <a:path w="1135520" h="729571" fill="norm" stroke="1" extrusionOk="0">
                <a:moveTo>
                  <a:pt x="0" y="0"/>
                </a:moveTo>
                <a:lnTo>
                  <a:pt x="1135520" y="0"/>
                </a:lnTo>
                <a:lnTo>
                  <a:pt x="1135520" y="729571"/>
                </a:lnTo>
                <a:lnTo>
                  <a:pt x="0" y="7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1681084" name="AutoShape 18"/>
          <p:cNvSpPr/>
          <p:nvPr/>
        </p:nvSpPr>
        <p:spPr bwMode="auto">
          <a:xfrm>
            <a:off x="460036" y="2966101"/>
            <a:ext cx="0" cy="217648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86453969" name="AutoShape 19"/>
          <p:cNvSpPr/>
          <p:nvPr/>
        </p:nvSpPr>
        <p:spPr bwMode="auto">
          <a:xfrm flipH="1" flipV="1">
            <a:off x="9157208" y="2052514"/>
            <a:ext cx="1532011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46796780" name="AutoShape 20"/>
          <p:cNvSpPr/>
          <p:nvPr/>
        </p:nvSpPr>
        <p:spPr bwMode="auto">
          <a:xfrm>
            <a:off x="1135598" y="2966101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688783" name="Freeform 21"/>
          <p:cNvSpPr/>
          <p:nvPr/>
        </p:nvSpPr>
        <p:spPr bwMode="auto">
          <a:xfrm rot="-5400000" flipH="0" flipV="0">
            <a:off x="9814199" y="1069851"/>
            <a:ext cx="352309" cy="4144808"/>
          </a:xfrm>
          <a:custGeom>
            <a:avLst/>
            <a:gdLst/>
            <a:ahLst/>
            <a:cxnLst/>
            <a:rect l="l" t="t" r="r" b="b"/>
            <a:pathLst>
              <a:path w="352309" h="4144808" fill="norm" stroke="1" extrusionOk="0">
                <a:moveTo>
                  <a:pt x="0" y="0"/>
                </a:moveTo>
                <a:lnTo>
                  <a:pt x="352309" y="0"/>
                </a:lnTo>
                <a:lnTo>
                  <a:pt x="352309" y="4144808"/>
                </a:lnTo>
                <a:lnTo>
                  <a:pt x="0" y="4144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93486634" name="TextBox 22"/>
          <p:cNvSpPr txBox="1"/>
          <p:nvPr/>
        </p:nvSpPr>
        <p:spPr bwMode="auto">
          <a:xfrm rot="0">
            <a:off x="3270115" y="352549"/>
            <a:ext cx="5652845" cy="81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IPv6-koptekst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Authenticatie optie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1785172181" name="TextBox 23"/>
          <p:cNvSpPr txBox="1"/>
          <p:nvPr/>
        </p:nvSpPr>
        <p:spPr bwMode="auto">
          <a:xfrm rot="0">
            <a:off x="9150892" y="3412807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ICV</a:t>
            </a:r>
            <a:endParaRPr/>
          </a:p>
        </p:txBody>
      </p:sp>
      <p:sp>
        <p:nvSpPr>
          <p:cNvPr id="529835894" name="TextBox 24"/>
          <p:cNvSpPr txBox="1"/>
          <p:nvPr/>
        </p:nvSpPr>
        <p:spPr bwMode="auto">
          <a:xfrm rot="0">
            <a:off x="-14639" y="5235487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Volgende kop</a:t>
            </a:r>
            <a:endParaRPr sz="1400"/>
          </a:p>
        </p:txBody>
      </p:sp>
      <p:sp>
        <p:nvSpPr>
          <p:cNvPr id="1164241156" name="TextBox 25"/>
          <p:cNvSpPr txBox="1"/>
          <p:nvPr/>
        </p:nvSpPr>
        <p:spPr bwMode="auto">
          <a:xfrm rot="0">
            <a:off x="296136" y="4440809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Lengte</a:t>
            </a:r>
            <a:endParaRPr sz="1400"/>
          </a:p>
        </p:txBody>
      </p:sp>
      <p:sp>
        <p:nvSpPr>
          <p:cNvPr id="1043512396" name="AutoShape 26"/>
          <p:cNvSpPr/>
          <p:nvPr/>
        </p:nvSpPr>
        <p:spPr bwMode="auto">
          <a:xfrm flipH="1">
            <a:off x="2436669" y="2966101"/>
            <a:ext cx="0" cy="299971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675566911" name="AutoShape 27"/>
          <p:cNvSpPr/>
          <p:nvPr/>
        </p:nvSpPr>
        <p:spPr bwMode="auto">
          <a:xfrm flipH="1">
            <a:off x="1811872" y="2959716"/>
            <a:ext cx="0" cy="68835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32891955" name="TextBox 28"/>
          <p:cNvSpPr txBox="1"/>
          <p:nvPr/>
        </p:nvSpPr>
        <p:spPr bwMode="auto">
          <a:xfrm rot="0">
            <a:off x="1597206" y="6061065"/>
            <a:ext cx="167964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Gereserveerd</a:t>
            </a:r>
            <a:endParaRPr sz="1400"/>
          </a:p>
        </p:txBody>
      </p:sp>
      <p:sp>
        <p:nvSpPr>
          <p:cNvPr id="852562428" name="Freeform 29"/>
          <p:cNvSpPr/>
          <p:nvPr/>
        </p:nvSpPr>
        <p:spPr bwMode="auto">
          <a:xfrm rot="-5400000" flipH="0" flipV="0">
            <a:off x="650270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08478839" name="Freeform 30"/>
          <p:cNvSpPr/>
          <p:nvPr/>
        </p:nvSpPr>
        <p:spPr bwMode="auto">
          <a:xfrm rot="-5400000" flipH="0" flipV="0">
            <a:off x="3893952" y="1772598"/>
            <a:ext cx="221744" cy="2608750"/>
          </a:xfrm>
          <a:custGeom>
            <a:avLst/>
            <a:gdLst/>
            <a:ahLst/>
            <a:cxnLst/>
            <a:rect l="l" t="t" r="r" b="b"/>
            <a:pathLst>
              <a:path w="221744" h="2608750" fill="norm" stroke="1" extrusionOk="0">
                <a:moveTo>
                  <a:pt x="0" y="0"/>
                </a:moveTo>
                <a:lnTo>
                  <a:pt x="221744" y="0"/>
                </a:lnTo>
                <a:lnTo>
                  <a:pt x="221744" y="2608750"/>
                </a:lnTo>
                <a:lnTo>
                  <a:pt x="0" y="26087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04421685" name="TextBox 31"/>
          <p:cNvSpPr txBox="1"/>
          <p:nvPr/>
        </p:nvSpPr>
        <p:spPr bwMode="auto">
          <a:xfrm rot="0" flipH="0" flipV="0">
            <a:off x="5248295" y="3282314"/>
            <a:ext cx="267037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Volgorde</a:t>
            </a:r>
            <a:endParaRPr/>
          </a:p>
        </p:txBody>
      </p:sp>
      <p:sp>
        <p:nvSpPr>
          <p:cNvPr id="834412594" name="TextBox 32"/>
          <p:cNvSpPr txBox="1"/>
          <p:nvPr/>
        </p:nvSpPr>
        <p:spPr bwMode="auto">
          <a:xfrm rot="0">
            <a:off x="3165362" y="3282315"/>
            <a:ext cx="167892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SPI</a:t>
            </a:r>
            <a:endParaRPr/>
          </a:p>
        </p:txBody>
      </p:sp>
      <p:sp>
        <p:nvSpPr>
          <p:cNvPr id="252371501" name="AutoShape 33"/>
          <p:cNvSpPr/>
          <p:nvPr/>
        </p:nvSpPr>
        <p:spPr bwMode="auto">
          <a:xfrm flipH="1">
            <a:off x="1811872" y="3619500"/>
            <a:ext cx="60098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509770" name="Freeform 2"/>
          <p:cNvSpPr/>
          <p:nvPr/>
        </p:nvSpPr>
        <p:spPr bwMode="auto">
          <a:xfrm rot="5400000" flipH="0" flipV="0">
            <a:off x="989769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44246720" name="Freeform 3"/>
          <p:cNvSpPr/>
          <p:nvPr/>
        </p:nvSpPr>
        <p:spPr bwMode="auto">
          <a:xfrm rot="5400000" flipH="0" flipV="0">
            <a:off x="1787474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672453887" name="Freeform 4"/>
          <p:cNvSpPr/>
          <p:nvPr/>
        </p:nvSpPr>
        <p:spPr bwMode="auto">
          <a:xfrm rot="5400000" flipH="0" flipV="0">
            <a:off x="258493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1809549" name="Freeform 5"/>
          <p:cNvSpPr/>
          <p:nvPr/>
        </p:nvSpPr>
        <p:spPr bwMode="auto">
          <a:xfrm rot="5400000" flipH="0" flipV="0">
            <a:off x="338263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72784497" name="Freeform 6"/>
          <p:cNvSpPr/>
          <p:nvPr/>
        </p:nvSpPr>
        <p:spPr bwMode="auto">
          <a:xfrm rot="5400000" flipH="0" flipV="0">
            <a:off x="5967285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96577082" name="Freeform 7"/>
          <p:cNvSpPr/>
          <p:nvPr/>
        </p:nvSpPr>
        <p:spPr bwMode="auto">
          <a:xfrm rot="5400000" flipH="0" flipV="0">
            <a:off x="6764990" y="1285510"/>
            <a:ext cx="1389813" cy="892955"/>
          </a:xfrm>
          <a:custGeom>
            <a:avLst/>
            <a:gdLst/>
            <a:ahLst/>
            <a:cxnLst/>
            <a:rect l="l" t="t" r="r" b="b"/>
            <a:pathLst>
              <a:path w="1389813" h="892955" fill="norm" stroke="1" extrusionOk="0">
                <a:moveTo>
                  <a:pt x="0" y="0"/>
                </a:moveTo>
                <a:lnTo>
                  <a:pt x="1389813" y="0"/>
                </a:lnTo>
                <a:lnTo>
                  <a:pt x="1389813" y="892955"/>
                </a:lnTo>
                <a:lnTo>
                  <a:pt x="0" y="89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08865130" name="AutoShape 8"/>
          <p:cNvSpPr/>
          <p:nvPr/>
        </p:nvSpPr>
        <p:spPr bwMode="auto">
          <a:xfrm flipH="1">
            <a:off x="1684676" y="2870735"/>
            <a:ext cx="0" cy="253870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251161201" name="AutoShape 9"/>
          <p:cNvSpPr/>
          <p:nvPr/>
        </p:nvSpPr>
        <p:spPr bwMode="auto">
          <a:xfrm flipH="1" flipV="1">
            <a:off x="4350142" y="1731987"/>
            <a:ext cx="1875097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4130785" name="AutoShape 10"/>
          <p:cNvSpPr/>
          <p:nvPr/>
        </p:nvSpPr>
        <p:spPr bwMode="auto">
          <a:xfrm>
            <a:off x="2506193" y="2870735"/>
            <a:ext cx="0" cy="137671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11378831" name="Freeform 11"/>
          <p:cNvSpPr/>
          <p:nvPr/>
        </p:nvSpPr>
        <p:spPr bwMode="auto">
          <a:xfrm rot="-5400000" flipH="0" flipV="0">
            <a:off x="5233025" y="616252"/>
            <a:ext cx="418866" cy="4927832"/>
          </a:xfrm>
          <a:custGeom>
            <a:avLst/>
            <a:gdLst/>
            <a:ahLst/>
            <a:cxnLst/>
            <a:rect l="l" t="t" r="r" b="b"/>
            <a:pathLst>
              <a:path w="418866" h="4927832" fill="norm" stroke="1" extrusionOk="0">
                <a:moveTo>
                  <a:pt x="0" y="0"/>
                </a:moveTo>
                <a:lnTo>
                  <a:pt x="418866" y="0"/>
                </a:lnTo>
                <a:lnTo>
                  <a:pt x="418866" y="4927832"/>
                </a:lnTo>
                <a:lnTo>
                  <a:pt x="0" y="4927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91283429" name="TextBox 12"/>
          <p:cNvSpPr txBox="1"/>
          <p:nvPr/>
        </p:nvSpPr>
        <p:spPr bwMode="auto">
          <a:xfrm rot="0">
            <a:off x="8840554" y="1113496"/>
            <a:ext cx="2507310" cy="122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IPv6-koptekst</a:t>
            </a:r>
            <a:endParaRPr sz="1200"/>
          </a:p>
          <a:p>
            <a:pPr algn="ctr">
              <a:lnSpc>
                <a:spcPts val="3220"/>
              </a:lnSpc>
            </a:pP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Bestemmingsoptie - </a:t>
            </a:r>
            <a:r>
              <a:rPr sz="1800" b="1" i="1" lang="en-US">
                <a:solidFill>
                  <a:srgbClr val="000000"/>
                </a:solidFill>
                <a:latin typeface="IBM Plex Sans Bold Italics"/>
              </a:rPr>
              <a:t>N bytes</a:t>
            </a:r>
          </a:p>
        </p:txBody>
      </p:sp>
      <p:sp>
        <p:nvSpPr>
          <p:cNvPr id="360988250" name="TextBox 13"/>
          <p:cNvSpPr txBox="1"/>
          <p:nvPr/>
        </p:nvSpPr>
        <p:spPr bwMode="auto">
          <a:xfrm rot="0" flipH="0" flipV="0">
            <a:off x="4265291" y="3381700"/>
            <a:ext cx="251638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Optie</a:t>
            </a:r>
            <a:endParaRPr/>
          </a:p>
        </p:txBody>
      </p:sp>
      <p:sp>
        <p:nvSpPr>
          <p:cNvPr id="1376304306" name="TextBox 14"/>
          <p:cNvSpPr txBox="1"/>
          <p:nvPr/>
        </p:nvSpPr>
        <p:spPr bwMode="auto">
          <a:xfrm rot="0" flipH="0" flipV="0">
            <a:off x="1350023" y="5504689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Volgende kop</a:t>
            </a:r>
            <a:endParaRPr/>
          </a:p>
        </p:txBody>
      </p:sp>
      <p:sp>
        <p:nvSpPr>
          <p:cNvPr id="1382756523" name="TextBox 15"/>
          <p:cNvSpPr txBox="1"/>
          <p:nvPr/>
        </p:nvSpPr>
        <p:spPr bwMode="auto">
          <a:xfrm rot="0" flipH="0" flipV="0">
            <a:off x="2171540" y="4343136"/>
            <a:ext cx="3270916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defRPr/>
            </a:pPr>
            <a:r>
              <a:rPr sz="2100" lang="en-US">
                <a:solidFill>
                  <a:srgbClr val="000000"/>
                </a:solidFill>
                <a:latin typeface="IBM Plex Sans"/>
              </a:rPr>
              <a:t>Lengte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0954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55428" y="812598"/>
            <a:ext cx="7768284" cy="5232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238524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33837" y="1150063"/>
            <a:ext cx="5261233" cy="3863908"/>
          </a:xfrm>
          <a:prstGeom prst="rect">
            <a:avLst/>
          </a:prstGeom>
        </p:spPr>
      </p:pic>
      <p:sp>
        <p:nvSpPr>
          <p:cNvPr id="1279994705" name=""/>
          <p:cNvSpPr/>
          <p:nvPr/>
        </p:nvSpPr>
        <p:spPr bwMode="auto">
          <a:xfrm rot="0" flipH="0" flipV="0">
            <a:off x="3158249" y="911679"/>
            <a:ext cx="6994071" cy="4340677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709506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8651" y="2614649"/>
            <a:ext cx="4760490" cy="1329344"/>
          </a:xfrm>
          <a:prstGeom prst="rect">
            <a:avLst/>
          </a:prstGeom>
        </p:spPr>
      </p:pic>
      <p:sp>
        <p:nvSpPr>
          <p:cNvPr id="617695999" name=""/>
          <p:cNvSpPr/>
          <p:nvPr/>
        </p:nvSpPr>
        <p:spPr bwMode="auto">
          <a:xfrm rot="0" flipH="0" flipV="0">
            <a:off x="3498428" y="2408464"/>
            <a:ext cx="5225142" cy="1741714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35</Slides>
  <Notes>35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 302</dc:title>
  <dc:identifier>DAGtZpLCudY</dc:identifier>
  <cp:lastModifiedBy/>
  <cp:revision>9</cp:revision>
  <dcterms:created xsi:type="dcterms:W3CDTF">2006-08-16T00:00:00Z</dcterms:created>
  <dcterms:modified xsi:type="dcterms:W3CDTF">2025-10-14T12:32:34Z</dcterms:modified>
</cp:coreProperties>
</file>