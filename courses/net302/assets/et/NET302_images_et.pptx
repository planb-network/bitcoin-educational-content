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3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tableStyles" Target="tableStyles.xml"/><Relationship Id="rId4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66905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55369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0709929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7036285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4396119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2199796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225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893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378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97712F-7D01-5388-A6FA-6409C3F84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0576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7063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307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17691B-247C-9F60-279C-AF11D337E4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143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3845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45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D83C59-43EC-C83D-9B29-A39F21AC0C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582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8095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88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B5DAC2-E015-8737-053A-BF3B4A89CB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918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326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329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54F781-A25C-2608-828F-0D73AF2CFA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4976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6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0883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CF5C7-4FE7-11F5-0707-CF08DF99AE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84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4116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935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210923-DBEA-F79A-9DE9-A980ACF64B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01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7296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787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5076-5C84-40C4-A631-621184D6B1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618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2982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327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ADAFD0-883C-3A6B-9E02-AED0F58A42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503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0964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897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96C095-0095-BABB-BA02-313AF27DC5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91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9463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91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D22D52-BF1B-46DE-62F5-392A416348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66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6879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483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25BA69-3E22-3C6D-E985-20CDCA35F6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4652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812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258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E73784-D7AA-77AD-7F7F-65C9D6AD34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7546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5645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269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F36EB-6E53-6761-BFD6-C31A56C0C8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036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3540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757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B53322-40DF-D2F6-3606-1126A10AF1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273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164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964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6D7228-7816-C87C-0C37-9EF25B4373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431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9164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39229-EA08-5FF5-F083-54DCF53470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530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436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787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B30BB1-5B68-F1C1-C0A5-AF49718A31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90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837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74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005472-BDDC-8E72-71C2-6BFDE21CFA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372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6478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6708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4BA273-BD3A-3B6F-B7CE-69F5AC7B8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436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8626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859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D959BB-0108-C2CF-BF98-322F09672A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2782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7686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672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F0C352-E68C-65E5-64C1-95525EF8EA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028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643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216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ED08A-B9D8-C0E9-CD83-9F6DB767C6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741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1493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812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92BEE8-8DA9-72F1-A1AA-EB3204DBEA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37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637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077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AAAE26-33B5-5AC0-2664-452D563429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428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47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848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F8A16-257E-BD41-B658-2835041531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715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2038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32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59DD29-E549-6109-1C7F-B0EE789929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787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532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051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9AC59D-0209-76D0-14F5-CAA9CFA502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431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797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8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452D5D-FC85-88D2-DB2D-92E298925C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901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2609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86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527BF-3F10-AE9F-0F13-005FC3ED64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857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3687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857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96B25-C19F-F881-C518-C4FC452FF0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422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9048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03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3DF0C4-BBAC-78E9-9B93-DBF5968B97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952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8878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074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FAC89-6479-6BD1-A36C-236FBBFEB2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8839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3717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065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1F2B6C-C65E-A9ED-A79C-DC47FF3459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429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8646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894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7E2D1-F653-AC9C-3CB0-A71A2C3330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44432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547919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369518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69074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66791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8585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23593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42818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046160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22612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70363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81041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39575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886136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80099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2320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560933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10107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2528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203980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25453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4143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13708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67476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16880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344261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736381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1107685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65570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719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540980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14243995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168585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39832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6365881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012391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88891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960323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96108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30357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23776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936036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8541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819776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2267207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53186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94679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52185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311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48392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03085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562488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47292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88914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38708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959488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921831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14364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63512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80548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6011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2960480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034199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9611119" name="Group 2"/>
          <p:cNvGrpSpPr/>
          <p:nvPr/>
        </p:nvGrpSpPr>
        <p:grpSpPr bwMode="auto">
          <a:xfrm rot="0">
            <a:off x="3981359" y="1314359"/>
            <a:ext cx="4229283" cy="4229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619692430" name="Freeform 5"/>
          <p:cNvSpPr/>
          <p:nvPr/>
        </p:nvSpPr>
        <p:spPr bwMode="auto">
          <a:xfrm rot="0" flipH="0" flipV="0">
            <a:off x="5672103" y="6858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6292584" name="Freeform 6"/>
          <p:cNvSpPr/>
          <p:nvPr/>
        </p:nvSpPr>
        <p:spPr bwMode="auto">
          <a:xfrm rot="0" flipH="0" flipV="0">
            <a:off x="3771541" y="188971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56437388" name="Freeform 7"/>
          <p:cNvSpPr/>
          <p:nvPr/>
        </p:nvSpPr>
        <p:spPr bwMode="auto">
          <a:xfrm rot="0" flipH="0" flipV="0">
            <a:off x="4149267" y="417204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262414" name="Freeform 8"/>
          <p:cNvSpPr/>
          <p:nvPr/>
        </p:nvSpPr>
        <p:spPr bwMode="auto">
          <a:xfrm rot="0" flipH="0" flipV="0">
            <a:off x="7135806" y="4274369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2844051" name="Freeform 9"/>
          <p:cNvSpPr/>
          <p:nvPr/>
        </p:nvSpPr>
        <p:spPr bwMode="auto">
          <a:xfrm rot="0" flipH="0" flipV="0">
            <a:off x="7461314" y="20574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457785" name="Freeform 2"/>
          <p:cNvSpPr/>
          <p:nvPr/>
        </p:nvSpPr>
        <p:spPr bwMode="auto">
          <a:xfrm rot="0" flipH="0" flipV="0">
            <a:off x="1264861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43494173" name="Freeform 3"/>
          <p:cNvSpPr/>
          <p:nvPr/>
        </p:nvSpPr>
        <p:spPr bwMode="auto">
          <a:xfrm rot="0" flipH="0" flipV="0">
            <a:off x="412581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59586860" name="Freeform 4"/>
          <p:cNvSpPr/>
          <p:nvPr/>
        </p:nvSpPr>
        <p:spPr bwMode="auto">
          <a:xfrm rot="0" flipH="0" flipV="0">
            <a:off x="6991350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4183088" name="Freeform 5"/>
          <p:cNvSpPr/>
          <p:nvPr/>
        </p:nvSpPr>
        <p:spPr bwMode="auto">
          <a:xfrm rot="0" flipH="0" flipV="0">
            <a:off x="985230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92358814" name="Freeform 6"/>
          <p:cNvSpPr/>
          <p:nvPr/>
        </p:nvSpPr>
        <p:spPr bwMode="auto">
          <a:xfrm rot="0" flipH="0" flipV="0">
            <a:off x="2659266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94311939" name="Freeform 7"/>
          <p:cNvSpPr/>
          <p:nvPr/>
        </p:nvSpPr>
        <p:spPr bwMode="auto">
          <a:xfrm rot="0" flipH="0" flipV="0">
            <a:off x="8457898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54329600" name="Freeform 8"/>
          <p:cNvSpPr/>
          <p:nvPr/>
        </p:nvSpPr>
        <p:spPr bwMode="auto">
          <a:xfrm rot="0" flipH="0" flipV="0">
            <a:off x="5558582" y="65787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7602913" name="AutoShape 9"/>
          <p:cNvSpPr/>
          <p:nvPr/>
        </p:nvSpPr>
        <p:spPr bwMode="auto">
          <a:xfrm flipV="1">
            <a:off x="1802279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02879495" name="AutoShape 10"/>
          <p:cNvSpPr/>
          <p:nvPr/>
        </p:nvSpPr>
        <p:spPr bwMode="auto">
          <a:xfrm flipH="1" flipV="1">
            <a:off x="3196684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27264623" name="AutoShape 11"/>
          <p:cNvSpPr/>
          <p:nvPr/>
        </p:nvSpPr>
        <p:spPr bwMode="auto">
          <a:xfrm flipH="1">
            <a:off x="7528768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0923966" name="AutoShape 12"/>
          <p:cNvSpPr/>
          <p:nvPr/>
        </p:nvSpPr>
        <p:spPr bwMode="auto">
          <a:xfrm>
            <a:off x="8995316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77311538" name="AutoShape 13"/>
          <p:cNvSpPr/>
          <p:nvPr/>
        </p:nvSpPr>
        <p:spPr bwMode="auto">
          <a:xfrm>
            <a:off x="6096000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31683538" name="AutoShape 14"/>
          <p:cNvSpPr/>
          <p:nvPr/>
        </p:nvSpPr>
        <p:spPr bwMode="auto">
          <a:xfrm flipH="1">
            <a:off x="3196684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750763" name="Freeform 2"/>
          <p:cNvSpPr/>
          <p:nvPr/>
        </p:nvSpPr>
        <p:spPr bwMode="auto">
          <a:xfrm rot="0" flipH="0" flipV="0">
            <a:off x="2772127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91444897" name="AutoShape 3"/>
          <p:cNvSpPr/>
          <p:nvPr/>
        </p:nvSpPr>
        <p:spPr bwMode="auto">
          <a:xfrm flipH="1">
            <a:off x="2408151" y="4477673"/>
            <a:ext cx="737569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457731" name="AutoShape 4"/>
          <p:cNvSpPr/>
          <p:nvPr/>
        </p:nvSpPr>
        <p:spPr bwMode="auto">
          <a:xfrm flipV="1">
            <a:off x="330954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04236211" name="Freeform 5"/>
          <p:cNvSpPr/>
          <p:nvPr/>
        </p:nvSpPr>
        <p:spPr bwMode="auto">
          <a:xfrm rot="0" flipH="0" flipV="0">
            <a:off x="4628012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57063500" name="Freeform 6"/>
          <p:cNvSpPr/>
          <p:nvPr/>
        </p:nvSpPr>
        <p:spPr bwMode="auto">
          <a:xfrm rot="0" flipH="0" flipV="0">
            <a:off x="6486525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62948285" name="Freeform 7"/>
          <p:cNvSpPr/>
          <p:nvPr/>
        </p:nvSpPr>
        <p:spPr bwMode="auto">
          <a:xfrm rot="0" flipH="0" flipV="0">
            <a:off x="8345038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239829" name="AutoShape 8"/>
          <p:cNvSpPr/>
          <p:nvPr/>
        </p:nvSpPr>
        <p:spPr bwMode="auto">
          <a:xfrm flipV="1">
            <a:off x="5165429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42730916" name="AutoShape 9"/>
          <p:cNvSpPr/>
          <p:nvPr/>
        </p:nvSpPr>
        <p:spPr bwMode="auto">
          <a:xfrm flipV="1">
            <a:off x="7023943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09987890" name="AutoShape 10"/>
          <p:cNvSpPr/>
          <p:nvPr/>
        </p:nvSpPr>
        <p:spPr bwMode="auto">
          <a:xfrm flipV="1">
            <a:off x="888245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718086" name="AutoShape 2"/>
          <p:cNvSpPr/>
          <p:nvPr/>
        </p:nvSpPr>
        <p:spPr bwMode="auto">
          <a:xfrm flipH="1">
            <a:off x="6673808" y="2077866"/>
            <a:ext cx="2670338" cy="111078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17832479" name="Freeform 3"/>
          <p:cNvSpPr/>
          <p:nvPr/>
        </p:nvSpPr>
        <p:spPr bwMode="auto">
          <a:xfrm rot="0" flipH="0" flipV="0">
            <a:off x="2673889" y="112355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6923074" name="Freeform 4"/>
          <p:cNvSpPr/>
          <p:nvPr/>
        </p:nvSpPr>
        <p:spPr bwMode="auto">
          <a:xfrm rot="0" flipH="0" flipV="0">
            <a:off x="5518192" y="2638466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6" y="0"/>
                </a:lnTo>
                <a:lnTo>
                  <a:pt x="1155616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19539110" name="Freeform 5"/>
          <p:cNvSpPr/>
          <p:nvPr/>
        </p:nvSpPr>
        <p:spPr bwMode="auto">
          <a:xfrm rot="0" flipH="0" flipV="0">
            <a:off x="8834977" y="141827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6405133" name="Freeform 6"/>
          <p:cNvSpPr/>
          <p:nvPr/>
        </p:nvSpPr>
        <p:spPr bwMode="auto">
          <a:xfrm rot="0" flipH="0" flipV="0">
            <a:off x="8297559" y="4477673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9308355" name="Freeform 7"/>
          <p:cNvSpPr/>
          <p:nvPr/>
        </p:nvSpPr>
        <p:spPr bwMode="auto">
          <a:xfrm rot="0" flipH="0" flipV="0">
            <a:off x="1745855" y="4110816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6945578" name="AutoShape 8"/>
          <p:cNvSpPr/>
          <p:nvPr/>
        </p:nvSpPr>
        <p:spPr bwMode="auto">
          <a:xfrm>
            <a:off x="3177160" y="1809357"/>
            <a:ext cx="2341031" cy="129902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47965902" name="AutoShape 9"/>
          <p:cNvSpPr/>
          <p:nvPr/>
        </p:nvSpPr>
        <p:spPr bwMode="auto">
          <a:xfrm flipV="1">
            <a:off x="2210949" y="3636346"/>
            <a:ext cx="3307243" cy="118680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16875934" name="AutoShape 10"/>
          <p:cNvSpPr/>
          <p:nvPr/>
        </p:nvSpPr>
        <p:spPr bwMode="auto">
          <a:xfrm flipH="1" flipV="1">
            <a:off x="6096000" y="3457580"/>
            <a:ext cx="2201559" cy="1371178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670119" name="AutoShape 2"/>
          <p:cNvSpPr/>
          <p:nvPr/>
        </p:nvSpPr>
        <p:spPr bwMode="auto">
          <a:xfrm flipV="1">
            <a:off x="9277150" y="3226680"/>
            <a:ext cx="355966" cy="118385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68124526" name="Freeform 3"/>
          <p:cNvSpPr/>
          <p:nvPr/>
        </p:nvSpPr>
        <p:spPr bwMode="auto">
          <a:xfrm rot="0" flipH="0" flipV="0">
            <a:off x="8533523" y="441053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51244283" name="AutoShape 4"/>
          <p:cNvSpPr/>
          <p:nvPr/>
        </p:nvSpPr>
        <p:spPr bwMode="auto">
          <a:xfrm flipH="1" flipV="1">
            <a:off x="2890092" y="2843670"/>
            <a:ext cx="5643431" cy="205679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62769812" name="Freeform 5"/>
          <p:cNvSpPr/>
          <p:nvPr/>
        </p:nvSpPr>
        <p:spPr bwMode="auto">
          <a:xfrm rot="0" flipH="0" flipV="0">
            <a:off x="1815256" y="1962004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9956638" name="AutoShape 6"/>
          <p:cNvSpPr/>
          <p:nvPr/>
        </p:nvSpPr>
        <p:spPr bwMode="auto">
          <a:xfrm flipV="1">
            <a:off x="2890092" y="2548555"/>
            <a:ext cx="6411816" cy="915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07765025" name="Freeform 7"/>
          <p:cNvSpPr/>
          <p:nvPr/>
        </p:nvSpPr>
        <p:spPr bwMode="auto">
          <a:xfrm rot="0" flipH="0" flipV="0">
            <a:off x="3544790" y="468041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0542221" name="AutoShape 8"/>
          <p:cNvSpPr/>
          <p:nvPr/>
        </p:nvSpPr>
        <p:spPr bwMode="auto">
          <a:xfrm flipV="1">
            <a:off x="4619625" y="5125405"/>
            <a:ext cx="3913898" cy="211737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50500603" name="Freeform 9"/>
          <p:cNvSpPr/>
          <p:nvPr/>
        </p:nvSpPr>
        <p:spPr bwMode="auto">
          <a:xfrm rot="0" flipH="0" flipV="0">
            <a:off x="9301908" y="185508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12446339" name="AutoShape 10"/>
          <p:cNvSpPr/>
          <p:nvPr/>
        </p:nvSpPr>
        <p:spPr bwMode="auto">
          <a:xfrm flipH="1" flipV="1">
            <a:off x="6032044" y="1621553"/>
            <a:ext cx="3269863" cy="789559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8884925" name="Freeform 11"/>
          <p:cNvSpPr/>
          <p:nvPr/>
        </p:nvSpPr>
        <p:spPr bwMode="auto">
          <a:xfrm rot="0" flipH="0" flipV="0">
            <a:off x="4957210" y="80598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4116923" name="AutoShape 12"/>
          <p:cNvSpPr/>
          <p:nvPr/>
        </p:nvSpPr>
        <p:spPr bwMode="auto">
          <a:xfrm flipH="1">
            <a:off x="2890092" y="1689517"/>
            <a:ext cx="2067118" cy="7605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1033424" name="AutoShape 13"/>
          <p:cNvSpPr/>
          <p:nvPr/>
        </p:nvSpPr>
        <p:spPr bwMode="auto">
          <a:xfrm flipV="1">
            <a:off x="4619625" y="2804620"/>
            <a:ext cx="4682283" cy="22978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0613641" name="AutoShape 14"/>
          <p:cNvSpPr/>
          <p:nvPr/>
        </p:nvSpPr>
        <p:spPr bwMode="auto">
          <a:xfrm flipH="1" flipV="1">
            <a:off x="6032044" y="2033445"/>
            <a:ext cx="2501478" cy="2521226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81326597" name="AutoShape 15"/>
          <p:cNvSpPr/>
          <p:nvPr/>
        </p:nvSpPr>
        <p:spPr bwMode="auto">
          <a:xfrm flipH="1" flipV="1">
            <a:off x="2789000" y="3333603"/>
            <a:ext cx="856881" cy="134681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35297147" name="AutoShape 16"/>
          <p:cNvSpPr/>
          <p:nvPr/>
        </p:nvSpPr>
        <p:spPr bwMode="auto">
          <a:xfrm flipV="1">
            <a:off x="4332215" y="2177585"/>
            <a:ext cx="912404" cy="250283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24432" name="Freeform 3"/>
          <p:cNvSpPr/>
          <p:nvPr/>
        </p:nvSpPr>
        <p:spPr bwMode="auto">
          <a:xfrm rot="0" flipH="0" flipV="0">
            <a:off x="6442562" y="930681"/>
            <a:ext cx="2488632" cy="2271155"/>
          </a:xfrm>
          <a:custGeom>
            <a:avLst/>
            <a:gdLst/>
            <a:ahLst/>
            <a:cxnLst/>
            <a:rect l="l" t="t" r="r" b="b"/>
            <a:pathLst>
              <a:path w="983164" h="897247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850583"/>
                </a:lnTo>
                <a:cubicBezTo>
                  <a:pt x="983164" y="876355"/>
                  <a:pt x="962272" y="897247"/>
                  <a:pt x="936500" y="897247"/>
                </a:cubicBezTo>
                <a:lnTo>
                  <a:pt x="46664" y="897247"/>
                </a:lnTo>
                <a:cubicBezTo>
                  <a:pt x="20892" y="897247"/>
                  <a:pt x="0" y="876355"/>
                  <a:pt x="0" y="850583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20145574" name="TextBox 4"/>
          <p:cNvSpPr txBox="1"/>
          <p:nvPr/>
        </p:nvSpPr>
        <p:spPr bwMode="auto">
          <a:xfrm rot="0" flipH="0" flipV="0">
            <a:off x="6442562" y="834240"/>
            <a:ext cx="2488632" cy="236759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Taotlus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1324146" name="Freeform 6"/>
          <p:cNvSpPr/>
          <p:nvPr/>
        </p:nvSpPr>
        <p:spPr bwMode="auto">
          <a:xfrm rot="0" flipH="0" flipV="0">
            <a:off x="3260803" y="172415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52288215" name="TextBox 7"/>
          <p:cNvSpPr txBox="1"/>
          <p:nvPr/>
        </p:nvSpPr>
        <p:spPr bwMode="auto">
          <a:xfrm rot="0" flipH="0" flipV="0">
            <a:off x="3260803" y="162771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6.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Esitlus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41545112" name="Freeform 9"/>
          <p:cNvSpPr/>
          <p:nvPr/>
        </p:nvSpPr>
        <p:spPr bwMode="auto">
          <a:xfrm rot="0" flipH="0" flipV="0">
            <a:off x="3260803" y="251313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79487277" name="TextBox 10"/>
          <p:cNvSpPr txBox="1"/>
          <p:nvPr/>
        </p:nvSpPr>
        <p:spPr bwMode="auto">
          <a:xfrm rot="0" flipH="0" flipV="0">
            <a:off x="3260803" y="241669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5.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Sessioon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13977742" name="Freeform 12"/>
          <p:cNvSpPr/>
          <p:nvPr/>
        </p:nvSpPr>
        <p:spPr bwMode="auto">
          <a:xfrm rot="0" flipH="0" flipV="0">
            <a:off x="3260803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68657571" name="TextBox 13"/>
          <p:cNvSpPr txBox="1"/>
          <p:nvPr/>
        </p:nvSpPr>
        <p:spPr bwMode="auto">
          <a:xfrm rot="0" flipH="0" flipV="0">
            <a:off x="3260803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4.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Transport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9911514" name="Freeform 15"/>
          <p:cNvSpPr/>
          <p:nvPr/>
        </p:nvSpPr>
        <p:spPr bwMode="auto">
          <a:xfrm rot="0" flipH="0" flipV="0">
            <a:off x="3260803" y="4095583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490740" name="TextBox 16"/>
          <p:cNvSpPr txBox="1"/>
          <p:nvPr/>
        </p:nvSpPr>
        <p:spPr bwMode="auto">
          <a:xfrm rot="0" flipH="0" flipV="0">
            <a:off x="3260803" y="3999143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3.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Võrk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7277017" name="Freeform 18"/>
          <p:cNvSpPr/>
          <p:nvPr/>
        </p:nvSpPr>
        <p:spPr bwMode="auto">
          <a:xfrm rot="0" flipH="0" flipV="0">
            <a:off x="3260803" y="4889062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0105189" name="TextBox 19"/>
          <p:cNvSpPr txBox="1"/>
          <p:nvPr/>
        </p:nvSpPr>
        <p:spPr bwMode="auto">
          <a:xfrm rot="0" flipH="0" flipV="0">
            <a:off x="3260803" y="4792622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2.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Andmelink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318653" name="Freeform 21"/>
          <p:cNvSpPr/>
          <p:nvPr/>
        </p:nvSpPr>
        <p:spPr bwMode="auto">
          <a:xfrm rot="0" flipH="0" flipV="0">
            <a:off x="3260803" y="567803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6128780" name="TextBox 22"/>
          <p:cNvSpPr txBox="1"/>
          <p:nvPr/>
        </p:nvSpPr>
        <p:spPr bwMode="auto">
          <a:xfrm rot="0" flipH="0" flipV="0">
            <a:off x="3260803" y="5581595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1.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Füüsiline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8499909" name="Freeform 24"/>
          <p:cNvSpPr/>
          <p:nvPr/>
        </p:nvSpPr>
        <p:spPr bwMode="auto">
          <a:xfrm rot="0" flipH="0" flipV="0">
            <a:off x="3260803" y="93068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18281746" name="TextBox 25"/>
          <p:cNvSpPr txBox="1"/>
          <p:nvPr/>
        </p:nvSpPr>
        <p:spPr bwMode="auto">
          <a:xfrm rot="0" flipH="0" flipV="0">
            <a:off x="3260803" y="83424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7.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Taotlus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5924355" name="TextBox 26"/>
          <p:cNvSpPr txBox="1"/>
          <p:nvPr/>
        </p:nvSpPr>
        <p:spPr bwMode="auto">
          <a:xfrm rot="0" flipH="0" flipV="0">
            <a:off x="2901681" y="265166"/>
            <a:ext cx="3152629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OSI mudel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9823957" name="TextBox 27"/>
          <p:cNvSpPr txBox="1"/>
          <p:nvPr/>
        </p:nvSpPr>
        <p:spPr bwMode="auto">
          <a:xfrm rot="0" flipH="0" flipV="0">
            <a:off x="6226771" y="265166"/>
            <a:ext cx="311799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TCP/IP mudel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0937598" name="Freeform 29"/>
          <p:cNvSpPr/>
          <p:nvPr/>
        </p:nvSpPr>
        <p:spPr bwMode="auto">
          <a:xfrm rot="0" flipH="0" flipV="0">
            <a:off x="6442562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8407256" name="TextBox 30"/>
          <p:cNvSpPr txBox="1"/>
          <p:nvPr/>
        </p:nvSpPr>
        <p:spPr bwMode="auto">
          <a:xfrm rot="0" flipH="0" flipV="0">
            <a:off x="6442562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Transport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69233654" name="Freeform 32"/>
          <p:cNvSpPr/>
          <p:nvPr/>
        </p:nvSpPr>
        <p:spPr bwMode="auto">
          <a:xfrm rot="0" flipH="0" flipV="0">
            <a:off x="6442562" y="410008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127203585" name="TextBox 33"/>
          <p:cNvSpPr txBox="1"/>
          <p:nvPr/>
        </p:nvSpPr>
        <p:spPr bwMode="auto">
          <a:xfrm rot="0" flipH="0" flipV="0">
            <a:off x="6442562" y="400364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Internet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18984161" name="Freeform 35"/>
          <p:cNvSpPr/>
          <p:nvPr/>
        </p:nvSpPr>
        <p:spPr bwMode="auto">
          <a:xfrm rot="0" flipH="0" flipV="0">
            <a:off x="6442562" y="4893568"/>
            <a:ext cx="2488632" cy="1473169"/>
          </a:xfrm>
          <a:custGeom>
            <a:avLst/>
            <a:gdLst/>
            <a:ahLst/>
            <a:cxnLst/>
            <a:rect l="l" t="t" r="r" b="b"/>
            <a:pathLst>
              <a:path w="983164" h="581993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535330"/>
                </a:lnTo>
                <a:cubicBezTo>
                  <a:pt x="983164" y="561101"/>
                  <a:pt x="962272" y="581993"/>
                  <a:pt x="936500" y="581993"/>
                </a:cubicBezTo>
                <a:lnTo>
                  <a:pt x="46664" y="581993"/>
                </a:lnTo>
                <a:cubicBezTo>
                  <a:pt x="20892" y="581993"/>
                  <a:pt x="0" y="561101"/>
                  <a:pt x="0" y="535330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65263719" name="TextBox 36"/>
          <p:cNvSpPr txBox="1"/>
          <p:nvPr/>
        </p:nvSpPr>
        <p:spPr bwMode="auto">
          <a:xfrm rot="0" flipH="0" flipV="0">
            <a:off x="6442562" y="4797128"/>
            <a:ext cx="2488632" cy="1569610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Võrgule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juurdepääs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395559" name="AutoShape 3"/>
          <p:cNvSpPr/>
          <p:nvPr/>
        </p:nvSpPr>
        <p:spPr bwMode="auto">
          <a:xfrm>
            <a:off x="0" y="3429000"/>
            <a:ext cx="5582330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2175849" name="AutoShape 4"/>
          <p:cNvSpPr/>
          <p:nvPr/>
        </p:nvSpPr>
        <p:spPr bwMode="auto">
          <a:xfrm>
            <a:off x="6697573" y="3429000"/>
            <a:ext cx="5494427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4199782" name="Freeform 5"/>
          <p:cNvSpPr/>
          <p:nvPr/>
        </p:nvSpPr>
        <p:spPr bwMode="auto">
          <a:xfrm rot="0" flipH="0" flipV="0">
            <a:off x="641813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90197632" name="TextBox 6"/>
          <p:cNvSpPr txBox="1"/>
          <p:nvPr/>
        </p:nvSpPr>
        <p:spPr bwMode="auto">
          <a:xfrm rot="0" flipH="0" flipV="0">
            <a:off x="4139930" y="4095409"/>
            <a:ext cx="3957924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Marsruuter</a:t>
            </a:r>
            <a:endParaRPr/>
          </a:p>
        </p:txBody>
      </p:sp>
      <p:sp>
        <p:nvSpPr>
          <p:cNvPr id="1459822445" name="Freeform 10"/>
          <p:cNvSpPr/>
          <p:nvPr/>
        </p:nvSpPr>
        <p:spPr bwMode="auto">
          <a:xfrm rot="0" flipH="0" flipV="0">
            <a:off x="3691750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1" y="0"/>
                </a:lnTo>
                <a:lnTo>
                  <a:pt x="1199471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3578612" name="Freeform 11"/>
          <p:cNvSpPr/>
          <p:nvPr/>
        </p:nvSpPr>
        <p:spPr bwMode="auto">
          <a:xfrm rot="0" flipH="0" flipV="0">
            <a:off x="69830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93767173" name="Freeform 12"/>
          <p:cNvSpPr/>
          <p:nvPr/>
        </p:nvSpPr>
        <p:spPr bwMode="auto">
          <a:xfrm rot="0" flipH="0" flipV="0">
            <a:off x="79927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50375428" name="Freeform 13"/>
          <p:cNvSpPr/>
          <p:nvPr/>
        </p:nvSpPr>
        <p:spPr bwMode="auto">
          <a:xfrm rot="0" flipH="0" flipV="0">
            <a:off x="110216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21373436" name="Freeform 15"/>
          <p:cNvSpPr/>
          <p:nvPr/>
        </p:nvSpPr>
        <p:spPr bwMode="auto">
          <a:xfrm rot="0" flipH="0" flipV="0">
            <a:off x="100120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4700620" name="AutoShape 16"/>
          <p:cNvSpPr/>
          <p:nvPr/>
        </p:nvSpPr>
        <p:spPr bwMode="auto">
          <a:xfrm>
            <a:off x="0" y="2762302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23863632" name="AutoShape 17"/>
          <p:cNvSpPr/>
          <p:nvPr/>
        </p:nvSpPr>
        <p:spPr bwMode="auto">
          <a:xfrm>
            <a:off x="-7787" y="4095410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3199379" name="AutoShape 18"/>
          <p:cNvSpPr/>
          <p:nvPr/>
        </p:nvSpPr>
        <p:spPr bwMode="auto">
          <a:xfrm>
            <a:off x="6609670" y="301942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6518846" name="AutoShape 19"/>
          <p:cNvSpPr/>
          <p:nvPr/>
        </p:nvSpPr>
        <p:spPr bwMode="auto">
          <a:xfrm>
            <a:off x="6601884" y="383789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pic>
        <p:nvPicPr>
          <p:cNvPr id="87325504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58875" y="3086100"/>
            <a:ext cx="621370" cy="642686"/>
          </a:xfrm>
          <a:prstGeom prst="rect">
            <a:avLst/>
          </a:prstGeom>
        </p:spPr>
      </p:pic>
      <p:grpSp>
        <p:nvGrpSpPr>
          <p:cNvPr id="2106664913" name=""/>
          <p:cNvGrpSpPr/>
          <p:nvPr/>
        </p:nvGrpSpPr>
        <p:grpSpPr bwMode="auto">
          <a:xfrm>
            <a:off x="1873591" y="2075866"/>
            <a:ext cx="1838622" cy="1952866"/>
            <a:chOff x="0" y="0"/>
            <a:chExt cx="1838622" cy="1952866"/>
          </a:xfrm>
        </p:grpSpPr>
        <p:sp>
          <p:nvSpPr>
            <p:cNvPr id="1802848257" name="TextBox 7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4000</a:t>
              </a:r>
              <a:endParaRPr/>
            </a:p>
          </p:txBody>
        </p:sp>
        <p:sp>
          <p:nvSpPr>
            <p:cNvPr id="1005215678" name="Freeform 9"/>
            <p:cNvSpPr/>
            <p:nvPr/>
          </p:nvSpPr>
          <p:spPr bwMode="auto">
            <a:xfrm rot="0" flipH="0" flipV="0">
              <a:off x="294837" y="753396"/>
              <a:ext cx="1199470" cy="1199470"/>
            </a:xfrm>
            <a:custGeom>
              <a:avLst/>
              <a:gdLst/>
              <a:ahLst/>
              <a:cxnLst/>
              <a:rect l="l" t="t" r="r" b="b"/>
              <a:pathLst>
                <a:path w="1199470" h="1199470" fill="norm" stroke="1" extrusionOk="0">
                  <a:moveTo>
                    <a:pt x="0" y="0"/>
                  </a:moveTo>
                  <a:lnTo>
                    <a:pt x="1199470" y="0"/>
                  </a:lnTo>
                  <a:lnTo>
                    <a:pt x="1199470" y="1199470"/>
                  </a:lnTo>
                  <a:lnTo>
                    <a:pt x="0" y="1199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grpSp>
        <p:nvGrpSpPr>
          <p:cNvPr id="2138920840" name=""/>
          <p:cNvGrpSpPr/>
          <p:nvPr/>
        </p:nvGrpSpPr>
        <p:grpSpPr bwMode="auto">
          <a:xfrm>
            <a:off x="8483107" y="2333041"/>
            <a:ext cx="1838622" cy="1438857"/>
            <a:chOff x="0" y="0"/>
            <a:chExt cx="1838622" cy="1438857"/>
          </a:xfrm>
        </p:grpSpPr>
        <p:sp>
          <p:nvSpPr>
            <p:cNvPr id="953742224" name="TextBox 8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1500</a:t>
              </a:r>
              <a:endParaRPr/>
            </a:p>
          </p:txBody>
        </p:sp>
        <p:sp>
          <p:nvSpPr>
            <p:cNvPr id="180798507" name="Freeform 14"/>
            <p:cNvSpPr/>
            <p:nvPr/>
          </p:nvSpPr>
          <p:spPr bwMode="auto">
            <a:xfrm rot="0" flipH="0" flipV="0">
              <a:off x="519260" y="753057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 fill="norm" stroke="1" extrusionOk="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9328" name="AutoShape 2"/>
          <p:cNvSpPr/>
          <p:nvPr/>
        </p:nvSpPr>
        <p:spPr bwMode="auto">
          <a:xfrm flipV="1">
            <a:off x="4945785" y="1093840"/>
            <a:ext cx="0" cy="39816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21588165" name="Freeform 4"/>
          <p:cNvSpPr/>
          <p:nvPr/>
        </p:nvSpPr>
        <p:spPr bwMode="auto">
          <a:xfrm rot="0" flipH="0" flipV="0">
            <a:off x="3076538" y="181384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35486974" name="TextBox 5"/>
          <p:cNvSpPr txBox="1"/>
          <p:nvPr/>
        </p:nvSpPr>
        <p:spPr bwMode="auto">
          <a:xfrm rot="0" flipH="0" flipV="0">
            <a:off x="3076538" y="171740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Taotlus</a:t>
            </a:r>
            <a:endParaRPr sz="1400"/>
          </a:p>
        </p:txBody>
      </p:sp>
      <p:sp>
        <p:nvSpPr>
          <p:cNvPr id="690927627" name="AutoShape 6"/>
          <p:cNvSpPr/>
          <p:nvPr/>
        </p:nvSpPr>
        <p:spPr bwMode="auto">
          <a:xfrm flipH="1">
            <a:off x="3697603" y="2502549"/>
            <a:ext cx="0" cy="257290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964710905" name="Freeform 8"/>
          <p:cNvSpPr/>
          <p:nvPr/>
        </p:nvSpPr>
        <p:spPr bwMode="auto">
          <a:xfrm rot="0" flipH="0" flipV="0">
            <a:off x="3076538" y="2897947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80094925" name="TextBox 9"/>
          <p:cNvSpPr txBox="1"/>
          <p:nvPr/>
        </p:nvSpPr>
        <p:spPr bwMode="auto">
          <a:xfrm rot="0" flipH="0" flipV="0">
            <a:off x="3076538" y="2801507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Transport</a:t>
            </a:r>
            <a:endParaRPr sz="1400"/>
          </a:p>
        </p:txBody>
      </p:sp>
      <p:sp>
        <p:nvSpPr>
          <p:cNvPr id="1814226057" name="Freeform 11"/>
          <p:cNvSpPr/>
          <p:nvPr/>
        </p:nvSpPr>
        <p:spPr bwMode="auto">
          <a:xfrm rot="0" flipH="0" flipV="0">
            <a:off x="3076538" y="398670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182730235" name="TextBox 12"/>
          <p:cNvSpPr txBox="1"/>
          <p:nvPr/>
        </p:nvSpPr>
        <p:spPr bwMode="auto">
          <a:xfrm rot="0" flipH="0" flipV="0">
            <a:off x="3076538" y="389026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Internet</a:t>
            </a:r>
            <a:endParaRPr sz="1400"/>
          </a:p>
        </p:txBody>
      </p:sp>
      <p:sp>
        <p:nvSpPr>
          <p:cNvPr id="1186790075" name="Freeform 14"/>
          <p:cNvSpPr/>
          <p:nvPr/>
        </p:nvSpPr>
        <p:spPr bwMode="auto">
          <a:xfrm rot="0" flipH="0" flipV="0">
            <a:off x="3076538" y="5075455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413902283" name="TextBox 15"/>
          <p:cNvSpPr txBox="1"/>
          <p:nvPr/>
        </p:nvSpPr>
        <p:spPr bwMode="auto">
          <a:xfrm rot="0" flipH="0" flipV="0">
            <a:off x="3076538" y="497901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Võrgule juurdepääs</a:t>
            </a:r>
            <a:endParaRPr sz="1400"/>
          </a:p>
        </p:txBody>
      </p:sp>
      <p:grpSp>
        <p:nvGrpSpPr>
          <p:cNvPr id="395186944" name="Group 16"/>
          <p:cNvGrpSpPr/>
          <p:nvPr/>
        </p:nvGrpSpPr>
        <p:grpSpPr bwMode="auto">
          <a:xfrm rot="0">
            <a:off x="5756301" y="2897948"/>
            <a:ext cx="992720" cy="688704"/>
            <a:chOff x="0" y="0"/>
            <a:chExt cx="392186" cy="272081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55754889" name="Group 19"/>
          <p:cNvGrpSpPr/>
          <p:nvPr/>
        </p:nvGrpSpPr>
        <p:grpSpPr bwMode="auto">
          <a:xfrm rot="0">
            <a:off x="5756301" y="3986702"/>
            <a:ext cx="992720" cy="688704"/>
            <a:chOff x="0" y="0"/>
            <a:chExt cx="392186" cy="272081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078414583" name="Group 22"/>
          <p:cNvGrpSpPr/>
          <p:nvPr/>
        </p:nvGrpSpPr>
        <p:grpSpPr bwMode="auto">
          <a:xfrm rot="0">
            <a:off x="5756301" y="5075456"/>
            <a:ext cx="992720" cy="688704"/>
            <a:chOff x="0" y="0"/>
            <a:chExt cx="392186" cy="272081"/>
          </a:xfrm>
        </p:grpSpPr>
        <p:sp>
          <p:nvSpPr>
            <p:cNvPr id="23" name="Freeform 23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78441233" name="Group 25"/>
          <p:cNvGrpSpPr/>
          <p:nvPr/>
        </p:nvGrpSpPr>
        <p:grpSpPr bwMode="auto">
          <a:xfrm rot="0">
            <a:off x="6939521" y="3986702"/>
            <a:ext cx="992720" cy="688704"/>
            <a:chOff x="0" y="0"/>
            <a:chExt cx="392186" cy="272081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133060191" name="Group 28"/>
          <p:cNvGrpSpPr/>
          <p:nvPr/>
        </p:nvGrpSpPr>
        <p:grpSpPr bwMode="auto">
          <a:xfrm rot="0">
            <a:off x="6939521" y="5075456"/>
            <a:ext cx="992720" cy="688704"/>
            <a:chOff x="0" y="0"/>
            <a:chExt cx="392186" cy="272081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277409417" name="Group 31"/>
          <p:cNvGrpSpPr/>
          <p:nvPr/>
        </p:nvGrpSpPr>
        <p:grpSpPr bwMode="auto">
          <a:xfrm rot="0">
            <a:off x="8122741" y="5075456"/>
            <a:ext cx="992720" cy="688704"/>
            <a:chOff x="0" y="0"/>
            <a:chExt cx="392186" cy="272081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257929" name="TextBox 2"/>
          <p:cNvSpPr txBox="1"/>
          <p:nvPr/>
        </p:nvSpPr>
        <p:spPr bwMode="auto">
          <a:xfrm rot="0" flipH="0" flipV="0">
            <a:off x="401956" y="1105376"/>
            <a:ext cx="2615247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Taotlus</a:t>
            </a:r>
            <a:endParaRPr/>
          </a:p>
        </p:txBody>
      </p:sp>
      <p:grpSp>
        <p:nvGrpSpPr>
          <p:cNvPr id="1676890280" name="Group 3"/>
          <p:cNvGrpSpPr/>
          <p:nvPr/>
        </p:nvGrpSpPr>
        <p:grpSpPr bwMode="auto">
          <a:xfrm rot="0">
            <a:off x="5988903" y="1113736"/>
            <a:ext cx="3584990" cy="394128"/>
            <a:chOff x="0" y="0"/>
            <a:chExt cx="1416292" cy="155705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409900479" name="TextBox 6"/>
          <p:cNvSpPr txBox="1"/>
          <p:nvPr/>
        </p:nvSpPr>
        <p:spPr bwMode="auto">
          <a:xfrm rot="0" flipH="0" flipV="0">
            <a:off x="401956" y="3172728"/>
            <a:ext cx="243153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IP-kihi</a:t>
            </a:r>
            <a:endParaRPr/>
          </a:p>
        </p:txBody>
      </p:sp>
      <p:sp>
        <p:nvSpPr>
          <p:cNvPr id="873198246" name="TextBox 7"/>
          <p:cNvSpPr txBox="1"/>
          <p:nvPr/>
        </p:nvSpPr>
        <p:spPr bwMode="auto">
          <a:xfrm rot="0" flipH="0" flipV="0">
            <a:off x="401956" y="5245790"/>
            <a:ext cx="3169281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MAC alamkihi</a:t>
            </a:r>
            <a:endParaRPr/>
          </a:p>
        </p:txBody>
      </p:sp>
      <p:sp>
        <p:nvSpPr>
          <p:cNvPr id="1522906905" name="TextBox 8"/>
          <p:cNvSpPr txBox="1"/>
          <p:nvPr/>
        </p:nvSpPr>
        <p:spPr bwMode="auto">
          <a:xfrm rot="0" flipH="0" flipV="0">
            <a:off x="6091970" y="668624"/>
            <a:ext cx="348264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Rakendusandmed</a:t>
            </a:r>
            <a:endParaRPr/>
          </a:p>
        </p:txBody>
      </p:sp>
      <p:grpSp>
        <p:nvGrpSpPr>
          <p:cNvPr id="942665482" name="Group 9"/>
          <p:cNvGrpSpPr/>
          <p:nvPr/>
        </p:nvGrpSpPr>
        <p:grpSpPr bwMode="auto">
          <a:xfrm rot="0">
            <a:off x="5988903" y="3181089"/>
            <a:ext cx="3584990" cy="394128"/>
            <a:chOff x="0" y="0"/>
            <a:chExt cx="1416292" cy="155705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997543707" name="Group 12"/>
          <p:cNvGrpSpPr/>
          <p:nvPr/>
        </p:nvGrpSpPr>
        <p:grpSpPr bwMode="auto">
          <a:xfrm rot="0">
            <a:off x="4986983" y="3181089"/>
            <a:ext cx="977991" cy="394128"/>
            <a:chOff x="0" y="0"/>
            <a:chExt cx="386367" cy="155705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FFA47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813695030" name="TextBox 15"/>
          <p:cNvSpPr txBox="1"/>
          <p:nvPr/>
        </p:nvSpPr>
        <p:spPr bwMode="auto">
          <a:xfrm rot="0" flipH="0" flipV="0">
            <a:off x="6226772" y="2641338"/>
            <a:ext cx="3178606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Andmeväli</a:t>
            </a:r>
            <a:endParaRPr/>
          </a:p>
        </p:txBody>
      </p:sp>
      <p:sp>
        <p:nvSpPr>
          <p:cNvPr id="1102040699" name="TextBox 16"/>
          <p:cNvSpPr txBox="1"/>
          <p:nvPr/>
        </p:nvSpPr>
        <p:spPr bwMode="auto">
          <a:xfrm rot="0" flipH="0" flipV="0">
            <a:off x="4572000" y="2641338"/>
            <a:ext cx="1569382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Pealkiri</a:t>
            </a:r>
            <a:endParaRPr sz="1600"/>
          </a:p>
        </p:txBody>
      </p:sp>
      <p:sp>
        <p:nvSpPr>
          <p:cNvPr id="971541018" name="TextBox 17"/>
          <p:cNvSpPr txBox="1"/>
          <p:nvPr/>
        </p:nvSpPr>
        <p:spPr bwMode="auto">
          <a:xfrm rot="0" flipH="0" flipV="0">
            <a:off x="5356690" y="3739835"/>
            <a:ext cx="379956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IP-andmeside</a:t>
            </a:r>
            <a:endParaRPr/>
          </a:p>
        </p:txBody>
      </p:sp>
      <p:sp>
        <p:nvSpPr>
          <p:cNvPr id="158185764" name="AutoShape 18"/>
          <p:cNvSpPr/>
          <p:nvPr/>
        </p:nvSpPr>
        <p:spPr bwMode="auto">
          <a:xfrm>
            <a:off x="4986983" y="3689516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40424140" name="AutoShape 19"/>
          <p:cNvSpPr/>
          <p:nvPr/>
        </p:nvSpPr>
        <p:spPr bwMode="auto">
          <a:xfrm>
            <a:off x="4986983" y="3066788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77551568" name="AutoShape 20"/>
          <p:cNvSpPr/>
          <p:nvPr/>
        </p:nvSpPr>
        <p:spPr bwMode="auto">
          <a:xfrm>
            <a:off x="5988903" y="3066788"/>
            <a:ext cx="358499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1872959127" name="Group 21"/>
          <p:cNvGrpSpPr/>
          <p:nvPr/>
        </p:nvGrpSpPr>
        <p:grpSpPr bwMode="auto">
          <a:xfrm rot="0">
            <a:off x="4986983" y="5252802"/>
            <a:ext cx="4586910" cy="394128"/>
            <a:chOff x="0" y="0"/>
            <a:chExt cx="6115880" cy="525504"/>
          </a:xfrm>
        </p:grpSpPr>
        <p:grpSp>
          <p:nvGrpSpPr>
            <p:cNvPr id="22" name="Group 22"/>
            <p:cNvGrpSpPr/>
            <p:nvPr/>
          </p:nvGrpSpPr>
          <p:grpSpPr bwMode="auto">
            <a:xfrm rot="0">
              <a:off x="1335893" y="0"/>
              <a:ext cx="4779986" cy="525504"/>
              <a:chOff x="0" y="0"/>
              <a:chExt cx="1416292" cy="155705"/>
            </a:xfrm>
          </p:grpSpPr>
          <p:sp>
            <p:nvSpPr>
              <p:cNvPr id="23" name="Freeform 23"/>
              <p:cNvSpPr/>
              <p:nvPr/>
            </p:nvSpPr>
            <p:spPr bwMode="auto">
              <a:xfrm rot="0" flipH="0" flipV="0">
                <a:off x="0" y="0"/>
                <a:ext cx="1416292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1416292" h="155705" fill="norm" stroke="1" extrusionOk="0">
                    <a:moveTo>
                      <a:pt x="17276" y="0"/>
                    </a:moveTo>
                    <a:lnTo>
                      <a:pt x="1399016" y="0"/>
                    </a:lnTo>
                    <a:cubicBezTo>
                      <a:pt x="1403598" y="0"/>
                      <a:pt x="1407992" y="1820"/>
                      <a:pt x="1411232" y="5060"/>
                    </a:cubicBezTo>
                    <a:cubicBezTo>
                      <a:pt x="1414472" y="8300"/>
                      <a:pt x="1416292" y="12694"/>
                      <a:pt x="1416292" y="17276"/>
                    </a:cubicBezTo>
                    <a:lnTo>
                      <a:pt x="1416292" y="138429"/>
                    </a:lnTo>
                    <a:cubicBezTo>
                      <a:pt x="1416292" y="147970"/>
                      <a:pt x="1408557" y="155705"/>
                      <a:pt x="1399016" y="155705"/>
                    </a:cubicBezTo>
                    <a:lnTo>
                      <a:pt x="17276" y="155705"/>
                    </a:lnTo>
                    <a:cubicBezTo>
                      <a:pt x="7735" y="155705"/>
                      <a:pt x="0" y="147970"/>
                      <a:pt x="0" y="138429"/>
                    </a:cubicBezTo>
                    <a:lnTo>
                      <a:pt x="0" y="17276"/>
                    </a:lnTo>
                    <a:cubicBezTo>
                      <a:pt x="0" y="7735"/>
                      <a:pt x="7735" y="0"/>
                      <a:pt x="17276" y="0"/>
                    </a:cubicBezTo>
                    <a:close/>
                  </a:path>
                </a:pathLst>
              </a:custGeom>
              <a:solidFill>
                <a:srgbClr val="FF5C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 bwMode="auto">
              <a:xfrm>
                <a:off x="0" y="-38100"/>
                <a:ext cx="1416292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 bwMode="auto">
            <a:xfrm rot="0">
              <a:off x="0" y="0"/>
              <a:ext cx="1303988" cy="525504"/>
              <a:chOff x="0" y="0"/>
              <a:chExt cx="386367" cy="155705"/>
            </a:xfrm>
          </p:grpSpPr>
          <p:sp>
            <p:nvSpPr>
              <p:cNvPr id="26" name="Freeform 26"/>
              <p:cNvSpPr/>
              <p:nvPr/>
            </p:nvSpPr>
            <p:spPr bwMode="auto">
              <a:xfrm rot="0" flipH="0" flipV="0">
                <a:off x="0" y="0"/>
                <a:ext cx="386367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386367" h="155705" fill="norm" stroke="1" extrusionOk="0">
                    <a:moveTo>
                      <a:pt x="63329" y="0"/>
                    </a:moveTo>
                    <a:lnTo>
                      <a:pt x="323038" y="0"/>
                    </a:lnTo>
                    <a:cubicBezTo>
                      <a:pt x="339834" y="0"/>
                      <a:pt x="355942" y="6672"/>
                      <a:pt x="367818" y="18549"/>
                    </a:cubicBezTo>
                    <a:cubicBezTo>
                      <a:pt x="379695" y="30425"/>
                      <a:pt x="386367" y="46533"/>
                      <a:pt x="386367" y="63329"/>
                    </a:cubicBezTo>
                    <a:lnTo>
                      <a:pt x="386367" y="92376"/>
                    </a:lnTo>
                    <a:cubicBezTo>
                      <a:pt x="386367" y="109172"/>
                      <a:pt x="379695" y="125280"/>
                      <a:pt x="367818" y="137156"/>
                    </a:cubicBezTo>
                    <a:cubicBezTo>
                      <a:pt x="355942" y="149033"/>
                      <a:pt x="339834" y="155705"/>
                      <a:pt x="323038" y="155705"/>
                    </a:cubicBezTo>
                    <a:lnTo>
                      <a:pt x="63329" y="155705"/>
                    </a:lnTo>
                    <a:cubicBezTo>
                      <a:pt x="46533" y="155705"/>
                      <a:pt x="30425" y="149033"/>
                      <a:pt x="18549" y="137156"/>
                    </a:cubicBezTo>
                    <a:cubicBezTo>
                      <a:pt x="6672" y="125280"/>
                      <a:pt x="0" y="109172"/>
                      <a:pt x="0" y="92376"/>
                    </a:cubicBezTo>
                    <a:lnTo>
                      <a:pt x="0" y="63329"/>
                    </a:lnTo>
                    <a:cubicBezTo>
                      <a:pt x="0" y="46533"/>
                      <a:pt x="6672" y="30425"/>
                      <a:pt x="18549" y="18549"/>
                    </a:cubicBezTo>
                    <a:cubicBezTo>
                      <a:pt x="30425" y="6672"/>
                      <a:pt x="46533" y="0"/>
                      <a:pt x="63329" y="0"/>
                    </a:cubicBezTo>
                    <a:close/>
                  </a:path>
                </a:pathLst>
              </a:custGeom>
              <a:solidFill>
                <a:srgbClr val="FFA47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 bwMode="auto">
              <a:xfrm>
                <a:off x="0" y="-38100"/>
                <a:ext cx="386367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</p:grpSp>
      <p:sp>
        <p:nvSpPr>
          <p:cNvPr id="243254029" name="TextBox 28"/>
          <p:cNvSpPr txBox="1"/>
          <p:nvPr/>
        </p:nvSpPr>
        <p:spPr bwMode="auto">
          <a:xfrm rot="0" flipH="0" flipV="0">
            <a:off x="5475978" y="4713051"/>
            <a:ext cx="3792885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Raami andmeväli</a:t>
            </a:r>
            <a:endParaRPr/>
          </a:p>
        </p:txBody>
      </p:sp>
      <p:sp>
        <p:nvSpPr>
          <p:cNvPr id="328953855" name="TextBox 29"/>
          <p:cNvSpPr txBox="1"/>
          <p:nvPr/>
        </p:nvSpPr>
        <p:spPr bwMode="auto">
          <a:xfrm rot="0" flipH="0" flipV="0">
            <a:off x="3438544" y="4713050"/>
            <a:ext cx="203851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Pealkiri</a:t>
            </a:r>
            <a:endParaRPr sz="1600"/>
          </a:p>
        </p:txBody>
      </p:sp>
      <p:sp>
        <p:nvSpPr>
          <p:cNvPr id="451663847" name="TextBox 30"/>
          <p:cNvSpPr txBox="1"/>
          <p:nvPr/>
        </p:nvSpPr>
        <p:spPr bwMode="auto">
          <a:xfrm rot="0" flipH="0" flipV="0">
            <a:off x="4886651" y="5811549"/>
            <a:ext cx="477849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Raam (Ethernet)</a:t>
            </a:r>
            <a:endParaRPr/>
          </a:p>
        </p:txBody>
      </p:sp>
      <p:sp>
        <p:nvSpPr>
          <p:cNvPr id="1248233773" name="AutoShape 31"/>
          <p:cNvSpPr/>
          <p:nvPr/>
        </p:nvSpPr>
        <p:spPr bwMode="auto">
          <a:xfrm>
            <a:off x="3980417" y="5761230"/>
            <a:ext cx="66000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92781372" name="AutoShape 32"/>
          <p:cNvSpPr/>
          <p:nvPr/>
        </p:nvSpPr>
        <p:spPr bwMode="auto">
          <a:xfrm>
            <a:off x="3980417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15797776" name="AutoShape 33"/>
          <p:cNvSpPr/>
          <p:nvPr/>
        </p:nvSpPr>
        <p:spPr bwMode="auto">
          <a:xfrm flipV="1">
            <a:off x="4986983" y="5138502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2018719546" name="Group 34"/>
          <p:cNvGrpSpPr/>
          <p:nvPr/>
        </p:nvGrpSpPr>
        <p:grpSpPr bwMode="auto">
          <a:xfrm rot="0">
            <a:off x="3980417" y="5252802"/>
            <a:ext cx="977991" cy="394128"/>
            <a:chOff x="0" y="0"/>
            <a:chExt cx="386367" cy="155705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970188213" name="Group 37"/>
          <p:cNvGrpSpPr/>
          <p:nvPr/>
        </p:nvGrpSpPr>
        <p:grpSpPr bwMode="auto">
          <a:xfrm rot="0">
            <a:off x="9602468" y="5252802"/>
            <a:ext cx="977991" cy="394128"/>
            <a:chOff x="0" y="0"/>
            <a:chExt cx="386367" cy="155705"/>
          </a:xfrm>
        </p:grpSpPr>
        <p:sp>
          <p:nvSpPr>
            <p:cNvPr id="38" name="Freeform 38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1219283412" name="TextBox 40"/>
          <p:cNvSpPr txBox="1"/>
          <p:nvPr/>
        </p:nvSpPr>
        <p:spPr bwMode="auto">
          <a:xfrm rot="0" flipH="0" flipV="0">
            <a:off x="9665149" y="4294231"/>
            <a:ext cx="2282319" cy="35595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Kaadri kontrollimise järjestus</a:t>
            </a:r>
            <a:endParaRPr sz="1400"/>
          </a:p>
        </p:txBody>
      </p:sp>
      <p:sp>
        <p:nvSpPr>
          <p:cNvPr id="1480729034" name="AutoShape 41"/>
          <p:cNvSpPr/>
          <p:nvPr/>
        </p:nvSpPr>
        <p:spPr bwMode="auto">
          <a:xfrm>
            <a:off x="9602468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264946" name="AutoShape 2"/>
          <p:cNvSpPr/>
          <p:nvPr/>
        </p:nvSpPr>
        <p:spPr bwMode="auto">
          <a:xfrm flipH="0" flipV="1">
            <a:off x="5515268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97267851" name="Freeform 4"/>
          <p:cNvSpPr/>
          <p:nvPr/>
        </p:nvSpPr>
        <p:spPr bwMode="auto">
          <a:xfrm rot="0" flipH="0" flipV="0">
            <a:off x="4126344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331606428" name="Freeform 9"/>
          <p:cNvSpPr/>
          <p:nvPr/>
        </p:nvSpPr>
        <p:spPr bwMode="auto">
          <a:xfrm rot="0" flipH="0" flipV="0">
            <a:off x="412634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12863274" name="TextBox 10"/>
          <p:cNvSpPr txBox="1"/>
          <p:nvPr/>
        </p:nvSpPr>
        <p:spPr bwMode="auto">
          <a:xfrm rot="0" flipH="0" flipV="0">
            <a:off x="412634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Kaskoormus</a:t>
            </a:r>
            <a:endParaRPr sz="1100"/>
          </a:p>
        </p:txBody>
      </p:sp>
      <p:sp>
        <p:nvSpPr>
          <p:cNvPr id="1496510994" name="Freeform 12"/>
          <p:cNvSpPr/>
          <p:nvPr/>
        </p:nvSpPr>
        <p:spPr bwMode="auto">
          <a:xfrm rot="0" flipH="0" flipV="0">
            <a:off x="309212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89599645" name="TextBox 13"/>
          <p:cNvSpPr txBox="1"/>
          <p:nvPr/>
        </p:nvSpPr>
        <p:spPr bwMode="auto">
          <a:xfrm rot="0" flipH="0" flipV="0">
            <a:off x="309212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Rakendus.</a:t>
            </a:r>
            <a:endParaRPr sz="1100"/>
          </a:p>
        </p:txBody>
      </p:sp>
      <p:sp>
        <p:nvSpPr>
          <p:cNvPr id="629130216" name="Freeform 15"/>
          <p:cNvSpPr/>
          <p:nvPr/>
        </p:nvSpPr>
        <p:spPr bwMode="auto">
          <a:xfrm rot="0" flipH="0" flipV="0">
            <a:off x="2061526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48775465" name="TextBox 16"/>
          <p:cNvSpPr txBox="1"/>
          <p:nvPr/>
        </p:nvSpPr>
        <p:spPr bwMode="auto">
          <a:xfrm rot="0" flipH="0" flipV="0">
            <a:off x="2061526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Transport</a:t>
            </a:r>
            <a:endParaRPr sz="1100"/>
          </a:p>
        </p:txBody>
      </p:sp>
      <p:sp>
        <p:nvSpPr>
          <p:cNvPr id="1970183653" name="Freeform 18"/>
          <p:cNvSpPr/>
          <p:nvPr/>
        </p:nvSpPr>
        <p:spPr bwMode="auto">
          <a:xfrm rot="0" flipH="0" flipV="0">
            <a:off x="3188180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697442371" name="TextBox 19"/>
          <p:cNvSpPr txBox="1"/>
          <p:nvPr/>
        </p:nvSpPr>
        <p:spPr bwMode="auto">
          <a:xfrm rot="0" flipH="0" flipV="0">
            <a:off x="3188180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Andmed</a:t>
            </a:r>
            <a:endParaRPr sz="1100"/>
          </a:p>
        </p:txBody>
      </p:sp>
      <p:sp>
        <p:nvSpPr>
          <p:cNvPr id="1095162957" name="Freeform 21"/>
          <p:cNvSpPr/>
          <p:nvPr/>
        </p:nvSpPr>
        <p:spPr bwMode="auto">
          <a:xfrm rot="0" flipH="0" flipV="0">
            <a:off x="1027306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43649714" name="TextBox 22"/>
          <p:cNvSpPr txBox="1"/>
          <p:nvPr/>
        </p:nvSpPr>
        <p:spPr bwMode="auto">
          <a:xfrm rot="0" flipH="0" flipV="0">
            <a:off x="1027306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100"/>
          </a:p>
        </p:txBody>
      </p:sp>
      <p:sp>
        <p:nvSpPr>
          <p:cNvPr id="809820849" name="Freeform 24"/>
          <p:cNvSpPr/>
          <p:nvPr/>
        </p:nvSpPr>
        <p:spPr bwMode="auto">
          <a:xfrm rot="0" flipH="0" flipV="0">
            <a:off x="2250018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8445285" name="TextBox 25"/>
          <p:cNvSpPr txBox="1"/>
          <p:nvPr/>
        </p:nvSpPr>
        <p:spPr bwMode="auto">
          <a:xfrm rot="0" flipH="0" flipV="0">
            <a:off x="2250018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Segment</a:t>
            </a:r>
            <a:endParaRPr sz="1100"/>
          </a:p>
        </p:txBody>
      </p:sp>
      <p:sp>
        <p:nvSpPr>
          <p:cNvPr id="454657069" name="Freeform 27"/>
          <p:cNvSpPr/>
          <p:nvPr/>
        </p:nvSpPr>
        <p:spPr bwMode="auto">
          <a:xfrm rot="0" flipH="0" flipV="0">
            <a:off x="132123" y="4097767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03940921" name="TextBox 28"/>
          <p:cNvSpPr txBox="1"/>
          <p:nvPr/>
        </p:nvSpPr>
        <p:spPr bwMode="auto">
          <a:xfrm rot="0" flipH="0" flipV="0">
            <a:off x="132123" y="4032155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Juurdepääs</a:t>
            </a:r>
            <a:endParaRPr sz="1100"/>
          </a:p>
        </p:txBody>
      </p:sp>
      <p:sp>
        <p:nvSpPr>
          <p:cNvPr id="1511037792" name="Freeform 30"/>
          <p:cNvSpPr/>
          <p:nvPr/>
        </p:nvSpPr>
        <p:spPr bwMode="auto">
          <a:xfrm rot="0" flipH="0" flipV="0">
            <a:off x="1311854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900764989" name="TextBox 31"/>
          <p:cNvSpPr txBox="1"/>
          <p:nvPr/>
        </p:nvSpPr>
        <p:spPr bwMode="auto">
          <a:xfrm rot="0" flipH="0" flipV="0">
            <a:off x="1311854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Pakett</a:t>
            </a:r>
            <a:endParaRPr sz="1100"/>
          </a:p>
        </p:txBody>
      </p:sp>
      <p:grpSp>
        <p:nvGrpSpPr>
          <p:cNvPr id="1497285901" name="Group 32"/>
          <p:cNvGrpSpPr/>
          <p:nvPr/>
        </p:nvGrpSpPr>
        <p:grpSpPr bwMode="auto">
          <a:xfrm rot="0" flipH="0" flipV="0">
            <a:off x="376979" y="5236100"/>
            <a:ext cx="4644700" cy="660984"/>
            <a:chOff x="0" y="0"/>
            <a:chExt cx="4644700" cy="660984"/>
          </a:xfrm>
        </p:grpSpPr>
        <p:sp>
          <p:nvSpPr>
            <p:cNvPr id="33" name="Freeform 3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663870427" name="Freeform 36"/>
          <p:cNvSpPr/>
          <p:nvPr/>
        </p:nvSpPr>
        <p:spPr bwMode="auto">
          <a:xfrm rot="0" flipH="0" flipV="0">
            <a:off x="11198080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325427786" name="Freeform 39"/>
          <p:cNvSpPr/>
          <p:nvPr/>
        </p:nvSpPr>
        <p:spPr bwMode="auto">
          <a:xfrm rot="0" flipH="0" flipV="0">
            <a:off x="1119808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416044775" name="TextBox 40"/>
          <p:cNvSpPr txBox="1"/>
          <p:nvPr/>
        </p:nvSpPr>
        <p:spPr bwMode="auto">
          <a:xfrm rot="0" flipH="0" flipV="0">
            <a:off x="1119808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Kaskoormus</a:t>
            </a:r>
            <a:endParaRPr sz="1100"/>
          </a:p>
        </p:txBody>
      </p:sp>
      <p:sp>
        <p:nvSpPr>
          <p:cNvPr id="627897737" name="Freeform 42"/>
          <p:cNvSpPr/>
          <p:nvPr/>
        </p:nvSpPr>
        <p:spPr bwMode="auto">
          <a:xfrm rot="0" flipH="0" flipV="0">
            <a:off x="1016386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00427015" name="TextBox 43"/>
          <p:cNvSpPr txBox="1"/>
          <p:nvPr/>
        </p:nvSpPr>
        <p:spPr bwMode="auto">
          <a:xfrm rot="0" flipH="0" flipV="0">
            <a:off x="1016386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Rakendus.</a:t>
            </a:r>
            <a:endParaRPr sz="1100"/>
          </a:p>
        </p:txBody>
      </p:sp>
      <p:sp>
        <p:nvSpPr>
          <p:cNvPr id="1502241195" name="Freeform 45"/>
          <p:cNvSpPr/>
          <p:nvPr/>
        </p:nvSpPr>
        <p:spPr bwMode="auto">
          <a:xfrm rot="0" flipH="0" flipV="0">
            <a:off x="9133263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568064605" name="TextBox 46"/>
          <p:cNvSpPr txBox="1"/>
          <p:nvPr/>
        </p:nvSpPr>
        <p:spPr bwMode="auto">
          <a:xfrm rot="0" flipH="0" flipV="0">
            <a:off x="9133263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Transport</a:t>
            </a:r>
            <a:endParaRPr sz="1100"/>
          </a:p>
        </p:txBody>
      </p:sp>
      <p:sp>
        <p:nvSpPr>
          <p:cNvPr id="325420578" name="Freeform 48"/>
          <p:cNvSpPr/>
          <p:nvPr/>
        </p:nvSpPr>
        <p:spPr bwMode="auto">
          <a:xfrm rot="0" flipH="0" flipV="0">
            <a:off x="10259917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45352238" name="TextBox 49"/>
          <p:cNvSpPr txBox="1"/>
          <p:nvPr/>
        </p:nvSpPr>
        <p:spPr bwMode="auto">
          <a:xfrm rot="0" flipH="0" flipV="0">
            <a:off x="10259917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Andmed</a:t>
            </a:r>
            <a:endParaRPr sz="1100"/>
          </a:p>
        </p:txBody>
      </p:sp>
      <p:sp>
        <p:nvSpPr>
          <p:cNvPr id="461934755" name="Freeform 51"/>
          <p:cNvSpPr/>
          <p:nvPr/>
        </p:nvSpPr>
        <p:spPr bwMode="auto">
          <a:xfrm rot="0" flipH="0" flipV="0">
            <a:off x="8099043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72390322" name="TextBox 52"/>
          <p:cNvSpPr txBox="1"/>
          <p:nvPr/>
        </p:nvSpPr>
        <p:spPr bwMode="auto">
          <a:xfrm rot="0" flipH="0" flipV="0">
            <a:off x="8099043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100"/>
          </a:p>
        </p:txBody>
      </p:sp>
      <p:sp>
        <p:nvSpPr>
          <p:cNvPr id="1155642888" name="Freeform 54"/>
          <p:cNvSpPr/>
          <p:nvPr/>
        </p:nvSpPr>
        <p:spPr bwMode="auto">
          <a:xfrm rot="0" flipH="0" flipV="0">
            <a:off x="9321754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28429986" name="TextBox 55"/>
          <p:cNvSpPr txBox="1"/>
          <p:nvPr/>
        </p:nvSpPr>
        <p:spPr bwMode="auto">
          <a:xfrm rot="0" flipH="0" flipV="0">
            <a:off x="9321754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Segment</a:t>
            </a:r>
            <a:endParaRPr sz="1100"/>
          </a:p>
        </p:txBody>
      </p:sp>
      <p:sp>
        <p:nvSpPr>
          <p:cNvPr id="2026111600" name="Freeform 57"/>
          <p:cNvSpPr/>
          <p:nvPr/>
        </p:nvSpPr>
        <p:spPr bwMode="auto">
          <a:xfrm rot="0" flipH="0" flipV="0">
            <a:off x="7203709" y="410588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56461863" name="TextBox 58"/>
          <p:cNvSpPr txBox="1"/>
          <p:nvPr/>
        </p:nvSpPr>
        <p:spPr bwMode="auto">
          <a:xfrm rot="0" flipH="0" flipV="0">
            <a:off x="7203709" y="4040267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Juurdepääs</a:t>
            </a:r>
            <a:endParaRPr sz="1100"/>
          </a:p>
        </p:txBody>
      </p:sp>
      <p:sp>
        <p:nvSpPr>
          <p:cNvPr id="1985657311" name="Freeform 60"/>
          <p:cNvSpPr/>
          <p:nvPr/>
        </p:nvSpPr>
        <p:spPr bwMode="auto">
          <a:xfrm rot="0" flipH="0" flipV="0">
            <a:off x="8383591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72280863" name="TextBox 61"/>
          <p:cNvSpPr txBox="1"/>
          <p:nvPr/>
        </p:nvSpPr>
        <p:spPr bwMode="auto">
          <a:xfrm rot="0" flipH="0" flipV="0">
            <a:off x="8383591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Pakett</a:t>
            </a:r>
            <a:endParaRPr sz="1100"/>
          </a:p>
        </p:txBody>
      </p:sp>
      <p:grpSp>
        <p:nvGrpSpPr>
          <p:cNvPr id="433854289" name="Group 62"/>
          <p:cNvGrpSpPr/>
          <p:nvPr/>
        </p:nvGrpSpPr>
        <p:grpSpPr bwMode="auto">
          <a:xfrm rot="0" flipH="0" flipV="0">
            <a:off x="7448715" y="5236100"/>
            <a:ext cx="4644700" cy="660984"/>
            <a:chOff x="0" y="0"/>
            <a:chExt cx="4644700" cy="660984"/>
          </a:xfrm>
        </p:grpSpPr>
        <p:sp>
          <p:nvSpPr>
            <p:cNvPr id="63" name="Freeform 6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64" name="TextBox 6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236351379" name="Freeform 65"/>
          <p:cNvSpPr/>
          <p:nvPr/>
        </p:nvSpPr>
        <p:spPr bwMode="auto">
          <a:xfrm rot="0" flipH="0" flipV="0">
            <a:off x="5202930" y="5444638"/>
            <a:ext cx="1770222" cy="196333"/>
          </a:xfrm>
          <a:custGeom>
            <a:avLst/>
            <a:gdLst/>
            <a:ahLst/>
            <a:cxnLst/>
            <a:rect l="l" t="t" r="r" b="b"/>
            <a:pathLst>
              <a:path w="1951473" h="216436" fill="norm" stroke="1" extrusionOk="0">
                <a:moveTo>
                  <a:pt x="0" y="0"/>
                </a:moveTo>
                <a:lnTo>
                  <a:pt x="1951472" y="0"/>
                </a:lnTo>
                <a:lnTo>
                  <a:pt x="1951472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55423465" name="TextBox 66"/>
          <p:cNvSpPr txBox="1"/>
          <p:nvPr/>
        </p:nvSpPr>
        <p:spPr bwMode="auto">
          <a:xfrm rot="0" flipH="0" flipV="0">
            <a:off x="251478" y="816775"/>
            <a:ext cx="3420407" cy="1244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algn="l">
              <a:lnSpc>
                <a:spcPts val="1960"/>
              </a:lnSpc>
              <a:defRPr/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Vastastikune suhtlus</a:t>
            </a:r>
            <a:endParaRPr lang="en-US" sz="1100" b="1">
              <a:solidFill>
                <a:srgbClr val="000000"/>
              </a:solidFill>
              <a:latin typeface="IBM Plex Sans Bold"/>
              <a:ea typeface="IBM Plex Sans Bold"/>
              <a:cs typeface="IBM Plex Sans Bold"/>
            </a:endParaRP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Encapsulation</a:t>
            </a: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Dekapsuleerimine</a:t>
            </a:r>
          </a:p>
        </p:txBody>
      </p:sp>
      <p:sp>
        <p:nvSpPr>
          <p:cNvPr id="782404110" name="TextBox 67"/>
          <p:cNvSpPr txBox="1"/>
          <p:nvPr/>
        </p:nvSpPr>
        <p:spPr bwMode="auto">
          <a:xfrm rot="0" flipH="0" flipV="0">
            <a:off x="1311853" y="4832652"/>
            <a:ext cx="1999629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Raam</a:t>
            </a:r>
            <a:endParaRPr sz="1100"/>
          </a:p>
        </p:txBody>
      </p:sp>
      <p:sp>
        <p:nvSpPr>
          <p:cNvPr id="587217348" name="TextBox 68"/>
          <p:cNvSpPr txBox="1"/>
          <p:nvPr/>
        </p:nvSpPr>
        <p:spPr bwMode="auto">
          <a:xfrm rot="0" flipH="0" flipV="0">
            <a:off x="8460344" y="4832652"/>
            <a:ext cx="2708543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Raam</a:t>
            </a:r>
            <a:endParaRPr sz="1100"/>
          </a:p>
        </p:txBody>
      </p:sp>
      <p:sp>
        <p:nvSpPr>
          <p:cNvPr id="89769748" name="TextBox 69"/>
          <p:cNvSpPr txBox="1"/>
          <p:nvPr/>
        </p:nvSpPr>
        <p:spPr bwMode="auto">
          <a:xfrm rot="0" flipH="0" flipV="0">
            <a:off x="5395041" y="5688567"/>
            <a:ext cx="1425651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Binaarne voog</a:t>
            </a:r>
            <a:endParaRPr sz="1100"/>
          </a:p>
        </p:txBody>
      </p:sp>
      <p:sp>
        <p:nvSpPr>
          <p:cNvPr id="74729281" name="AutoShape 70"/>
          <p:cNvSpPr/>
          <p:nvPr/>
        </p:nvSpPr>
        <p:spPr bwMode="auto">
          <a:xfrm flipH="1" flipV="0">
            <a:off x="5451924" y="1119167"/>
            <a:ext cx="582015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25788540" name="AutoShape 71"/>
          <p:cNvSpPr/>
          <p:nvPr/>
        </p:nvSpPr>
        <p:spPr bwMode="auto">
          <a:xfrm flipH="1" flipV="0">
            <a:off x="5586821" y="2053367"/>
            <a:ext cx="5519589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92340514" name="AutoShape 72"/>
          <p:cNvSpPr/>
          <p:nvPr/>
        </p:nvSpPr>
        <p:spPr bwMode="auto">
          <a:xfrm flipH="1" flipV="0">
            <a:off x="5490764" y="2619154"/>
            <a:ext cx="458142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557449670" name="AutoShape 73"/>
          <p:cNvSpPr/>
          <p:nvPr/>
        </p:nvSpPr>
        <p:spPr bwMode="auto">
          <a:xfrm flipH="1" flipV="0">
            <a:off x="5395043" y="3184939"/>
            <a:ext cx="3646548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78542978" name="AutoShape 74"/>
          <p:cNvSpPr/>
          <p:nvPr/>
        </p:nvSpPr>
        <p:spPr bwMode="auto">
          <a:xfrm flipH="1" flipV="0">
            <a:off x="5298986" y="3750721"/>
            <a:ext cx="270838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79992226" name="AutoShape 75"/>
          <p:cNvSpPr/>
          <p:nvPr/>
        </p:nvSpPr>
        <p:spPr bwMode="auto">
          <a:xfrm flipH="1" flipV="0">
            <a:off x="5202930" y="4316508"/>
            <a:ext cx="177022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15660637" name="AutoShape 76"/>
          <p:cNvSpPr/>
          <p:nvPr/>
        </p:nvSpPr>
        <p:spPr bwMode="auto">
          <a:xfrm flipH="0" flipV="1">
            <a:off x="6484140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grpSp>
        <p:nvGrpSpPr>
          <p:cNvPr id="193347923" name=""/>
          <p:cNvGrpSpPr/>
          <p:nvPr/>
        </p:nvGrpSpPr>
        <p:grpSpPr bwMode="auto">
          <a:xfrm>
            <a:off x="4126343" y="778855"/>
            <a:ext cx="7967070" cy="1533920"/>
            <a:chOff x="0" y="0"/>
            <a:chExt cx="7967070" cy="1533920"/>
          </a:xfrm>
        </p:grpSpPr>
        <p:sp>
          <p:nvSpPr>
            <p:cNvPr id="1534832854" name="TextBox 5"/>
            <p:cNvSpPr txBox="1"/>
            <p:nvPr/>
          </p:nvSpPr>
          <p:spPr bwMode="auto">
            <a:xfrm rot="0" flipH="0" flipV="0">
              <a:off x="0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  <p:sp>
          <p:nvSpPr>
            <p:cNvPr id="1029916751" name="Freeform 6"/>
            <p:cNvSpPr/>
            <p:nvPr/>
          </p:nvSpPr>
          <p:spPr bwMode="auto">
            <a:xfrm rot="0" flipH="0" flipV="0">
              <a:off x="134895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59799805" name="Freeform 7"/>
            <p:cNvSpPr/>
            <p:nvPr/>
          </p:nvSpPr>
          <p:spPr bwMode="auto">
            <a:xfrm rot="0" flipH="0" flipV="0">
              <a:off x="7206633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94718762" name="TextBox 37"/>
            <p:cNvSpPr txBox="1"/>
            <p:nvPr/>
          </p:nvSpPr>
          <p:spPr bwMode="auto">
            <a:xfrm rot="0" flipH="0" flipV="0">
              <a:off x="7071735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634663" name="TextBox 21"/>
          <p:cNvSpPr txBox="1"/>
          <p:nvPr/>
        </p:nvSpPr>
        <p:spPr bwMode="auto">
          <a:xfrm rot="0" flipH="0" flipV="0">
            <a:off x="1876970" y="964420"/>
            <a:ext cx="1690948" cy="32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 Bold"/>
              </a:rPr>
              <a:t>Klass:</a:t>
            </a:r>
            <a:endParaRPr/>
          </a:p>
        </p:txBody>
      </p:sp>
      <p:sp>
        <p:nvSpPr>
          <p:cNvPr id="1476925184" name="TextBox 57"/>
          <p:cNvSpPr txBox="1"/>
          <p:nvPr/>
        </p:nvSpPr>
        <p:spPr bwMode="auto">
          <a:xfrm rot="0" flipH="0" flipV="0">
            <a:off x="8438931" y="1258010"/>
            <a:ext cx="1496810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Maksimaalne alamvõrkude arv :</a:t>
            </a:r>
            <a:endParaRPr sz="1400"/>
          </a:p>
        </p:txBody>
      </p:sp>
      <p:sp>
        <p:nvSpPr>
          <p:cNvPr id="124397950" name="TextBox 58"/>
          <p:cNvSpPr txBox="1"/>
          <p:nvPr/>
        </p:nvSpPr>
        <p:spPr bwMode="auto">
          <a:xfrm rot="0" flipH="0" flipV="0">
            <a:off x="10285471" y="1258010"/>
            <a:ext cx="1693093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Maksimaalne hostide arv alamvõrgu kohta :</a:t>
            </a:r>
            <a:endParaRPr sz="1400"/>
          </a:p>
        </p:txBody>
      </p:sp>
      <p:grpSp>
        <p:nvGrpSpPr>
          <p:cNvPr id="1239676188" name=""/>
          <p:cNvGrpSpPr/>
          <p:nvPr/>
        </p:nvGrpSpPr>
        <p:grpSpPr bwMode="auto">
          <a:xfrm>
            <a:off x="15756" y="1884044"/>
            <a:ext cx="11357245" cy="4072888"/>
            <a:chOff x="0" y="0"/>
            <a:chExt cx="11357245" cy="4072888"/>
          </a:xfrm>
        </p:grpSpPr>
        <p:grpSp>
          <p:nvGrpSpPr>
            <p:cNvPr id="25814898" name="Group 2"/>
            <p:cNvGrpSpPr/>
            <p:nvPr/>
          </p:nvGrpSpPr>
          <p:grpSpPr bwMode="auto">
            <a:xfrm rot="0">
              <a:off x="3819132" y="293369"/>
              <a:ext cx="4302051" cy="518160"/>
              <a:chOff x="0" y="0"/>
              <a:chExt cx="1699575" cy="204705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69957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699576" h="204705" fill="norm" stroke="1" extrusionOk="0">
                    <a:moveTo>
                      <a:pt x="26994" y="0"/>
                    </a:moveTo>
                    <a:lnTo>
                      <a:pt x="1672582" y="0"/>
                    </a:lnTo>
                    <a:cubicBezTo>
                      <a:pt x="1679741" y="0"/>
                      <a:pt x="1686607" y="2844"/>
                      <a:pt x="1691670" y="7906"/>
                    </a:cubicBezTo>
                    <a:cubicBezTo>
                      <a:pt x="1696732" y="12969"/>
                      <a:pt x="1699576" y="19835"/>
                      <a:pt x="1699576" y="26994"/>
                    </a:cubicBezTo>
                    <a:lnTo>
                      <a:pt x="1699576" y="177711"/>
                    </a:lnTo>
                    <a:cubicBezTo>
                      <a:pt x="1699576" y="192619"/>
                      <a:pt x="1687490" y="204705"/>
                      <a:pt x="1672582" y="204705"/>
                    </a:cubicBezTo>
                    <a:lnTo>
                      <a:pt x="26994" y="204705"/>
                    </a:lnTo>
                    <a:cubicBezTo>
                      <a:pt x="12086" y="204705"/>
                      <a:pt x="0" y="192619"/>
                      <a:pt x="0" y="177711"/>
                    </a:cubicBezTo>
                    <a:lnTo>
                      <a:pt x="0" y="26994"/>
                    </a:lnTo>
                    <a:cubicBezTo>
                      <a:pt x="0" y="12086"/>
                      <a:pt x="12086" y="0"/>
                      <a:pt x="269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69957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98986141" name="Group 5"/>
            <p:cNvGrpSpPr/>
            <p:nvPr/>
          </p:nvGrpSpPr>
          <p:grpSpPr bwMode="auto">
            <a:xfrm rot="0">
              <a:off x="2372415" y="293369"/>
              <a:ext cx="1408617" cy="518160"/>
              <a:chOff x="0" y="0"/>
              <a:chExt cx="556491" cy="204705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89457338" name="Group 8"/>
            <p:cNvGrpSpPr/>
            <p:nvPr/>
          </p:nvGrpSpPr>
          <p:grpSpPr bwMode="auto">
            <a:xfrm rot="0">
              <a:off x="1861213" y="293369"/>
              <a:ext cx="473102" cy="518160"/>
              <a:chOff x="0" y="0"/>
              <a:chExt cx="186905" cy="204705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18690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86905" h="204705" fill="norm" stroke="1" extrusionOk="0">
                    <a:moveTo>
                      <a:pt x="93452" y="0"/>
                    </a:moveTo>
                    <a:lnTo>
                      <a:pt x="93452" y="0"/>
                    </a:lnTo>
                    <a:cubicBezTo>
                      <a:pt x="145065" y="0"/>
                      <a:pt x="186905" y="41840"/>
                      <a:pt x="186905" y="93452"/>
                    </a:cubicBezTo>
                    <a:lnTo>
                      <a:pt x="186905" y="111253"/>
                    </a:lnTo>
                    <a:cubicBezTo>
                      <a:pt x="186905" y="136038"/>
                      <a:pt x="177059" y="159808"/>
                      <a:pt x="159533" y="177333"/>
                    </a:cubicBezTo>
                    <a:cubicBezTo>
                      <a:pt x="142007" y="194859"/>
                      <a:pt x="118237" y="204705"/>
                      <a:pt x="93452" y="204705"/>
                    </a:cubicBezTo>
                    <a:lnTo>
                      <a:pt x="93452" y="204705"/>
                    </a:lnTo>
                    <a:cubicBezTo>
                      <a:pt x="41840" y="204705"/>
                      <a:pt x="0" y="162865"/>
                      <a:pt x="0" y="111253"/>
                    </a:cubicBezTo>
                    <a:lnTo>
                      <a:pt x="0" y="93452"/>
                    </a:lnTo>
                    <a:cubicBezTo>
                      <a:pt x="0" y="68667"/>
                      <a:pt x="9846" y="44897"/>
                      <a:pt x="27372" y="27372"/>
                    </a:cubicBezTo>
                    <a:cubicBezTo>
                      <a:pt x="44897" y="9846"/>
                      <a:pt x="68667" y="0"/>
                      <a:pt x="934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18690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</a:t>
                </a:r>
                <a:endParaRPr/>
              </a:p>
            </p:txBody>
          </p:sp>
        </p:grpSp>
        <p:grpSp>
          <p:nvGrpSpPr>
            <p:cNvPr id="2006233770" name="Group 11"/>
            <p:cNvGrpSpPr/>
            <p:nvPr/>
          </p:nvGrpSpPr>
          <p:grpSpPr bwMode="auto">
            <a:xfrm rot="0">
              <a:off x="5265849" y="1108709"/>
              <a:ext cx="2855334" cy="518160"/>
              <a:chOff x="0" y="0"/>
              <a:chExt cx="1128033" cy="204705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112803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128033" h="204705" fill="norm" stroke="1" extrusionOk="0">
                    <a:moveTo>
                      <a:pt x="40671" y="0"/>
                    </a:moveTo>
                    <a:lnTo>
                      <a:pt x="1087362" y="0"/>
                    </a:lnTo>
                    <a:cubicBezTo>
                      <a:pt x="1109824" y="0"/>
                      <a:pt x="1128033" y="18209"/>
                      <a:pt x="1128033" y="40671"/>
                    </a:cubicBezTo>
                    <a:lnTo>
                      <a:pt x="1128033" y="164034"/>
                    </a:lnTo>
                    <a:cubicBezTo>
                      <a:pt x="1128033" y="186496"/>
                      <a:pt x="1109824" y="204705"/>
                      <a:pt x="1087362" y="204705"/>
                    </a:cubicBezTo>
                    <a:lnTo>
                      <a:pt x="40671" y="204705"/>
                    </a:lnTo>
                    <a:cubicBezTo>
                      <a:pt x="18209" y="204705"/>
                      <a:pt x="0" y="186496"/>
                      <a:pt x="0" y="164034"/>
                    </a:cubicBezTo>
                    <a:lnTo>
                      <a:pt x="0" y="40671"/>
                    </a:lnTo>
                    <a:cubicBezTo>
                      <a:pt x="0" y="18209"/>
                      <a:pt x="18209" y="0"/>
                      <a:pt x="406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112803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28970262" name="Group 14"/>
            <p:cNvGrpSpPr/>
            <p:nvPr/>
          </p:nvGrpSpPr>
          <p:grpSpPr bwMode="auto">
            <a:xfrm rot="0">
              <a:off x="2562915" y="1108709"/>
              <a:ext cx="2664834" cy="518160"/>
              <a:chOff x="0" y="0"/>
              <a:chExt cx="1052774" cy="204705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105277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052774" h="204705" fill="norm" stroke="1" extrusionOk="0">
                    <a:moveTo>
                      <a:pt x="43578" y="0"/>
                    </a:moveTo>
                    <a:lnTo>
                      <a:pt x="1009196" y="0"/>
                    </a:lnTo>
                    <a:cubicBezTo>
                      <a:pt x="1020753" y="0"/>
                      <a:pt x="1031838" y="4591"/>
                      <a:pt x="1040010" y="12764"/>
                    </a:cubicBezTo>
                    <a:cubicBezTo>
                      <a:pt x="1048183" y="20936"/>
                      <a:pt x="1052774" y="32021"/>
                      <a:pt x="1052774" y="43578"/>
                    </a:cubicBezTo>
                    <a:lnTo>
                      <a:pt x="1052774" y="161127"/>
                    </a:lnTo>
                    <a:cubicBezTo>
                      <a:pt x="1052774" y="185194"/>
                      <a:pt x="1033263" y="204705"/>
                      <a:pt x="1009196" y="204705"/>
                    </a:cubicBezTo>
                    <a:lnTo>
                      <a:pt x="43578" y="204705"/>
                    </a:lnTo>
                    <a:cubicBezTo>
                      <a:pt x="19511" y="204705"/>
                      <a:pt x="0" y="185194"/>
                      <a:pt x="0" y="161127"/>
                    </a:cubicBezTo>
                    <a:lnTo>
                      <a:pt x="0" y="43578"/>
                    </a:lnTo>
                    <a:cubicBezTo>
                      <a:pt x="0" y="19511"/>
                      <a:pt x="19511" y="0"/>
                      <a:pt x="435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28575"/>
                <a:ext cx="105277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253399489" name="Group 17"/>
            <p:cNvGrpSpPr/>
            <p:nvPr/>
          </p:nvGrpSpPr>
          <p:grpSpPr bwMode="auto">
            <a:xfrm rot="0">
              <a:off x="1861213" y="1108709"/>
              <a:ext cx="663602" cy="518160"/>
              <a:chOff x="0" y="0"/>
              <a:chExt cx="262164" cy="204705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26216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62164" h="204705" fill="norm" stroke="1" extrusionOk="0">
                    <a:moveTo>
                      <a:pt x="102353" y="0"/>
                    </a:moveTo>
                    <a:lnTo>
                      <a:pt x="159811" y="0"/>
                    </a:lnTo>
                    <a:cubicBezTo>
                      <a:pt x="216339" y="0"/>
                      <a:pt x="262164" y="45825"/>
                      <a:pt x="262164" y="102353"/>
                    </a:cubicBezTo>
                    <a:lnTo>
                      <a:pt x="262164" y="102353"/>
                    </a:lnTo>
                    <a:cubicBezTo>
                      <a:pt x="262164" y="129498"/>
                      <a:pt x="251380" y="155532"/>
                      <a:pt x="232185" y="174727"/>
                    </a:cubicBezTo>
                    <a:cubicBezTo>
                      <a:pt x="212991" y="193921"/>
                      <a:pt x="186957" y="204705"/>
                      <a:pt x="159811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28575"/>
                <a:ext cx="26216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sp>
          <p:nvSpPr>
            <p:cNvPr id="1049861385" name="TextBox 22"/>
            <p:cNvSpPr txBox="1"/>
            <p:nvPr/>
          </p:nvSpPr>
          <p:spPr bwMode="auto">
            <a:xfrm rot="-5400000" flipH="0" flipV="0">
              <a:off x="-1149500" y="1149500"/>
              <a:ext cx="2619402" cy="3204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unicast</a:t>
              </a:r>
              <a:endParaRPr/>
            </a:p>
          </p:txBody>
        </p:sp>
        <p:sp>
          <p:nvSpPr>
            <p:cNvPr id="1527567418" name="TextBox 23"/>
            <p:cNvSpPr txBox="1"/>
            <p:nvPr/>
          </p:nvSpPr>
          <p:spPr bwMode="auto">
            <a:xfrm rot="0">
              <a:off x="865876" y="32575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A</a:t>
              </a:r>
              <a:endParaRPr/>
            </a:p>
          </p:txBody>
        </p:sp>
        <p:sp>
          <p:nvSpPr>
            <p:cNvPr id="1603746806" name="TextBox 24"/>
            <p:cNvSpPr txBox="1"/>
            <p:nvPr/>
          </p:nvSpPr>
          <p:spPr bwMode="auto">
            <a:xfrm rot="0">
              <a:off x="865876" y="114109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B</a:t>
              </a:r>
              <a:endParaRPr/>
            </a:p>
          </p:txBody>
        </p:sp>
        <p:sp>
          <p:nvSpPr>
            <p:cNvPr id="31391673" name="TextBox 25"/>
            <p:cNvSpPr txBox="1"/>
            <p:nvPr/>
          </p:nvSpPr>
          <p:spPr bwMode="auto">
            <a:xfrm rot="0">
              <a:off x="865876" y="195643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C</a:t>
              </a:r>
              <a:endParaRPr/>
            </a:p>
          </p:txBody>
        </p:sp>
        <p:sp>
          <p:nvSpPr>
            <p:cNvPr id="1220100703" name="TextBox 26"/>
            <p:cNvSpPr txBox="1"/>
            <p:nvPr/>
          </p:nvSpPr>
          <p:spPr bwMode="auto">
            <a:xfrm rot="0">
              <a:off x="865876" y="2771775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D</a:t>
              </a:r>
              <a:endParaRPr/>
            </a:p>
          </p:txBody>
        </p:sp>
        <p:sp>
          <p:nvSpPr>
            <p:cNvPr id="2101753087" name="TextBox 27"/>
            <p:cNvSpPr txBox="1"/>
            <p:nvPr/>
          </p:nvSpPr>
          <p:spPr bwMode="auto">
            <a:xfrm rot="0">
              <a:off x="865876" y="358711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E</a:t>
              </a:r>
              <a:endParaRPr/>
            </a:p>
          </p:txBody>
        </p:sp>
        <p:grpSp>
          <p:nvGrpSpPr>
            <p:cNvPr id="1557327651" name="Group 28"/>
            <p:cNvGrpSpPr/>
            <p:nvPr/>
          </p:nvGrpSpPr>
          <p:grpSpPr bwMode="auto">
            <a:xfrm rot="0">
              <a:off x="6712566" y="1922144"/>
              <a:ext cx="1408617" cy="518160"/>
              <a:chOff x="0" y="0"/>
              <a:chExt cx="556491" cy="204705"/>
            </a:xfrm>
          </p:grpSpPr>
          <p:sp>
            <p:nvSpPr>
              <p:cNvPr id="29" name="Freeform 29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705782021" name="Group 31"/>
            <p:cNvGrpSpPr/>
            <p:nvPr/>
          </p:nvGrpSpPr>
          <p:grpSpPr bwMode="auto">
            <a:xfrm rot="0">
              <a:off x="2703268" y="1922144"/>
              <a:ext cx="3971198" cy="518160"/>
              <a:chOff x="0" y="0"/>
              <a:chExt cx="1568869" cy="204705"/>
            </a:xfrm>
          </p:grpSpPr>
          <p:sp>
            <p:nvSpPr>
              <p:cNvPr id="32" name="Freeform 32"/>
              <p:cNvSpPr/>
              <p:nvPr/>
            </p:nvSpPr>
            <p:spPr bwMode="auto">
              <a:xfrm rot="0" flipH="0" flipV="0">
                <a:off x="0" y="0"/>
                <a:ext cx="1568869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568869" h="204705" fill="norm" stroke="1" extrusionOk="0">
                    <a:moveTo>
                      <a:pt x="29243" y="0"/>
                    </a:moveTo>
                    <a:lnTo>
                      <a:pt x="1539626" y="0"/>
                    </a:lnTo>
                    <a:cubicBezTo>
                      <a:pt x="1555776" y="0"/>
                      <a:pt x="1568869" y="13092"/>
                      <a:pt x="1568869" y="29243"/>
                    </a:cubicBezTo>
                    <a:lnTo>
                      <a:pt x="1568869" y="175462"/>
                    </a:lnTo>
                    <a:cubicBezTo>
                      <a:pt x="1568869" y="191613"/>
                      <a:pt x="1555776" y="204705"/>
                      <a:pt x="1539626" y="204705"/>
                    </a:cubicBezTo>
                    <a:lnTo>
                      <a:pt x="29243" y="204705"/>
                    </a:lnTo>
                    <a:cubicBezTo>
                      <a:pt x="13092" y="204705"/>
                      <a:pt x="0" y="191613"/>
                      <a:pt x="0" y="175462"/>
                    </a:cubicBezTo>
                    <a:lnTo>
                      <a:pt x="0" y="29243"/>
                    </a:lnTo>
                    <a:cubicBezTo>
                      <a:pt x="0" y="13092"/>
                      <a:pt x="13092" y="0"/>
                      <a:pt x="292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 bwMode="auto">
              <a:xfrm>
                <a:off x="0" y="-28575"/>
                <a:ext cx="1568869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73352030" name="Group 34"/>
            <p:cNvGrpSpPr/>
            <p:nvPr/>
          </p:nvGrpSpPr>
          <p:grpSpPr bwMode="auto">
            <a:xfrm rot="0">
              <a:off x="1861213" y="1922144"/>
              <a:ext cx="803955" cy="518160"/>
              <a:chOff x="0" y="0"/>
              <a:chExt cx="317612" cy="204705"/>
            </a:xfrm>
          </p:grpSpPr>
          <p:sp>
            <p:nvSpPr>
              <p:cNvPr id="35" name="Freeform 35"/>
              <p:cNvSpPr/>
              <p:nvPr/>
            </p:nvSpPr>
            <p:spPr bwMode="auto">
              <a:xfrm rot="0" flipH="0" flipV="0">
                <a:off x="0" y="0"/>
                <a:ext cx="317612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17612" h="204705" fill="norm" stroke="1" extrusionOk="0">
                    <a:moveTo>
                      <a:pt x="102353" y="0"/>
                    </a:moveTo>
                    <a:lnTo>
                      <a:pt x="215259" y="0"/>
                    </a:lnTo>
                    <a:cubicBezTo>
                      <a:pt x="242405" y="0"/>
                      <a:pt x="268439" y="10784"/>
                      <a:pt x="287633" y="29978"/>
                    </a:cubicBezTo>
                    <a:cubicBezTo>
                      <a:pt x="306828" y="49173"/>
                      <a:pt x="317612" y="75207"/>
                      <a:pt x="317612" y="102353"/>
                    </a:cubicBezTo>
                    <a:lnTo>
                      <a:pt x="317612" y="102353"/>
                    </a:lnTo>
                    <a:cubicBezTo>
                      <a:pt x="317612" y="158880"/>
                      <a:pt x="271787" y="204705"/>
                      <a:pt x="215259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 bwMode="auto">
              <a:xfrm>
                <a:off x="0" y="-28575"/>
                <a:ext cx="317612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110</a:t>
                </a:r>
                <a:endParaRPr/>
              </a:p>
            </p:txBody>
          </p:sp>
        </p:grpSp>
        <p:grpSp>
          <p:nvGrpSpPr>
            <p:cNvPr id="1356703754" name="Group 37"/>
            <p:cNvGrpSpPr/>
            <p:nvPr/>
          </p:nvGrpSpPr>
          <p:grpSpPr bwMode="auto">
            <a:xfrm rot="0">
              <a:off x="2897217" y="2739389"/>
              <a:ext cx="5223966" cy="518160"/>
              <a:chOff x="0" y="0"/>
              <a:chExt cx="2063790" cy="204705"/>
            </a:xfrm>
          </p:grpSpPr>
          <p:sp>
            <p:nvSpPr>
              <p:cNvPr id="38" name="Freeform 38"/>
              <p:cNvSpPr/>
              <p:nvPr/>
            </p:nvSpPr>
            <p:spPr bwMode="auto">
              <a:xfrm rot="0" flipH="0" flipV="0">
                <a:off x="0" y="0"/>
                <a:ext cx="2063790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063790" h="204705" fill="norm" stroke="1" extrusionOk="0">
                    <a:moveTo>
                      <a:pt x="22230" y="0"/>
                    </a:moveTo>
                    <a:lnTo>
                      <a:pt x="2041559" y="0"/>
                    </a:lnTo>
                    <a:cubicBezTo>
                      <a:pt x="2053837" y="0"/>
                      <a:pt x="2063790" y="9953"/>
                      <a:pt x="2063790" y="22230"/>
                    </a:cubicBezTo>
                    <a:lnTo>
                      <a:pt x="2063790" y="182475"/>
                    </a:lnTo>
                    <a:cubicBezTo>
                      <a:pt x="2063790" y="188371"/>
                      <a:pt x="2061447" y="194025"/>
                      <a:pt x="2057278" y="198194"/>
                    </a:cubicBezTo>
                    <a:cubicBezTo>
                      <a:pt x="2053110" y="202363"/>
                      <a:pt x="2047455" y="204705"/>
                      <a:pt x="2041559" y="204705"/>
                    </a:cubicBezTo>
                    <a:lnTo>
                      <a:pt x="22230" y="204705"/>
                    </a:lnTo>
                    <a:cubicBezTo>
                      <a:pt x="9953" y="204705"/>
                      <a:pt x="0" y="194752"/>
                      <a:pt x="0" y="182475"/>
                    </a:cubicBezTo>
                    <a:lnTo>
                      <a:pt x="0" y="22230"/>
                    </a:lnTo>
                    <a:cubicBezTo>
                      <a:pt x="0" y="9953"/>
                      <a:pt x="9953" y="0"/>
                      <a:pt x="222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 bwMode="auto">
              <a:xfrm>
                <a:off x="0" y="-28575"/>
                <a:ext cx="2063790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multicast</a:t>
                </a:r>
                <a:endParaRPr/>
              </a:p>
            </p:txBody>
          </p:sp>
        </p:grpSp>
        <p:grpSp>
          <p:nvGrpSpPr>
            <p:cNvPr id="2056830987" name="Group 40"/>
            <p:cNvGrpSpPr/>
            <p:nvPr/>
          </p:nvGrpSpPr>
          <p:grpSpPr bwMode="auto">
            <a:xfrm rot="0">
              <a:off x="1861213" y="2739389"/>
              <a:ext cx="1002619" cy="518160"/>
              <a:chOff x="0" y="0"/>
              <a:chExt cx="396096" cy="204705"/>
            </a:xfrm>
          </p:grpSpPr>
          <p:sp>
            <p:nvSpPr>
              <p:cNvPr id="41" name="Freeform 41"/>
              <p:cNvSpPr/>
              <p:nvPr/>
            </p:nvSpPr>
            <p:spPr bwMode="auto">
              <a:xfrm rot="0" flipH="0" flipV="0">
                <a:off x="0" y="0"/>
                <a:ext cx="396096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96096" h="204705" fill="norm" stroke="1" extrusionOk="0">
                    <a:moveTo>
                      <a:pt x="102353" y="0"/>
                    </a:moveTo>
                    <a:lnTo>
                      <a:pt x="293744" y="0"/>
                    </a:lnTo>
                    <a:cubicBezTo>
                      <a:pt x="350272" y="0"/>
                      <a:pt x="396096" y="45825"/>
                      <a:pt x="396096" y="102353"/>
                    </a:cubicBezTo>
                    <a:lnTo>
                      <a:pt x="396096" y="102353"/>
                    </a:lnTo>
                    <a:cubicBezTo>
                      <a:pt x="396096" y="129498"/>
                      <a:pt x="385313" y="155532"/>
                      <a:pt x="366118" y="174727"/>
                    </a:cubicBezTo>
                    <a:cubicBezTo>
                      <a:pt x="346923" y="193921"/>
                      <a:pt x="320889" y="204705"/>
                      <a:pt x="293744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 bwMode="auto">
              <a:xfrm>
                <a:off x="0" y="-28575"/>
                <a:ext cx="396096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1110</a:t>
                </a:r>
                <a:endParaRPr/>
              </a:p>
            </p:txBody>
          </p:sp>
        </p:grpSp>
        <p:grpSp>
          <p:nvGrpSpPr>
            <p:cNvPr id="1514108163" name="Group 43"/>
            <p:cNvGrpSpPr/>
            <p:nvPr/>
          </p:nvGrpSpPr>
          <p:grpSpPr bwMode="auto">
            <a:xfrm rot="0">
              <a:off x="3076723" y="3554728"/>
              <a:ext cx="5044460" cy="518160"/>
              <a:chOff x="0" y="0"/>
              <a:chExt cx="1992873" cy="204705"/>
            </a:xfrm>
          </p:grpSpPr>
          <p:sp>
            <p:nvSpPr>
              <p:cNvPr id="44" name="Freeform 44"/>
              <p:cNvSpPr/>
              <p:nvPr/>
            </p:nvSpPr>
            <p:spPr bwMode="auto">
              <a:xfrm rot="0" flipH="0" flipV="0">
                <a:off x="0" y="0"/>
                <a:ext cx="199287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992873" h="204705" fill="norm" stroke="1" extrusionOk="0">
                    <a:moveTo>
                      <a:pt x="23021" y="0"/>
                    </a:moveTo>
                    <a:lnTo>
                      <a:pt x="1969852" y="0"/>
                    </a:lnTo>
                    <a:cubicBezTo>
                      <a:pt x="1982566" y="0"/>
                      <a:pt x="1992873" y="10307"/>
                      <a:pt x="1992873" y="23021"/>
                    </a:cubicBezTo>
                    <a:lnTo>
                      <a:pt x="1992873" y="181684"/>
                    </a:lnTo>
                    <a:cubicBezTo>
                      <a:pt x="1992873" y="194398"/>
                      <a:pt x="1982566" y="204705"/>
                      <a:pt x="1969852" y="204705"/>
                    </a:cubicBezTo>
                    <a:lnTo>
                      <a:pt x="23021" y="204705"/>
                    </a:lnTo>
                    <a:cubicBezTo>
                      <a:pt x="10307" y="204705"/>
                      <a:pt x="0" y="194398"/>
                      <a:pt x="0" y="181684"/>
                    </a:cubicBezTo>
                    <a:lnTo>
                      <a:pt x="0" y="23021"/>
                    </a:lnTo>
                    <a:cubicBezTo>
                      <a:pt x="0" y="10307"/>
                      <a:pt x="10307" y="0"/>
                      <a:pt x="230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 bwMode="auto">
              <a:xfrm>
                <a:off x="0" y="-28575"/>
                <a:ext cx="199287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reserved</a:t>
                </a:r>
                <a:endParaRPr/>
              </a:p>
            </p:txBody>
          </p:sp>
        </p:grpSp>
        <p:grpSp>
          <p:nvGrpSpPr>
            <p:cNvPr id="2011440286" name="Group 46"/>
            <p:cNvGrpSpPr/>
            <p:nvPr/>
          </p:nvGrpSpPr>
          <p:grpSpPr bwMode="auto">
            <a:xfrm rot="0">
              <a:off x="1861213" y="3554728"/>
              <a:ext cx="1177623" cy="518160"/>
              <a:chOff x="0" y="0"/>
              <a:chExt cx="465234" cy="204705"/>
            </a:xfrm>
          </p:grpSpPr>
          <p:sp>
            <p:nvSpPr>
              <p:cNvPr id="47" name="Freeform 47"/>
              <p:cNvSpPr/>
              <p:nvPr/>
            </p:nvSpPr>
            <p:spPr bwMode="auto">
              <a:xfrm rot="0" flipH="0" flipV="0">
                <a:off x="0" y="0"/>
                <a:ext cx="46523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465234" h="204705" fill="norm" stroke="1" extrusionOk="0">
                    <a:moveTo>
                      <a:pt x="98613" y="0"/>
                    </a:moveTo>
                    <a:lnTo>
                      <a:pt x="366621" y="0"/>
                    </a:lnTo>
                    <a:cubicBezTo>
                      <a:pt x="421084" y="0"/>
                      <a:pt x="465234" y="44150"/>
                      <a:pt x="465234" y="98613"/>
                    </a:cubicBezTo>
                    <a:lnTo>
                      <a:pt x="465234" y="106092"/>
                    </a:lnTo>
                    <a:cubicBezTo>
                      <a:pt x="465234" y="132246"/>
                      <a:pt x="454844" y="157328"/>
                      <a:pt x="436351" y="175822"/>
                    </a:cubicBezTo>
                    <a:cubicBezTo>
                      <a:pt x="417857" y="194315"/>
                      <a:pt x="392775" y="204705"/>
                      <a:pt x="366621" y="204705"/>
                    </a:cubicBezTo>
                    <a:lnTo>
                      <a:pt x="98613" y="204705"/>
                    </a:lnTo>
                    <a:cubicBezTo>
                      <a:pt x="44150" y="204705"/>
                      <a:pt x="0" y="160555"/>
                      <a:pt x="0" y="106092"/>
                    </a:cubicBezTo>
                    <a:lnTo>
                      <a:pt x="0" y="98613"/>
                    </a:lnTo>
                    <a:cubicBezTo>
                      <a:pt x="0" y="44150"/>
                      <a:pt x="44150" y="0"/>
                      <a:pt x="986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 bwMode="auto">
              <a:xfrm>
                <a:off x="0" y="-28575"/>
                <a:ext cx="46523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11110</a:t>
                </a:r>
                <a:endParaRPr/>
              </a:p>
            </p:txBody>
          </p:sp>
        </p:grpSp>
        <p:sp>
          <p:nvSpPr>
            <p:cNvPr id="1953086313" name="TextBox 49"/>
            <p:cNvSpPr txBox="1"/>
            <p:nvPr/>
          </p:nvSpPr>
          <p:spPr bwMode="auto">
            <a:xfrm rot="0">
              <a:off x="186121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31</a:t>
              </a:r>
              <a:endParaRPr/>
            </a:p>
          </p:txBody>
        </p:sp>
        <p:sp>
          <p:nvSpPr>
            <p:cNvPr id="849369090" name="TextBox 50"/>
            <p:cNvSpPr txBox="1"/>
            <p:nvPr/>
          </p:nvSpPr>
          <p:spPr bwMode="auto">
            <a:xfrm rot="0">
              <a:off x="3239789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24</a:t>
              </a:r>
              <a:endParaRPr/>
            </a:p>
          </p:txBody>
        </p:sp>
        <p:sp>
          <p:nvSpPr>
            <p:cNvPr id="1031524452" name="TextBox 51"/>
            <p:cNvSpPr txBox="1"/>
            <p:nvPr/>
          </p:nvSpPr>
          <p:spPr bwMode="auto">
            <a:xfrm rot="0">
              <a:off x="3857232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23</a:t>
              </a:r>
              <a:endParaRPr/>
            </a:p>
          </p:txBody>
        </p:sp>
        <p:sp>
          <p:nvSpPr>
            <p:cNvPr id="667804501" name="TextBox 52"/>
            <p:cNvSpPr txBox="1"/>
            <p:nvPr/>
          </p:nvSpPr>
          <p:spPr bwMode="auto">
            <a:xfrm rot="0">
              <a:off x="4688867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16</a:t>
              </a:r>
              <a:endParaRPr/>
            </a:p>
          </p:txBody>
        </p:sp>
        <p:sp>
          <p:nvSpPr>
            <p:cNvPr id="271945333" name="TextBox 53"/>
            <p:cNvSpPr txBox="1"/>
            <p:nvPr/>
          </p:nvSpPr>
          <p:spPr bwMode="auto">
            <a:xfrm rot="0">
              <a:off x="5306310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15</a:t>
              </a:r>
              <a:endParaRPr/>
            </a:p>
          </p:txBody>
        </p:sp>
        <p:sp>
          <p:nvSpPr>
            <p:cNvPr id="884027772" name="TextBox 54"/>
            <p:cNvSpPr txBox="1"/>
            <p:nvPr/>
          </p:nvSpPr>
          <p:spPr bwMode="auto">
            <a:xfrm rot="0">
              <a:off x="613322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</a:t>
              </a:r>
              <a:endParaRPr/>
            </a:p>
          </p:txBody>
        </p:sp>
        <p:sp>
          <p:nvSpPr>
            <p:cNvPr id="2048753811" name="TextBox 55"/>
            <p:cNvSpPr txBox="1"/>
            <p:nvPr/>
          </p:nvSpPr>
          <p:spPr bwMode="auto">
            <a:xfrm rot="0">
              <a:off x="6750666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</a:t>
              </a:r>
              <a:endParaRPr/>
            </a:p>
          </p:txBody>
        </p:sp>
        <p:sp>
          <p:nvSpPr>
            <p:cNvPr id="619022150" name="TextBox 56"/>
            <p:cNvSpPr txBox="1"/>
            <p:nvPr/>
          </p:nvSpPr>
          <p:spPr bwMode="auto">
            <a:xfrm rot="0">
              <a:off x="7618041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/>
            </a:p>
          </p:txBody>
        </p:sp>
        <p:sp>
          <p:nvSpPr>
            <p:cNvPr id="47383722" name="TextBox 59"/>
            <p:cNvSpPr txBox="1"/>
            <p:nvPr/>
          </p:nvSpPr>
          <p:spPr bwMode="auto">
            <a:xfrm rot="0">
              <a:off x="8673633" y="36353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2^7</a:t>
              </a:r>
              <a:endParaRPr/>
            </a:p>
          </p:txBody>
        </p:sp>
        <p:sp>
          <p:nvSpPr>
            <p:cNvPr id="1528418996" name="TextBox 60"/>
            <p:cNvSpPr txBox="1"/>
            <p:nvPr/>
          </p:nvSpPr>
          <p:spPr bwMode="auto">
            <a:xfrm rot="0">
              <a:off x="8673633" y="117887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2^14</a:t>
              </a:r>
              <a:endParaRPr/>
            </a:p>
          </p:txBody>
        </p:sp>
        <p:sp>
          <p:nvSpPr>
            <p:cNvPr id="137426651" name="TextBox 61"/>
            <p:cNvSpPr txBox="1"/>
            <p:nvPr/>
          </p:nvSpPr>
          <p:spPr bwMode="auto">
            <a:xfrm rot="0">
              <a:off x="8673633" y="1992312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2^21</a:t>
              </a:r>
              <a:endParaRPr/>
            </a:p>
          </p:txBody>
        </p:sp>
        <p:sp>
          <p:nvSpPr>
            <p:cNvPr id="1566352107" name="TextBox 62"/>
            <p:cNvSpPr txBox="1"/>
            <p:nvPr/>
          </p:nvSpPr>
          <p:spPr bwMode="auto">
            <a:xfrm rot="0">
              <a:off x="10591702" y="33527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2^24</a:t>
              </a:r>
              <a:endParaRPr/>
            </a:p>
          </p:txBody>
        </p:sp>
        <p:sp>
          <p:nvSpPr>
            <p:cNvPr id="1013989257" name="TextBox 63"/>
            <p:cNvSpPr txBox="1"/>
            <p:nvPr/>
          </p:nvSpPr>
          <p:spPr bwMode="auto">
            <a:xfrm rot="0">
              <a:off x="10591702" y="115061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2^16</a:t>
              </a:r>
              <a:endParaRPr/>
            </a:p>
          </p:txBody>
        </p:sp>
        <p:sp>
          <p:nvSpPr>
            <p:cNvPr id="956305049" name="TextBox 64"/>
            <p:cNvSpPr txBox="1"/>
            <p:nvPr/>
          </p:nvSpPr>
          <p:spPr bwMode="auto">
            <a:xfrm rot="0">
              <a:off x="10591702" y="1964054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2^8</a:t>
              </a:r>
              <a:endParaRPr/>
            </a:p>
          </p:txBody>
        </p:sp>
        <p:sp>
          <p:nvSpPr>
            <p:cNvPr id="1519416077" name=""/>
            <p:cNvSpPr/>
            <p:nvPr/>
          </p:nvSpPr>
          <p:spPr bwMode="auto">
            <a:xfrm rot="10799989" flipH="0" flipV="0">
              <a:off x="489332" y="340542"/>
              <a:ext cx="281989" cy="1554078"/>
            </a:xfrm>
            <a:prstGeom prst="rightBrace">
              <a:avLst>
                <a:gd name="adj1" fmla="val 8333"/>
                <a:gd name="adj2" fmla="val 50000"/>
              </a:avLst>
            </a:prstGeom>
            <a:ln w="28575" cap="flat" cmpd="sng" algn="ctr">
              <a:solidFill>
                <a:schemeClr val="tx1"/>
              </a:solidFill>
              <a:prstDash val="soli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252074" name=""/>
          <p:cNvGrpSpPr/>
          <p:nvPr/>
        </p:nvGrpSpPr>
        <p:grpSpPr bwMode="auto">
          <a:xfrm>
            <a:off x="1206936" y="3148012"/>
            <a:ext cx="9778124" cy="734493"/>
            <a:chOff x="0" y="0"/>
            <a:chExt cx="9778124" cy="734493"/>
          </a:xfrm>
        </p:grpSpPr>
        <p:grpSp>
          <p:nvGrpSpPr>
            <p:cNvPr id="1312271464" name="Group 2"/>
            <p:cNvGrpSpPr/>
            <p:nvPr/>
          </p:nvGrpSpPr>
          <p:grpSpPr bwMode="auto">
            <a:xfrm rot="0">
              <a:off x="5318069" y="0"/>
              <a:ext cx="4460055" cy="734494"/>
              <a:chOff x="0" y="0"/>
              <a:chExt cx="1761997" cy="29017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761997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761997" h="290170" fill="norm" stroke="1" extrusionOk="0">
                    <a:moveTo>
                      <a:pt x="26038" y="0"/>
                    </a:moveTo>
                    <a:lnTo>
                      <a:pt x="1735960" y="0"/>
                    </a:lnTo>
                    <a:cubicBezTo>
                      <a:pt x="1742865" y="0"/>
                      <a:pt x="1749488" y="2743"/>
                      <a:pt x="1754371" y="7626"/>
                    </a:cubicBezTo>
                    <a:cubicBezTo>
                      <a:pt x="1759254" y="12509"/>
                      <a:pt x="1761997" y="19132"/>
                      <a:pt x="1761997" y="26038"/>
                    </a:cubicBezTo>
                    <a:lnTo>
                      <a:pt x="1761997" y="264133"/>
                    </a:lnTo>
                    <a:cubicBezTo>
                      <a:pt x="1761997" y="278513"/>
                      <a:pt x="1750340" y="290170"/>
                      <a:pt x="1735960" y="290170"/>
                    </a:cubicBezTo>
                    <a:lnTo>
                      <a:pt x="26038" y="290170"/>
                    </a:lnTo>
                    <a:cubicBezTo>
                      <a:pt x="19132" y="290170"/>
                      <a:pt x="12509" y="287427"/>
                      <a:pt x="7626" y="282544"/>
                    </a:cubicBezTo>
                    <a:cubicBezTo>
                      <a:pt x="2743" y="277661"/>
                      <a:pt x="0" y="271039"/>
                      <a:pt x="0" y="264133"/>
                    </a:cubicBezTo>
                    <a:lnTo>
                      <a:pt x="0" y="26038"/>
                    </a:lnTo>
                    <a:cubicBezTo>
                      <a:pt x="0" y="19132"/>
                      <a:pt x="2743" y="12509"/>
                      <a:pt x="7626" y="7626"/>
                    </a:cubicBezTo>
                    <a:cubicBezTo>
                      <a:pt x="12509" y="2743"/>
                      <a:pt x="19132" y="0"/>
                      <a:pt x="260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761997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                      hostid</a:t>
                </a:r>
                <a:endParaRPr/>
              </a:p>
            </p:txBody>
          </p:sp>
        </p:grpSp>
        <p:grpSp>
          <p:nvGrpSpPr>
            <p:cNvPr id="603500390" name="Group 5"/>
            <p:cNvGrpSpPr/>
            <p:nvPr/>
          </p:nvGrpSpPr>
          <p:grpSpPr bwMode="auto">
            <a:xfrm rot="0">
              <a:off x="1096065" y="0"/>
              <a:ext cx="4162493" cy="734494"/>
              <a:chOff x="0" y="0"/>
              <a:chExt cx="1644442" cy="290170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164444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644442" h="290170" fill="norm" stroke="1" extrusionOk="0">
                    <a:moveTo>
                      <a:pt x="27899" y="0"/>
                    </a:moveTo>
                    <a:lnTo>
                      <a:pt x="1616543" y="0"/>
                    </a:lnTo>
                    <a:cubicBezTo>
                      <a:pt x="1631951" y="0"/>
                      <a:pt x="1644442" y="12491"/>
                      <a:pt x="1644442" y="27899"/>
                    </a:cubicBezTo>
                    <a:lnTo>
                      <a:pt x="1644442" y="262272"/>
                    </a:lnTo>
                    <a:cubicBezTo>
                      <a:pt x="1644442" y="277680"/>
                      <a:pt x="1631951" y="290170"/>
                      <a:pt x="1616543" y="290170"/>
                    </a:cubicBezTo>
                    <a:lnTo>
                      <a:pt x="27899" y="290170"/>
                    </a:lnTo>
                    <a:cubicBezTo>
                      <a:pt x="12491" y="290170"/>
                      <a:pt x="0" y="277680"/>
                      <a:pt x="0" y="262272"/>
                    </a:cubicBezTo>
                    <a:lnTo>
                      <a:pt x="0" y="27899"/>
                    </a:lnTo>
                    <a:cubicBezTo>
                      <a:pt x="0" y="12491"/>
                      <a:pt x="12491" y="0"/>
                      <a:pt x="27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164444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583818189" name="Group 8"/>
            <p:cNvGrpSpPr/>
            <p:nvPr/>
          </p:nvGrpSpPr>
          <p:grpSpPr bwMode="auto">
            <a:xfrm rot="0">
              <a:off x="0" y="0"/>
              <a:ext cx="1036552" cy="734494"/>
              <a:chOff x="0" y="0"/>
              <a:chExt cx="409502" cy="290170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290170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178137"/>
                    </a:lnTo>
                    <a:cubicBezTo>
                      <a:pt x="409502" y="240011"/>
                      <a:pt x="359343" y="290170"/>
                      <a:pt x="297468" y="290170"/>
                    </a:cubicBezTo>
                    <a:lnTo>
                      <a:pt x="112034" y="290170"/>
                    </a:lnTo>
                    <a:cubicBezTo>
                      <a:pt x="82321" y="290170"/>
                      <a:pt x="53824" y="278367"/>
                      <a:pt x="32814" y="257357"/>
                    </a:cubicBezTo>
                    <a:cubicBezTo>
                      <a:pt x="11804" y="236346"/>
                      <a:pt x="0" y="207850"/>
                      <a:pt x="0" y="17813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40950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grpSp>
          <p:nvGrpSpPr>
            <p:cNvPr id="731155965" name="Group 11"/>
            <p:cNvGrpSpPr/>
            <p:nvPr/>
          </p:nvGrpSpPr>
          <p:grpSpPr bwMode="auto">
            <a:xfrm rot="0">
              <a:off x="5394269" y="76199"/>
              <a:ext cx="1630737" cy="582094"/>
              <a:chOff x="0" y="0"/>
              <a:chExt cx="644242" cy="229963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644242" cy="229963"/>
              </a:xfrm>
              <a:custGeom>
                <a:avLst/>
                <a:gdLst/>
                <a:ahLst/>
                <a:cxnLst/>
                <a:rect l="l" t="t" r="r" b="b"/>
                <a:pathLst>
                  <a:path w="644242" h="229963" fill="norm" stroke="1" extrusionOk="0">
                    <a:moveTo>
                      <a:pt x="71212" y="0"/>
                    </a:moveTo>
                    <a:lnTo>
                      <a:pt x="573029" y="0"/>
                    </a:lnTo>
                    <a:cubicBezTo>
                      <a:pt x="612359" y="0"/>
                      <a:pt x="644242" y="31883"/>
                      <a:pt x="644242" y="71212"/>
                    </a:cubicBezTo>
                    <a:lnTo>
                      <a:pt x="644242" y="158751"/>
                    </a:lnTo>
                    <a:cubicBezTo>
                      <a:pt x="644242" y="198080"/>
                      <a:pt x="612359" y="229963"/>
                      <a:pt x="573029" y="229963"/>
                    </a:cubicBezTo>
                    <a:lnTo>
                      <a:pt x="71212" y="229963"/>
                    </a:lnTo>
                    <a:cubicBezTo>
                      <a:pt x="31883" y="229963"/>
                      <a:pt x="0" y="198080"/>
                      <a:pt x="0" y="158751"/>
                    </a:cubicBezTo>
                    <a:lnTo>
                      <a:pt x="0" y="71212"/>
                    </a:lnTo>
                    <a:cubicBezTo>
                      <a:pt x="0" y="31883"/>
                      <a:pt x="31883" y="0"/>
                      <a:pt x="712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644242" cy="258538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subnetid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437436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111033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205095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68011886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73550955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Edastusseade</a:t>
            </a:r>
            <a:endParaRPr/>
          </a:p>
        </p:txBody>
      </p:sp>
      <p:sp>
        <p:nvSpPr>
          <p:cNvPr id="108142795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Vastuvõtumasin</a:t>
            </a:r>
            <a:endParaRPr/>
          </a:p>
        </p:txBody>
      </p:sp>
      <p:sp>
        <p:nvSpPr>
          <p:cNvPr id="1694823273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4626524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83938306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36477412" name=""/>
          <p:cNvGrpSpPr/>
          <p:nvPr/>
        </p:nvGrpSpPr>
        <p:grpSpPr bwMode="auto">
          <a:xfrm>
            <a:off x="5464036" y="1765350"/>
            <a:ext cx="1170543" cy="3325324"/>
            <a:chOff x="0" y="0"/>
            <a:chExt cx="1170543" cy="3325324"/>
          </a:xfrm>
        </p:grpSpPr>
        <p:sp>
          <p:nvSpPr>
            <p:cNvPr id="1513756760" name=""/>
            <p:cNvSpPr txBox="1"/>
            <p:nvPr/>
          </p:nvSpPr>
          <p:spPr bwMode="auto">
            <a:xfrm rot="0" flipH="0" flipV="0">
              <a:off x="102720" y="1546442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271017964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187756255" name=""/>
            <p:cNvSpPr txBox="1"/>
            <p:nvPr/>
          </p:nvSpPr>
          <p:spPr bwMode="auto">
            <a:xfrm rot="0" flipH="0" flipV="0">
              <a:off x="0" y="2959204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2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47116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63850648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6304341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1791502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989981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Edastusseade</a:t>
            </a:r>
            <a:endParaRPr/>
          </a:p>
        </p:txBody>
      </p:sp>
      <p:sp>
        <p:nvSpPr>
          <p:cNvPr id="126783864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Vastuvõtumasin</a:t>
            </a:r>
            <a:endParaRPr/>
          </a:p>
        </p:txBody>
      </p:sp>
      <p:sp>
        <p:nvSpPr>
          <p:cNvPr id="1075330502" name="AutoShape 8"/>
          <p:cNvSpPr/>
          <p:nvPr/>
        </p:nvSpPr>
        <p:spPr bwMode="auto">
          <a:xfrm flipH="1">
            <a:off x="3099863" y="484430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66086773" name="AutoShape 9"/>
          <p:cNvSpPr/>
          <p:nvPr/>
        </p:nvSpPr>
        <p:spPr bwMode="auto">
          <a:xfrm flipH="1" flipV="1">
            <a:off x="3099863" y="98897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502841584" name="AutoShape 10"/>
          <p:cNvSpPr/>
          <p:nvPr/>
        </p:nvSpPr>
        <p:spPr bwMode="auto">
          <a:xfrm flipH="1" flipV="1">
            <a:off x="3099863" y="3363230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80908985" name="AutoShape 11"/>
          <p:cNvSpPr/>
          <p:nvPr/>
        </p:nvSpPr>
        <p:spPr bwMode="auto">
          <a:xfrm flipV="1">
            <a:off x="3276076" y="1120685"/>
            <a:ext cx="0" cy="219180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95176810" name="TextBox 12"/>
          <p:cNvSpPr txBox="1"/>
          <p:nvPr/>
        </p:nvSpPr>
        <p:spPr bwMode="auto">
          <a:xfrm rot="0">
            <a:off x="3373738" y="2068840"/>
            <a:ext cx="184654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Taimer</a:t>
            </a:r>
            <a:endParaRPr/>
          </a:p>
        </p:txBody>
      </p:sp>
      <p:grpSp>
        <p:nvGrpSpPr>
          <p:cNvPr id="2097487036" name=""/>
          <p:cNvGrpSpPr/>
          <p:nvPr/>
        </p:nvGrpSpPr>
        <p:grpSpPr bwMode="auto">
          <a:xfrm>
            <a:off x="5464036" y="1318275"/>
            <a:ext cx="1170543" cy="4221450"/>
            <a:chOff x="0" y="0"/>
            <a:chExt cx="1170543" cy="4221450"/>
          </a:xfrm>
        </p:grpSpPr>
        <p:sp>
          <p:nvSpPr>
            <p:cNvPr id="447652547" name=""/>
            <p:cNvSpPr txBox="1"/>
            <p:nvPr/>
          </p:nvSpPr>
          <p:spPr bwMode="auto">
            <a:xfrm rot="0" flipH="0" flipV="0">
              <a:off x="269930" y="3855330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349435816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732806733" name=""/>
            <p:cNvSpPr txBox="1"/>
            <p:nvPr/>
          </p:nvSpPr>
          <p:spPr bwMode="auto">
            <a:xfrm rot="0" flipH="0" flipV="0">
              <a:off x="0" y="2432796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71478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659046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6878940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48073211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1511667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Edastusseade</a:t>
            </a:r>
            <a:endParaRPr/>
          </a:p>
        </p:txBody>
      </p:sp>
      <p:sp>
        <p:nvSpPr>
          <p:cNvPr id="1613217869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Vastuvõtumasin</a:t>
            </a:r>
            <a:endParaRPr/>
          </a:p>
        </p:txBody>
      </p:sp>
      <p:sp>
        <p:nvSpPr>
          <p:cNvPr id="171823411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2059931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6340834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2022063293" name=""/>
          <p:cNvGrpSpPr/>
          <p:nvPr/>
        </p:nvGrpSpPr>
        <p:grpSpPr bwMode="auto">
          <a:xfrm>
            <a:off x="5464216" y="1600802"/>
            <a:ext cx="1655644" cy="3764191"/>
            <a:chOff x="0" y="0"/>
            <a:chExt cx="1655644" cy="3764191"/>
          </a:xfrm>
        </p:grpSpPr>
        <p:sp>
          <p:nvSpPr>
            <p:cNvPr id="2037122530" name=""/>
            <p:cNvSpPr txBox="1"/>
            <p:nvPr/>
          </p:nvSpPr>
          <p:spPr bwMode="auto">
            <a:xfrm rot="0" flipH="0" flipV="0">
              <a:off x="102539" y="1436489"/>
              <a:ext cx="1409074" cy="91476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</a:t>
              </a:r>
              <a:br>
                <a:rPr lang="fr-FR"/>
              </a:br>
              <a:r>
                <a:rPr lang="fr-FR"/>
                <a:t>ACK = C+1</a:t>
              </a:r>
              <a:br>
                <a:rPr lang="fr-FR"/>
              </a:br>
              <a:r>
                <a:rPr lang="fr-FR"/>
                <a:t>Sequence = S</a:t>
              </a:r>
              <a:endParaRPr/>
            </a:p>
          </p:txBody>
        </p:sp>
        <p:sp>
          <p:nvSpPr>
            <p:cNvPr id="1797716726" name=""/>
            <p:cNvSpPr txBox="1"/>
            <p:nvPr/>
          </p:nvSpPr>
          <p:spPr bwMode="auto">
            <a:xfrm rot="0" flipH="0" flipV="0">
              <a:off x="113278" y="0"/>
              <a:ext cx="1425929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 </a:t>
              </a:r>
              <a:br>
                <a:rPr lang="fr-FR"/>
              </a:br>
              <a:r>
                <a:rPr lang="fr-FR"/>
                <a:t>Sequence = C</a:t>
              </a:r>
              <a:endParaRPr/>
            </a:p>
          </p:txBody>
        </p:sp>
        <p:sp>
          <p:nvSpPr>
            <p:cNvPr id="663857974" name=""/>
            <p:cNvSpPr txBox="1"/>
            <p:nvPr/>
          </p:nvSpPr>
          <p:spPr bwMode="auto">
            <a:xfrm rot="0" flipH="0" flipV="0">
              <a:off x="0" y="3123751"/>
              <a:ext cx="1655644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ACK = S+1</a:t>
              </a:r>
              <a:endParaRPr lang="fr-FR"/>
            </a:p>
            <a:p>
              <a:pPr algn="ctr">
                <a:defRPr/>
              </a:pPr>
              <a:r>
                <a:rPr lang="fr-FR"/>
                <a:t>Sequence = C+1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999849" name="AutoShape 2"/>
          <p:cNvSpPr/>
          <p:nvPr/>
        </p:nvSpPr>
        <p:spPr bwMode="auto">
          <a:xfrm flipV="1">
            <a:off x="9089793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9654554" name="AutoShape 3"/>
          <p:cNvSpPr/>
          <p:nvPr/>
        </p:nvSpPr>
        <p:spPr bwMode="auto">
          <a:xfrm flipV="1">
            <a:off x="3097519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44480354" name="Freeform 4"/>
          <p:cNvSpPr/>
          <p:nvPr/>
        </p:nvSpPr>
        <p:spPr bwMode="auto">
          <a:xfrm rot="0" flipH="0" flipV="0">
            <a:off x="955825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91657264" name="Freeform 5"/>
          <p:cNvSpPr/>
          <p:nvPr/>
        </p:nvSpPr>
        <p:spPr bwMode="auto">
          <a:xfrm rot="0" flipH="0" flipV="0">
            <a:off x="10099443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452313" name="AutoShape 6"/>
          <p:cNvSpPr/>
          <p:nvPr/>
        </p:nvSpPr>
        <p:spPr bwMode="auto">
          <a:xfrm flipH="1">
            <a:off x="3097519" y="3106010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30125924" name="AutoShape 7"/>
          <p:cNvSpPr/>
          <p:nvPr/>
        </p:nvSpPr>
        <p:spPr bwMode="auto">
          <a:xfrm flipH="1" flipV="1">
            <a:off x="3097519" y="2467748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693981132" name="Group 8"/>
          <p:cNvGrpSpPr/>
          <p:nvPr/>
        </p:nvGrpSpPr>
        <p:grpSpPr bwMode="auto">
          <a:xfrm rot="0" flipH="0" flipV="0">
            <a:off x="5170363" y="282557"/>
            <a:ext cx="1108363" cy="713488"/>
            <a:chOff x="0" y="0"/>
            <a:chExt cx="1108363" cy="713488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108363" cy="713488"/>
            </a:xfrm>
            <a:custGeom>
              <a:avLst/>
              <a:gdLst/>
              <a:ahLst/>
              <a:cxnLst/>
              <a:rect l="l" t="t" r="r" b="b"/>
              <a:pathLst>
                <a:path w="685377" h="281872" fill="norm" stroke="1" extrusionOk="0">
                  <a:moveTo>
                    <a:pt x="0" y="0"/>
                  </a:moveTo>
                  <a:lnTo>
                    <a:pt x="685377" y="0"/>
                  </a:lnTo>
                  <a:lnTo>
                    <a:pt x="685377" y="281872"/>
                  </a:lnTo>
                  <a:lnTo>
                    <a:pt x="0" y="281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72330"/>
              <a:ext cx="1108363" cy="785819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994164146" name="TextBox 11"/>
          <p:cNvSpPr txBox="1"/>
          <p:nvPr/>
        </p:nvSpPr>
        <p:spPr bwMode="auto">
          <a:xfrm rot="0">
            <a:off x="600920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Edastusseade</a:t>
            </a:r>
            <a:endParaRPr/>
          </a:p>
        </p:txBody>
      </p:sp>
      <p:sp>
        <p:nvSpPr>
          <p:cNvPr id="2107227107" name="TextBox 12"/>
          <p:cNvSpPr txBox="1"/>
          <p:nvPr/>
        </p:nvSpPr>
        <p:spPr bwMode="auto">
          <a:xfrm rot="0">
            <a:off x="9744538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Vastuvõtumasin</a:t>
            </a:r>
            <a:endParaRPr/>
          </a:p>
        </p:txBody>
      </p:sp>
      <p:sp>
        <p:nvSpPr>
          <p:cNvPr id="467056681" name="TextBox 13"/>
          <p:cNvSpPr txBox="1"/>
          <p:nvPr/>
        </p:nvSpPr>
        <p:spPr bwMode="auto">
          <a:xfrm rot="0">
            <a:off x="3500121" y="282557"/>
            <a:ext cx="5189947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2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3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4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5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6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7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8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9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/>
            </a:r>
            <a:endParaRPr/>
          </a:p>
        </p:txBody>
      </p:sp>
      <p:sp>
        <p:nvSpPr>
          <p:cNvPr id="260432534" name="AutoShape 14"/>
          <p:cNvSpPr/>
          <p:nvPr/>
        </p:nvSpPr>
        <p:spPr bwMode="auto">
          <a:xfrm>
            <a:off x="5170363" y="1143824"/>
            <a:ext cx="138172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33872558" name="AutoShape 15"/>
          <p:cNvSpPr/>
          <p:nvPr/>
        </p:nvSpPr>
        <p:spPr bwMode="auto">
          <a:xfrm flipH="1" flipV="1">
            <a:off x="3099863" y="378724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72798119" name="AutoShape 16"/>
          <p:cNvSpPr/>
          <p:nvPr/>
        </p:nvSpPr>
        <p:spPr bwMode="auto">
          <a:xfrm flipH="1" flipV="1">
            <a:off x="3097519" y="4077194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818329" name="AutoShape 17"/>
          <p:cNvSpPr/>
          <p:nvPr/>
        </p:nvSpPr>
        <p:spPr bwMode="auto">
          <a:xfrm flipH="1" flipV="1">
            <a:off x="3101086" y="436309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9617827" name="AutoShape 18"/>
          <p:cNvSpPr/>
          <p:nvPr/>
        </p:nvSpPr>
        <p:spPr bwMode="auto">
          <a:xfrm flipH="1">
            <a:off x="3096195" y="5001457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096359" name="Freeform 2"/>
          <p:cNvSpPr/>
          <p:nvPr/>
        </p:nvSpPr>
        <p:spPr bwMode="auto">
          <a:xfrm rot="0" flipH="0" flipV="0">
            <a:off x="228600" y="1825219"/>
            <a:ext cx="545211" cy="1371600"/>
          </a:xfrm>
          <a:custGeom>
            <a:avLst/>
            <a:gdLst/>
            <a:ahLst/>
            <a:cxnLst/>
            <a:rect l="l" t="t" r="r" b="b"/>
            <a:pathLst>
              <a:path w="545211" h="1371600" fill="norm" stroke="1" extrusionOk="0">
                <a:moveTo>
                  <a:pt x="0" y="0"/>
                </a:moveTo>
                <a:lnTo>
                  <a:pt x="545211" y="0"/>
                </a:lnTo>
                <a:lnTo>
                  <a:pt x="545211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45401964" name="Freeform 3"/>
          <p:cNvSpPr/>
          <p:nvPr/>
        </p:nvSpPr>
        <p:spPr bwMode="auto">
          <a:xfrm rot="0" flipH="0" flipV="0">
            <a:off x="773811" y="778490"/>
            <a:ext cx="2755514" cy="1732529"/>
          </a:xfrm>
          <a:custGeom>
            <a:avLst/>
            <a:gdLst/>
            <a:ahLst/>
            <a:cxnLst/>
            <a:rect l="l" t="t" r="r" b="b"/>
            <a:pathLst>
              <a:path w="2755514" h="1732529" fill="norm" stroke="1" extrusionOk="0">
                <a:moveTo>
                  <a:pt x="0" y="0"/>
                </a:moveTo>
                <a:lnTo>
                  <a:pt x="2755514" y="0"/>
                </a:lnTo>
                <a:lnTo>
                  <a:pt x="2755514" y="1732529"/>
                </a:lnTo>
                <a:lnTo>
                  <a:pt x="0" y="1732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09548206" name="TextBox 4"/>
          <p:cNvSpPr txBox="1"/>
          <p:nvPr/>
        </p:nvSpPr>
        <p:spPr bwMode="auto">
          <a:xfrm rot="0" flipH="0" flipV="0">
            <a:off x="1385043" y="1190729"/>
            <a:ext cx="1848701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Ma saadan kirja</a:t>
            </a:r>
            <a:endParaRPr sz="1100"/>
          </a:p>
        </p:txBody>
      </p:sp>
      <p:sp>
        <p:nvSpPr>
          <p:cNvPr id="1609890350" name="Freeform 6"/>
          <p:cNvSpPr/>
          <p:nvPr/>
        </p:nvSpPr>
        <p:spPr bwMode="auto">
          <a:xfrm rot="0" flipH="0" flipV="0">
            <a:off x="228600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146612" name="Freeform 7"/>
          <p:cNvSpPr/>
          <p:nvPr/>
        </p:nvSpPr>
        <p:spPr bwMode="auto">
          <a:xfrm rot="0" flipH="0" flipV="0">
            <a:off x="773811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0" y="0"/>
                </a:moveTo>
                <a:lnTo>
                  <a:pt x="3674018" y="0"/>
                </a:lnTo>
                <a:lnTo>
                  <a:pt x="3674018" y="2310039"/>
                </a:lnTo>
                <a:lnTo>
                  <a:pt x="0" y="231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32339792" name="TextBox 8"/>
          <p:cNvSpPr txBox="1"/>
          <p:nvPr/>
        </p:nvSpPr>
        <p:spPr bwMode="auto">
          <a:xfrm rot="0" flipH="0" flipV="0">
            <a:off x="1385043" y="4085326"/>
            <a:ext cx="184834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Ma saadan kirja</a:t>
            </a:r>
            <a:endParaRPr sz="1000"/>
          </a:p>
        </p:txBody>
      </p:sp>
      <p:sp>
        <p:nvSpPr>
          <p:cNvPr id="337749461" name="Freeform 10"/>
          <p:cNvSpPr/>
          <p:nvPr/>
        </p:nvSpPr>
        <p:spPr bwMode="auto">
          <a:xfrm rot="0" flipH="0" flipV="0">
            <a:off x="11418188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490757395" name="Freeform 11"/>
          <p:cNvSpPr/>
          <p:nvPr/>
        </p:nvSpPr>
        <p:spPr bwMode="auto">
          <a:xfrm rot="0" flipH="1" flipV="0">
            <a:off x="8662674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3674018" y="0"/>
                </a:moveTo>
                <a:lnTo>
                  <a:pt x="0" y="0"/>
                </a:lnTo>
                <a:lnTo>
                  <a:pt x="0" y="2310039"/>
                </a:lnTo>
                <a:lnTo>
                  <a:pt x="3674018" y="2310039"/>
                </a:lnTo>
                <a:lnTo>
                  <a:pt x="3674018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462142747" name="TextBox 12"/>
          <p:cNvSpPr txBox="1"/>
          <p:nvPr/>
        </p:nvSpPr>
        <p:spPr bwMode="auto">
          <a:xfrm rot="0" flipH="0" flipV="0">
            <a:off x="8994532" y="4094851"/>
            <a:ext cx="184798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 Italics"/>
              </a:rPr>
              <a:t>Ma saan kirja</a:t>
            </a:r>
            <a:endParaRPr/>
          </a:p>
        </p:txBody>
      </p:sp>
      <p:sp>
        <p:nvSpPr>
          <p:cNvPr id="48437" name="Freeform 14"/>
          <p:cNvSpPr/>
          <p:nvPr/>
        </p:nvSpPr>
        <p:spPr bwMode="auto">
          <a:xfrm rot="0" flipH="0" flipV="0">
            <a:off x="9816519" y="1530454"/>
            <a:ext cx="2146879" cy="914400"/>
          </a:xfrm>
          <a:custGeom>
            <a:avLst/>
            <a:gdLst/>
            <a:ahLst/>
            <a:cxnLst/>
            <a:rect l="l" t="t" r="r" b="b"/>
            <a:pathLst>
              <a:path w="848150" h="361244" fill="norm" stroke="1" extrusionOk="0">
                <a:moveTo>
                  <a:pt x="54092" y="0"/>
                </a:moveTo>
                <a:lnTo>
                  <a:pt x="794058" y="0"/>
                </a:lnTo>
                <a:cubicBezTo>
                  <a:pt x="808404" y="0"/>
                  <a:pt x="822163" y="5699"/>
                  <a:pt x="832307" y="15843"/>
                </a:cubicBezTo>
                <a:cubicBezTo>
                  <a:pt x="842451" y="25987"/>
                  <a:pt x="848150" y="39746"/>
                  <a:pt x="848150" y="54092"/>
                </a:cubicBezTo>
                <a:lnTo>
                  <a:pt x="848150" y="307152"/>
                </a:lnTo>
                <a:cubicBezTo>
                  <a:pt x="848150" y="321498"/>
                  <a:pt x="842451" y="335257"/>
                  <a:pt x="832307" y="345401"/>
                </a:cubicBezTo>
                <a:cubicBezTo>
                  <a:pt x="822163" y="355545"/>
                  <a:pt x="808404" y="361244"/>
                  <a:pt x="794058" y="361244"/>
                </a:cubicBezTo>
                <a:lnTo>
                  <a:pt x="54092" y="361244"/>
                </a:lnTo>
                <a:cubicBezTo>
                  <a:pt x="39746" y="361244"/>
                  <a:pt x="25987" y="355545"/>
                  <a:pt x="15843" y="345401"/>
                </a:cubicBezTo>
                <a:cubicBezTo>
                  <a:pt x="5699" y="335257"/>
                  <a:pt x="0" y="321498"/>
                  <a:pt x="0" y="307152"/>
                </a:cubicBezTo>
                <a:lnTo>
                  <a:pt x="0" y="54092"/>
                </a:lnTo>
                <a:cubicBezTo>
                  <a:pt x="0" y="39746"/>
                  <a:pt x="5699" y="25987"/>
                  <a:pt x="15843" y="15843"/>
                </a:cubicBezTo>
                <a:cubicBezTo>
                  <a:pt x="25987" y="5699"/>
                  <a:pt x="39746" y="0"/>
                  <a:pt x="5409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/>
        </p:txBody>
      </p:sp>
      <p:sp>
        <p:nvSpPr>
          <p:cNvPr id="1594910858" name="TextBox 15"/>
          <p:cNvSpPr txBox="1"/>
          <p:nvPr/>
        </p:nvSpPr>
        <p:spPr bwMode="auto">
          <a:xfrm rot="0" flipH="0" flipV="0">
            <a:off x="9816518" y="1585410"/>
            <a:ext cx="2146878" cy="859442"/>
          </a:xfrm>
          <a:prstGeom prst="rect">
            <a:avLst/>
          </a:prstGeom>
        </p:spPr>
        <p:txBody>
          <a:bodyPr vertOverflow="overflow" horzOverflow="overflow" vert="horz" wrap="square" lIns="50798" tIns="50798" rIns="50798" bIns="50798" numCol="1" spcCol="0" rtlCol="0" fromWordArt="0" anchor="t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Parimate jõupingutuste tarne</a:t>
            </a:r>
            <a:endParaRPr sz="1200"/>
          </a:p>
        </p:txBody>
      </p:sp>
      <p:sp>
        <p:nvSpPr>
          <p:cNvPr id="1564608446" name="AutoShape 16"/>
          <p:cNvSpPr/>
          <p:nvPr/>
        </p:nvSpPr>
        <p:spPr bwMode="auto">
          <a:xfrm flipH="1" flipV="1">
            <a:off x="3529325" y="1987655"/>
            <a:ext cx="62871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7245779" name="AutoShape 17"/>
          <p:cNvSpPr/>
          <p:nvPr/>
        </p:nvSpPr>
        <p:spPr bwMode="auto">
          <a:xfrm flipH="1">
            <a:off x="3529325" y="4870345"/>
            <a:ext cx="513335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336087" name="TextBox 2"/>
          <p:cNvSpPr txBox="1"/>
          <p:nvPr/>
        </p:nvSpPr>
        <p:spPr bwMode="auto">
          <a:xfrm rot="0">
            <a:off x="361947" y="1963609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Kihtide liides</a:t>
            </a:r>
            <a:endParaRPr lang="en-US" sz="18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(N)/(N + 1)</a:t>
            </a:r>
          </a:p>
        </p:txBody>
      </p:sp>
      <p:sp>
        <p:nvSpPr>
          <p:cNvPr id="650760142" name="TextBox 3"/>
          <p:cNvSpPr txBox="1"/>
          <p:nvPr/>
        </p:nvSpPr>
        <p:spPr bwMode="auto">
          <a:xfrm rot="0" flipH="0" flipV="0">
            <a:off x="10465521" y="2155759"/>
            <a:ext cx="1565991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Teenindus (N)</a:t>
            </a:r>
            <a:endParaRPr/>
          </a:p>
        </p:txBody>
      </p:sp>
      <p:sp>
        <p:nvSpPr>
          <p:cNvPr id="135139007" name="Freeform 5"/>
          <p:cNvSpPr/>
          <p:nvPr/>
        </p:nvSpPr>
        <p:spPr bwMode="auto">
          <a:xfrm rot="0" flipH="0" flipV="0">
            <a:off x="3788167" y="577509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04643093" name="TextBox 6"/>
          <p:cNvSpPr txBox="1"/>
          <p:nvPr/>
        </p:nvSpPr>
        <p:spPr bwMode="auto">
          <a:xfrm rot="0" flipH="0" flipV="0">
            <a:off x="3788167" y="505179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Kiht (N + 1)</a:t>
            </a:r>
            <a:endParaRPr/>
          </a:p>
        </p:txBody>
      </p:sp>
      <p:sp>
        <p:nvSpPr>
          <p:cNvPr id="392630282" name="Freeform 8"/>
          <p:cNvSpPr/>
          <p:nvPr/>
        </p:nvSpPr>
        <p:spPr bwMode="auto">
          <a:xfrm rot="0" flipH="0" flipV="0">
            <a:off x="3788167" y="2768156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56960720" name="TextBox 9"/>
          <p:cNvSpPr txBox="1"/>
          <p:nvPr/>
        </p:nvSpPr>
        <p:spPr bwMode="auto">
          <a:xfrm rot="0" flipH="0" flipV="0">
            <a:off x="3788167" y="2695826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Kiht (N)</a:t>
            </a:r>
            <a:endParaRPr/>
          </a:p>
        </p:txBody>
      </p:sp>
      <p:sp>
        <p:nvSpPr>
          <p:cNvPr id="1552275726" name="Freeform 11"/>
          <p:cNvSpPr/>
          <p:nvPr/>
        </p:nvSpPr>
        <p:spPr bwMode="auto">
          <a:xfrm rot="0" flipH="0" flipV="0">
            <a:off x="3788167" y="4956617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863085416" name="TextBox 12"/>
          <p:cNvSpPr txBox="1"/>
          <p:nvPr/>
        </p:nvSpPr>
        <p:spPr bwMode="auto">
          <a:xfrm rot="0" flipH="0" flipV="0">
            <a:off x="3788167" y="4884287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Kiht (N - 1)</a:t>
            </a:r>
            <a:endParaRPr/>
          </a:p>
        </p:txBody>
      </p:sp>
      <p:grpSp>
        <p:nvGrpSpPr>
          <p:cNvPr id="1771484213" name="Group 13"/>
          <p:cNvGrpSpPr/>
          <p:nvPr/>
        </p:nvGrpSpPr>
        <p:grpSpPr bwMode="auto">
          <a:xfrm rot="0">
            <a:off x="3291313" y="2079352"/>
            <a:ext cx="4237774" cy="508651"/>
            <a:chOff x="0" y="0"/>
            <a:chExt cx="1674182" cy="200949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063853404" name="Group 16"/>
          <p:cNvGrpSpPr/>
          <p:nvPr/>
        </p:nvGrpSpPr>
        <p:grpSpPr bwMode="auto">
          <a:xfrm rot="0">
            <a:off x="3291313" y="4270818"/>
            <a:ext cx="4237774" cy="508651"/>
            <a:chOff x="0" y="0"/>
            <a:chExt cx="1674182" cy="200949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2083662418" name="AutoShape 19"/>
          <p:cNvSpPr/>
          <p:nvPr/>
        </p:nvSpPr>
        <p:spPr bwMode="auto">
          <a:xfrm flipH="1">
            <a:off x="4847335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971026345" name="AutoShape 20"/>
          <p:cNvSpPr/>
          <p:nvPr/>
        </p:nvSpPr>
        <p:spPr bwMode="auto">
          <a:xfrm flipH="1" flipV="1">
            <a:off x="5979926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07729501" name="AutoShape 21"/>
          <p:cNvSpPr/>
          <p:nvPr/>
        </p:nvSpPr>
        <p:spPr bwMode="auto">
          <a:xfrm flipH="1">
            <a:off x="4843905" y="1881320"/>
            <a:ext cx="0" cy="90471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6785383" name="AutoShape 22"/>
          <p:cNvSpPr/>
          <p:nvPr/>
        </p:nvSpPr>
        <p:spPr bwMode="auto">
          <a:xfrm flipH="1" flipV="1">
            <a:off x="5976495" y="1919259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05890838" name="TextBox 23"/>
          <p:cNvSpPr txBox="1"/>
          <p:nvPr/>
        </p:nvSpPr>
        <p:spPr bwMode="auto">
          <a:xfrm rot="0">
            <a:off x="10183531" y="4345754"/>
            <a:ext cx="1847260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Teenus (N - 1)</a:t>
            </a:r>
            <a:endParaRPr/>
          </a:p>
        </p:txBody>
      </p:sp>
      <p:sp>
        <p:nvSpPr>
          <p:cNvPr id="781375988" name="AutoShape 24"/>
          <p:cNvSpPr/>
          <p:nvPr/>
        </p:nvSpPr>
        <p:spPr bwMode="auto">
          <a:xfrm flipH="1" flipV="1">
            <a:off x="2400367" y="2333677"/>
            <a:ext cx="786268" cy="341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093180560" name="TextBox 25"/>
          <p:cNvSpPr txBox="1"/>
          <p:nvPr/>
        </p:nvSpPr>
        <p:spPr bwMode="auto">
          <a:xfrm rot="0">
            <a:off x="465593" y="4155075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Kihtide liides</a:t>
            </a:r>
            <a:endParaRPr sz="1600"/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 - 1)/(N)</a:t>
            </a:r>
          </a:p>
        </p:txBody>
      </p:sp>
      <p:sp>
        <p:nvSpPr>
          <p:cNvPr id="812013253" name="AutoShape 26"/>
          <p:cNvSpPr/>
          <p:nvPr/>
        </p:nvSpPr>
        <p:spPr bwMode="auto">
          <a:xfrm flipH="1" flipV="1">
            <a:off x="2504012" y="4525144"/>
            <a:ext cx="78730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412687735" name="TextBox 27"/>
          <p:cNvSpPr txBox="1"/>
          <p:nvPr/>
        </p:nvSpPr>
        <p:spPr bwMode="auto">
          <a:xfrm rot="0" flipH="0" flipV="0">
            <a:off x="7529085" y="1739625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Kasutaja</a:t>
            </a:r>
            <a:endParaRPr sz="1400"/>
          </a:p>
        </p:txBody>
      </p:sp>
      <p:sp>
        <p:nvSpPr>
          <p:cNvPr id="1162527951" name="TextBox 28"/>
          <p:cNvSpPr txBox="1"/>
          <p:nvPr/>
        </p:nvSpPr>
        <p:spPr bwMode="auto">
          <a:xfrm rot="0" flipH="0" flipV="0">
            <a:off x="7529085" y="2549901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Teenusepakkuja</a:t>
            </a:r>
            <a:endParaRPr sz="1400"/>
          </a:p>
        </p:txBody>
      </p:sp>
      <p:sp>
        <p:nvSpPr>
          <p:cNvPr id="982547259" name="TextBox 29"/>
          <p:cNvSpPr txBox="1"/>
          <p:nvPr/>
        </p:nvSpPr>
        <p:spPr bwMode="auto">
          <a:xfrm rot="0" flipH="0" flipV="0">
            <a:off x="7529085" y="3931092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Kasutaja</a:t>
            </a:r>
            <a:endParaRPr sz="1400"/>
          </a:p>
        </p:txBody>
      </p:sp>
      <p:sp>
        <p:nvSpPr>
          <p:cNvPr id="1724423887" name="TextBox 30"/>
          <p:cNvSpPr txBox="1"/>
          <p:nvPr/>
        </p:nvSpPr>
        <p:spPr bwMode="auto">
          <a:xfrm rot="0" flipH="0" flipV="0">
            <a:off x="7529085" y="4741367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Teenusepakkuja</a:t>
            </a:r>
            <a:endParaRPr sz="1400"/>
          </a:p>
        </p:txBody>
      </p:sp>
      <p:sp>
        <p:nvSpPr>
          <p:cNvPr id="109301101" name="AutoShape 31"/>
          <p:cNvSpPr/>
          <p:nvPr/>
        </p:nvSpPr>
        <p:spPr bwMode="auto">
          <a:xfrm flipH="1">
            <a:off x="9371539" y="2484490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71985018" name="AutoShape 32"/>
          <p:cNvSpPr/>
          <p:nvPr/>
        </p:nvSpPr>
        <p:spPr bwMode="auto">
          <a:xfrm flipH="1" flipV="1">
            <a:off x="9371539" y="1928539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43601215" name="AutoShape 33"/>
          <p:cNvSpPr/>
          <p:nvPr/>
        </p:nvSpPr>
        <p:spPr bwMode="auto">
          <a:xfrm flipH="1" flipV="1">
            <a:off x="9371539" y="4120006"/>
            <a:ext cx="788382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341940785" name="AutoShape 34"/>
          <p:cNvSpPr/>
          <p:nvPr/>
        </p:nvSpPr>
        <p:spPr bwMode="auto">
          <a:xfrm flipH="1">
            <a:off x="9371539" y="4675956"/>
            <a:ext cx="788419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955108" name="TextBox 2"/>
          <p:cNvSpPr txBox="1"/>
          <p:nvPr/>
        </p:nvSpPr>
        <p:spPr bwMode="auto">
          <a:xfrm rot="0">
            <a:off x="2700700" y="856201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Peremees A</a:t>
            </a:r>
            <a:endParaRPr/>
          </a:p>
        </p:txBody>
      </p:sp>
      <p:sp>
        <p:nvSpPr>
          <p:cNvPr id="839486798" name="Freeform 4"/>
          <p:cNvSpPr/>
          <p:nvPr/>
        </p:nvSpPr>
        <p:spPr bwMode="auto">
          <a:xfrm rot="0" flipH="0" flipV="0">
            <a:off x="270217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361005387" name="TextBox 5"/>
          <p:cNvSpPr txBox="1"/>
          <p:nvPr/>
        </p:nvSpPr>
        <p:spPr bwMode="auto">
          <a:xfrm rot="0" flipH="0" flipV="0">
            <a:off x="270217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Kiht (N)</a:t>
            </a:r>
            <a:endParaRPr sz="1400"/>
          </a:p>
        </p:txBody>
      </p:sp>
      <p:grpSp>
        <p:nvGrpSpPr>
          <p:cNvPr id="603602955" name="Group 6"/>
          <p:cNvGrpSpPr/>
          <p:nvPr/>
        </p:nvGrpSpPr>
        <p:grpSpPr bwMode="auto">
          <a:xfrm rot="0">
            <a:off x="2646186" y="3034040"/>
            <a:ext cx="2147449" cy="1321686"/>
            <a:chOff x="0" y="0"/>
            <a:chExt cx="848375" cy="522148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grpSp>
        <p:nvGrpSpPr>
          <p:cNvPr id="654220284" name="Group 9"/>
          <p:cNvGrpSpPr/>
          <p:nvPr/>
        </p:nvGrpSpPr>
        <p:grpSpPr bwMode="auto">
          <a:xfrm rot="0">
            <a:off x="5022235" y="3034040"/>
            <a:ext cx="2147449" cy="1321686"/>
            <a:chOff x="0" y="0"/>
            <a:chExt cx="848375" cy="522148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1643460338" name="Freeform 13"/>
          <p:cNvSpPr/>
          <p:nvPr/>
        </p:nvSpPr>
        <p:spPr bwMode="auto">
          <a:xfrm rot="0" flipH="0" flipV="0">
            <a:off x="2844369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904052648" name="TextBox 14"/>
          <p:cNvSpPr txBox="1"/>
          <p:nvPr/>
        </p:nvSpPr>
        <p:spPr bwMode="auto">
          <a:xfrm rot="0" flipH="0" flipV="0">
            <a:off x="2844369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Üksus (N)</a:t>
            </a:r>
            <a:endParaRPr sz="1400"/>
          </a:p>
        </p:txBody>
      </p:sp>
      <p:grpSp>
        <p:nvGrpSpPr>
          <p:cNvPr id="1556122811" name="Group 15"/>
          <p:cNvGrpSpPr/>
          <p:nvPr/>
        </p:nvGrpSpPr>
        <p:grpSpPr bwMode="auto">
          <a:xfrm rot="0">
            <a:off x="7398284" y="3034040"/>
            <a:ext cx="2147449" cy="1321686"/>
            <a:chOff x="0" y="0"/>
            <a:chExt cx="848375" cy="522148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7" name="TextBox 17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260100979" name="Freeform 19"/>
          <p:cNvSpPr/>
          <p:nvPr/>
        </p:nvSpPr>
        <p:spPr bwMode="auto">
          <a:xfrm rot="0" flipH="0" flipV="0">
            <a:off x="9774333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295063007" name="TextBox 20"/>
          <p:cNvSpPr txBox="1"/>
          <p:nvPr/>
        </p:nvSpPr>
        <p:spPr bwMode="auto">
          <a:xfrm rot="0" flipH="0" flipV="0">
            <a:off x="9774333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Kiht (N + 1)</a:t>
            </a:r>
            <a:endParaRPr sz="1400"/>
          </a:p>
        </p:txBody>
      </p:sp>
      <p:grpSp>
        <p:nvGrpSpPr>
          <p:cNvPr id="1728453640" name="Group 21"/>
          <p:cNvGrpSpPr/>
          <p:nvPr/>
        </p:nvGrpSpPr>
        <p:grpSpPr bwMode="auto">
          <a:xfrm rot="0">
            <a:off x="2646186" y="1483143"/>
            <a:ext cx="2147449" cy="1321686"/>
            <a:chOff x="0" y="0"/>
            <a:chExt cx="848375" cy="522148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3" name="TextBox 23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629669750" name="Group 24"/>
          <p:cNvGrpSpPr/>
          <p:nvPr/>
        </p:nvGrpSpPr>
        <p:grpSpPr bwMode="auto">
          <a:xfrm rot="0">
            <a:off x="2646186" y="4584326"/>
            <a:ext cx="2147449" cy="1321686"/>
            <a:chOff x="0" y="0"/>
            <a:chExt cx="848375" cy="522148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6" name="TextBox 26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473875517" name="Group 27"/>
          <p:cNvGrpSpPr/>
          <p:nvPr/>
        </p:nvGrpSpPr>
        <p:grpSpPr bwMode="auto">
          <a:xfrm rot="0">
            <a:off x="7398284" y="1483448"/>
            <a:ext cx="2147449" cy="1321686"/>
            <a:chOff x="0" y="0"/>
            <a:chExt cx="848375" cy="522148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9" name="TextBox 29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2023228138" name="Group 30"/>
          <p:cNvGrpSpPr/>
          <p:nvPr/>
        </p:nvGrpSpPr>
        <p:grpSpPr bwMode="auto">
          <a:xfrm rot="0">
            <a:off x="7398284" y="4584631"/>
            <a:ext cx="2147449" cy="1321686"/>
            <a:chOff x="0" y="0"/>
            <a:chExt cx="848375" cy="522148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32" name="TextBox 32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513619917" name="Freeform 34"/>
          <p:cNvSpPr/>
          <p:nvPr/>
        </p:nvSpPr>
        <p:spPr bwMode="auto">
          <a:xfrm rot="0" flipH="0" flipV="0">
            <a:off x="7596466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822310973" name="TextBox 35"/>
          <p:cNvSpPr txBox="1"/>
          <p:nvPr/>
        </p:nvSpPr>
        <p:spPr bwMode="auto">
          <a:xfrm rot="0" flipH="0" flipV="0">
            <a:off x="7596466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Üksus (N)</a:t>
            </a:r>
            <a:endParaRPr sz="1400"/>
          </a:p>
        </p:txBody>
      </p:sp>
      <p:sp>
        <p:nvSpPr>
          <p:cNvPr id="781212520" name="AutoShape 36"/>
          <p:cNvSpPr/>
          <p:nvPr/>
        </p:nvSpPr>
        <p:spPr bwMode="auto">
          <a:xfrm flipH="1" flipV="1">
            <a:off x="4595452" y="3694883"/>
            <a:ext cx="300101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922665360" name="TextBox 37"/>
          <p:cNvSpPr txBox="1"/>
          <p:nvPr/>
        </p:nvSpPr>
        <p:spPr bwMode="auto">
          <a:xfrm rot="0">
            <a:off x="7452798" y="854965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Peremees B</a:t>
            </a:r>
            <a:endParaRPr/>
          </a:p>
        </p:txBody>
      </p:sp>
      <p:sp>
        <p:nvSpPr>
          <p:cNvPr id="200154525" name="TextBox 38"/>
          <p:cNvSpPr txBox="1"/>
          <p:nvPr/>
        </p:nvSpPr>
        <p:spPr bwMode="auto">
          <a:xfrm rot="0">
            <a:off x="324732" y="1955072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Ülemised kihid</a:t>
            </a:r>
            <a:endParaRPr sz="1400"/>
          </a:p>
        </p:txBody>
      </p:sp>
      <p:sp>
        <p:nvSpPr>
          <p:cNvPr id="2122549492" name="TextBox 39"/>
          <p:cNvSpPr txBox="1"/>
          <p:nvPr/>
        </p:nvSpPr>
        <p:spPr bwMode="auto">
          <a:xfrm rot="0">
            <a:off x="324732" y="5056255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Alumised kihid</a:t>
            </a:r>
            <a:endParaRPr sz="1400"/>
          </a:p>
        </p:txBody>
      </p:sp>
      <p:sp>
        <p:nvSpPr>
          <p:cNvPr id="1748119262" name="TextBox 40"/>
          <p:cNvSpPr txBox="1"/>
          <p:nvPr/>
        </p:nvSpPr>
        <p:spPr bwMode="auto">
          <a:xfrm rot="0">
            <a:off x="5076749" y="2132338"/>
            <a:ext cx="2040214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 Bold Italics"/>
              </a:rPr>
              <a:t>Teenuse primitiivne (N)</a:t>
            </a:r>
            <a:endParaRPr sz="1200"/>
          </a:p>
        </p:txBody>
      </p:sp>
      <p:sp>
        <p:nvSpPr>
          <p:cNvPr id="923848052" name="TextBox 41"/>
          <p:cNvSpPr txBox="1"/>
          <p:nvPr/>
        </p:nvSpPr>
        <p:spPr bwMode="auto">
          <a:xfrm rot="0">
            <a:off x="5076749" y="4527174"/>
            <a:ext cx="2040215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Teenuse primitiivne</a:t>
            </a:r>
            <a:endParaRPr lang="en-US" sz="1600" b="1" i="1">
              <a:solidFill>
                <a:srgbClr val="000000"/>
              </a:solidFill>
              <a:latin typeface="IBM Plex Sans Bold Italics"/>
              <a:ea typeface="IBM Plex Sans Bold Italics"/>
              <a:cs typeface="IBM Plex Sans Bold Italics"/>
            </a:endParaRPr>
          </a:p>
          <a:p>
            <a:pPr algn="ctr">
              <a:lnSpc>
                <a:spcPct val="100000"/>
              </a:lnSpc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(N - 1)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05734142" name=""/>
          <p:cNvCxnSpPr/>
          <p:nvPr/>
        </p:nvCxnSpPr>
        <p:spPr bwMode="auto">
          <a:xfrm flipH="0" flipV="0">
            <a:off x="4939095" y="1143000"/>
            <a:ext cx="0" cy="4909038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951058" name=""/>
          <p:cNvCxnSpPr/>
          <p:nvPr/>
        </p:nvCxnSpPr>
        <p:spPr bwMode="auto">
          <a:xfrm flipH="0" flipV="0">
            <a:off x="7245611" y="1294128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106244" name=""/>
          <p:cNvCxnSpPr/>
          <p:nvPr/>
        </p:nvCxnSpPr>
        <p:spPr bwMode="auto">
          <a:xfrm flipH="0" flipV="0">
            <a:off x="2606203" y="1175985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391024" name=""/>
          <p:cNvCxnSpPr/>
          <p:nvPr/>
        </p:nvCxnSpPr>
        <p:spPr bwMode="auto">
          <a:xfrm flipH="0" flipV="1">
            <a:off x="447692" y="2066192"/>
            <a:ext cx="8975480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6061529" name=""/>
          <p:cNvCxnSpPr/>
          <p:nvPr/>
        </p:nvCxnSpPr>
        <p:spPr bwMode="auto">
          <a:xfrm rot="0" flipH="0" flipV="0">
            <a:off x="484326" y="3429000"/>
            <a:ext cx="9085487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9770362" name=""/>
          <p:cNvCxnSpPr/>
          <p:nvPr/>
        </p:nvCxnSpPr>
        <p:spPr bwMode="auto">
          <a:xfrm flipH="0" flipV="1">
            <a:off x="352442" y="4791807"/>
            <a:ext cx="9224596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8295143" name="Group 3"/>
          <p:cNvGrpSpPr/>
          <p:nvPr/>
        </p:nvGrpSpPr>
        <p:grpSpPr bwMode="auto">
          <a:xfrm rot="0">
            <a:off x="2934517" y="3241484"/>
            <a:ext cx="1658343" cy="375032"/>
            <a:chOff x="0" y="0"/>
            <a:chExt cx="655148" cy="148161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1849177039" name="Group 6"/>
          <p:cNvGrpSpPr/>
          <p:nvPr/>
        </p:nvGrpSpPr>
        <p:grpSpPr bwMode="auto">
          <a:xfrm rot="0">
            <a:off x="2934517" y="4640313"/>
            <a:ext cx="1658343" cy="375032"/>
            <a:chOff x="0" y="0"/>
            <a:chExt cx="655148" cy="148161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395144349" name="Group 9"/>
          <p:cNvGrpSpPr/>
          <p:nvPr/>
        </p:nvGrpSpPr>
        <p:grpSpPr bwMode="auto">
          <a:xfrm rot="0">
            <a:off x="7602270" y="3241484"/>
            <a:ext cx="1658343" cy="375032"/>
            <a:chOff x="0" y="0"/>
            <a:chExt cx="655148" cy="148161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257575320" name="Group 12"/>
          <p:cNvGrpSpPr/>
          <p:nvPr/>
        </p:nvGrpSpPr>
        <p:grpSpPr bwMode="auto">
          <a:xfrm rot="0">
            <a:off x="7602270" y="4640313"/>
            <a:ext cx="1658343" cy="375032"/>
            <a:chOff x="0" y="0"/>
            <a:chExt cx="655148" cy="148161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sp>
        <p:nvSpPr>
          <p:cNvPr id="487897289" name="AutoShape 15"/>
          <p:cNvSpPr/>
          <p:nvPr/>
        </p:nvSpPr>
        <p:spPr bwMode="auto">
          <a:xfrm flipH="1" flipV="1">
            <a:off x="9260614" y="3429000"/>
            <a:ext cx="942973" cy="36207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4612345" name="TextBox 16"/>
          <p:cNvSpPr txBox="1"/>
          <p:nvPr/>
        </p:nvSpPr>
        <p:spPr bwMode="auto">
          <a:xfrm rot="0" flipH="0" flipV="0">
            <a:off x="10296545" y="3752969"/>
            <a:ext cx="1822661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 Italics"/>
              </a:rPr>
              <a:t>Teenuste juurdepääsuliidesed</a:t>
            </a:r>
            <a:endParaRPr sz="1200"/>
          </a:p>
        </p:txBody>
      </p:sp>
      <p:sp>
        <p:nvSpPr>
          <p:cNvPr id="502010733" name="AutoShape 17"/>
          <p:cNvSpPr/>
          <p:nvPr/>
        </p:nvSpPr>
        <p:spPr bwMode="auto">
          <a:xfrm flipH="1">
            <a:off x="9260614" y="4445120"/>
            <a:ext cx="942973" cy="3827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06520795" name="AutoShape 18"/>
          <p:cNvSpPr/>
          <p:nvPr/>
        </p:nvSpPr>
        <p:spPr bwMode="auto">
          <a:xfrm flipV="1">
            <a:off x="8431442" y="3069018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25168503" name="AutoShape 19"/>
          <p:cNvSpPr/>
          <p:nvPr/>
        </p:nvSpPr>
        <p:spPr bwMode="auto">
          <a:xfrm flipV="1">
            <a:off x="3763689" y="3067974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28322436" name="AutoShape 20"/>
          <p:cNvSpPr/>
          <p:nvPr/>
        </p:nvSpPr>
        <p:spPr bwMode="auto">
          <a:xfrm flipV="1">
            <a:off x="8426679" y="4467325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26132224" name="AutoShape 21"/>
          <p:cNvSpPr/>
          <p:nvPr/>
        </p:nvSpPr>
        <p:spPr bwMode="auto">
          <a:xfrm flipV="1">
            <a:off x="3758927" y="4466281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51805742" name="AutoShape 22"/>
          <p:cNvSpPr/>
          <p:nvPr/>
        </p:nvSpPr>
        <p:spPr bwMode="auto">
          <a:xfrm flipH="1">
            <a:off x="6986738" y="5189377"/>
            <a:ext cx="1179850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16062590" name="AutoShape 23"/>
          <p:cNvSpPr/>
          <p:nvPr/>
        </p:nvSpPr>
        <p:spPr bwMode="auto">
          <a:xfrm>
            <a:off x="3962544" y="5189377"/>
            <a:ext cx="1184412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10836571" name="AutoShape 24"/>
          <p:cNvSpPr/>
          <p:nvPr/>
        </p:nvSpPr>
        <p:spPr bwMode="auto">
          <a:xfrm flipH="0" flipV="1">
            <a:off x="3958296" y="2793999"/>
            <a:ext cx="1106640" cy="271917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2944246" name="AutoShape 25"/>
          <p:cNvSpPr/>
          <p:nvPr/>
        </p:nvSpPr>
        <p:spPr bwMode="auto">
          <a:xfrm flipH="1" flipV="1">
            <a:off x="7160437" y="2793999"/>
            <a:ext cx="938403" cy="3203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53907548" name="AutoShape 26"/>
          <p:cNvSpPr/>
          <p:nvPr/>
        </p:nvSpPr>
        <p:spPr bwMode="auto">
          <a:xfrm flipH="1">
            <a:off x="4374686" y="4118095"/>
            <a:ext cx="34309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691891053" name=""/>
          <p:cNvSpPr txBox="1"/>
          <p:nvPr/>
        </p:nvSpPr>
        <p:spPr bwMode="auto">
          <a:xfrm rot="0" flipH="0" flipV="0">
            <a:off x="493974" y="2570542"/>
            <a:ext cx="202831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Kiht (N+1)</a:t>
            </a:r>
            <a:endParaRPr lang="en-US" sz="1100"/>
          </a:p>
        </p:txBody>
      </p:sp>
      <p:sp>
        <p:nvSpPr>
          <p:cNvPr id="1624587841" name=""/>
          <p:cNvSpPr txBox="1"/>
          <p:nvPr/>
        </p:nvSpPr>
        <p:spPr bwMode="auto">
          <a:xfrm rot="0" flipH="0" flipV="0">
            <a:off x="573234" y="3894638"/>
            <a:ext cx="167135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Kiht (N)</a:t>
            </a:r>
            <a:endParaRPr lang="en-US" sz="1100"/>
          </a:p>
        </p:txBody>
      </p:sp>
      <p:sp>
        <p:nvSpPr>
          <p:cNvPr id="431731150" name=""/>
          <p:cNvSpPr txBox="1"/>
          <p:nvPr/>
        </p:nvSpPr>
        <p:spPr bwMode="auto">
          <a:xfrm rot="0" flipH="0" flipV="0">
            <a:off x="572514" y="5334622"/>
            <a:ext cx="167207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Kiht (N-1)</a:t>
            </a:r>
            <a:endParaRPr lang="en-US" sz="1100"/>
          </a:p>
        </p:txBody>
      </p:sp>
      <p:sp>
        <p:nvSpPr>
          <p:cNvPr id="1158586321" name=""/>
          <p:cNvSpPr txBox="1"/>
          <p:nvPr/>
        </p:nvSpPr>
        <p:spPr bwMode="auto">
          <a:xfrm rot="0" flipH="0" flipV="0">
            <a:off x="2689784" y="1175985"/>
            <a:ext cx="209652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Süsteem A</a:t>
            </a:r>
            <a:endParaRPr lang="en-US" sz="1100"/>
          </a:p>
        </p:txBody>
      </p:sp>
      <p:sp>
        <p:nvSpPr>
          <p:cNvPr id="2059706210" name=""/>
          <p:cNvSpPr txBox="1"/>
          <p:nvPr/>
        </p:nvSpPr>
        <p:spPr bwMode="auto">
          <a:xfrm rot="0" flipH="0" flipV="0">
            <a:off x="7426192" y="1175985"/>
            <a:ext cx="2056675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Süsteem B</a:t>
            </a:r>
            <a:endParaRPr lang="en-US" sz="1100"/>
          </a:p>
        </p:txBody>
      </p:sp>
      <p:sp>
        <p:nvSpPr>
          <p:cNvPr id="64038582" name=""/>
          <p:cNvSpPr txBox="1"/>
          <p:nvPr/>
        </p:nvSpPr>
        <p:spPr bwMode="auto">
          <a:xfrm rot="0" flipH="0" flipV="0">
            <a:off x="7882287" y="3894997"/>
            <a:ext cx="1775122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üksus B</a:t>
            </a:r>
            <a:endParaRPr lang="en-US" sz="1000"/>
          </a:p>
        </p:txBody>
      </p:sp>
      <p:sp>
        <p:nvSpPr>
          <p:cNvPr id="1042501510" name=""/>
          <p:cNvSpPr txBox="1"/>
          <p:nvPr/>
        </p:nvSpPr>
        <p:spPr bwMode="auto">
          <a:xfrm rot="0" flipH="0" flipV="0">
            <a:off x="2689783" y="3895357"/>
            <a:ext cx="1586230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üksus A</a:t>
            </a:r>
            <a:endParaRPr lang="en-US" sz="1000"/>
          </a:p>
        </p:txBody>
      </p:sp>
      <p:sp>
        <p:nvSpPr>
          <p:cNvPr id="1630513010" name=""/>
          <p:cNvSpPr txBox="1"/>
          <p:nvPr/>
        </p:nvSpPr>
        <p:spPr bwMode="auto">
          <a:xfrm rot="0" flipH="0" flipV="0">
            <a:off x="5229373" y="5111165"/>
            <a:ext cx="1572561" cy="80274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38B6FF"/>
                </a:solidFill>
                <a:latin typeface="IBM Plex Sans Bold"/>
              </a:rPr>
              <a:t>N-1 kihi teenus</a:t>
            </a:r>
            <a:endParaRPr lang="en-US" sz="1000"/>
          </a:p>
        </p:txBody>
      </p:sp>
      <p:sp>
        <p:nvSpPr>
          <p:cNvPr id="1026902947" name=""/>
          <p:cNvSpPr txBox="1"/>
          <p:nvPr/>
        </p:nvSpPr>
        <p:spPr bwMode="auto">
          <a:xfrm rot="0" flipH="0" flipV="0">
            <a:off x="5105958" y="2507240"/>
            <a:ext cx="1969169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FF5C00"/>
                </a:solidFill>
                <a:latin typeface="IBM Plex Sans Bold"/>
              </a:rPr>
              <a:t>N-kihi teenus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480942" name="Freeform 2"/>
          <p:cNvSpPr/>
          <p:nvPr/>
        </p:nvSpPr>
        <p:spPr bwMode="auto">
          <a:xfrm rot="-5400000" flipH="0" flipV="0">
            <a:off x="2326421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758674" name="AutoShape 3"/>
          <p:cNvSpPr/>
          <p:nvPr/>
        </p:nvSpPr>
        <p:spPr bwMode="auto">
          <a:xfrm flipH="1" flipV="1">
            <a:off x="2440362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68316010" name="AutoShape 4"/>
          <p:cNvSpPr/>
          <p:nvPr/>
        </p:nvSpPr>
        <p:spPr bwMode="auto">
          <a:xfrm flipH="1" flipV="1">
            <a:off x="4888353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693576201" name="AutoShape 5"/>
          <p:cNvSpPr/>
          <p:nvPr/>
        </p:nvSpPr>
        <p:spPr bwMode="auto">
          <a:xfrm flipH="1" flipV="1">
            <a:off x="7336345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205653456" name="AutoShape 6"/>
          <p:cNvSpPr/>
          <p:nvPr/>
        </p:nvSpPr>
        <p:spPr bwMode="auto">
          <a:xfrm flipV="1">
            <a:off x="9797216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52441831" name="Group 7"/>
          <p:cNvGrpSpPr/>
          <p:nvPr/>
        </p:nvGrpSpPr>
        <p:grpSpPr bwMode="auto">
          <a:xfrm rot="0">
            <a:off x="3589133" y="1889338"/>
            <a:ext cx="156097" cy="1560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954150474" name="TextBox 10"/>
          <p:cNvSpPr txBox="1"/>
          <p:nvPr/>
        </p:nvSpPr>
        <p:spPr bwMode="auto">
          <a:xfrm rot="0">
            <a:off x="1421153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426559389" name="TextBox 11"/>
          <p:cNvSpPr txBox="1"/>
          <p:nvPr/>
        </p:nvSpPr>
        <p:spPr bwMode="auto">
          <a:xfrm rot="0">
            <a:off x="3869144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797456018" name="TextBox 12"/>
          <p:cNvSpPr txBox="1"/>
          <p:nvPr/>
        </p:nvSpPr>
        <p:spPr bwMode="auto">
          <a:xfrm rot="0">
            <a:off x="6317136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732664665" name="TextBox 13"/>
          <p:cNvSpPr txBox="1"/>
          <p:nvPr/>
        </p:nvSpPr>
        <p:spPr bwMode="auto">
          <a:xfrm rot="0">
            <a:off x="8763720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177442581" name="TextBox 14"/>
          <p:cNvSpPr txBox="1"/>
          <p:nvPr/>
        </p:nvSpPr>
        <p:spPr bwMode="auto">
          <a:xfrm rot="0">
            <a:off x="6398803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847968032" name="TextBox 15"/>
          <p:cNvSpPr txBox="1"/>
          <p:nvPr/>
        </p:nvSpPr>
        <p:spPr bwMode="auto">
          <a:xfrm rot="0">
            <a:off x="8845387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1772654862" name="TextBox 16"/>
          <p:cNvSpPr txBox="1"/>
          <p:nvPr/>
        </p:nvSpPr>
        <p:spPr bwMode="auto">
          <a:xfrm rot="0">
            <a:off x="3952932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002819943" name="TextBox 17"/>
          <p:cNvSpPr txBox="1"/>
          <p:nvPr/>
        </p:nvSpPr>
        <p:spPr bwMode="auto">
          <a:xfrm rot="0">
            <a:off x="1506348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358062341" name="Group 18"/>
          <p:cNvGrpSpPr/>
          <p:nvPr/>
        </p:nvGrpSpPr>
        <p:grpSpPr bwMode="auto">
          <a:xfrm rot="0">
            <a:off x="6037565" y="1889338"/>
            <a:ext cx="156097" cy="15609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grpSp>
        <p:nvGrpSpPr>
          <p:cNvPr id="324224604" name="Group 21"/>
          <p:cNvGrpSpPr/>
          <p:nvPr/>
        </p:nvGrpSpPr>
        <p:grpSpPr bwMode="auto">
          <a:xfrm rot="0">
            <a:off x="8483437" y="1889338"/>
            <a:ext cx="156097" cy="15609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TextBox 23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465188183" name="Freeform 24"/>
          <p:cNvSpPr/>
          <p:nvPr/>
        </p:nvSpPr>
        <p:spPr bwMode="auto">
          <a:xfrm rot="-5400000" flipH="0" flipV="0">
            <a:off x="4805703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61458234" name="TextBox 25"/>
          <p:cNvSpPr txBox="1"/>
          <p:nvPr/>
        </p:nvSpPr>
        <p:spPr bwMode="auto">
          <a:xfrm rot="0">
            <a:off x="1389863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bait</a:t>
            </a:r>
            <a:endParaRPr/>
          </a:p>
        </p:txBody>
      </p:sp>
      <p:sp>
        <p:nvSpPr>
          <p:cNvPr id="931394104" name="TextBox 26"/>
          <p:cNvSpPr txBox="1"/>
          <p:nvPr/>
        </p:nvSpPr>
        <p:spPr bwMode="auto">
          <a:xfrm rot="0">
            <a:off x="3871265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bitti</a:t>
            </a:r>
            <a:endParaRPr/>
          </a:p>
        </p:txBody>
      </p:sp>
      <p:sp>
        <p:nvSpPr>
          <p:cNvPr id="1111668643" name="TextBox 27"/>
          <p:cNvSpPr txBox="1"/>
          <p:nvPr/>
        </p:nvSpPr>
        <p:spPr bwMode="auto">
          <a:xfrm rot="0">
            <a:off x="3234838" y="3543499"/>
            <a:ext cx="86468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454958320" name="TextBox 29"/>
          <p:cNvSpPr txBox="1"/>
          <p:nvPr/>
        </p:nvSpPr>
        <p:spPr bwMode="auto">
          <a:xfrm rot="0">
            <a:off x="4064040" y="5003065"/>
            <a:ext cx="40987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bitti (4 * 8) ehk 4 baiti</a:t>
            </a:r>
            <a:endParaRPr/>
          </a:p>
        </p:txBody>
      </p:sp>
      <p:sp>
        <p:nvSpPr>
          <p:cNvPr id="771192424" name=""/>
          <p:cNvSpPr/>
          <p:nvPr/>
        </p:nvSpPr>
        <p:spPr bwMode="auto">
          <a:xfrm rot="5399976" flipH="0" flipV="0">
            <a:off x="5929718" y="159577"/>
            <a:ext cx="442882" cy="8440904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006354" name="Freeform 2"/>
          <p:cNvSpPr/>
          <p:nvPr/>
        </p:nvSpPr>
        <p:spPr bwMode="auto">
          <a:xfrm rot="0" flipH="0" flipV="0">
            <a:off x="2541247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94137090" name="Freeform 3"/>
          <p:cNvSpPr/>
          <p:nvPr/>
        </p:nvSpPr>
        <p:spPr bwMode="auto">
          <a:xfrm rot="0" flipH="0" flipV="0">
            <a:off x="5496265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03446719" name="Freeform 4"/>
          <p:cNvSpPr/>
          <p:nvPr/>
        </p:nvSpPr>
        <p:spPr bwMode="auto">
          <a:xfrm rot="0" flipH="0" flipV="0">
            <a:off x="402057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67964583" name="Freeform 5"/>
          <p:cNvSpPr/>
          <p:nvPr/>
        </p:nvSpPr>
        <p:spPr bwMode="auto">
          <a:xfrm rot="0" flipH="0" flipV="0">
            <a:off x="697196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4203982" name="Freeform 6"/>
          <p:cNvSpPr/>
          <p:nvPr/>
        </p:nvSpPr>
        <p:spPr bwMode="auto">
          <a:xfrm rot="0" flipH="0" flipV="0">
            <a:off x="9926978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82813252" name="Freeform 7"/>
          <p:cNvSpPr/>
          <p:nvPr/>
        </p:nvSpPr>
        <p:spPr bwMode="auto">
          <a:xfrm rot="0" flipH="0" flipV="0">
            <a:off x="8451283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grpSp>
        <p:nvGrpSpPr>
          <p:cNvPr id="419651694" name="Group 8"/>
          <p:cNvGrpSpPr/>
          <p:nvPr/>
        </p:nvGrpSpPr>
        <p:grpSpPr bwMode="auto">
          <a:xfrm rot="0">
            <a:off x="1065552" y="1846862"/>
            <a:ext cx="1199470" cy="1247095"/>
            <a:chOff x="0" y="0"/>
            <a:chExt cx="1599293" cy="166279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63500"/>
              <a:ext cx="1599293" cy="1599293"/>
            </a:xfrm>
            <a:custGeom>
              <a:avLst/>
              <a:gdLst/>
              <a:ahLst/>
              <a:cxnLst/>
              <a:rect l="l" t="t" r="r" b="b"/>
              <a:pathLst>
                <a:path w="1599293" h="1599293" fill="norm" stroke="1" extrusionOk="0">
                  <a:moveTo>
                    <a:pt x="0" y="0"/>
                  </a:moveTo>
                  <a:lnTo>
                    <a:pt x="1599293" y="0"/>
                  </a:lnTo>
                  <a:lnTo>
                    <a:pt x="1599293" y="1599293"/>
                  </a:lnTo>
                  <a:lnTo>
                    <a:pt x="0" y="1599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0" name="AutoShape 10"/>
            <p:cNvSpPr/>
            <p:nvPr/>
          </p:nvSpPr>
          <p:spPr bwMode="auto">
            <a:xfrm flipV="1">
              <a:off x="571107" y="31750"/>
              <a:ext cx="456729" cy="454315"/>
            </a:xfrm>
            <a:prstGeom prst="line">
              <a:avLst/>
            </a:prstGeom>
            <a:grpFill/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 bwMode="auto">
            <a:xfrm flipV="1">
              <a:off x="400927" y="317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 bwMode="auto">
            <a:xfrm flipV="1">
              <a:off x="0" y="4993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 bwMode="auto">
            <a:xfrm flipV="1">
              <a:off x="582191" y="467600"/>
              <a:ext cx="0" cy="1195193"/>
            </a:xfrm>
            <a:prstGeom prst="line">
              <a:avLst/>
            </a:prstGeom>
            <a:grpFill/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645606874" name="Freeform 14"/>
          <p:cNvSpPr/>
          <p:nvPr/>
        </p:nvSpPr>
        <p:spPr bwMode="auto">
          <a:xfrm rot="-5400000" flipH="0" flipV="0">
            <a:off x="4441925" y="1355204"/>
            <a:ext cx="353132" cy="4154488"/>
          </a:xfrm>
          <a:custGeom>
            <a:avLst/>
            <a:gdLst/>
            <a:ahLst/>
            <a:cxnLst/>
            <a:rect l="l" t="t" r="r" b="b"/>
            <a:pathLst>
              <a:path w="353132" h="4154488" fill="norm" stroke="1" extrusionOk="0">
                <a:moveTo>
                  <a:pt x="0" y="0"/>
                </a:moveTo>
                <a:lnTo>
                  <a:pt x="353132" y="0"/>
                </a:lnTo>
                <a:lnTo>
                  <a:pt x="353132" y="4154488"/>
                </a:lnTo>
                <a:lnTo>
                  <a:pt x="0" y="4154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105486719" name="TextBox 15"/>
          <p:cNvSpPr txBox="1"/>
          <p:nvPr/>
        </p:nvSpPr>
        <p:spPr bwMode="auto">
          <a:xfrm rot="0" flipH="0" flipV="0">
            <a:off x="2589952" y="3628062"/>
            <a:ext cx="409338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Tootja ID</a:t>
            </a:r>
            <a:endParaRPr/>
          </a:p>
        </p:txBody>
      </p:sp>
      <p:sp>
        <p:nvSpPr>
          <p:cNvPr id="347327991" name="TextBox 16"/>
          <p:cNvSpPr txBox="1"/>
          <p:nvPr/>
        </p:nvSpPr>
        <p:spPr bwMode="auto">
          <a:xfrm rot="0" flipH="0" flipV="0">
            <a:off x="1665285" y="4612024"/>
            <a:ext cx="7532955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Kohalik aadress: 1 / Unikaalne aadress: 0</a:t>
            </a:r>
            <a:endParaRPr/>
          </a:p>
        </p:txBody>
      </p:sp>
      <p:sp>
        <p:nvSpPr>
          <p:cNvPr id="718679290" name="TextBox 17"/>
          <p:cNvSpPr txBox="1"/>
          <p:nvPr/>
        </p:nvSpPr>
        <p:spPr bwMode="auto">
          <a:xfrm rot="0">
            <a:off x="2840791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bitti</a:t>
            </a:r>
            <a:endParaRPr/>
          </a:p>
        </p:txBody>
      </p:sp>
      <p:sp>
        <p:nvSpPr>
          <p:cNvPr id="163862867" name="AutoShape 18"/>
          <p:cNvSpPr/>
          <p:nvPr/>
        </p:nvSpPr>
        <p:spPr bwMode="auto">
          <a:xfrm flipH="1">
            <a:off x="432011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2967648" name="AutoShape 19"/>
          <p:cNvSpPr/>
          <p:nvPr/>
        </p:nvSpPr>
        <p:spPr bwMode="auto">
          <a:xfrm flipH="1">
            <a:off x="284079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05878125" name="AutoShape 20"/>
          <p:cNvSpPr/>
          <p:nvPr/>
        </p:nvSpPr>
        <p:spPr bwMode="auto">
          <a:xfrm flipH="1">
            <a:off x="727150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0456384" name="AutoShape 21"/>
          <p:cNvSpPr/>
          <p:nvPr/>
        </p:nvSpPr>
        <p:spPr bwMode="auto">
          <a:xfrm flipH="1">
            <a:off x="579218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465328932" name="AutoShape 22"/>
          <p:cNvSpPr/>
          <p:nvPr/>
        </p:nvSpPr>
        <p:spPr bwMode="auto">
          <a:xfrm flipH="1">
            <a:off x="10226522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47146806" name="AutoShape 23"/>
          <p:cNvSpPr/>
          <p:nvPr/>
        </p:nvSpPr>
        <p:spPr bwMode="auto">
          <a:xfrm flipH="1">
            <a:off x="8747199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14465341" name="TextBox 24"/>
          <p:cNvSpPr txBox="1"/>
          <p:nvPr/>
        </p:nvSpPr>
        <p:spPr bwMode="auto">
          <a:xfrm rot="0">
            <a:off x="4320114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bitti</a:t>
            </a:r>
            <a:endParaRPr/>
          </a:p>
        </p:txBody>
      </p:sp>
      <p:sp>
        <p:nvSpPr>
          <p:cNvPr id="1290216451" name="TextBox 25"/>
          <p:cNvSpPr txBox="1"/>
          <p:nvPr/>
        </p:nvSpPr>
        <p:spPr bwMode="auto">
          <a:xfrm rot="0">
            <a:off x="5782335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bitti</a:t>
            </a:r>
            <a:endParaRPr/>
          </a:p>
        </p:txBody>
      </p:sp>
      <p:sp>
        <p:nvSpPr>
          <p:cNvPr id="879029851" name="TextBox 26"/>
          <p:cNvSpPr txBox="1"/>
          <p:nvPr/>
        </p:nvSpPr>
        <p:spPr bwMode="auto">
          <a:xfrm rot="0">
            <a:off x="7261658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bitti</a:t>
            </a:r>
            <a:endParaRPr/>
          </a:p>
        </p:txBody>
      </p:sp>
      <p:sp>
        <p:nvSpPr>
          <p:cNvPr id="2083669362" name="TextBox 27"/>
          <p:cNvSpPr txBox="1"/>
          <p:nvPr/>
        </p:nvSpPr>
        <p:spPr bwMode="auto">
          <a:xfrm rot="0">
            <a:off x="8747199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bitti</a:t>
            </a:r>
            <a:endParaRPr/>
          </a:p>
        </p:txBody>
      </p:sp>
      <p:sp>
        <p:nvSpPr>
          <p:cNvPr id="1471434235" name="TextBox 28"/>
          <p:cNvSpPr txBox="1"/>
          <p:nvPr/>
        </p:nvSpPr>
        <p:spPr bwMode="auto">
          <a:xfrm rot="0">
            <a:off x="10226522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bitti</a:t>
            </a:r>
            <a:endParaRPr/>
          </a:p>
        </p:txBody>
      </p:sp>
      <p:sp>
        <p:nvSpPr>
          <p:cNvPr id="1360988615" name="AutoShape 29"/>
          <p:cNvSpPr/>
          <p:nvPr/>
        </p:nvSpPr>
        <p:spPr bwMode="auto">
          <a:xfrm flipV="1">
            <a:off x="1748483" y="3093957"/>
            <a:ext cx="0" cy="14262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82050738" name="TextBox 30"/>
          <p:cNvSpPr txBox="1"/>
          <p:nvPr/>
        </p:nvSpPr>
        <p:spPr bwMode="auto">
          <a:xfrm rot="0" flipH="0" flipV="0">
            <a:off x="1184403" y="5266074"/>
            <a:ext cx="708544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Ringhääling: üldine 1 / suunatud 0</a:t>
            </a:r>
            <a:endParaRPr/>
          </a:p>
        </p:txBody>
      </p:sp>
      <p:sp>
        <p:nvSpPr>
          <p:cNvPr id="720985231" name="AutoShape 31"/>
          <p:cNvSpPr/>
          <p:nvPr/>
        </p:nvSpPr>
        <p:spPr bwMode="auto">
          <a:xfrm flipH="1" flipV="1">
            <a:off x="1272363" y="3093957"/>
            <a:ext cx="11895" cy="208033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460216" name="Freeform 2"/>
          <p:cNvSpPr/>
          <p:nvPr/>
        </p:nvSpPr>
        <p:spPr bwMode="auto">
          <a:xfrm rot="-5399977" flipH="0" flipV="0">
            <a:off x="2326420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20115232" name="AutoShape 3"/>
          <p:cNvSpPr/>
          <p:nvPr/>
        </p:nvSpPr>
        <p:spPr bwMode="auto">
          <a:xfrm flipH="1" flipV="1">
            <a:off x="244036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9720834" name="AutoShape 4"/>
          <p:cNvSpPr/>
          <p:nvPr/>
        </p:nvSpPr>
        <p:spPr bwMode="auto">
          <a:xfrm flipH="1" flipV="1">
            <a:off x="488835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874021603" name="AutoShape 5"/>
          <p:cNvSpPr/>
          <p:nvPr/>
        </p:nvSpPr>
        <p:spPr bwMode="auto">
          <a:xfrm flipH="1" flipV="1">
            <a:off x="7336344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4454979" name="AutoShape 6"/>
          <p:cNvSpPr/>
          <p:nvPr/>
        </p:nvSpPr>
        <p:spPr bwMode="auto">
          <a:xfrm flipV="1">
            <a:off x="9797216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795652471" name="Group 7"/>
          <p:cNvGrpSpPr/>
          <p:nvPr/>
        </p:nvGrpSpPr>
        <p:grpSpPr bwMode="auto">
          <a:xfrm rot="0">
            <a:off x="3589133" y="1889337"/>
            <a:ext cx="156096" cy="156096"/>
            <a:chOff x="0" y="0"/>
            <a:chExt cx="812799" cy="812799"/>
          </a:xfrm>
        </p:grpSpPr>
        <p:sp>
          <p:nvSpPr>
            <p:cNvPr id="1839748171" name="Freeform 8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4397303" name="TextBox 9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103919819" name="TextBox 10"/>
          <p:cNvSpPr txBox="1"/>
          <p:nvPr/>
        </p:nvSpPr>
        <p:spPr bwMode="auto">
          <a:xfrm rot="0">
            <a:off x="1421152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2107930086" name="TextBox 11"/>
          <p:cNvSpPr txBox="1"/>
          <p:nvPr/>
        </p:nvSpPr>
        <p:spPr bwMode="auto">
          <a:xfrm rot="0">
            <a:off x="3869143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675349559" name="TextBox 12"/>
          <p:cNvSpPr txBox="1"/>
          <p:nvPr/>
        </p:nvSpPr>
        <p:spPr bwMode="auto">
          <a:xfrm rot="0">
            <a:off x="6317136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118336549" name="TextBox 13"/>
          <p:cNvSpPr txBox="1"/>
          <p:nvPr/>
        </p:nvSpPr>
        <p:spPr bwMode="auto">
          <a:xfrm rot="0">
            <a:off x="8763720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2139526078" name="TextBox 14"/>
          <p:cNvSpPr txBox="1"/>
          <p:nvPr/>
        </p:nvSpPr>
        <p:spPr bwMode="auto">
          <a:xfrm rot="0">
            <a:off x="6398803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039035261" name="TextBox 15"/>
          <p:cNvSpPr txBox="1"/>
          <p:nvPr/>
        </p:nvSpPr>
        <p:spPr bwMode="auto">
          <a:xfrm rot="0">
            <a:off x="8845386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730506603" name="TextBox 16"/>
          <p:cNvSpPr txBox="1"/>
          <p:nvPr/>
        </p:nvSpPr>
        <p:spPr bwMode="auto">
          <a:xfrm rot="0">
            <a:off x="3952931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190567667" name="TextBox 17"/>
          <p:cNvSpPr txBox="1"/>
          <p:nvPr/>
        </p:nvSpPr>
        <p:spPr bwMode="auto">
          <a:xfrm rot="0">
            <a:off x="1506348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1353708748" name="Group 18"/>
          <p:cNvGrpSpPr/>
          <p:nvPr/>
        </p:nvGrpSpPr>
        <p:grpSpPr bwMode="auto">
          <a:xfrm rot="0">
            <a:off x="6037565" y="1889337"/>
            <a:ext cx="156096" cy="156096"/>
            <a:chOff x="0" y="0"/>
            <a:chExt cx="812799" cy="812799"/>
          </a:xfrm>
        </p:grpSpPr>
        <p:sp>
          <p:nvSpPr>
            <p:cNvPr id="744266653" name="Freeform 19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1914560" name="TextBox 20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grpSp>
        <p:nvGrpSpPr>
          <p:cNvPr id="198773872" name="Group 21"/>
          <p:cNvGrpSpPr/>
          <p:nvPr/>
        </p:nvGrpSpPr>
        <p:grpSpPr bwMode="auto">
          <a:xfrm rot="0">
            <a:off x="8483437" y="1889337"/>
            <a:ext cx="156096" cy="156096"/>
            <a:chOff x="0" y="0"/>
            <a:chExt cx="812799" cy="812799"/>
          </a:xfrm>
        </p:grpSpPr>
        <p:sp>
          <p:nvSpPr>
            <p:cNvPr id="1364283425" name="Freeform 22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54185778" name="TextBox 23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2096437321" name="Freeform 24"/>
          <p:cNvSpPr/>
          <p:nvPr/>
        </p:nvSpPr>
        <p:spPr bwMode="auto">
          <a:xfrm rot="-5399977" flipH="0" flipV="0">
            <a:off x="4805703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0682055" name="TextBox 25"/>
          <p:cNvSpPr txBox="1"/>
          <p:nvPr/>
        </p:nvSpPr>
        <p:spPr bwMode="auto">
          <a:xfrm rot="0">
            <a:off x="1389861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bait</a:t>
            </a:r>
            <a:endParaRPr/>
          </a:p>
        </p:txBody>
      </p:sp>
      <p:sp>
        <p:nvSpPr>
          <p:cNvPr id="1691506698" name="TextBox 26"/>
          <p:cNvSpPr txBox="1"/>
          <p:nvPr/>
        </p:nvSpPr>
        <p:spPr bwMode="auto">
          <a:xfrm rot="0">
            <a:off x="3871265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bitti</a:t>
            </a:r>
            <a:endParaRPr/>
          </a:p>
        </p:txBody>
      </p:sp>
      <p:sp>
        <p:nvSpPr>
          <p:cNvPr id="7722481" name="TextBox 27"/>
          <p:cNvSpPr txBox="1"/>
          <p:nvPr/>
        </p:nvSpPr>
        <p:spPr bwMode="auto">
          <a:xfrm rot="0">
            <a:off x="3234837" y="3543498"/>
            <a:ext cx="86468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259000740" name="TextBox 29"/>
          <p:cNvSpPr txBox="1"/>
          <p:nvPr/>
        </p:nvSpPr>
        <p:spPr bwMode="auto">
          <a:xfrm rot="0">
            <a:off x="4064040" y="5003064"/>
            <a:ext cx="409873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bitti (4 * 8) ehk 4 baiti</a:t>
            </a:r>
            <a:endParaRPr/>
          </a:p>
        </p:txBody>
      </p:sp>
      <p:sp>
        <p:nvSpPr>
          <p:cNvPr id="1725516651" name=""/>
          <p:cNvSpPr/>
          <p:nvPr/>
        </p:nvSpPr>
        <p:spPr bwMode="auto">
          <a:xfrm rot="5399942" flipH="0" flipV="0">
            <a:off x="5929718" y="159576"/>
            <a:ext cx="442881" cy="8440903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489755" name="AutoShape 2"/>
          <p:cNvSpPr/>
          <p:nvPr/>
        </p:nvSpPr>
        <p:spPr bwMode="auto">
          <a:xfrm>
            <a:off x="2416524" y="1657693"/>
            <a:ext cx="1278660" cy="63972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1607600357" name="Group 3"/>
          <p:cNvGrpSpPr/>
          <p:nvPr/>
        </p:nvGrpSpPr>
        <p:grpSpPr bwMode="auto">
          <a:xfrm rot="0">
            <a:off x="3228736" y="1875447"/>
            <a:ext cx="6807765" cy="3922206"/>
            <a:chOff x="0" y="0"/>
            <a:chExt cx="2189518" cy="1261462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227928178" name="Freeform 6"/>
          <p:cNvSpPr/>
          <p:nvPr/>
        </p:nvSpPr>
        <p:spPr bwMode="auto">
          <a:xfrm rot="0" flipH="0" flipV="0">
            <a:off x="7471489" y="21020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70338611" name="Freeform 7"/>
          <p:cNvSpPr/>
          <p:nvPr/>
        </p:nvSpPr>
        <p:spPr bwMode="auto">
          <a:xfrm rot="0" flipH="0" flipV="0">
            <a:off x="4574674" y="36682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91820724" name="Freeform 8"/>
          <p:cNvSpPr/>
          <p:nvPr/>
        </p:nvSpPr>
        <p:spPr bwMode="auto">
          <a:xfrm rot="0" flipH="0" flipV="0">
            <a:off x="7157173" y="3836550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43715479" name="Freeform 9"/>
          <p:cNvSpPr/>
          <p:nvPr/>
        </p:nvSpPr>
        <p:spPr bwMode="auto">
          <a:xfrm rot="0" flipH="0" flipV="0">
            <a:off x="3695185" y="1506881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7" y="0"/>
                </a:lnTo>
                <a:lnTo>
                  <a:pt x="1155617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7238015" name="Freeform 10"/>
          <p:cNvSpPr/>
          <p:nvPr/>
        </p:nvSpPr>
        <p:spPr bwMode="auto">
          <a:xfrm rot="0" flipH="0" flipV="0">
            <a:off x="480744" y="406437"/>
            <a:ext cx="2363722" cy="1890978"/>
          </a:xfrm>
          <a:custGeom>
            <a:avLst/>
            <a:gdLst/>
            <a:ahLst/>
            <a:cxnLst/>
            <a:rect l="l" t="t" r="r" b="b"/>
            <a:pathLst>
              <a:path w="2363722" h="1890978" fill="norm" stroke="1" extrusionOk="0">
                <a:moveTo>
                  <a:pt x="0" y="0"/>
                </a:moveTo>
                <a:lnTo>
                  <a:pt x="2363723" y="0"/>
                </a:lnTo>
                <a:lnTo>
                  <a:pt x="2363723" y="1890978"/>
                </a:lnTo>
                <a:lnTo>
                  <a:pt x="0" y="1890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559986577" name="TextBox 11"/>
          <p:cNvSpPr txBox="1"/>
          <p:nvPr/>
        </p:nvSpPr>
        <p:spPr bwMode="auto">
          <a:xfrm rot="0" flipH="0" flipV="0">
            <a:off x="2881274" y="293451"/>
            <a:ext cx="2885216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Server, millel on marsruutimine ja kaugjuurdepääs</a:t>
            </a:r>
            <a:endParaRPr sz="1400"/>
          </a:p>
        </p:txBody>
      </p:sp>
      <p:sp>
        <p:nvSpPr>
          <p:cNvPr id="1042505645" name="TextBox 12"/>
          <p:cNvSpPr txBox="1"/>
          <p:nvPr/>
        </p:nvSpPr>
        <p:spPr bwMode="auto">
          <a:xfrm rot="0">
            <a:off x="443937" y="1084606"/>
            <a:ext cx="243733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2500" lang="en-US">
                <a:solidFill>
                  <a:srgbClr val="FFFFFF"/>
                </a:solidFill>
                <a:latin typeface="IBM Plex Sans"/>
              </a:rPr>
              <a:t>INTERNET</a:t>
            </a:r>
            <a:endParaRPr/>
          </a:p>
        </p:txBody>
      </p:sp>
      <p:sp>
        <p:nvSpPr>
          <p:cNvPr id="38634916" name="AutoShape 13"/>
          <p:cNvSpPr/>
          <p:nvPr/>
        </p:nvSpPr>
        <p:spPr bwMode="auto">
          <a:xfrm flipH="1">
            <a:off x="4850802" y="1657693"/>
            <a:ext cx="969235" cy="99474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3755711" name="AutoShape 14"/>
          <p:cNvSpPr/>
          <p:nvPr/>
        </p:nvSpPr>
        <p:spPr bwMode="auto">
          <a:xfrm>
            <a:off x="4850802" y="2888733"/>
            <a:ext cx="2177193" cy="116694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3467495" name="AutoShape 15"/>
          <p:cNvSpPr/>
          <p:nvPr/>
        </p:nvSpPr>
        <p:spPr bwMode="auto">
          <a:xfrm>
            <a:off x="4704637" y="3087949"/>
            <a:ext cx="176812" cy="58030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6872380" name="AutoShape 16"/>
          <p:cNvSpPr/>
          <p:nvPr/>
        </p:nvSpPr>
        <p:spPr bwMode="auto">
          <a:xfrm>
            <a:off x="5003202" y="2676021"/>
            <a:ext cx="2269881" cy="5230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74608320" name="TextBox 17"/>
          <p:cNvSpPr txBox="1"/>
          <p:nvPr/>
        </p:nvSpPr>
        <p:spPr bwMode="auto">
          <a:xfrm rot="0">
            <a:off x="784219" y="267968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157.54.130.1</a:t>
            </a:r>
            <a:endParaRPr/>
          </a:p>
        </p:txBody>
      </p:sp>
      <p:sp>
        <p:nvSpPr>
          <p:cNvPr id="624403496" name="TextBox 18"/>
          <p:cNvSpPr txBox="1"/>
          <p:nvPr/>
        </p:nvSpPr>
        <p:spPr bwMode="auto">
          <a:xfrm rot="0">
            <a:off x="5433421" y="1317969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</a:t>
            </a:r>
            <a:endParaRPr/>
          </a:p>
        </p:txBody>
      </p:sp>
      <p:sp>
        <p:nvSpPr>
          <p:cNvPr id="1627102658" name="TextBox 19"/>
          <p:cNvSpPr txBox="1"/>
          <p:nvPr/>
        </p:nvSpPr>
        <p:spPr bwMode="auto">
          <a:xfrm rot="0">
            <a:off x="1662605" y="560874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192.168.20.122</a:t>
            </a:r>
            <a:endParaRPr/>
          </a:p>
        </p:txBody>
      </p:sp>
      <p:sp>
        <p:nvSpPr>
          <p:cNvPr id="1850612717" name="TextBox 20"/>
          <p:cNvSpPr txBox="1"/>
          <p:nvPr/>
        </p:nvSpPr>
        <p:spPr bwMode="auto">
          <a:xfrm rot="0">
            <a:off x="8293905" y="6111837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192.168.20.121</a:t>
            </a:r>
            <a:endParaRPr/>
          </a:p>
        </p:txBody>
      </p:sp>
      <p:sp>
        <p:nvSpPr>
          <p:cNvPr id="1908485376" name="TextBox 21"/>
          <p:cNvSpPr txBox="1"/>
          <p:nvPr/>
        </p:nvSpPr>
        <p:spPr bwMode="auto">
          <a:xfrm rot="0">
            <a:off x="9455946" y="195769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192.168.20.120</a:t>
            </a:r>
            <a:endParaRPr/>
          </a:p>
        </p:txBody>
      </p:sp>
      <p:sp>
        <p:nvSpPr>
          <p:cNvPr id="807828048" name="AutoShape 22"/>
          <p:cNvSpPr/>
          <p:nvPr/>
        </p:nvSpPr>
        <p:spPr bwMode="auto">
          <a:xfrm flipV="1">
            <a:off x="8608221" y="2297415"/>
            <a:ext cx="986989" cy="52993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1841084" name="AutoShape 23"/>
          <p:cNvSpPr/>
          <p:nvPr/>
        </p:nvSpPr>
        <p:spPr bwMode="auto">
          <a:xfrm flipH="1">
            <a:off x="2693852" y="2297415"/>
            <a:ext cx="1001333" cy="42036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8384542" name="AutoShape 24"/>
          <p:cNvSpPr/>
          <p:nvPr/>
        </p:nvSpPr>
        <p:spPr bwMode="auto">
          <a:xfrm flipH="1">
            <a:off x="3653982" y="4880552"/>
            <a:ext cx="1050656" cy="76628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71013536" name="AutoShape 25"/>
          <p:cNvSpPr/>
          <p:nvPr/>
        </p:nvSpPr>
        <p:spPr bwMode="auto">
          <a:xfrm flipH="1" flipV="1">
            <a:off x="8123559" y="5287136"/>
            <a:ext cx="689717" cy="8628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9101969" name="TextBox 26"/>
          <p:cNvSpPr txBox="1"/>
          <p:nvPr/>
        </p:nvSpPr>
        <p:spPr bwMode="auto">
          <a:xfrm rot="0" flipH="0" flipV="0">
            <a:off x="4179309" y="5925740"/>
            <a:ext cx="4289827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Eravõrk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54874" name="Freeform 2"/>
          <p:cNvSpPr/>
          <p:nvPr/>
        </p:nvSpPr>
        <p:spPr bwMode="auto">
          <a:xfrm rot="0" flipH="0" flipV="0">
            <a:off x="189341" y="2747905"/>
            <a:ext cx="1894226" cy="1515381"/>
          </a:xfrm>
          <a:custGeom>
            <a:avLst/>
            <a:gdLst/>
            <a:ahLst/>
            <a:cxnLst/>
            <a:rect l="l" t="t" r="r" b="b"/>
            <a:pathLst>
              <a:path w="1894226" h="1515381" fill="norm" stroke="1" extrusionOk="0">
                <a:moveTo>
                  <a:pt x="0" y="0"/>
                </a:moveTo>
                <a:lnTo>
                  <a:pt x="1894226" y="0"/>
                </a:lnTo>
                <a:lnTo>
                  <a:pt x="1894226" y="1515381"/>
                </a:lnTo>
                <a:lnTo>
                  <a:pt x="0" y="1515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75562168" name="AutoShape 3"/>
          <p:cNvSpPr/>
          <p:nvPr/>
        </p:nvSpPr>
        <p:spPr bwMode="auto">
          <a:xfrm flipH="1">
            <a:off x="7561904" y="0"/>
            <a:ext cx="0" cy="685800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0169511" name="AutoShape 4"/>
          <p:cNvSpPr/>
          <p:nvPr/>
        </p:nvSpPr>
        <p:spPr bwMode="auto">
          <a:xfrm flipH="1">
            <a:off x="7561904" y="74696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8223470" name="AutoShape 5"/>
          <p:cNvSpPr/>
          <p:nvPr/>
        </p:nvSpPr>
        <p:spPr bwMode="auto">
          <a:xfrm flipH="1">
            <a:off x="7561904" y="2111937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89137914" name="AutoShape 6"/>
          <p:cNvSpPr/>
          <p:nvPr/>
        </p:nvSpPr>
        <p:spPr bwMode="auto">
          <a:xfrm flipH="1">
            <a:off x="7561904" y="3452812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1169728" name="AutoShape 7"/>
          <p:cNvSpPr/>
          <p:nvPr/>
        </p:nvSpPr>
        <p:spPr bwMode="auto">
          <a:xfrm flipH="1">
            <a:off x="7561904" y="474663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42201745" name="AutoShape 8"/>
          <p:cNvSpPr/>
          <p:nvPr/>
        </p:nvSpPr>
        <p:spPr bwMode="auto">
          <a:xfrm flipH="1">
            <a:off x="7561904" y="6148388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17404" name="Freeform 9"/>
          <p:cNvSpPr/>
          <p:nvPr/>
        </p:nvSpPr>
        <p:spPr bwMode="auto">
          <a:xfrm rot="0" flipH="0" flipV="0">
            <a:off x="8546610" y="563245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715353935" name="Freeform 10"/>
          <p:cNvSpPr/>
          <p:nvPr/>
        </p:nvSpPr>
        <p:spPr bwMode="auto">
          <a:xfrm rot="0" flipH="0" flipV="0">
            <a:off x="8546610" y="429186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630348853" name="Freeform 11"/>
          <p:cNvSpPr/>
          <p:nvPr/>
        </p:nvSpPr>
        <p:spPr bwMode="auto">
          <a:xfrm rot="0" flipH="0" flipV="0">
            <a:off x="8571844" y="2950700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5215987" name="Freeform 12"/>
          <p:cNvSpPr/>
          <p:nvPr/>
        </p:nvSpPr>
        <p:spPr bwMode="auto">
          <a:xfrm rot="0" flipH="0" flipV="0">
            <a:off x="8571844" y="160953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39141603" name="Freeform 13"/>
          <p:cNvSpPr/>
          <p:nvPr/>
        </p:nvSpPr>
        <p:spPr bwMode="auto">
          <a:xfrm rot="0" flipH="0" flipV="0">
            <a:off x="8571844" y="26837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07517153" name="AutoShape 14"/>
          <p:cNvSpPr/>
          <p:nvPr/>
        </p:nvSpPr>
        <p:spPr bwMode="auto">
          <a:xfrm flipH="1">
            <a:off x="4260647" y="0"/>
            <a:ext cx="0" cy="685800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835554" name="Freeform 15"/>
          <p:cNvSpPr/>
          <p:nvPr/>
        </p:nvSpPr>
        <p:spPr bwMode="auto">
          <a:xfrm rot="0" flipH="0" flipV="0">
            <a:off x="3881355" y="2824166"/>
            <a:ext cx="1015760" cy="1191190"/>
          </a:xfrm>
          <a:custGeom>
            <a:avLst/>
            <a:gdLst/>
            <a:ahLst/>
            <a:cxnLst/>
            <a:rect l="l" t="t" r="r" b="b"/>
            <a:pathLst>
              <a:path w="1015760" h="1191190" fill="norm" stroke="1" extrusionOk="0">
                <a:moveTo>
                  <a:pt x="0" y="0"/>
                </a:moveTo>
                <a:lnTo>
                  <a:pt x="1015760" y="0"/>
                </a:lnTo>
                <a:lnTo>
                  <a:pt x="1015760" y="1191189"/>
                </a:lnTo>
                <a:lnTo>
                  <a:pt x="0" y="1191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35942648" name="TextBox 16"/>
          <p:cNvSpPr txBox="1"/>
          <p:nvPr/>
        </p:nvSpPr>
        <p:spPr bwMode="auto">
          <a:xfrm rot="0">
            <a:off x="159844" y="3291438"/>
            <a:ext cx="1953219" cy="33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  <a:defRPr/>
            </a:pPr>
            <a:r>
              <a:rPr sz="2000" lang="en-US">
                <a:solidFill>
                  <a:srgbClr val="FFFFFF"/>
                </a:solidFill>
                <a:latin typeface="IBM Plex Sans"/>
              </a:rPr>
              <a:t>INTERNET</a:t>
            </a:r>
            <a:endParaRPr/>
          </a:p>
        </p:txBody>
      </p:sp>
      <p:sp>
        <p:nvSpPr>
          <p:cNvPr id="129424008" name="TextBox 17"/>
          <p:cNvSpPr txBox="1"/>
          <p:nvPr/>
        </p:nvSpPr>
        <p:spPr bwMode="auto">
          <a:xfrm rot="0">
            <a:off x="4433915" y="6317699"/>
            <a:ext cx="2342448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 Bold Italics"/>
              </a:rPr>
              <a:t>Ettevõte</a:t>
            </a:r>
            <a:endParaRPr/>
          </a:p>
        </p:txBody>
      </p:sp>
      <p:sp>
        <p:nvSpPr>
          <p:cNvPr id="1160916189" name="AutoShape 18"/>
          <p:cNvSpPr/>
          <p:nvPr/>
        </p:nvSpPr>
        <p:spPr bwMode="auto">
          <a:xfrm flipH="1">
            <a:off x="4897115" y="3452812"/>
            <a:ext cx="265752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80545839" name="TextBox 19"/>
          <p:cNvSpPr txBox="1"/>
          <p:nvPr/>
        </p:nvSpPr>
        <p:spPr bwMode="auto">
          <a:xfrm rot="0" flipH="0" flipV="0">
            <a:off x="4389233" y="4100409"/>
            <a:ext cx="2431810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Gateway</a:t>
            </a:r>
            <a:endParaRPr lang="en-US" sz="16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(marsruuter või tulemüür)</a:t>
            </a:r>
          </a:p>
        </p:txBody>
      </p:sp>
      <p:sp>
        <p:nvSpPr>
          <p:cNvPr id="1654062143" name="TextBox 20"/>
          <p:cNvSpPr txBox="1"/>
          <p:nvPr/>
        </p:nvSpPr>
        <p:spPr bwMode="auto">
          <a:xfrm rot="0">
            <a:off x="9500839" y="324369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Veebiserver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IP-aadress 192.168.1.20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 port: 80</a:t>
            </a:r>
          </a:p>
        </p:txBody>
      </p:sp>
      <p:sp>
        <p:nvSpPr>
          <p:cNvPr id="438486449" name="TextBox 21"/>
          <p:cNvSpPr txBox="1"/>
          <p:nvPr/>
        </p:nvSpPr>
        <p:spPr bwMode="auto">
          <a:xfrm rot="0">
            <a:off x="9500839" y="1665531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Extraneti server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IP-aadress 192.168.1.30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 port: 80</a:t>
            </a:r>
          </a:p>
        </p:txBody>
      </p:sp>
      <p:sp>
        <p:nvSpPr>
          <p:cNvPr id="2075226716" name="TextBox 22"/>
          <p:cNvSpPr txBox="1"/>
          <p:nvPr/>
        </p:nvSpPr>
        <p:spPr bwMode="auto">
          <a:xfrm rot="0">
            <a:off x="9500839" y="3006693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Intranet server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IP-aadress 192.168.1.40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 port: 80</a:t>
            </a:r>
          </a:p>
        </p:txBody>
      </p:sp>
      <p:sp>
        <p:nvSpPr>
          <p:cNvPr id="920344396" name="TextBox 23"/>
          <p:cNvSpPr txBox="1"/>
          <p:nvPr/>
        </p:nvSpPr>
        <p:spPr bwMode="auto">
          <a:xfrm rot="0">
            <a:off x="9500839" y="4462152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Ettevõtte arvuti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192.168.1.201</a:t>
            </a:r>
          </a:p>
        </p:txBody>
      </p:sp>
      <p:sp>
        <p:nvSpPr>
          <p:cNvPr id="661484276" name="TextBox 24"/>
          <p:cNvSpPr txBox="1"/>
          <p:nvPr/>
        </p:nvSpPr>
        <p:spPr bwMode="auto">
          <a:xfrm rot="0">
            <a:off x="9500839" y="5863904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Ettevõtte arvuti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192.168.1.202</a:t>
            </a:r>
          </a:p>
        </p:txBody>
      </p:sp>
      <p:sp>
        <p:nvSpPr>
          <p:cNvPr id="1662260651" name="AutoShape 25"/>
          <p:cNvSpPr/>
          <p:nvPr/>
        </p:nvSpPr>
        <p:spPr bwMode="auto">
          <a:xfrm flipH="1">
            <a:off x="2083567" y="3709943"/>
            <a:ext cx="1770109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53807392" name="AutoShape 26"/>
          <p:cNvSpPr/>
          <p:nvPr/>
        </p:nvSpPr>
        <p:spPr bwMode="auto">
          <a:xfrm flipH="1">
            <a:off x="2083567" y="338642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1849118" name="AutoShape 27"/>
          <p:cNvSpPr/>
          <p:nvPr/>
        </p:nvSpPr>
        <p:spPr bwMode="auto">
          <a:xfrm flipH="1">
            <a:off x="5021459" y="279587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19404177" name="AutoShape 28"/>
          <p:cNvSpPr/>
          <p:nvPr/>
        </p:nvSpPr>
        <p:spPr bwMode="auto">
          <a:xfrm flipH="1">
            <a:off x="5021459" y="3188938"/>
            <a:ext cx="228767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94615710" name="AutoShape 29"/>
          <p:cNvSpPr/>
          <p:nvPr/>
        </p:nvSpPr>
        <p:spPr bwMode="auto">
          <a:xfrm>
            <a:off x="6819246" y="928537"/>
            <a:ext cx="0" cy="1867336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4602049" name="AutoShape 30"/>
          <p:cNvSpPr/>
          <p:nvPr/>
        </p:nvSpPr>
        <p:spPr bwMode="auto">
          <a:xfrm flipH="1" flipV="1">
            <a:off x="6819246" y="928537"/>
            <a:ext cx="175259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95505573" name="AutoShape 31"/>
          <p:cNvSpPr/>
          <p:nvPr/>
        </p:nvSpPr>
        <p:spPr bwMode="auto">
          <a:xfrm flipH="1" flipV="1">
            <a:off x="7309132" y="2363641"/>
            <a:ext cx="0" cy="825297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39837696" name="AutoShape 32"/>
          <p:cNvSpPr/>
          <p:nvPr/>
        </p:nvSpPr>
        <p:spPr bwMode="auto">
          <a:xfrm>
            <a:off x="7309132" y="2363641"/>
            <a:ext cx="126271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47820291" name="TextBox 33"/>
          <p:cNvSpPr txBox="1"/>
          <p:nvPr/>
        </p:nvSpPr>
        <p:spPr bwMode="auto">
          <a:xfrm rot="0">
            <a:off x="4967490" y="3495152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192.168.1.254</a:t>
            </a:r>
            <a:endParaRPr/>
          </a:p>
        </p:txBody>
      </p:sp>
      <p:sp>
        <p:nvSpPr>
          <p:cNvPr id="206601249" name="TextBox 34"/>
          <p:cNvSpPr txBox="1"/>
          <p:nvPr/>
        </p:nvSpPr>
        <p:spPr bwMode="auto">
          <a:xfrm rot="0">
            <a:off x="2474021" y="3847101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85.152.44.14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288809" name="AutoShape 2"/>
          <p:cNvSpPr/>
          <p:nvPr/>
        </p:nvSpPr>
        <p:spPr bwMode="auto">
          <a:xfrm flipH="1" flipV="1">
            <a:off x="5717292" y="2788290"/>
            <a:ext cx="9525" cy="217972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38387589" name="AutoShape 3"/>
          <p:cNvSpPr/>
          <p:nvPr/>
        </p:nvSpPr>
        <p:spPr bwMode="auto">
          <a:xfrm flipV="1">
            <a:off x="6465183" y="2788290"/>
            <a:ext cx="9525" cy="20990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81001" name="Freeform 4"/>
          <p:cNvSpPr/>
          <p:nvPr/>
        </p:nvSpPr>
        <p:spPr bwMode="auto">
          <a:xfrm rot="0" flipH="0" flipV="0">
            <a:off x="5516285" y="4585915"/>
            <a:ext cx="1159430" cy="1586285"/>
          </a:xfrm>
          <a:custGeom>
            <a:avLst/>
            <a:gdLst/>
            <a:ahLst/>
            <a:cxnLst/>
            <a:rect l="l" t="t" r="r" b="b"/>
            <a:pathLst>
              <a:path w="1159430" h="1586285" fill="norm" stroke="1" extrusionOk="0">
                <a:moveTo>
                  <a:pt x="0" y="0"/>
                </a:moveTo>
                <a:lnTo>
                  <a:pt x="1159430" y="0"/>
                </a:lnTo>
                <a:lnTo>
                  <a:pt x="1159430" y="1586285"/>
                </a:lnTo>
                <a:lnTo>
                  <a:pt x="0" y="1586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37451678" name="AutoShape 5"/>
          <p:cNvSpPr/>
          <p:nvPr/>
        </p:nvSpPr>
        <p:spPr bwMode="auto">
          <a:xfrm>
            <a:off x="6654067" y="1402001"/>
            <a:ext cx="2906415" cy="143379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64396517" name="Freeform 6"/>
          <p:cNvSpPr/>
          <p:nvPr/>
        </p:nvSpPr>
        <p:spPr bwMode="auto">
          <a:xfrm rot="0" flipH="0" flipV="0">
            <a:off x="1752209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563844763" name="Freeform 7"/>
          <p:cNvSpPr/>
          <p:nvPr/>
        </p:nvSpPr>
        <p:spPr bwMode="auto">
          <a:xfrm rot="0" flipH="0" flipV="0">
            <a:off x="8681173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38350275" name="Freeform 8"/>
          <p:cNvSpPr/>
          <p:nvPr/>
        </p:nvSpPr>
        <p:spPr bwMode="auto">
          <a:xfrm rot="0" flipH="0" flipV="0">
            <a:off x="5537933" y="472245"/>
            <a:ext cx="1116134" cy="1308900"/>
          </a:xfrm>
          <a:custGeom>
            <a:avLst/>
            <a:gdLst/>
            <a:ahLst/>
            <a:cxnLst/>
            <a:rect l="l" t="t" r="r" b="b"/>
            <a:pathLst>
              <a:path w="1116134" h="1308900" fill="norm" stroke="1" extrusionOk="0">
                <a:moveTo>
                  <a:pt x="0" y="0"/>
                </a:moveTo>
                <a:lnTo>
                  <a:pt x="1116134" y="0"/>
                </a:lnTo>
                <a:lnTo>
                  <a:pt x="1116134" y="1308899"/>
                </a:lnTo>
                <a:lnTo>
                  <a:pt x="0" y="1308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89947845" name="AutoShape 9"/>
          <p:cNvSpPr/>
          <p:nvPr/>
        </p:nvSpPr>
        <p:spPr bwMode="auto">
          <a:xfrm flipH="1">
            <a:off x="3252318" y="1049695"/>
            <a:ext cx="2843682" cy="144269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13035879" name="AutoShape 10"/>
          <p:cNvSpPr/>
          <p:nvPr/>
        </p:nvSpPr>
        <p:spPr bwMode="auto">
          <a:xfrm flipH="1">
            <a:off x="3510827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393723" name="AutoShape 11"/>
          <p:cNvSpPr/>
          <p:nvPr/>
        </p:nvSpPr>
        <p:spPr bwMode="auto">
          <a:xfrm flipH="1">
            <a:off x="6465183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651628046" name="Group 12"/>
          <p:cNvGrpSpPr/>
          <p:nvPr/>
        </p:nvGrpSpPr>
        <p:grpSpPr bwMode="auto">
          <a:xfrm rot="0">
            <a:off x="5220816" y="3429000"/>
            <a:ext cx="1750369" cy="1008452"/>
            <a:chOff x="0" y="0"/>
            <a:chExt cx="2189518" cy="1261462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212140734" name="AutoShape 15"/>
          <p:cNvSpPr/>
          <p:nvPr/>
        </p:nvSpPr>
        <p:spPr bwMode="auto">
          <a:xfrm flipV="1">
            <a:off x="6474708" y="2788182"/>
            <a:ext cx="4762" cy="114504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9206567" name="AutoShape 16"/>
          <p:cNvSpPr/>
          <p:nvPr/>
        </p:nvSpPr>
        <p:spPr bwMode="auto">
          <a:xfrm flipV="1">
            <a:off x="5717292" y="2895337"/>
            <a:ext cx="0" cy="114505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3143608" name="TextBox 17"/>
          <p:cNvSpPr txBox="1"/>
          <p:nvPr/>
        </p:nvSpPr>
        <p:spPr bwMode="auto">
          <a:xfrm rot="0">
            <a:off x="7084998" y="3786859"/>
            <a:ext cx="167892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 Bold Italics"/>
              </a:rPr>
              <a:t>bond0</a:t>
            </a:r>
            <a:endParaRPr/>
          </a:p>
        </p:txBody>
      </p:sp>
      <p:grpSp>
        <p:nvGrpSpPr>
          <p:cNvPr id="936375337" name=""/>
          <p:cNvGrpSpPr/>
          <p:nvPr/>
        </p:nvGrpSpPr>
        <p:grpSpPr bwMode="auto">
          <a:xfrm>
            <a:off x="4396499" y="2605122"/>
            <a:ext cx="3527959" cy="366120"/>
            <a:chOff x="0" y="0"/>
            <a:chExt cx="3527959" cy="366120"/>
          </a:xfrm>
        </p:grpSpPr>
        <p:sp>
          <p:nvSpPr>
            <p:cNvPr id="2027082257" name=""/>
            <p:cNvSpPr txBox="1"/>
            <p:nvPr/>
          </p:nvSpPr>
          <p:spPr bwMode="auto">
            <a:xfrm rot="0" flipH="0" flipV="0">
              <a:off x="0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eth0</a:t>
              </a:r>
              <a:endParaRPr/>
            </a:p>
          </p:txBody>
        </p:sp>
        <p:sp>
          <p:nvSpPr>
            <p:cNvPr id="734205544" name=""/>
            <p:cNvSpPr txBox="1"/>
            <p:nvPr/>
          </p:nvSpPr>
          <p:spPr bwMode="auto">
            <a:xfrm rot="0" flipH="0" flipV="0">
              <a:off x="2918083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4877288" name=""/>
          <p:cNvGrpSpPr/>
          <p:nvPr/>
        </p:nvGrpSpPr>
        <p:grpSpPr bwMode="auto">
          <a:xfrm>
            <a:off x="1854147" y="2050467"/>
            <a:ext cx="8483701" cy="2757061"/>
            <a:chOff x="0" y="0"/>
            <a:chExt cx="8483701" cy="2757061"/>
          </a:xfrm>
        </p:grpSpPr>
        <p:grpSp>
          <p:nvGrpSpPr>
            <p:cNvPr id="598976294" name="Group 2"/>
            <p:cNvGrpSpPr/>
            <p:nvPr/>
          </p:nvGrpSpPr>
          <p:grpSpPr bwMode="auto">
            <a:xfrm rot="0">
              <a:off x="1065126" y="0"/>
              <a:ext cx="1036552" cy="871538"/>
              <a:chOff x="0" y="0"/>
              <a:chExt cx="409502" cy="344311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00</a:t>
                </a:r>
                <a:endParaRPr/>
              </a:p>
            </p:txBody>
          </p:sp>
        </p:grpSp>
        <p:grpSp>
          <p:nvGrpSpPr>
            <p:cNvPr id="1652068070" name="Group 5"/>
            <p:cNvGrpSpPr/>
            <p:nvPr/>
          </p:nvGrpSpPr>
          <p:grpSpPr bwMode="auto">
            <a:xfrm rot="0">
              <a:off x="2125884" y="0"/>
              <a:ext cx="1036552" cy="871538"/>
              <a:chOff x="0" y="0"/>
              <a:chExt cx="409502" cy="344311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413644435" name="Group 8"/>
            <p:cNvGrpSpPr/>
            <p:nvPr/>
          </p:nvGrpSpPr>
          <p:grpSpPr bwMode="auto">
            <a:xfrm rot="0">
              <a:off x="3191011" y="0"/>
              <a:ext cx="1036552" cy="871538"/>
              <a:chOff x="0" y="0"/>
              <a:chExt cx="409502" cy="344311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637544224" name="Group 11"/>
            <p:cNvGrpSpPr/>
            <p:nvPr/>
          </p:nvGrpSpPr>
          <p:grpSpPr bwMode="auto">
            <a:xfrm rot="0">
              <a:off x="4256138" y="0"/>
              <a:ext cx="1036552" cy="871538"/>
              <a:chOff x="0" y="0"/>
              <a:chExt cx="409502" cy="344311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020946288" name="Group 14"/>
            <p:cNvGrpSpPr/>
            <p:nvPr/>
          </p:nvGrpSpPr>
          <p:grpSpPr bwMode="auto">
            <a:xfrm rot="0">
              <a:off x="5316894" y="0"/>
              <a:ext cx="1036552" cy="871538"/>
              <a:chOff x="0" y="0"/>
              <a:chExt cx="409502" cy="344311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447107092" name="Group 17"/>
            <p:cNvGrpSpPr/>
            <p:nvPr/>
          </p:nvGrpSpPr>
          <p:grpSpPr bwMode="auto">
            <a:xfrm rot="0">
              <a:off x="6382022" y="0"/>
              <a:ext cx="1036552" cy="871538"/>
              <a:chOff x="0" y="0"/>
              <a:chExt cx="409502" cy="344311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1484055883" name="Group 20"/>
            <p:cNvGrpSpPr/>
            <p:nvPr/>
          </p:nvGrpSpPr>
          <p:grpSpPr bwMode="auto">
            <a:xfrm rot="0">
              <a:off x="1065126" y="1885523"/>
              <a:ext cx="1036552" cy="871538"/>
              <a:chOff x="0" y="0"/>
              <a:chExt cx="409502" cy="344311"/>
            </a:xfrm>
          </p:grpSpPr>
          <p:sp>
            <p:nvSpPr>
              <p:cNvPr id="21" name="Freeform 21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203987877" name="Group 23"/>
            <p:cNvGrpSpPr/>
            <p:nvPr/>
          </p:nvGrpSpPr>
          <p:grpSpPr bwMode="auto">
            <a:xfrm rot="0">
              <a:off x="2125884" y="1885523"/>
              <a:ext cx="1036552" cy="871538"/>
              <a:chOff x="0" y="0"/>
              <a:chExt cx="409502" cy="344311"/>
            </a:xfrm>
          </p:grpSpPr>
          <p:sp>
            <p:nvSpPr>
              <p:cNvPr id="24" name="Freeform 24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990719398" name="Group 26"/>
            <p:cNvGrpSpPr/>
            <p:nvPr/>
          </p:nvGrpSpPr>
          <p:grpSpPr bwMode="auto">
            <a:xfrm rot="0">
              <a:off x="3191011" y="1885523"/>
              <a:ext cx="1036552" cy="871538"/>
              <a:chOff x="0" y="0"/>
              <a:chExt cx="409502" cy="344311"/>
            </a:xfrm>
          </p:grpSpPr>
          <p:sp>
            <p:nvSpPr>
              <p:cNvPr id="27" name="Freeform 27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FF</a:t>
                </a:r>
                <a:endParaRPr/>
              </a:p>
            </p:txBody>
          </p:sp>
        </p:grpSp>
        <p:grpSp>
          <p:nvGrpSpPr>
            <p:cNvPr id="1006228410" name="Group 29"/>
            <p:cNvGrpSpPr/>
            <p:nvPr/>
          </p:nvGrpSpPr>
          <p:grpSpPr bwMode="auto">
            <a:xfrm rot="0">
              <a:off x="4256138" y="1885523"/>
              <a:ext cx="1036552" cy="871538"/>
              <a:chOff x="0" y="0"/>
              <a:chExt cx="409502" cy="344311"/>
            </a:xfrm>
          </p:grpSpPr>
          <p:sp>
            <p:nvSpPr>
              <p:cNvPr id="30" name="Freeform 30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FE</a:t>
                </a:r>
                <a:endParaRPr/>
              </a:p>
            </p:txBody>
          </p:sp>
        </p:grpSp>
        <p:grpSp>
          <p:nvGrpSpPr>
            <p:cNvPr id="1777351301" name="Group 32"/>
            <p:cNvGrpSpPr/>
            <p:nvPr/>
          </p:nvGrpSpPr>
          <p:grpSpPr bwMode="auto">
            <a:xfrm rot="0">
              <a:off x="5316894" y="1885523"/>
              <a:ext cx="1036552" cy="871538"/>
              <a:chOff x="0" y="0"/>
              <a:chExt cx="409502" cy="344311"/>
            </a:xfrm>
          </p:grpSpPr>
          <p:sp>
            <p:nvSpPr>
              <p:cNvPr id="33" name="Freeform 3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116847467" name="Group 35"/>
            <p:cNvGrpSpPr/>
            <p:nvPr/>
          </p:nvGrpSpPr>
          <p:grpSpPr bwMode="auto">
            <a:xfrm rot="0">
              <a:off x="6382022" y="1885523"/>
              <a:ext cx="1036552" cy="871538"/>
              <a:chOff x="0" y="0"/>
              <a:chExt cx="409502" cy="344311"/>
            </a:xfrm>
          </p:grpSpPr>
          <p:sp>
            <p:nvSpPr>
              <p:cNvPr id="36" name="Freeform 3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2095948480" name="Group 38"/>
            <p:cNvGrpSpPr/>
            <p:nvPr/>
          </p:nvGrpSpPr>
          <p:grpSpPr bwMode="auto">
            <a:xfrm rot="0">
              <a:off x="7447149" y="1885523"/>
              <a:ext cx="1036552" cy="871538"/>
              <a:chOff x="0" y="0"/>
              <a:chExt cx="409502" cy="344311"/>
            </a:xfrm>
          </p:grpSpPr>
          <p:sp>
            <p:nvSpPr>
              <p:cNvPr id="39" name="Freeform 3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2070664397" name="Group 41"/>
            <p:cNvGrpSpPr/>
            <p:nvPr/>
          </p:nvGrpSpPr>
          <p:grpSpPr bwMode="auto">
            <a:xfrm rot="0">
              <a:off x="0" y="1885523"/>
              <a:ext cx="1036552" cy="871538"/>
              <a:chOff x="0" y="0"/>
              <a:chExt cx="409502" cy="344311"/>
            </a:xfrm>
          </p:grpSpPr>
          <p:sp>
            <p:nvSpPr>
              <p:cNvPr id="42" name="Freeform 4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02</a:t>
                </a:r>
                <a:endParaRPr/>
              </a:p>
            </p:txBody>
          </p:sp>
        </p:grpSp>
        <p:sp>
          <p:nvSpPr>
            <p:cNvPr id="2077385855" name="AutoShape 44"/>
            <p:cNvSpPr/>
            <p:nvPr/>
          </p:nvSpPr>
          <p:spPr bwMode="auto">
            <a:xfrm flipH="1">
              <a:off x="518275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2334341" name="AutoShape 45"/>
            <p:cNvSpPr/>
            <p:nvPr/>
          </p:nvSpPr>
          <p:spPr bwMode="auto">
            <a:xfrm flipH="1">
              <a:off x="158340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1952159" name="AutoShape 46"/>
            <p:cNvSpPr/>
            <p:nvPr/>
          </p:nvSpPr>
          <p:spPr bwMode="auto">
            <a:xfrm flipH="1">
              <a:off x="2644160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467780391" name="AutoShape 47"/>
            <p:cNvSpPr/>
            <p:nvPr/>
          </p:nvSpPr>
          <p:spPr bwMode="auto">
            <a:xfrm>
              <a:off x="477441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97325064" name="AutoShape 48"/>
            <p:cNvSpPr/>
            <p:nvPr/>
          </p:nvSpPr>
          <p:spPr bwMode="auto">
            <a:xfrm>
              <a:off x="5835171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631401943" name="AutoShape 49"/>
            <p:cNvSpPr/>
            <p:nvPr/>
          </p:nvSpPr>
          <p:spPr bwMode="auto">
            <a:xfrm>
              <a:off x="6900298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40866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67998497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4535964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59719402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9674419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8474930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29735571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77447323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05723397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532268848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50319871" name="TextBox 12"/>
          <p:cNvSpPr txBox="1"/>
          <p:nvPr/>
        </p:nvSpPr>
        <p:spPr bwMode="auto">
          <a:xfrm rot="0">
            <a:off x="8840554" y="1113496"/>
            <a:ext cx="250659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IPv6 päis</a:t>
            </a:r>
            <a:endParaRPr sz="1600"/>
          </a:p>
          <a:p>
            <a:pPr algn="ctr">
              <a:lnSpc>
                <a:spcPts val="3220"/>
              </a:lnSpc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Hop-by-hop valikud - </a:t>
            </a: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N baiti</a:t>
            </a:r>
          </a:p>
        </p:txBody>
      </p:sp>
      <p:sp>
        <p:nvSpPr>
          <p:cNvPr id="1052653579" name="TextBox 13"/>
          <p:cNvSpPr txBox="1"/>
          <p:nvPr/>
        </p:nvSpPr>
        <p:spPr bwMode="auto">
          <a:xfrm rot="0" flipH="0" flipV="0">
            <a:off x="3726313" y="3381700"/>
            <a:ext cx="3287824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Valik</a:t>
            </a:r>
            <a:endParaRPr/>
          </a:p>
        </p:txBody>
      </p:sp>
      <p:sp>
        <p:nvSpPr>
          <p:cNvPr id="1329899931" name="TextBox 14"/>
          <p:cNvSpPr txBox="1"/>
          <p:nvPr/>
        </p:nvSpPr>
        <p:spPr bwMode="auto">
          <a:xfrm rot="0" flipH="0" flipV="0">
            <a:off x="1309634" y="5687569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Järgmine pealkiri</a:t>
            </a:r>
            <a:endParaRPr/>
          </a:p>
        </p:txBody>
      </p:sp>
      <p:sp>
        <p:nvSpPr>
          <p:cNvPr id="1051261508" name="TextBox 15"/>
          <p:cNvSpPr txBox="1"/>
          <p:nvPr/>
        </p:nvSpPr>
        <p:spPr bwMode="auto">
          <a:xfrm rot="0" flipH="0" flipV="0">
            <a:off x="2131152" y="4526016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Pikkus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31323" name="Freeform 2"/>
          <p:cNvSpPr/>
          <p:nvPr/>
        </p:nvSpPr>
        <p:spPr bwMode="auto">
          <a:xfrm rot="5400000" flipH="0" flipV="0">
            <a:off x="299336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498283" name="Freeform 3"/>
          <p:cNvSpPr/>
          <p:nvPr/>
        </p:nvSpPr>
        <p:spPr bwMode="auto">
          <a:xfrm rot="5400000" flipH="0" flipV="0">
            <a:off x="109704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49211075" name="Freeform 4"/>
          <p:cNvSpPr/>
          <p:nvPr/>
        </p:nvSpPr>
        <p:spPr bwMode="auto">
          <a:xfrm rot="5400000" flipH="0" flipV="0">
            <a:off x="1897141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431632" name="Freeform 5"/>
          <p:cNvSpPr/>
          <p:nvPr/>
        </p:nvSpPr>
        <p:spPr bwMode="auto">
          <a:xfrm rot="5400000" flipH="0" flipV="0">
            <a:off x="269484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043854" name="Freeform 6"/>
          <p:cNvSpPr/>
          <p:nvPr/>
        </p:nvSpPr>
        <p:spPr bwMode="auto">
          <a:xfrm rot="5400000" flipH="0" flipV="0">
            <a:off x="349230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5825383" name="Freeform 7"/>
          <p:cNvSpPr/>
          <p:nvPr/>
        </p:nvSpPr>
        <p:spPr bwMode="auto">
          <a:xfrm rot="5400000" flipH="0" flipV="0">
            <a:off x="429000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368089" name="Freeform 8"/>
          <p:cNvSpPr/>
          <p:nvPr/>
        </p:nvSpPr>
        <p:spPr bwMode="auto">
          <a:xfrm rot="5400000" flipH="0" flipV="0">
            <a:off x="6874658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59251683" name="Freeform 9"/>
          <p:cNvSpPr/>
          <p:nvPr/>
        </p:nvSpPr>
        <p:spPr bwMode="auto">
          <a:xfrm rot="5400000" flipH="0" flipV="0">
            <a:off x="7672363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0110583" name="AutoShape 10"/>
          <p:cNvSpPr/>
          <p:nvPr/>
        </p:nvSpPr>
        <p:spPr bwMode="auto">
          <a:xfrm>
            <a:off x="1010912" y="2870735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548551939" name="AutoShape 11"/>
          <p:cNvSpPr/>
          <p:nvPr/>
        </p:nvSpPr>
        <p:spPr bwMode="auto">
          <a:xfrm flipH="1" flipV="1">
            <a:off x="5257515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7110803" name="AutoShape 12"/>
          <p:cNvSpPr/>
          <p:nvPr/>
        </p:nvSpPr>
        <p:spPr bwMode="auto">
          <a:xfrm>
            <a:off x="1832429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5212623" name="Freeform 13"/>
          <p:cNvSpPr/>
          <p:nvPr/>
        </p:nvSpPr>
        <p:spPr bwMode="auto">
          <a:xfrm rot="-5400000" flipH="0" flipV="0">
            <a:off x="6140398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229213" name="TextBox 14"/>
          <p:cNvSpPr txBox="1"/>
          <p:nvPr/>
        </p:nvSpPr>
        <p:spPr bwMode="auto">
          <a:xfrm rot="0">
            <a:off x="9195478" y="1113497"/>
            <a:ext cx="2506231" cy="118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IPv6 päis</a:t>
            </a:r>
            <a:endParaRPr/>
          </a:p>
          <a:p>
            <a:pPr algn="ctr">
              <a:lnSpc>
                <a:spcPts val="3220"/>
              </a:lnSpc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Marsruutimisvõimalus - </a:t>
            </a: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N baiti</a:t>
            </a:r>
          </a:p>
        </p:txBody>
      </p:sp>
      <p:sp>
        <p:nvSpPr>
          <p:cNvPr id="1552555572" name="TextBox 15"/>
          <p:cNvSpPr txBox="1"/>
          <p:nvPr/>
        </p:nvSpPr>
        <p:spPr bwMode="auto">
          <a:xfrm rot="0" flipH="0" flipV="0">
            <a:off x="4984913" y="3381700"/>
            <a:ext cx="313026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Valik</a:t>
            </a:r>
            <a:endParaRPr/>
          </a:p>
        </p:txBody>
      </p:sp>
      <p:sp>
        <p:nvSpPr>
          <p:cNvPr id="69494775" name="TextBox 16"/>
          <p:cNvSpPr txBox="1"/>
          <p:nvPr/>
        </p:nvSpPr>
        <p:spPr bwMode="auto">
          <a:xfrm rot="0">
            <a:off x="171450" y="5142465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Järgmine pealkiri</a:t>
            </a:r>
            <a:endParaRPr sz="1200"/>
          </a:p>
        </p:txBody>
      </p:sp>
      <p:sp>
        <p:nvSpPr>
          <p:cNvPr id="866085282" name="TextBox 17"/>
          <p:cNvSpPr txBox="1"/>
          <p:nvPr/>
        </p:nvSpPr>
        <p:spPr bwMode="auto">
          <a:xfrm rot="0">
            <a:off x="992967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Pikkus</a:t>
            </a:r>
            <a:endParaRPr sz="1200"/>
          </a:p>
        </p:txBody>
      </p:sp>
      <p:sp>
        <p:nvSpPr>
          <p:cNvPr id="307096775" name="AutoShape 18"/>
          <p:cNvSpPr/>
          <p:nvPr/>
        </p:nvSpPr>
        <p:spPr bwMode="auto">
          <a:xfrm flipH="1">
            <a:off x="2612360" y="2870735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95260668" name="AutoShape 19"/>
          <p:cNvSpPr/>
          <p:nvPr/>
        </p:nvSpPr>
        <p:spPr bwMode="auto">
          <a:xfrm>
            <a:off x="3433877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9713378" name="TextBox 20"/>
          <p:cNvSpPr txBox="1"/>
          <p:nvPr/>
        </p:nvSpPr>
        <p:spPr bwMode="auto">
          <a:xfrm rot="0">
            <a:off x="1772897" y="5965699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Tüüp</a:t>
            </a:r>
            <a:endParaRPr sz="1200"/>
          </a:p>
        </p:txBody>
      </p:sp>
      <p:sp>
        <p:nvSpPr>
          <p:cNvPr id="639317005" name="TextBox 21"/>
          <p:cNvSpPr txBox="1"/>
          <p:nvPr/>
        </p:nvSpPr>
        <p:spPr bwMode="auto">
          <a:xfrm rot="0">
            <a:off x="2594415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Segment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592856" name="Freeform 2"/>
          <p:cNvSpPr/>
          <p:nvPr/>
        </p:nvSpPr>
        <p:spPr bwMode="auto">
          <a:xfrm rot="5400000" flipH="0" flipV="0">
            <a:off x="129348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914263" name="Freeform 3"/>
          <p:cNvSpPr/>
          <p:nvPr/>
        </p:nvSpPr>
        <p:spPr bwMode="auto">
          <a:xfrm rot="5400000" flipH="0" flipV="0">
            <a:off x="20911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567959" name="Freeform 4"/>
          <p:cNvSpPr/>
          <p:nvPr/>
        </p:nvSpPr>
        <p:spPr bwMode="auto">
          <a:xfrm rot="5400000" flipH="0" flipV="0">
            <a:off x="28912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204467" name="Freeform 5"/>
          <p:cNvSpPr/>
          <p:nvPr/>
        </p:nvSpPr>
        <p:spPr bwMode="auto">
          <a:xfrm rot="5400000" flipH="0" flipV="0">
            <a:off x="368899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63636830" name="Freeform 6"/>
          <p:cNvSpPr/>
          <p:nvPr/>
        </p:nvSpPr>
        <p:spPr bwMode="auto">
          <a:xfrm rot="5400000" flipH="0" flipV="0">
            <a:off x="448645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1698207" name="Freeform 7"/>
          <p:cNvSpPr/>
          <p:nvPr/>
        </p:nvSpPr>
        <p:spPr bwMode="auto">
          <a:xfrm rot="5400000" flipH="0" flipV="0">
            <a:off x="52841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2120641" name="Freeform 8"/>
          <p:cNvSpPr/>
          <p:nvPr/>
        </p:nvSpPr>
        <p:spPr bwMode="auto">
          <a:xfrm rot="5400000" flipH="0" flipV="0">
            <a:off x="60842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1523730" name="Freeform 9"/>
          <p:cNvSpPr/>
          <p:nvPr/>
        </p:nvSpPr>
        <p:spPr bwMode="auto">
          <a:xfrm rot="5400000" flipH="0" flipV="0">
            <a:off x="688196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31981609" name="AutoShape 10"/>
          <p:cNvSpPr/>
          <p:nvPr/>
        </p:nvSpPr>
        <p:spPr bwMode="auto">
          <a:xfrm>
            <a:off x="2005065" y="2425020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108918443" name="AutoShape 11"/>
          <p:cNvSpPr/>
          <p:nvPr/>
        </p:nvSpPr>
        <p:spPr bwMode="auto">
          <a:xfrm>
            <a:off x="2826582" y="2425020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53255543" name="Freeform 12"/>
          <p:cNvSpPr/>
          <p:nvPr/>
        </p:nvSpPr>
        <p:spPr bwMode="auto">
          <a:xfrm rot="-5400000" flipH="0" flipV="0">
            <a:off x="6318119" y="986969"/>
            <a:ext cx="267179" cy="3143282"/>
          </a:xfrm>
          <a:custGeom>
            <a:avLst/>
            <a:gdLst/>
            <a:ahLst/>
            <a:cxnLst/>
            <a:rect l="l" t="t" r="r" b="b"/>
            <a:pathLst>
              <a:path w="267179" h="3143282" fill="norm" stroke="1" extrusionOk="0">
                <a:moveTo>
                  <a:pt x="0" y="0"/>
                </a:moveTo>
                <a:lnTo>
                  <a:pt x="267179" y="0"/>
                </a:lnTo>
                <a:lnTo>
                  <a:pt x="267179" y="3143282"/>
                </a:lnTo>
                <a:lnTo>
                  <a:pt x="0" y="3143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904378358" name="TextBox 13"/>
          <p:cNvSpPr txBox="1"/>
          <p:nvPr/>
        </p:nvSpPr>
        <p:spPr bwMode="auto">
          <a:xfrm rot="0">
            <a:off x="8520165" y="667781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 päis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Fragmenteerimise võimalus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8 baiti</a:t>
            </a:r>
          </a:p>
        </p:txBody>
      </p:sp>
      <p:sp>
        <p:nvSpPr>
          <p:cNvPr id="809840154" name="TextBox 14"/>
          <p:cNvSpPr txBox="1"/>
          <p:nvPr/>
        </p:nvSpPr>
        <p:spPr bwMode="auto">
          <a:xfrm rot="0" flipH="0" flipV="0">
            <a:off x="5181361" y="2786117"/>
            <a:ext cx="277794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Identifitseerimine</a:t>
            </a:r>
            <a:endParaRPr sz="1200"/>
          </a:p>
        </p:txBody>
      </p:sp>
      <p:sp>
        <p:nvSpPr>
          <p:cNvPr id="539836079" name="TextBox 15"/>
          <p:cNvSpPr txBox="1"/>
          <p:nvPr/>
        </p:nvSpPr>
        <p:spPr bwMode="auto">
          <a:xfrm rot="0" flipH="0" flipV="0">
            <a:off x="1165602" y="4696750"/>
            <a:ext cx="168072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Järgmine pealkiri</a:t>
            </a:r>
            <a:endParaRPr sz="1200"/>
          </a:p>
        </p:txBody>
      </p:sp>
      <p:sp>
        <p:nvSpPr>
          <p:cNvPr id="1877772459" name="TextBox 16"/>
          <p:cNvSpPr txBox="1"/>
          <p:nvPr/>
        </p:nvSpPr>
        <p:spPr bwMode="auto">
          <a:xfrm rot="0">
            <a:off x="1987119" y="3897423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Reserveeritud</a:t>
            </a:r>
            <a:endParaRPr sz="1200"/>
          </a:p>
        </p:txBody>
      </p:sp>
      <p:sp>
        <p:nvSpPr>
          <p:cNvPr id="1785665946" name="AutoShape 17"/>
          <p:cNvSpPr/>
          <p:nvPr/>
        </p:nvSpPr>
        <p:spPr bwMode="auto">
          <a:xfrm flipH="1">
            <a:off x="3588569" y="2425020"/>
            <a:ext cx="17944" cy="26374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24391794" name="AutoShape 18"/>
          <p:cNvSpPr/>
          <p:nvPr/>
        </p:nvSpPr>
        <p:spPr bwMode="auto">
          <a:xfrm>
            <a:off x="4428030" y="2425020"/>
            <a:ext cx="0" cy="42777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97631177" name="TextBox 19"/>
          <p:cNvSpPr txBox="1"/>
          <p:nvPr/>
        </p:nvSpPr>
        <p:spPr bwMode="auto">
          <a:xfrm rot="0" flipH="0" flipV="0">
            <a:off x="2032890" y="5157923"/>
            <a:ext cx="3113154" cy="112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Offset - 13 bitti</a:t>
            </a:r>
            <a:endParaRPr sz="1200"/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Reserveeritud -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2 bitti</a:t>
            </a:r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M - 1 bitt</a:t>
            </a:r>
          </a:p>
        </p:txBody>
      </p:sp>
      <p:sp>
        <p:nvSpPr>
          <p:cNvPr id="1943431692" name="AutoShape 20"/>
          <p:cNvSpPr/>
          <p:nvPr/>
        </p:nvSpPr>
        <p:spPr bwMode="auto">
          <a:xfrm flipH="1">
            <a:off x="3606513" y="2833743"/>
            <a:ext cx="82151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60322" name="Freeform 2"/>
          <p:cNvSpPr/>
          <p:nvPr/>
        </p:nvSpPr>
        <p:spPr bwMode="auto">
          <a:xfrm rot="5400000" flipH="0" flipV="0">
            <a:off x="-10772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56315098" name="Freeform 3"/>
          <p:cNvSpPr/>
          <p:nvPr/>
        </p:nvSpPr>
        <p:spPr bwMode="auto">
          <a:xfrm rot="5400000" flipH="0" flipV="0">
            <a:off x="5440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27223368" name="Freeform 4"/>
          <p:cNvSpPr/>
          <p:nvPr/>
        </p:nvSpPr>
        <p:spPr bwMode="auto">
          <a:xfrm rot="5400000" flipH="0" flipV="0">
            <a:off x="11933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4932631" name="Freeform 5"/>
          <p:cNvSpPr/>
          <p:nvPr/>
        </p:nvSpPr>
        <p:spPr bwMode="auto">
          <a:xfrm rot="5400000" flipH="0" flipV="0">
            <a:off x="184509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82629238" name="Freeform 6"/>
          <p:cNvSpPr/>
          <p:nvPr/>
        </p:nvSpPr>
        <p:spPr bwMode="auto">
          <a:xfrm rot="5400000" flipH="0" flipV="0">
            <a:off x="2498803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24560212" name="Freeform 7"/>
          <p:cNvSpPr/>
          <p:nvPr/>
        </p:nvSpPr>
        <p:spPr bwMode="auto">
          <a:xfrm rot="5400000" flipH="0" flipV="0">
            <a:off x="315055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6876115" name="Freeform 8"/>
          <p:cNvSpPr/>
          <p:nvPr/>
        </p:nvSpPr>
        <p:spPr bwMode="auto">
          <a:xfrm rot="5400000" flipH="0" flipV="0">
            <a:off x="3802098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06475113" name="Freeform 9"/>
          <p:cNvSpPr/>
          <p:nvPr/>
        </p:nvSpPr>
        <p:spPr bwMode="auto">
          <a:xfrm rot="5400000" flipH="0" flipV="0">
            <a:off x="44538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0826779" name="Freeform 10"/>
          <p:cNvSpPr/>
          <p:nvPr/>
        </p:nvSpPr>
        <p:spPr bwMode="auto">
          <a:xfrm rot="5400000" flipH="0" flipV="0">
            <a:off x="51062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69922466" name="Freeform 11"/>
          <p:cNvSpPr/>
          <p:nvPr/>
        </p:nvSpPr>
        <p:spPr bwMode="auto">
          <a:xfrm rot="5400000" flipH="0" flipV="0">
            <a:off x="575797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30724262" name="Freeform 12"/>
          <p:cNvSpPr/>
          <p:nvPr/>
        </p:nvSpPr>
        <p:spPr bwMode="auto">
          <a:xfrm rot="5400000" flipH="0" flipV="0">
            <a:off x="641168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53985368" name="Freeform 13"/>
          <p:cNvSpPr/>
          <p:nvPr/>
        </p:nvSpPr>
        <p:spPr bwMode="auto">
          <a:xfrm rot="5400000" flipH="0" flipV="0">
            <a:off x="706343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41319321" name="Freeform 14"/>
          <p:cNvSpPr/>
          <p:nvPr/>
        </p:nvSpPr>
        <p:spPr bwMode="auto">
          <a:xfrm rot="5400000" flipH="0" flipV="0">
            <a:off x="771497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23033796" name="Freeform 15"/>
          <p:cNvSpPr/>
          <p:nvPr/>
        </p:nvSpPr>
        <p:spPr bwMode="auto">
          <a:xfrm rot="5400000" flipH="0" flipV="0">
            <a:off x="83667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05797457" name="Freeform 16"/>
          <p:cNvSpPr/>
          <p:nvPr/>
        </p:nvSpPr>
        <p:spPr bwMode="auto">
          <a:xfrm rot="5400000" flipH="0" flipV="0">
            <a:off x="1047846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88513867" name="Freeform 17"/>
          <p:cNvSpPr/>
          <p:nvPr/>
        </p:nvSpPr>
        <p:spPr bwMode="auto">
          <a:xfrm rot="5400000" flipH="0" flipV="0">
            <a:off x="1113021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681084" name="AutoShape 18"/>
          <p:cNvSpPr/>
          <p:nvPr/>
        </p:nvSpPr>
        <p:spPr bwMode="auto">
          <a:xfrm>
            <a:off x="460036" y="2966101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6453969" name="AutoShape 19"/>
          <p:cNvSpPr/>
          <p:nvPr/>
        </p:nvSpPr>
        <p:spPr bwMode="auto">
          <a:xfrm flipH="1" flipV="1">
            <a:off x="9157208" y="2052514"/>
            <a:ext cx="1532011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46796780" name="AutoShape 20"/>
          <p:cNvSpPr/>
          <p:nvPr/>
        </p:nvSpPr>
        <p:spPr bwMode="auto">
          <a:xfrm>
            <a:off x="1135598" y="2966101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688783" name="Freeform 21"/>
          <p:cNvSpPr/>
          <p:nvPr/>
        </p:nvSpPr>
        <p:spPr bwMode="auto">
          <a:xfrm rot="-5400000" flipH="0" flipV="0">
            <a:off x="9814199" y="1069851"/>
            <a:ext cx="352309" cy="4144808"/>
          </a:xfrm>
          <a:custGeom>
            <a:avLst/>
            <a:gdLst/>
            <a:ahLst/>
            <a:cxnLst/>
            <a:rect l="l" t="t" r="r" b="b"/>
            <a:pathLst>
              <a:path w="352309" h="4144808" fill="norm" stroke="1" extrusionOk="0">
                <a:moveTo>
                  <a:pt x="0" y="0"/>
                </a:moveTo>
                <a:lnTo>
                  <a:pt x="352309" y="0"/>
                </a:lnTo>
                <a:lnTo>
                  <a:pt x="352309" y="4144808"/>
                </a:lnTo>
                <a:lnTo>
                  <a:pt x="0" y="4144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93486634" name="TextBox 22"/>
          <p:cNvSpPr txBox="1"/>
          <p:nvPr/>
        </p:nvSpPr>
        <p:spPr bwMode="auto">
          <a:xfrm rot="0">
            <a:off x="3270115" y="352549"/>
            <a:ext cx="5652845" cy="818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 päis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Autentimisvõimalus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baiti</a:t>
            </a:r>
          </a:p>
        </p:txBody>
      </p:sp>
      <p:sp>
        <p:nvSpPr>
          <p:cNvPr id="1785172181" name="TextBox 23"/>
          <p:cNvSpPr txBox="1"/>
          <p:nvPr/>
        </p:nvSpPr>
        <p:spPr bwMode="auto">
          <a:xfrm rot="0">
            <a:off x="9150892" y="3412807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ICV</a:t>
            </a:r>
            <a:endParaRPr/>
          </a:p>
        </p:txBody>
      </p:sp>
      <p:sp>
        <p:nvSpPr>
          <p:cNvPr id="529835894" name="TextBox 24"/>
          <p:cNvSpPr txBox="1"/>
          <p:nvPr/>
        </p:nvSpPr>
        <p:spPr bwMode="auto">
          <a:xfrm rot="0">
            <a:off x="-14639" y="5235487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Järgmine pealkiri</a:t>
            </a:r>
            <a:endParaRPr sz="1400"/>
          </a:p>
        </p:txBody>
      </p:sp>
      <p:sp>
        <p:nvSpPr>
          <p:cNvPr id="1164241156" name="TextBox 25"/>
          <p:cNvSpPr txBox="1"/>
          <p:nvPr/>
        </p:nvSpPr>
        <p:spPr bwMode="auto">
          <a:xfrm rot="0">
            <a:off x="296136" y="4440809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Pikkus</a:t>
            </a:r>
            <a:endParaRPr sz="1400"/>
          </a:p>
        </p:txBody>
      </p:sp>
      <p:sp>
        <p:nvSpPr>
          <p:cNvPr id="1043512396" name="AutoShape 26"/>
          <p:cNvSpPr/>
          <p:nvPr/>
        </p:nvSpPr>
        <p:spPr bwMode="auto">
          <a:xfrm flipH="1">
            <a:off x="2436669" y="2966101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5566911" name="AutoShape 27"/>
          <p:cNvSpPr/>
          <p:nvPr/>
        </p:nvSpPr>
        <p:spPr bwMode="auto">
          <a:xfrm flipH="1">
            <a:off x="1811872" y="2959716"/>
            <a:ext cx="0" cy="6883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2891955" name="TextBox 28"/>
          <p:cNvSpPr txBox="1"/>
          <p:nvPr/>
        </p:nvSpPr>
        <p:spPr bwMode="auto">
          <a:xfrm rot="0">
            <a:off x="1597206" y="6061065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Reserveeritud</a:t>
            </a:r>
            <a:endParaRPr sz="1400"/>
          </a:p>
        </p:txBody>
      </p:sp>
      <p:sp>
        <p:nvSpPr>
          <p:cNvPr id="852562428" name="Freeform 29"/>
          <p:cNvSpPr/>
          <p:nvPr/>
        </p:nvSpPr>
        <p:spPr bwMode="auto">
          <a:xfrm rot="-5400000" flipH="0" flipV="0">
            <a:off x="650270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08478839" name="Freeform 30"/>
          <p:cNvSpPr/>
          <p:nvPr/>
        </p:nvSpPr>
        <p:spPr bwMode="auto">
          <a:xfrm rot="-5400000" flipH="0" flipV="0">
            <a:off x="389395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04421685" name="TextBox 31"/>
          <p:cNvSpPr txBox="1"/>
          <p:nvPr/>
        </p:nvSpPr>
        <p:spPr bwMode="auto">
          <a:xfrm rot="0" flipH="0" flipV="0">
            <a:off x="5248295" y="3282314"/>
            <a:ext cx="267037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Järjestus</a:t>
            </a:r>
            <a:endParaRPr/>
          </a:p>
        </p:txBody>
      </p:sp>
      <p:sp>
        <p:nvSpPr>
          <p:cNvPr id="834412594" name="TextBox 32"/>
          <p:cNvSpPr txBox="1"/>
          <p:nvPr/>
        </p:nvSpPr>
        <p:spPr bwMode="auto">
          <a:xfrm rot="0">
            <a:off x="3165362" y="3282315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SPI</a:t>
            </a:r>
            <a:endParaRPr/>
          </a:p>
        </p:txBody>
      </p:sp>
      <p:sp>
        <p:nvSpPr>
          <p:cNvPr id="252371501" name="AutoShape 33"/>
          <p:cNvSpPr/>
          <p:nvPr/>
        </p:nvSpPr>
        <p:spPr bwMode="auto">
          <a:xfrm flipH="1">
            <a:off x="1811872" y="3619500"/>
            <a:ext cx="60098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509770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44246720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72453887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1809549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72784497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96577082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08865130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51161201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4130785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11378831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91283429" name="TextBox 12"/>
          <p:cNvSpPr txBox="1"/>
          <p:nvPr/>
        </p:nvSpPr>
        <p:spPr bwMode="auto">
          <a:xfrm rot="0">
            <a:off x="8840554" y="1113496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 päis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Sihtkoha valik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baiti</a:t>
            </a:r>
          </a:p>
        </p:txBody>
      </p:sp>
      <p:sp>
        <p:nvSpPr>
          <p:cNvPr id="360988250" name="TextBox 13"/>
          <p:cNvSpPr txBox="1"/>
          <p:nvPr/>
        </p:nvSpPr>
        <p:spPr bwMode="auto">
          <a:xfrm rot="0" flipH="0" flipV="0">
            <a:off x="4265291" y="3381700"/>
            <a:ext cx="251638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Valik</a:t>
            </a:r>
            <a:endParaRPr/>
          </a:p>
        </p:txBody>
      </p:sp>
      <p:sp>
        <p:nvSpPr>
          <p:cNvPr id="1376304306" name="TextBox 14"/>
          <p:cNvSpPr txBox="1"/>
          <p:nvPr/>
        </p:nvSpPr>
        <p:spPr bwMode="auto">
          <a:xfrm rot="0" flipH="0" flipV="0">
            <a:off x="1350023" y="5504689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Järgmine pealkiri</a:t>
            </a:r>
            <a:endParaRPr/>
          </a:p>
        </p:txBody>
      </p:sp>
      <p:sp>
        <p:nvSpPr>
          <p:cNvPr id="1382756523" name="TextBox 15"/>
          <p:cNvSpPr txBox="1"/>
          <p:nvPr/>
        </p:nvSpPr>
        <p:spPr bwMode="auto">
          <a:xfrm rot="0" flipH="0" flipV="0">
            <a:off x="2171540" y="4343136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Pikkus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0954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55428" y="812598"/>
            <a:ext cx="7768284" cy="5232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238524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33837" y="1150063"/>
            <a:ext cx="5261233" cy="3863908"/>
          </a:xfrm>
          <a:prstGeom prst="rect">
            <a:avLst/>
          </a:prstGeom>
        </p:spPr>
      </p:pic>
      <p:sp>
        <p:nvSpPr>
          <p:cNvPr id="1279994705" name=""/>
          <p:cNvSpPr/>
          <p:nvPr/>
        </p:nvSpPr>
        <p:spPr bwMode="auto">
          <a:xfrm rot="0" flipH="0" flipV="0">
            <a:off x="3158249" y="911679"/>
            <a:ext cx="6994071" cy="4340677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709506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8651" y="2614649"/>
            <a:ext cx="4760490" cy="1329344"/>
          </a:xfrm>
          <a:prstGeom prst="rect">
            <a:avLst/>
          </a:prstGeom>
        </p:spPr>
      </p:pic>
      <p:sp>
        <p:nvSpPr>
          <p:cNvPr id="617695999" name=""/>
          <p:cNvSpPr/>
          <p:nvPr/>
        </p:nvSpPr>
        <p:spPr bwMode="auto">
          <a:xfrm rot="0" flipH="0" flipV="0">
            <a:off x="3498428" y="2408464"/>
            <a:ext cx="5225142" cy="1741714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35</Slides>
  <Notes>35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 302</dc:title>
  <dc:identifier>DAGtZpLCudY</dc:identifier>
  <cp:lastModifiedBy/>
  <cp:revision>9</cp:revision>
  <dcterms:created xsi:type="dcterms:W3CDTF">2006-08-16T00:00:00Z</dcterms:created>
  <dcterms:modified xsi:type="dcterms:W3CDTF">2025-10-14T12:32:34Z</dcterms:modified>
</cp:coreProperties>
</file>